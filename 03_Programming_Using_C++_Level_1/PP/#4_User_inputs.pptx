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684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2205106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050253010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930377005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047260282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730870320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388043306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499233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084737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00374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748458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117636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3141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88660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270230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2713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84810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082146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23988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35419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667605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87867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3A024F2-9566-BC1D-94DD-094997C4164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914043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903766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1794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86137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08172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19216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91084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67585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70329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071828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79628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58130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32264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139386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474876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312239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395359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36467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4639816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50399255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27615747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47588449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790398303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2542557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790141952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77990702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17452592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82558716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1609826218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5761060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28627402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884063468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68376196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82687381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70872893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27632578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539090028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408738216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14056847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95586283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2127026370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3482749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37216708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33666078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0088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46534657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13667605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94047243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139804506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6624433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896064305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346371027" name="object 30"/>
          <p:cNvSpPr txBox="1"/>
          <p:nvPr/>
        </p:nvSpPr>
        <p:spPr bwMode="auto">
          <a:xfrm>
            <a:off x="0" y="1143000"/>
            <a:ext cx="12737997" cy="3914372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Programming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Using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C++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ar-SY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  <a:defRPr/>
            </a:pPr>
            <a:endParaRPr lang="en-GB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User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inputs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427902146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523054979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2127118793" name="object 30"/>
          <p:cNvSpPr txBox="1"/>
          <p:nvPr/>
        </p:nvSpPr>
        <p:spPr bwMode="auto">
          <a:xfrm>
            <a:off x="106428" y="3084214"/>
            <a:ext cx="13317004" cy="1756261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sz="4000" spc="-17">
                <a:solidFill>
                  <a:srgbClr val="FFFFFF"/>
                </a:solidFill>
                <a:latin typeface="Comic Sans MS"/>
                <a:cs typeface="Comic Sans MS"/>
              </a:rPr>
              <a:t>Programming Using C++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User</a:t>
            </a:r>
            <a:r>
              <a:rPr lang="ar-SY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inputs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8996558" name="object 3"/>
          <p:cNvSpPr txBox="1"/>
          <p:nvPr/>
        </p:nvSpPr>
        <p:spPr bwMode="auto">
          <a:xfrm>
            <a:off x="380997" y="888075"/>
            <a:ext cx="12357444" cy="256357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 marL="21912">
              <a:spcBef>
                <a:spcPts val="1215"/>
              </a:spcBef>
              <a:defRPr/>
            </a:pPr>
            <a:endParaRPr lang="en-GB" sz="2400" spc="-17">
              <a:solidFill>
                <a:schemeClr val="tx1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User input allows the user to enter values while the program is running instead of having the values already written in the code.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5"/>
              </a:spcBef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In C++, the main tools used for user input are cin and getline()</a:t>
            </a:r>
            <a:endParaRPr lang="en-GB" sz="2400" spc="-17">
              <a:solidFill>
                <a:schemeClr val="tx1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5501484" name="object 3"/>
          <p:cNvSpPr txBox="1"/>
          <p:nvPr/>
        </p:nvSpPr>
        <p:spPr bwMode="auto">
          <a:xfrm>
            <a:off x="380997" y="888075"/>
            <a:ext cx="12370404" cy="5708605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 marL="21912">
              <a:spcBef>
                <a:spcPts val="1215"/>
              </a:spcBef>
              <a:defRPr/>
            </a:pPr>
            <a:endParaRPr lang="en-GB" sz="2400" spc="-17">
              <a:solidFill>
                <a:schemeClr val="tx1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sv-SE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First, we declare the variables without assigning values to them.</a:t>
            </a:r>
            <a:endParaRPr lang="sv-SE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sv-SE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string Name;</a:t>
            </a:r>
            <a:endParaRPr lang="sv-SE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sv-SE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int Age;</a:t>
            </a:r>
            <a:endParaRPr lang="sv-SE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sv-SE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string City;</a:t>
            </a:r>
            <a:endParaRPr lang="sv-SE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sv-SE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string Country;</a:t>
            </a:r>
            <a:endParaRPr lang="sv-SE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sv-SE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float MonthlySalary;</a:t>
            </a:r>
            <a:endParaRPr lang="sv-SE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sv-SE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char Gender;</a:t>
            </a:r>
            <a:endParaRPr lang="sv-SE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sv-SE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bool isMarried;</a:t>
            </a:r>
            <a:endParaRPr lang="sv-SE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sv-SE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The user will provide the values later when the program runs.</a:t>
            </a:r>
            <a:endParaRPr lang="sv-SE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sv-SE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First, the program asks the user to enter their name:</a:t>
            </a:r>
            <a:endParaRPr lang="sv-SE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sv-SE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cout &lt;&lt; "Please enter your Name:" &lt;&lt; endl;</a:t>
            </a:r>
            <a:endParaRPr lang="sv-SE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sv-SE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getline(cin, Name);</a:t>
            </a:r>
            <a:endParaRPr lang="sv-SE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7849138" name="object 3"/>
          <p:cNvSpPr txBox="1"/>
          <p:nvPr/>
        </p:nvSpPr>
        <p:spPr bwMode="auto">
          <a:xfrm>
            <a:off x="380997" y="888075"/>
            <a:ext cx="12356004" cy="78612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i="0" u="none" strike="noStrike" cap="none" spc="-17">
                <a:ln>
                  <a:noFill/>
                </a:ln>
                <a:solidFill>
                  <a:prstClr val="black"/>
                </a:solidFill>
                <a:latin typeface="Comic Sans MS"/>
              </a:rPr>
              <a:t>🟦 Steps in main()</a:t>
            </a:r>
            <a:endParaRPr/>
          </a:p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GB" sz="2400" b="0" i="0" u="none" strike="noStrike" cap="none" spc="-17">
              <a:ln>
                <a:noFill/>
              </a:ln>
              <a:solidFill>
                <a:prstClr val="black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Declare the variables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Create the variables that will store the user's input.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Ask for the Name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Use getline() to read the user's full name.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Ask for the Age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Use cin to read the user's age.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Use cin.ignore()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Clear the leftover newline before using getline() again.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Ask for City and Country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Use getline() to read text values.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Ask for Monthly Salary and Gender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Use cin to read the numeric and character values.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7️⃣ Ask for Married Status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Use cin to read 1 or 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8️⃣ Calculate Yearly Salary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Multiply the monthly salary by 12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9️⃣ Display the Results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Print all the collected information to the screen.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3134180" name="object 3"/>
          <p:cNvSpPr txBox="1"/>
          <p:nvPr/>
        </p:nvSpPr>
        <p:spPr bwMode="auto">
          <a:xfrm>
            <a:off x="380997" y="888075"/>
            <a:ext cx="12363564" cy="775635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cout &lt;&lt; "Please enter your Name:" &lt;&lt; endl;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getline(cin, Name);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cout &lt;&lt; "Please enter your Age:" &lt;&lt; endl;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cin &gt;&gt; Age;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cin.ignore();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</a:t>
            </a: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Please enter your Name: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Sara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Please enter your Age: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43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Name: Sara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Age: 43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After using cin &gt;&gt; Age, the program uses: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</a:t>
            </a: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cin.ignore();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cin.ignore() removes the leftover newline character from the input buffer.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This is important because the next input uses getline()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2726447" name="object 3"/>
          <p:cNvSpPr txBox="1"/>
          <p:nvPr/>
        </p:nvSpPr>
        <p:spPr bwMode="auto">
          <a:xfrm>
            <a:off x="380997" y="888075"/>
            <a:ext cx="12357084" cy="22549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getline() is useful when the input can contain spaces.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Without `cin.ignore()`, the following `getline()` may read the leftover newline instead of waiting for the user's input.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6429395" name="object 3"/>
          <p:cNvSpPr txBox="1"/>
          <p:nvPr/>
        </p:nvSpPr>
        <p:spPr bwMode="auto">
          <a:xfrm>
            <a:off x="380997" y="888075"/>
            <a:ext cx="12359604" cy="22549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When you use cin &gt;&gt; followed by getline(), you may need: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cin.ignore();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Otherwise, getline() can immediately read the leftover newline character.</a:t>
            </a:r>
            <a:endParaRPr lang="en-GB"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0484436" name="object 3"/>
          <p:cNvSpPr txBox="1"/>
          <p:nvPr/>
        </p:nvSpPr>
        <p:spPr bwMode="auto">
          <a:xfrm>
            <a:off x="380997" y="888075"/>
            <a:ext cx="12360324" cy="44944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cin &gt;&gt;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Reads numbers, characters, and simple input.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Stops reading a string at whitespace.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Example: cin &gt;&gt; Age;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getline()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Reads a complete line.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Can read spaces.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Example: getline(cin, Name);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1670998" name="object 3"/>
          <p:cNvSpPr txBox="1"/>
          <p:nvPr/>
        </p:nvSpPr>
        <p:spPr bwMode="auto">
          <a:xfrm>
            <a:off x="380997" y="888075"/>
            <a:ext cx="12377964" cy="49331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</a:t>
            </a: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User input allows a program to receive values from the user while it is running.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cin &gt;&gt; → reads input.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getline() → reads a complete line of text.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cin.ignore() → removes the leftover newline character.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cin &gt;&gt; isMarried → reads `1` or `0` into a Boolean variable.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? : → chooses between two values based on a condition.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cin &gt;&gt; variable;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or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getline(cin, variable);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8774626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228</cp:revision>
  <dcterms:created xsi:type="dcterms:W3CDTF">2025-12-09T17:44:59Z</dcterms:created>
  <dcterms:modified xsi:type="dcterms:W3CDTF">2026-09-06T12:33:51Z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