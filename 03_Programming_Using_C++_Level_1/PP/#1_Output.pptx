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676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8545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65644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722027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5915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75769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000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1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482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824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052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070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609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896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49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461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667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795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7356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05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675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029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0252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736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235198-A3D2-970A-89C8-471F6541D2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715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986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0751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249BCD-594D-E895-4B9E-24741B71BD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246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29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7706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51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09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070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097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953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886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576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551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07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531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106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3924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38289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910043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587221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6719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877703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7386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134154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88270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99028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36798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136651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9874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042470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35364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89196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14922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595802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912589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290578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15947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803542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21094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215183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39056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21618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37866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265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73441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4433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08064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3624873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94743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591231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6941455" name="object 30"/>
          <p:cNvSpPr txBox="1"/>
          <p:nvPr/>
        </p:nvSpPr>
        <p:spPr bwMode="auto">
          <a:xfrm>
            <a:off x="0" y="1143000"/>
            <a:ext cx="12735479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sz="6000" b="1">
                <a:solidFill>
                  <a:srgbClr val="FFCE53"/>
                </a:solidFill>
                <a:latin typeface="Comic Sans MS"/>
                <a:cs typeface="Comic Sans MS"/>
              </a:rPr>
              <a:t>Output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01488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0818072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41697894" name="object 30"/>
          <p:cNvSpPr txBox="1"/>
          <p:nvPr/>
        </p:nvSpPr>
        <p:spPr bwMode="auto">
          <a:xfrm>
            <a:off x="106431" y="3084217"/>
            <a:ext cx="1331448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Outout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350164" name="object 3"/>
          <p:cNvSpPr txBox="1"/>
          <p:nvPr/>
        </p:nvSpPr>
        <p:spPr bwMode="auto">
          <a:xfrm>
            <a:off x="380999" y="888075"/>
            <a:ext cx="12357086" cy="182456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5"/>
              </a:spcBef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Output means displaying information from a C++ program on the console screen.</a:t>
            </a: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608515" name="object 3"/>
          <p:cNvSpPr txBox="1"/>
          <p:nvPr/>
        </p:nvSpPr>
        <p:spPr bwMode="auto">
          <a:xfrm>
            <a:off x="380999" y="888075"/>
            <a:ext cx="12357086" cy="27900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`cout` is used to print text on the screen.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`&lt;&lt;` operator sends the text to `cout`.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 inside `" "` is displayed exactly as written.</a:t>
            </a:r>
            <a:endParaRPr lang="sv-SE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sv-SE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`endl` moves the cursor to the **next line** after printing.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902343" name="object 3"/>
          <p:cNvSpPr txBox="1"/>
          <p:nvPr/>
        </p:nvSpPr>
        <p:spPr bwMode="auto">
          <a:xfrm>
            <a:off x="380999" y="888075"/>
            <a:ext cx="12358166" cy="38108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`cout` → Prints the required information on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`&lt;&lt;` → Sends the text to `cout`.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`endl` → Moves the cursor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next `cout` → Prints the next piece of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information appears on the screen line by line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726964" name="object 3"/>
          <p:cNvSpPr txBox="1"/>
          <p:nvPr/>
        </p:nvSpPr>
        <p:spPr bwMode="auto">
          <a:xfrm>
            <a:off x="380999" y="888075"/>
            <a:ext cx="12372566" cy="333726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"************************"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"Name: Sara Alterkawi."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"Age: 43 Years."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"City: Perstorp."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"Country: Sweden."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"************************"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855339" name="object 3"/>
          <p:cNvSpPr txBox="1"/>
          <p:nvPr/>
        </p:nvSpPr>
        <p:spPr bwMode="auto">
          <a:xfrm>
            <a:off x="380999" y="888075"/>
            <a:ext cx="12357446" cy="33623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➡️ </a:t>
            </a:r>
            <a:r>
              <a:rPr lang="sv-SE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Expected</a:t>
            </a:r>
            <a:r>
              <a:rPr lang="sv-SE" sz="4000" b="1" i="0" u="none" strike="noStrike" cap="none" spc="-17">
                <a:ln>
                  <a:noFill/>
                </a:ln>
                <a:solidFill>
                  <a:prstClr val="black"/>
                </a:solidFill>
                <a:latin typeface="Comic Sans MS"/>
              </a:rPr>
              <a:t> Output</a:t>
            </a:r>
            <a:endParaRPr/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************************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Name: Sara Alterkawi.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Age: 43 Years.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City: Perstorp.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Country: Sweden.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************************</a:t>
            </a:r>
            <a:r>
              <a:rPr lang="en-GB" sz="2400">
                <a:latin typeface="Comic Sans MS"/>
              </a:rPr>
              <a:t>	Object 4 → x = 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83370" name="object 3"/>
          <p:cNvSpPr txBox="1"/>
          <p:nvPr/>
        </p:nvSpPr>
        <p:spPr bwMode="auto"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>
                <a:latin typeface="Comic Sans MS"/>
              </a:rPr>
              <a:t>🔹 A </a:t>
            </a:r>
            <a:r>
              <a:rPr lang="en-GB" sz="2400" b="1">
                <a:latin typeface="Comic Sans MS"/>
              </a:rPr>
              <a:t>default constructor is required</a:t>
            </a:r>
            <a:r>
              <a:rPr lang="en-GB" sz="2400">
                <a:latin typeface="Comic Sans MS"/>
              </a:rPr>
              <a:t> when allocating arrays of objects using new[]</a:t>
            </a:r>
            <a:br>
              <a:rPr lang="en-GB" sz="2400">
                <a:latin typeface="Comic Sans MS"/>
              </a:rPr>
            </a:br>
            <a:r>
              <a:rPr lang="en-GB" sz="2400">
                <a:latin typeface="Comic Sans MS"/>
              </a:rPr>
              <a:t>🔹 This is why a dummy constructor is defined in the class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033262" name="object 3"/>
          <p:cNvSpPr txBox="1"/>
          <p:nvPr/>
        </p:nvSpPr>
        <p:spPr bwMode="auto">
          <a:xfrm>
            <a:off x="380999" y="888075"/>
            <a:ext cx="12357806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r>
              <a:rPr lang="ar-SY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 not forget endl if you want each output to appear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</a:t>
            </a:r>
            <a:r>
              <a:rPr lang="ar-SY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Without endl, multiple outputs may appear on the **same line**.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 &lt;&lt; "Alterkawi";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SaraAlterkawi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428289" name="object 3"/>
          <p:cNvSpPr txBox="1"/>
          <p:nvPr/>
        </p:nvSpPr>
        <p:spPr bwMode="auto">
          <a:xfrm>
            <a:off x="380999" y="888075"/>
            <a:ext cx="12363566" cy="7359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🟩 With endl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✔️ Each message appears on a new line.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✔️ Makes the output easier to read.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cout &lt;&lt; "Sara" &lt;&lt; endl;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cout &lt;&lt; "Alterkawi";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➡️ Result: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	Sara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	Alterkawi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🟥 Without endl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✔️ Messages appear continuously on the same line.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✔️ No automatic new line is created.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cout &lt;&lt; "Sara";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cout &lt;&lt; "Alterkawi";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➡️ Result:</a:t>
            </a:r>
            <a:endParaRPr lang="en-GB" sz="2400" b="0" i="0" u="none" strike="noStrike" cap="none" spc="-16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			SaraAlterkawi</a:t>
            </a:r>
            <a:endParaRPr lang="en-GB" sz="2400">
              <a:latin typeface="Comic Sans MS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56933" name="object 3"/>
          <p:cNvSpPr txBox="1"/>
          <p:nvPr/>
        </p:nvSpPr>
        <p:spPr bwMode="auto">
          <a:xfrm>
            <a:off x="380999" y="888075"/>
            <a:ext cx="12371126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>
                <a:latin typeface="Comic Sans MS"/>
              </a:rPr>
              <a:t>✅</a:t>
            </a:r>
            <a:r>
              <a:rPr lang="ar-SY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cout</a:t>
            </a:r>
            <a:r>
              <a:rPr lang="ar-SY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is the main tool we use to display **output** in C++.</a:t>
            </a:r>
            <a:endParaRPr lang="en-GB"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endl is used when we want to move to a **new line** after printing.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output is displayed **exactly as written inside the quotation marks**.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8491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226</cp:revision>
  <dcterms:created xsi:type="dcterms:W3CDTF">2025-12-09T17:44:59Z</dcterms:created>
  <dcterms:modified xsi:type="dcterms:W3CDTF">2026-09-06T11:14:37Z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