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3411200" cy="10058400"/>
  <p:notesSz cx="7772400" cy="100584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37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6922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15520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21843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25150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83343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564266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3745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1097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98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3203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5140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33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091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274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163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3596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69062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212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26124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58815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70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024F2-9566-BC1D-94DD-094997C4164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8953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70056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466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0495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01518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0870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871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2598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225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40016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98600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838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0652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735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715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1096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54921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9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21199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174666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37097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97858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37416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6874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88311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38443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86476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0588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50775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5110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04411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9756414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527644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88856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028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72050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585779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63431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49150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5310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86216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7433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157878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177002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6236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95046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419916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570887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2917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852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74574791" name="object 25"/>
          <p:cNvPicPr/>
          <p:nvPr/>
        </p:nvPicPr>
        <p:blipFill rotWithShape="1">
          <a:blip r:embed="rId3"/>
          <a:srcRect t="17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7607144" name="object 30"/>
          <p:cNvSpPr txBox="1"/>
          <p:nvPr/>
        </p:nvSpPr>
        <p:spPr bwMode="auto">
          <a:xfrm>
            <a:off x="0" y="1143000"/>
            <a:ext cx="12737997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Arithmatic Operators</a:t>
            </a:r>
            <a:endParaRPr lang="sv-SE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69272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1619252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55050120" name="object 30"/>
          <p:cNvSpPr txBox="1"/>
          <p:nvPr/>
        </p:nvSpPr>
        <p:spPr bwMode="auto">
          <a:xfrm>
            <a:off x="106428" y="3084214"/>
            <a:ext cx="13317004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 dirty="0"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dirty="0" err="1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Arithmatic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dirty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72565" name="object 3"/>
          <p:cNvSpPr txBox="1"/>
          <p:nvPr/>
        </p:nvSpPr>
        <p:spPr bwMode="auto">
          <a:xfrm>
            <a:off x="380997" y="888075"/>
            <a:ext cx="12357444" cy="49880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Arithmetic operators</a:t>
            </a:r>
            <a:r>
              <a:rPr lang="ar-SY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are symbols used to perform mathematical calculations in a program.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main arithmetic operators in C++ are: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`+` → Addition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`-` → Subtraction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`*` → Multiplication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`/` → Division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`%` → Modulus (remainder)</a:t>
            </a:r>
            <a:endParaRPr lang="en-GB" sz="2400" b="0" i="0" u="none" strike="noStrike" cap="none" spc="0" dirty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813952" name="object 3"/>
          <p:cNvSpPr txBox="1"/>
          <p:nvPr/>
        </p:nvSpPr>
        <p:spPr bwMode="auto">
          <a:xfrm>
            <a:off x="380997" y="888075"/>
            <a:ext cx="12370404" cy="60960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 dirty="0"/>
          </a:p>
          <a:p>
            <a:pPr marL="21912">
              <a:spcBef>
                <a:spcPts val="1215"/>
              </a:spcBef>
              <a:defRPr/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example, the program asks the user to enter three marks and then calculates their average.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Mark1;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Mark2;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Mark3;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Mark1 → stores the first mark.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Mark2 → stores the second mark.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Mark3 → stores the third mark.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calculates the average using: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Average = (Mark1 + Mark2 + Mark3) / 3;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+ → adds the three marks.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/ → divides the total by 3.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( ) → ensures that the addition is performed before the division.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770451" name="object 3"/>
          <p:cNvSpPr txBox="1"/>
          <p:nvPr/>
        </p:nvSpPr>
        <p:spPr bwMode="auto">
          <a:xfrm>
            <a:off x="380997" y="888075"/>
            <a:ext cx="12356004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-17" dirty="0">
                <a:ln>
                  <a:noFill/>
                </a:ln>
                <a:solidFill>
                  <a:prstClr val="black"/>
                </a:solidFill>
                <a:latin typeface="Comic Sans MS"/>
              </a:rPr>
              <a:t>🟦 Steps in main()</a:t>
            </a:r>
            <a:endParaRPr dirty="0"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-17" dirty="0">
              <a:ln>
                <a:noFill/>
              </a:ln>
              <a:solidFill>
                <a:prstClr val="black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Mark1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Create a variable to store the first mark.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for the first Mark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</a:t>
            </a:r>
            <a:r>
              <a:rPr lang="en-GB" sz="2400" dirty="0" err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to read the first mark from the user.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Declare Mark2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Create a variable to store the second mark.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for the second Mark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</a:t>
            </a:r>
            <a:r>
              <a:rPr lang="en-GB" sz="2400" dirty="0" err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to read the second mark from the user.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Declare Mark3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Create a variable to store the third mark.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Ask for the third Mark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</a:t>
            </a:r>
            <a:r>
              <a:rPr lang="en-GB" sz="2400" dirty="0" err="1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cin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to read the third mark from the user.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Calculate the Average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Add the three marks and divide the result by 3.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Average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 the calculated average to the screen.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End the program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return 0; to finish the program successfully.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593005" name="object 3"/>
          <p:cNvSpPr txBox="1"/>
          <p:nvPr/>
        </p:nvSpPr>
        <p:spPr bwMode="auto">
          <a:xfrm>
            <a:off x="380997" y="888075"/>
            <a:ext cx="12363564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 dirty="0">
                <a:latin typeface="Comic Sans MS"/>
              </a:rPr>
              <a:t>💡 </a:t>
            </a:r>
            <a:r>
              <a:rPr lang="sv-SE" sz="4000" b="1" dirty="0">
                <a:latin typeface="Comic Sans MS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Average = (Mark1 + Mark2 + Mark3) / 3;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Mark1 = 80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Mark2 = 90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Mark3 = 70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(80 + 90 + 70) / 3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240 / 3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80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Results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displays:</a:t>
            </a:r>
            <a:endParaRPr lang="en-SE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Average = 80</a:t>
            </a:r>
            <a:endParaRPr lang="en-GB" sz="2400" b="0" i="0" u="none" strike="noStrike" cap="none" spc="0" dirty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216379" name="object 3"/>
          <p:cNvSpPr txBox="1"/>
          <p:nvPr/>
        </p:nvSpPr>
        <p:spPr bwMode="auto">
          <a:xfrm>
            <a:off x="380997" y="888075"/>
            <a:ext cx="12357084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dirty="0"/>
              <a:t>📌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Note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arithmetic operators used in this example are: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+ → Addition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/ → Division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Mark1, Mark2, and Mark3 are int variables, the result of the division is also treated as an integer.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738181" name="object 3"/>
          <p:cNvSpPr txBox="1"/>
          <p:nvPr/>
        </p:nvSpPr>
        <p:spPr bwMode="auto">
          <a:xfrm>
            <a:off x="380997" y="888075"/>
            <a:ext cx="12359604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dividing two integers, C++ performs integer division.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Average = 10 / 3;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will be: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</a:t>
            </a: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decimal part is discarded</a:t>
            </a:r>
            <a:r>
              <a:rPr lang="en-GB" sz="2400" b="0" i="0" u="none" strike="noStrike" cap="none" spc="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endParaRPr lang="en-GB" sz="2400" dirty="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963492" name="object 3"/>
          <p:cNvSpPr txBox="1"/>
          <p:nvPr/>
        </p:nvSpPr>
        <p:spPr bwMode="auto">
          <a:xfrm>
            <a:off x="380997" y="888075"/>
            <a:ext cx="12360324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  <a:endParaRPr dirty="0"/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Addition +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Adds values together.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Example: 10 + 5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Result: 15</a:t>
            </a:r>
          </a:p>
          <a:p>
            <a:pPr>
              <a:defRPr/>
            </a:pPr>
            <a:endParaRPr lang="en-GB" sz="2400" dirty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Division /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Divides one value by another.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Example: 10 / 5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Result: 2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661150" name="object 3"/>
          <p:cNvSpPr txBox="1"/>
          <p:nvPr/>
        </p:nvSpPr>
        <p:spPr bwMode="auto">
          <a:xfrm>
            <a:off x="380997" y="888075"/>
            <a:ext cx="12377964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Arithmetic operators are used to perform mathematical calculations.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+ → Addition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- → Subtraction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* → Multiplication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/ → Division</a:t>
            </a:r>
          </a:p>
          <a:p>
            <a:pPr>
              <a:defRPr/>
            </a:pPr>
            <a:r>
              <a:rPr lang="en-SE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% → Remainder</a:t>
            </a:r>
          </a:p>
          <a:p>
            <a:pPr>
              <a:defRPr/>
            </a:pPr>
            <a:r>
              <a:rPr lang="en-SE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</a:t>
            </a:r>
            <a:r>
              <a:rPr lang="en-GB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 ) → Controls the order of calculations.</a:t>
            </a:r>
            <a:endParaRPr lang="en-GB" sz="2400" b="0" i="0" u="none" strike="noStrike" cap="none" spc="0" dirty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79531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3d5c304-e8a3-4728-ba99-a35780e1c209}" enabled="1" method="Privileged" siteId="{ff093d1f-75de-49f6-b91b-8bf6945505a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592</Words>
  <Application>Microsoft Office PowerPoint</Application>
  <PresentationFormat>Custom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236</cp:revision>
  <dcterms:created xsi:type="dcterms:W3CDTF">2025-12-09T17:44:59Z</dcterms:created>
  <dcterms:modified xsi:type="dcterms:W3CDTF">2026-09-15T06:53:26Z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