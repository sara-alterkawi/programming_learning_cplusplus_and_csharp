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6922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15520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21843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25150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83343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564266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74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1097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98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20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5140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33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09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274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163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35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062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212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DCAD-957C-370B-9F1C-3669BA7378D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35961" name="Slide Image Placeholder 1">
            <a:extLst>
              <a:ext uri="{FF2B5EF4-FFF2-40B4-BE49-F238E27FC236}">
                <a16:creationId xmlns:a16="http://schemas.microsoft.com/office/drawing/2014/main" id="{6D309E11-0D6A-4C70-2CE7-A2F524FCF7EB}"/>
              </a:ext>
            </a:extLst>
          </p:cNvPr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062791" name="Notes Placeholder 2">
            <a:extLst>
              <a:ext uri="{FF2B5EF4-FFF2-40B4-BE49-F238E27FC236}">
                <a16:creationId xmlns:a16="http://schemas.microsoft.com/office/drawing/2014/main" id="{F8499331-BC59-E91B-5FF0-B1A867C1E8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212217" name="Slide Number Placeholder 3">
            <a:extLst>
              <a:ext uri="{FF2B5EF4-FFF2-40B4-BE49-F238E27FC236}">
                <a16:creationId xmlns:a16="http://schemas.microsoft.com/office/drawing/2014/main" id="{B391E007-2ADA-3A50-CD91-5FC90C78A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780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46F4-2D7B-B9CE-A788-BD365D5ACB5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35961" name="Slide Image Placeholder 1">
            <a:extLst>
              <a:ext uri="{FF2B5EF4-FFF2-40B4-BE49-F238E27FC236}">
                <a16:creationId xmlns:a16="http://schemas.microsoft.com/office/drawing/2014/main" id="{B797CBAF-B073-D8F9-9ABE-4502C2376FBA}"/>
              </a:ext>
            </a:extLst>
          </p:cNvPr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062791" name="Notes Placeholder 2">
            <a:extLst>
              <a:ext uri="{FF2B5EF4-FFF2-40B4-BE49-F238E27FC236}">
                <a16:creationId xmlns:a16="http://schemas.microsoft.com/office/drawing/2014/main" id="{1791BD25-2851-978B-853C-1EF05AF715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212217" name="Slide Number Placeholder 3">
            <a:extLst>
              <a:ext uri="{FF2B5EF4-FFF2-40B4-BE49-F238E27FC236}">
                <a16:creationId xmlns:a16="http://schemas.microsoft.com/office/drawing/2014/main" id="{3053D69B-C8C6-54BE-768C-091B9CE29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015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895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056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466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049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518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0870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87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598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225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400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8600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838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065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35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715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109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4921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9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PhAnim="0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1199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174666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3709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97858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37416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PhAnim="0" showMasterSp="0" type="obj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687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88311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38443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86476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0588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50775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PhAnim="0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5110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04411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9756414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527644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8885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028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PhAnim="0" showMasterSp="0" type="obj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72050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585779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63431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49150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5310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86216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showMasterPhAnim="0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7433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157878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177002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6236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95046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419916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7088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2917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852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4574791" name="object 25"/>
          <p:cNvPicPr/>
          <p:nvPr/>
        </p:nvPicPr>
        <p:blipFill rotWithShape="1">
          <a:blip r:embed="rId3"/>
          <a:srcRect t="17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7607144" name="object 30"/>
          <p:cNvSpPr txBox="1"/>
          <p:nvPr/>
        </p:nvSpPr>
        <p:spPr bwMode="auto">
          <a:xfrm>
            <a:off x="0" y="1143000"/>
            <a:ext cx="12737997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Relational Operators</a:t>
            </a:r>
            <a:endParaRPr lang="sv-SE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69272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1619252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55050120" name="object 30"/>
          <p:cNvSpPr txBox="1"/>
          <p:nvPr/>
        </p:nvSpPr>
        <p:spPr bwMode="auto">
          <a:xfrm>
            <a:off x="106428" y="3084214"/>
            <a:ext cx="13317004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Relational Operators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72565" name="object 3"/>
          <p:cNvSpPr txBox="1"/>
          <p:nvPr/>
        </p:nvSpPr>
        <p:spPr bwMode="auto">
          <a:xfrm>
            <a:off x="380997" y="888075"/>
            <a:ext cx="12357444" cy="277210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Relational operators are used in C++ to compare two values.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of a relational operation is a Boolean value: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1 means True.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0 means False.</a:t>
            </a:r>
            <a:endParaRPr lang="en-GB" sz="2400" b="0" i="0" u="none" strike="noStrike" cap="none" spc="0" dirty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13952" name="object 3"/>
          <p:cNvSpPr txBox="1"/>
          <p:nvPr/>
        </p:nvSpPr>
        <p:spPr bwMode="auto">
          <a:xfrm>
            <a:off x="380997" y="888075"/>
            <a:ext cx="12370404" cy="20334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two numbers, A and B, and then compares them using different relational operators.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566EC3-565F-68FC-E143-5FFBC146A0C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13952" name="object 3">
            <a:extLst>
              <a:ext uri="{FF2B5EF4-FFF2-40B4-BE49-F238E27FC236}">
                <a16:creationId xmlns:a16="http://schemas.microsoft.com/office/drawing/2014/main" id="{2CAF3C02-B545-C9D2-8678-76F40C54D3A4}"/>
              </a:ext>
            </a:extLst>
          </p:cNvPr>
          <p:cNvSpPr txBox="1"/>
          <p:nvPr/>
        </p:nvSpPr>
        <p:spPr bwMode="auto">
          <a:xfrm>
            <a:off x="380997" y="888075"/>
            <a:ext cx="12370404" cy="90507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 dirty="0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and read the first number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creates an integer variable called A and asks the user to enter its value.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Declare and read the second number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creates an integer variable called B and asks the user to enter its value.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Equal to ==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and B have the same value.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they are equal.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if they are different.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Not equal !=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and B have different values.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they are different.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if they are equal.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Greater than &gt;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is greater than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A is greater than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otherwise.</a:t>
            </a:r>
          </a:p>
        </p:txBody>
      </p:sp>
    </p:spTree>
    <p:extLst>
      <p:ext uri="{BB962C8B-B14F-4D97-AF65-F5344CB8AC3E}">
        <p14:creationId xmlns:p14="http://schemas.microsoft.com/office/powerpoint/2010/main" val="650012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AA192A-6252-2567-7478-F03178D7BF0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13952" name="object 3">
            <a:extLst>
              <a:ext uri="{FF2B5EF4-FFF2-40B4-BE49-F238E27FC236}">
                <a16:creationId xmlns:a16="http://schemas.microsoft.com/office/drawing/2014/main" id="{6F49706E-6CAD-E418-7474-2E8E3825FB68}"/>
              </a:ext>
            </a:extLst>
          </p:cNvPr>
          <p:cNvSpPr txBox="1"/>
          <p:nvPr/>
        </p:nvSpPr>
        <p:spPr bwMode="auto">
          <a:xfrm>
            <a:off x="380997" y="888075"/>
            <a:ext cx="12370404" cy="68347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 dirty="0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Less than &lt;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is less than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A is less than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otherwise.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Greater than or equal &gt;=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is greater than or equal to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A is greater than B or if both values are equal.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otherwise.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Less than or equal &lt;=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Checks whether A is less than or equal to B.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if A is less than B or if both values are equal.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otherwise.</a:t>
            </a:r>
          </a:p>
        </p:txBody>
      </p:sp>
    </p:spTree>
    <p:extLst>
      <p:ext uri="{BB962C8B-B14F-4D97-AF65-F5344CB8AC3E}">
        <p14:creationId xmlns:p14="http://schemas.microsoft.com/office/powerpoint/2010/main" val="2011392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593005" name="object 3"/>
          <p:cNvSpPr txBox="1"/>
          <p:nvPr/>
        </p:nvSpPr>
        <p:spPr bwMode="auto">
          <a:xfrm>
            <a:off x="380997" y="888075"/>
            <a:ext cx="12363564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 dirty="0">
                <a:latin typeface="Comic Sans MS"/>
              </a:rPr>
              <a:t>💡 </a:t>
            </a:r>
            <a:r>
              <a:rPr lang="sv-SE" sz="4000" b="1" dirty="0">
                <a:latin typeface="Comic Sans MS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SE" sz="2400" dirty="0"/>
              <a:t>🔹 If A = 10 and B = 5:</a:t>
            </a:r>
          </a:p>
          <a:p>
            <a:r>
              <a:rPr lang="en-SE" sz="2400" dirty="0"/>
              <a:t>	🟨 A == B → 0</a:t>
            </a:r>
            <a:br>
              <a:rPr lang="en-SE" sz="2400" dirty="0"/>
            </a:br>
            <a:r>
              <a:rPr lang="en-SE" sz="2400" dirty="0"/>
              <a:t>	🟨 A != B → 1</a:t>
            </a:r>
            <a:br>
              <a:rPr lang="en-SE" sz="2400" dirty="0"/>
            </a:br>
            <a:r>
              <a:rPr lang="en-SE" sz="2400" dirty="0"/>
              <a:t>	🟨 A &gt; B → 1</a:t>
            </a:r>
            <a:br>
              <a:rPr lang="en-SE" sz="2400" dirty="0"/>
            </a:br>
            <a:r>
              <a:rPr lang="en-SE" sz="2400" dirty="0"/>
              <a:t>	🟨 A &lt; B → 0</a:t>
            </a:r>
            <a:br>
              <a:rPr lang="en-SE" sz="2400" dirty="0"/>
            </a:br>
            <a:r>
              <a:rPr lang="en-SE" sz="2400" dirty="0"/>
              <a:t>	🟨 A &gt;= B → 1</a:t>
            </a:r>
            <a:br>
              <a:rPr lang="en-SE" sz="2400" dirty="0"/>
            </a:br>
            <a:r>
              <a:rPr lang="en-SE" sz="2400" dirty="0"/>
              <a:t>	🟨 A &lt;= B → 0</a:t>
            </a:r>
          </a:p>
          <a:p>
            <a:r>
              <a:rPr lang="en-SE" sz="2400" dirty="0"/>
              <a:t>➡️ Result</a:t>
            </a:r>
          </a:p>
          <a:p>
            <a:r>
              <a:rPr lang="en-SE" sz="2400"/>
              <a:t>	🔹 </a:t>
            </a:r>
            <a:r>
              <a:rPr lang="en-SE" sz="2400" dirty="0"/>
              <a:t>The program prints 1 for True and 0 for False.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216379" name="object 3"/>
          <p:cNvSpPr txBox="1"/>
          <p:nvPr/>
        </p:nvSpPr>
        <p:spPr bwMode="auto">
          <a:xfrm>
            <a:off x="380997" y="888075"/>
            <a:ext cx="12357084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dirty="0"/>
              <a:t>📌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Note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prints relational results as 1 or 0 by default.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1 means True.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0 means False.</a:t>
            </a:r>
            <a:endParaRPr lang="en-SE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</a:rPr>
              <a:t>🔹 #include &lt;</a:t>
            </a:r>
            <a:r>
              <a:rPr lang="en-GB" sz="2400" dirty="0" err="1">
                <a:solidFill>
                  <a:srgbClr val="000000"/>
                </a:solidFill>
                <a:latin typeface="Comic Sans MS"/>
              </a:rPr>
              <a:t>cmath</a:t>
            </a:r>
            <a:r>
              <a:rPr lang="en-GB" sz="2400" dirty="0">
                <a:solidFill>
                  <a:srgbClr val="000000"/>
                </a:solidFill>
                <a:latin typeface="Comic Sans MS"/>
              </a:rPr>
              <a:t>&gt; is not needed in this program because no functions from the </a:t>
            </a:r>
            <a:r>
              <a:rPr lang="en-GB" sz="2400" dirty="0" err="1">
                <a:solidFill>
                  <a:srgbClr val="000000"/>
                </a:solidFill>
                <a:latin typeface="Comic Sans MS"/>
              </a:rPr>
              <a:t>cmath</a:t>
            </a:r>
            <a:r>
              <a:rPr lang="en-GB" sz="2400" dirty="0">
                <a:solidFill>
                  <a:srgbClr val="000000"/>
                </a:solidFill>
                <a:latin typeface="Comic Sans MS"/>
              </a:rPr>
              <a:t> library are used.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738181" name="object 3"/>
          <p:cNvSpPr txBox="1"/>
          <p:nvPr/>
        </p:nvSpPr>
        <p:spPr bwMode="auto">
          <a:xfrm>
            <a:off x="380997" y="888075"/>
            <a:ext cx="12359604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= with ==.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= assigns a value, while == compares two values.</a:t>
            </a:r>
            <a:endParaRPr lang="en-GB" sz="2400" dirty="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963492" name="object 3"/>
          <p:cNvSpPr txBox="1"/>
          <p:nvPr/>
        </p:nvSpPr>
        <p:spPr bwMode="auto">
          <a:xfrm>
            <a:off x="380997" y="888075"/>
            <a:ext cx="12360324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Assignment operator.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Assigns a value to a variable.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Example: A = 10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==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Relational operator.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Compares two values.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Example: A == 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661150" name="object 3"/>
          <p:cNvSpPr txBox="1"/>
          <p:nvPr/>
        </p:nvSpPr>
        <p:spPr bwMode="auto">
          <a:xfrm>
            <a:off x="380997" y="888075"/>
            <a:ext cx="12377964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Relational operators compare two values.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main relational operators are ==, !=, &gt;, &lt;, &gt;=, and &lt;=.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result of a relational comparison is True or False, represented by 1 or 0.</a:t>
            </a:r>
            <a:endParaRPr lang="en-GB" sz="2400" b="0" i="0" u="none" strike="noStrike" cap="none" spc="0" dirty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79531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/>
    </mc:Choice>
    <mc:Fallback>
      <p:transition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624</Words>
  <Application>ONLYOFFICE/9.4.0.129</Application>
  <PresentationFormat>On-screen Show (4:3)</PresentationFormat>
  <Paragraphs>101</Paragraphs>
  <Slides>12</Slides>
  <Notes>12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244</cp:revision>
  <dcterms:created xsi:type="dcterms:W3CDTF">2025-12-09T17:44:59Z</dcterms:created>
  <dcterms:modified xsi:type="dcterms:W3CDTF">2026-09-15T07:14:56Z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