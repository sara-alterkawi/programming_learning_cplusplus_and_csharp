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2.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1" r:id="rId2"/>
    <p:sldId id="257" r:id="rId3"/>
    <p:sldId id="333" r:id="rId4"/>
    <p:sldId id="342" r:id="rId5"/>
    <p:sldId id="339" r:id="rId6"/>
    <p:sldId id="349" r:id="rId7"/>
    <p:sldId id="347" r:id="rId8"/>
    <p:sldId id="346" r:id="rId9"/>
    <p:sldId id="350" r:id="rId10"/>
    <p:sldId id="332" r:id="rId11"/>
    <p:sldId id="313" r:id="rId12"/>
  </p:sldIdLst>
  <p:sldSz cx="13411200" cy="10058400"/>
  <p:notesSz cx="7772400" cy="10058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37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62626"/>
    <a:srgbClr val="29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1" d="100"/>
          <a:sy n="41" d="100"/>
        </p:scale>
        <p:origin x="15" y="438"/>
      </p:cViewPr>
      <p:guideLst>
        <p:guide orient="horz" pos="2880"/>
        <p:guide pos="372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05840" y="3118104"/>
            <a:ext cx="11399520" cy="902876"/>
          </a:xfrm>
          <a:prstGeom prst="rect">
            <a:avLst/>
          </a:prstGeom>
        </p:spPr>
        <p:txBody>
          <a:bodyPr wrap="square" lIns="0" tIns="0" rIns="0" bIns="0">
            <a:spAutoFit/>
          </a:bodyPr>
          <a:lstStyle>
            <a:lvl1pPr>
              <a:defRPr sz="5867" b="0" i="0">
                <a:solidFill>
                  <a:srgbClr val="FF0000"/>
                </a:solidFill>
                <a:latin typeface="Calibri"/>
                <a:cs typeface="Calibri"/>
              </a:defRPr>
            </a:lvl1pPr>
          </a:lstStyle>
          <a:p>
            <a:endParaRPr/>
          </a:p>
        </p:txBody>
      </p:sp>
      <p:sp>
        <p:nvSpPr>
          <p:cNvPr id="3" name="Holder 3"/>
          <p:cNvSpPr>
            <a:spLocks noGrp="1"/>
          </p:cNvSpPr>
          <p:nvPr>
            <p:ph type="subTitle" idx="4"/>
          </p:nvPr>
        </p:nvSpPr>
        <p:spPr>
          <a:xfrm>
            <a:off x="2011680" y="5632706"/>
            <a:ext cx="9387840" cy="477951"/>
          </a:xfrm>
          <a:prstGeom prst="rect">
            <a:avLst/>
          </a:prstGeom>
        </p:spPr>
        <p:txBody>
          <a:bodyPr wrap="square" lIns="0" tIns="0" rIns="0" bIns="0">
            <a:spAutoFit/>
          </a:bodyPr>
          <a:lstStyle>
            <a:lvl1pPr>
              <a:defRPr sz="3106"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31334" y="2514600"/>
            <a:ext cx="12753788" cy="4142104"/>
          </a:xfrm>
          <a:custGeom>
            <a:avLst/>
            <a:gdLst/>
            <a:ahLst/>
            <a:cxnLst/>
            <a:rect l="l" t="t" r="r" b="b"/>
            <a:pathLst>
              <a:path w="7391400" h="4142104">
                <a:moveTo>
                  <a:pt x="0" y="4141597"/>
                </a:moveTo>
                <a:lnTo>
                  <a:pt x="7391146" y="4141597"/>
                </a:lnTo>
                <a:lnTo>
                  <a:pt x="7391146" y="0"/>
                </a:lnTo>
                <a:lnTo>
                  <a:pt x="0" y="0"/>
                </a:lnTo>
                <a:lnTo>
                  <a:pt x="0" y="4141597"/>
                </a:lnTo>
                <a:close/>
              </a:path>
            </a:pathLst>
          </a:custGeom>
          <a:ln w="12192">
            <a:solidFill>
              <a:srgbClr val="000000"/>
            </a:solidFill>
          </a:ln>
        </p:spPr>
        <p:txBody>
          <a:bodyPr wrap="square" lIns="0" tIns="0" rIns="0" bIns="0" rtlCol="0"/>
          <a:lstStyle/>
          <a:p>
            <a:endParaRPr/>
          </a:p>
        </p:txBody>
      </p:sp>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type="body" idx="1"/>
          </p:nvPr>
        </p:nvSpPr>
        <p:spPr>
          <a:xfrm>
            <a:off x="617089" y="3228215"/>
            <a:ext cx="7643507" cy="477951"/>
          </a:xfrm>
        </p:spPr>
        <p:txBody>
          <a:bodyPr lIns="0" tIns="0" rIns="0" bIns="0"/>
          <a:lstStyle>
            <a:lvl1pPr>
              <a:defRPr sz="3106"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sz="half" idx="2"/>
          </p:nvPr>
        </p:nvSpPr>
        <p:spPr>
          <a:xfrm>
            <a:off x="670560" y="2313434"/>
            <a:ext cx="5833872"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906768" y="2313434"/>
            <a:ext cx="5833872"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 y="2209800"/>
            <a:ext cx="13411198" cy="5081016"/>
          </a:xfrm>
          <a:prstGeom prst="rect">
            <a:avLst/>
          </a:prstGeom>
        </p:spPr>
      </p:pic>
      <p:sp>
        <p:nvSpPr>
          <p:cNvPr id="17" name="bg object 17"/>
          <p:cNvSpPr/>
          <p:nvPr/>
        </p:nvSpPr>
        <p:spPr>
          <a:xfrm>
            <a:off x="105186" y="3901439"/>
            <a:ext cx="13306014" cy="789940"/>
          </a:xfrm>
          <a:custGeom>
            <a:avLst/>
            <a:gdLst/>
            <a:ahLst/>
            <a:cxnLst/>
            <a:rect l="l" t="t" r="r" b="b"/>
            <a:pathLst>
              <a:path w="7711440" h="789939">
                <a:moveTo>
                  <a:pt x="0" y="789431"/>
                </a:moveTo>
                <a:lnTo>
                  <a:pt x="7711440" y="789431"/>
                </a:lnTo>
                <a:lnTo>
                  <a:pt x="7711440" y="0"/>
                </a:lnTo>
                <a:lnTo>
                  <a:pt x="0" y="0"/>
                </a:lnTo>
                <a:lnTo>
                  <a:pt x="0" y="789431"/>
                </a:lnTo>
                <a:close/>
              </a:path>
            </a:pathLst>
          </a:custGeom>
          <a:ln w="12191">
            <a:solidFill>
              <a:srgbClr val="000000"/>
            </a:solidFill>
          </a:ln>
        </p:spPr>
        <p:txBody>
          <a:bodyPr wrap="square" lIns="0" tIns="0" rIns="0" bIns="0" rtlCol="0"/>
          <a:lstStyle/>
          <a:p>
            <a:endParaRPr/>
          </a:p>
        </p:txBody>
      </p:sp>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117587" y="3823463"/>
            <a:ext cx="7712317" cy="523220"/>
          </a:xfrm>
          <a:prstGeom prst="rect">
            <a:avLst/>
          </a:prstGeom>
        </p:spPr>
        <p:txBody>
          <a:bodyPr wrap="square" lIns="0" tIns="0" rIns="0" bIns="0">
            <a:spAutoFit/>
          </a:bodyPr>
          <a:lstStyle>
            <a:lvl1pPr>
              <a:defRPr sz="3400" b="0" i="0">
                <a:solidFill>
                  <a:srgbClr val="FF0000"/>
                </a:solidFill>
                <a:latin typeface="Calibri"/>
                <a:cs typeface="Calibri"/>
              </a:defRPr>
            </a:lvl1pPr>
          </a:lstStyle>
          <a:p>
            <a:endParaRPr/>
          </a:p>
        </p:txBody>
      </p:sp>
      <p:sp>
        <p:nvSpPr>
          <p:cNvPr id="3" name="Holder 3"/>
          <p:cNvSpPr>
            <a:spLocks noGrp="1"/>
          </p:cNvSpPr>
          <p:nvPr>
            <p:ph type="body" idx="1"/>
          </p:nvPr>
        </p:nvSpPr>
        <p:spPr>
          <a:xfrm>
            <a:off x="617089" y="3228213"/>
            <a:ext cx="7643507" cy="276999"/>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559808" y="9354314"/>
            <a:ext cx="4291584"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70560" y="9354314"/>
            <a:ext cx="3084576"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a:xfrm>
            <a:off x="9656064" y="9354314"/>
            <a:ext cx="3084576"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7">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bodyStyle>
    <p:other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7">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8EB70-F102-BAB5-31FD-19FC3742A4BC}"/>
            </a:ext>
          </a:extLst>
        </p:cNvPr>
        <p:cNvGrpSpPr/>
        <p:nvPr/>
      </p:nvGrpSpPr>
      <p:grpSpPr>
        <a:xfrm>
          <a:off x="0" y="0"/>
          <a:ext cx="0" cy="0"/>
          <a:chOff x="0" y="0"/>
          <a:chExt cx="0" cy="0"/>
        </a:xfrm>
      </p:grpSpPr>
      <p:sp>
        <p:nvSpPr>
          <p:cNvPr id="46" name="object 46">
            <a:extLst>
              <a:ext uri="{FF2B5EF4-FFF2-40B4-BE49-F238E27FC236}">
                <a16:creationId xmlns:a16="http://schemas.microsoft.com/office/drawing/2014/main" id="{1FBE4D91-85C7-0256-4A79-65056ECD04F4}"/>
              </a:ext>
            </a:extLst>
          </p:cNvPr>
          <p:cNvSpPr txBox="1">
            <a:spLocks noGrp="1"/>
          </p:cNvSpPr>
          <p:nvPr>
            <p:ph type="sldNum" sz="quarter" idx="7"/>
          </p:nvPr>
        </p:nvSpPr>
        <p:spPr>
          <a:xfrm>
            <a:off x="22501110" y="12821186"/>
            <a:ext cx="518023" cy="294953"/>
          </a:xfrm>
          <a:prstGeom prst="rect">
            <a:avLst/>
          </a:prstGeom>
        </p:spPr>
        <p:txBody>
          <a:bodyPr vert="horz" wrap="square" lIns="0" tIns="0" rIns="0" bIns="0" rtlCol="0">
            <a:spAutoFit/>
          </a:bodyPr>
          <a:lstStyle/>
          <a:p>
            <a:pPr marL="65742">
              <a:lnSpc>
                <a:spcPts val="2260"/>
              </a:lnSpc>
            </a:pPr>
            <a:fld id="{81D60167-4931-47E6-BA6A-407CBD079E47}" type="slidenum">
              <a:rPr spc="-86" dirty="0"/>
              <a:pPr marL="65742">
                <a:lnSpc>
                  <a:spcPts val="2260"/>
                </a:lnSpc>
              </a:pPr>
              <a:t>1</a:t>
            </a:fld>
            <a:endParaRPr spc="-86" dirty="0"/>
          </a:p>
        </p:txBody>
      </p:sp>
      <p:pic>
        <p:nvPicPr>
          <p:cNvPr id="47" name="object 25">
            <a:extLst>
              <a:ext uri="{FF2B5EF4-FFF2-40B4-BE49-F238E27FC236}">
                <a16:creationId xmlns:a16="http://schemas.microsoft.com/office/drawing/2014/main" id="{98B72FCF-C42A-5F3E-FCAD-5FE306171E0D}"/>
              </a:ext>
            </a:extLst>
          </p:cNvPr>
          <p:cNvPicPr/>
          <p:nvPr/>
        </p:nvPicPr>
        <p:blipFill>
          <a:blip r:embed="rId2">
            <a:extLst>
              <a:ext uri="{28A0092B-C50C-407E-A947-70E740481C1C}">
                <a14:useLocalDpi xmlns:a14="http://schemas.microsoft.com/office/drawing/2010/main" val="0"/>
              </a:ext>
            </a:extLst>
          </a:blip>
          <a:srcRect t="17" b="17"/>
          <a:stretch/>
        </p:blipFill>
        <p:spPr>
          <a:xfrm>
            <a:off x="1" y="457200"/>
            <a:ext cx="13411199" cy="9021482"/>
          </a:xfrm>
          <a:prstGeom prst="rect">
            <a:avLst/>
          </a:prstGeom>
        </p:spPr>
      </p:pic>
      <p:sp>
        <p:nvSpPr>
          <p:cNvPr id="2" name="object 30">
            <a:extLst>
              <a:ext uri="{FF2B5EF4-FFF2-40B4-BE49-F238E27FC236}">
                <a16:creationId xmlns:a16="http://schemas.microsoft.com/office/drawing/2014/main" id="{F0FF3176-3F91-64FC-E68E-9BEFB7D9E6B1}"/>
              </a:ext>
            </a:extLst>
          </p:cNvPr>
          <p:cNvSpPr txBox="1"/>
          <p:nvPr/>
        </p:nvSpPr>
        <p:spPr>
          <a:xfrm>
            <a:off x="0" y="3338091"/>
            <a:ext cx="13411198" cy="1603003"/>
          </a:xfrm>
          <a:prstGeom prst="rect">
            <a:avLst/>
          </a:prstGeom>
          <a:ln w="12953">
            <a:noFill/>
          </a:ln>
        </p:spPr>
        <p:txBody>
          <a:bodyPr vert="horz" wrap="square" lIns="0" tIns="0" rIns="0" bIns="0" rtlCol="0">
            <a:spAutoFit/>
          </a:bodyPr>
          <a:lstStyle/>
          <a:p>
            <a:pPr marL="2089760" algn="ctr">
              <a:spcBef>
                <a:spcPts val="505"/>
              </a:spcBef>
            </a:pPr>
            <a:r>
              <a:rPr lang="en-GB" sz="5000" b="1" dirty="0">
                <a:solidFill>
                  <a:srgbClr val="FFCE53"/>
                </a:solidFill>
                <a:latin typeface="Comic Sans MS"/>
              </a:rPr>
              <a:t>Algorithms &amp; Problem-Solving</a:t>
            </a:r>
          </a:p>
          <a:p>
            <a:pPr marL="2089760" algn="ctr">
              <a:spcBef>
                <a:spcPts val="505"/>
              </a:spcBef>
            </a:pPr>
            <a:r>
              <a:rPr lang="en-GB" sz="5000" b="1" dirty="0">
                <a:solidFill>
                  <a:schemeClr val="bg1"/>
                </a:solidFill>
                <a:latin typeface="Comic Sans MS"/>
                <a:cs typeface="Comic Sans MS"/>
              </a:rPr>
              <a:t>Level 4</a:t>
            </a:r>
          </a:p>
        </p:txBody>
      </p:sp>
    </p:spTree>
    <p:extLst>
      <p:ext uri="{BB962C8B-B14F-4D97-AF65-F5344CB8AC3E}">
        <p14:creationId xmlns:p14="http://schemas.microsoft.com/office/powerpoint/2010/main" val="12767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957" y="645359"/>
            <a:ext cx="13422157" cy="8767682"/>
            <a:chOff x="0" y="2209800"/>
            <a:chExt cx="7778750" cy="5081270"/>
          </a:xfrm>
        </p:grpSpPr>
        <p:pic>
          <p:nvPicPr>
            <p:cNvPr id="3" name="object 3"/>
            <p:cNvPicPr/>
            <p:nvPr/>
          </p:nvPicPr>
          <p:blipFill>
            <a:blip r:embed="rId2" cstate="print"/>
            <a:stretch>
              <a:fillRect/>
            </a:stretch>
          </p:blipFill>
          <p:spPr>
            <a:xfrm>
              <a:off x="0" y="2209800"/>
              <a:ext cx="7772399" cy="5081016"/>
            </a:xfrm>
            <a:prstGeom prst="rect">
              <a:avLst/>
            </a:prstGeom>
          </p:spPr>
        </p:pic>
        <p:sp>
          <p:nvSpPr>
            <p:cNvPr id="4" name="object 4"/>
            <p:cNvSpPr/>
            <p:nvPr/>
          </p:nvSpPr>
          <p:spPr>
            <a:xfrm>
              <a:off x="60960" y="3901439"/>
              <a:ext cx="7711440" cy="1264920"/>
            </a:xfrm>
            <a:custGeom>
              <a:avLst/>
              <a:gdLst/>
              <a:ahLst/>
              <a:cxnLst/>
              <a:rect l="l" t="t" r="r" b="b"/>
              <a:pathLst>
                <a:path w="7711440" h="1264920">
                  <a:moveTo>
                    <a:pt x="0" y="1264919"/>
                  </a:moveTo>
                  <a:lnTo>
                    <a:pt x="7711440" y="1264919"/>
                  </a:lnTo>
                  <a:lnTo>
                    <a:pt x="7711440" y="0"/>
                  </a:lnTo>
                  <a:lnTo>
                    <a:pt x="0" y="0"/>
                  </a:lnTo>
                  <a:lnTo>
                    <a:pt x="0" y="1264919"/>
                  </a:lnTo>
                  <a:close/>
                </a:path>
              </a:pathLst>
            </a:custGeom>
            <a:ln w="12192">
              <a:solidFill>
                <a:srgbClr val="000000"/>
              </a:solidFill>
            </a:ln>
          </p:spPr>
          <p:txBody>
            <a:bodyPr wrap="square" lIns="0" tIns="0" rIns="0" bIns="0" rtlCol="0"/>
            <a:lstStyle/>
            <a:p>
              <a:endParaRPr/>
            </a:p>
          </p:txBody>
        </p:sp>
      </p:grpSp>
      <p:sp>
        <p:nvSpPr>
          <p:cNvPr id="8" name="object 8"/>
          <p:cNvSpPr txBox="1"/>
          <p:nvPr/>
        </p:nvSpPr>
        <p:spPr>
          <a:xfrm>
            <a:off x="13091697" y="12746337"/>
            <a:ext cx="182980" cy="352972"/>
          </a:xfrm>
          <a:prstGeom prst="rect">
            <a:avLst/>
          </a:prstGeom>
        </p:spPr>
        <p:txBody>
          <a:bodyPr vert="horz" wrap="square" lIns="0" tIns="20818" rIns="0" bIns="0" rtlCol="0">
            <a:spAutoFit/>
          </a:bodyPr>
          <a:lstStyle/>
          <a:p>
            <a:pPr marL="21914">
              <a:spcBef>
                <a:spcPts val="164"/>
              </a:spcBef>
            </a:pPr>
            <a:r>
              <a:rPr sz="2157" spc="-86" dirty="0">
                <a:latin typeface="Calibri"/>
                <a:cs typeface="Calibri"/>
              </a:rPr>
              <a:t>2</a:t>
            </a:r>
            <a:endParaRPr sz="2157">
              <a:latin typeface="Calibri"/>
              <a:cs typeface="Calibri"/>
            </a:endParaRPr>
          </a:p>
        </p:txBody>
      </p:sp>
      <p:sp>
        <p:nvSpPr>
          <p:cNvPr id="9" name="object 30">
            <a:extLst>
              <a:ext uri="{FF2B5EF4-FFF2-40B4-BE49-F238E27FC236}">
                <a16:creationId xmlns:a16="http://schemas.microsoft.com/office/drawing/2014/main" id="{3AA9CB0E-53FA-ACBF-E593-FD91CDBB5BFF}"/>
              </a:ext>
            </a:extLst>
          </p:cNvPr>
          <p:cNvSpPr txBox="1"/>
          <p:nvPr/>
        </p:nvSpPr>
        <p:spPr>
          <a:xfrm>
            <a:off x="106432" y="3084218"/>
            <a:ext cx="13304768" cy="1779974"/>
          </a:xfrm>
          <a:prstGeom prst="rect">
            <a:avLst/>
          </a:prstGeom>
          <a:ln w="12953">
            <a:noFill/>
          </a:ln>
        </p:spPr>
        <p:txBody>
          <a:bodyPr vert="horz" wrap="square" lIns="0" tIns="0" rIns="0" bIns="0" rtlCol="0">
            <a:spAutoFit/>
          </a:bodyPr>
          <a:lstStyle/>
          <a:p>
            <a:pPr marL="2786346" algn="ctr">
              <a:spcBef>
                <a:spcPts val="673"/>
              </a:spcBef>
            </a:pPr>
            <a:r>
              <a:rPr lang="en-GB" sz="4000" spc="-17" dirty="0">
                <a:solidFill>
                  <a:srgbClr val="FFFFFF"/>
                </a:solidFill>
                <a:latin typeface="Comic Sans MS"/>
                <a:cs typeface="Comic Sans MS"/>
              </a:rPr>
              <a:t>Algorithms &amp; Problem Solving</a:t>
            </a:r>
          </a:p>
          <a:p>
            <a:pPr marL="2786346" algn="ctr">
              <a:spcBef>
                <a:spcPts val="673"/>
              </a:spcBef>
            </a:pPr>
            <a:r>
              <a:rPr lang="sv-SE" sz="2400" spc="-17" dirty="0" err="1">
                <a:solidFill>
                  <a:srgbClr val="FFFFFF"/>
                </a:solidFill>
                <a:latin typeface="Comic Sans MS"/>
                <a:cs typeface="Comic Sans MS"/>
              </a:rPr>
              <a:t>Level</a:t>
            </a:r>
            <a:r>
              <a:rPr lang="sv-SE" sz="2400" spc="-17" dirty="0">
                <a:solidFill>
                  <a:srgbClr val="FFFFFF"/>
                </a:solidFill>
                <a:latin typeface="Comic Sans MS"/>
                <a:cs typeface="Comic Sans MS"/>
              </a:rPr>
              <a:t> 4</a:t>
            </a:r>
          </a:p>
          <a:p>
            <a:pPr marL="2786346" algn="ctr">
              <a:spcBef>
                <a:spcPts val="673"/>
              </a:spcBef>
            </a:pPr>
            <a:r>
              <a:rPr lang="en-GB" sz="4000" b="1" dirty="0">
                <a:solidFill>
                  <a:srgbClr val="FFCE53"/>
                </a:solidFill>
                <a:latin typeface="Comic Sans MS"/>
                <a:cs typeface="Comic Sans MS"/>
              </a:rPr>
              <a:t>Month Calendar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3266C84-96DF-4E4E-6F8B-91A05446CAA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FC5D9C1-B6BF-65E1-D3D6-95868F3F585A}"/>
              </a:ext>
            </a:extLst>
          </p:cNvPr>
          <p:cNvSpPr txBox="1"/>
          <p:nvPr/>
        </p:nvSpPr>
        <p:spPr>
          <a:xfrm>
            <a:off x="381000" y="888075"/>
            <a:ext cx="12352767" cy="2556658"/>
          </a:xfrm>
          <a:prstGeom prst="rect">
            <a:avLst/>
          </a:prstGeom>
        </p:spPr>
        <p:txBody>
          <a:bodyPr vert="horz" wrap="square" lIns="0" tIns="154492" rIns="0" bIns="0" rtlCol="0">
            <a:spAutoFit/>
          </a:bodyPr>
          <a:lstStyle/>
          <a:p>
            <a:r>
              <a:rPr lang="en-GB" sz="4000" b="1" spc="-17" dirty="0">
                <a:solidFill>
                  <a:schemeClr val="tx1"/>
                </a:solidFill>
                <a:latin typeface="Comic Sans MS"/>
                <a:cs typeface="Comic Sans MS"/>
              </a:rPr>
              <a:t>🔎 Definition</a:t>
            </a:r>
          </a:p>
          <a:p>
            <a:pPr marL="21912">
              <a:spcBef>
                <a:spcPts val="1216"/>
              </a:spcBef>
            </a:pPr>
            <a:endParaRPr lang="en-GB" sz="2400" spc="-17" dirty="0">
              <a:solidFill>
                <a:schemeClr val="tx1"/>
              </a:solidFill>
              <a:latin typeface="Comic Sans MS"/>
              <a:cs typeface="Comic Sans MS"/>
            </a:endParaRPr>
          </a:p>
          <a:p>
            <a:pPr marL="21912">
              <a:spcBef>
                <a:spcPts val="1216"/>
              </a:spcBef>
            </a:pPr>
            <a:r>
              <a:rPr lang="en-GB" sz="2400" spc="-17" dirty="0">
                <a:solidFill>
                  <a:schemeClr val="tx1"/>
                </a:solidFill>
                <a:latin typeface="Comic Sans MS"/>
                <a:cs typeface="Comic Sans MS"/>
              </a:rPr>
              <a:t>🟨 The goal is a program that prints a calendar for a specific month of a specific year, 	displaying the days in a coordinated manner starting from the correct day of the 	week (Sunday to Saturday).</a:t>
            </a:r>
          </a:p>
        </p:txBody>
      </p:sp>
    </p:spTree>
    <p:extLst>
      <p:ext uri="{BB962C8B-B14F-4D97-AF65-F5344CB8AC3E}">
        <p14:creationId xmlns:p14="http://schemas.microsoft.com/office/powerpoint/2010/main" val="4046665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C7737A9-AB32-4756-AD77-A751F49BEFA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E1AED49-D0E4-C08B-5871-46A936F8C83D}"/>
              </a:ext>
            </a:extLst>
          </p:cNvPr>
          <p:cNvSpPr txBox="1"/>
          <p:nvPr/>
        </p:nvSpPr>
        <p:spPr>
          <a:xfrm>
            <a:off x="381000" y="888075"/>
            <a:ext cx="12352767" cy="2556658"/>
          </a:xfrm>
          <a:prstGeom prst="rect">
            <a:avLst/>
          </a:prstGeom>
        </p:spPr>
        <p:txBody>
          <a:bodyPr vert="horz" wrap="square" lIns="0" tIns="154492" rIns="0" bIns="0" rtlCol="0">
            <a:spAutoFit/>
          </a:bodyPr>
          <a:lstStyle/>
          <a:p>
            <a:pPr marL="21912">
              <a:spcBef>
                <a:spcPts val="1216"/>
              </a:spcBef>
            </a:pPr>
            <a:r>
              <a:rPr lang="en-GB" sz="4000" b="1" spc="-17" dirty="0">
                <a:solidFill>
                  <a:schemeClr val="tx1"/>
                </a:solidFill>
                <a:latin typeface="Comic Sans MS"/>
                <a:cs typeface="Comic Sans MS"/>
              </a:rPr>
              <a:t>📖 Explanation</a:t>
            </a:r>
          </a:p>
          <a:p>
            <a:pPr marL="21912">
              <a:spcBef>
                <a:spcPts val="1216"/>
              </a:spcBef>
            </a:pPr>
            <a:endParaRPr lang="en-GB" sz="2400" spc="-17" dirty="0">
              <a:solidFill>
                <a:schemeClr val="tx1"/>
              </a:solidFill>
              <a:latin typeface="Comic Sans MS"/>
              <a:cs typeface="Comic Sans MS"/>
            </a:endParaRPr>
          </a:p>
          <a:p>
            <a:pPr marL="21912">
              <a:spcBef>
                <a:spcPts val="1216"/>
              </a:spcBef>
            </a:pPr>
            <a:r>
              <a:rPr lang="en-GB" sz="2400" spc="-17" dirty="0">
                <a:solidFill>
                  <a:schemeClr val="tx1"/>
                </a:solidFill>
                <a:latin typeface="Comic Sans MS"/>
                <a:cs typeface="Comic Sans MS"/>
              </a:rPr>
              <a:t>🟨 The program is based on determining the day that the month begins on (e.g., 	Thursday or Sunday), then printing the days in order with the appropriate spaces 	before the first day.</a:t>
            </a:r>
          </a:p>
        </p:txBody>
      </p:sp>
    </p:spTree>
    <p:extLst>
      <p:ext uri="{BB962C8B-B14F-4D97-AF65-F5344CB8AC3E}">
        <p14:creationId xmlns:p14="http://schemas.microsoft.com/office/powerpoint/2010/main" val="196038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BF0CD4-0319-9496-8478-267F28598EE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2F894D4-F401-E6A7-0F75-B717EFD319F6}"/>
              </a:ext>
            </a:extLst>
          </p:cNvPr>
          <p:cNvSpPr txBox="1"/>
          <p:nvPr/>
        </p:nvSpPr>
        <p:spPr>
          <a:xfrm>
            <a:off x="381000" y="888075"/>
            <a:ext cx="12352767" cy="9266187"/>
          </a:xfrm>
          <a:prstGeom prst="rect">
            <a:avLst/>
          </a:prstGeom>
        </p:spPr>
        <p:txBody>
          <a:bodyPr vert="horz" wrap="square" lIns="0" tIns="154492" rIns="0" bIns="0" rtlCol="0">
            <a:spAutoFit/>
          </a:bodyPr>
          <a:lstStyle/>
          <a:p>
            <a:r>
              <a:rPr lang="en-GB" sz="4000" b="1" spc="-17" dirty="0">
                <a:solidFill>
                  <a:schemeClr val="tx1"/>
                </a:solidFill>
                <a:latin typeface="Comic Sans MS"/>
              </a:rPr>
              <a:t>🟦 Procedures</a:t>
            </a:r>
          </a:p>
          <a:p>
            <a:endParaRPr lang="en-GB" sz="2400" spc="-17" dirty="0">
              <a:solidFill>
                <a:schemeClr val="tx1"/>
              </a:solidFill>
              <a:latin typeface="Comic Sans MS"/>
            </a:endParaRPr>
          </a:p>
          <a:p>
            <a:r>
              <a:rPr lang="en-GB" sz="2400" spc="-17" dirty="0">
                <a:solidFill>
                  <a:schemeClr val="tx1"/>
                </a:solidFill>
                <a:latin typeface="Comic Sans MS"/>
              </a:rPr>
              <a:t>1️⃣ The </a:t>
            </a:r>
            <a:r>
              <a:rPr lang="en-GB" sz="2400" spc="-17" dirty="0" err="1">
                <a:solidFill>
                  <a:schemeClr val="tx1"/>
                </a:solidFill>
                <a:latin typeface="Comic Sans MS"/>
              </a:rPr>
              <a:t>ReadYear</a:t>
            </a:r>
            <a:r>
              <a:rPr lang="en-GB" sz="2400" spc="-17" dirty="0">
                <a:solidFill>
                  <a:schemeClr val="tx1"/>
                </a:solidFill>
                <a:latin typeface="Comic Sans MS"/>
              </a:rPr>
              <a:t>() function</a:t>
            </a:r>
          </a:p>
          <a:p>
            <a:r>
              <a:rPr lang="en-GB" sz="2400" spc="-17" dirty="0">
                <a:solidFill>
                  <a:schemeClr val="tx1"/>
                </a:solidFill>
                <a:latin typeface="Comic Sans MS"/>
              </a:rPr>
              <a:t>	🟩 Requires the user to enter the year.</a:t>
            </a:r>
          </a:p>
          <a:p>
            <a:r>
              <a:rPr lang="en-GB" sz="2400" spc="-17" dirty="0">
                <a:solidFill>
                  <a:schemeClr val="tx1"/>
                </a:solidFill>
                <a:latin typeface="Comic Sans MS"/>
              </a:rPr>
              <a:t>2️⃣ The </a:t>
            </a:r>
            <a:r>
              <a:rPr lang="en-GB" sz="2400" spc="-17" dirty="0" err="1">
                <a:solidFill>
                  <a:schemeClr val="tx1"/>
                </a:solidFill>
                <a:latin typeface="Comic Sans MS"/>
              </a:rPr>
              <a:t>ReadMonth</a:t>
            </a:r>
            <a:r>
              <a:rPr lang="en-GB" sz="2400" spc="-17" dirty="0">
                <a:solidFill>
                  <a:schemeClr val="tx1"/>
                </a:solidFill>
                <a:latin typeface="Comic Sans MS"/>
              </a:rPr>
              <a:t>() function</a:t>
            </a:r>
          </a:p>
          <a:p>
            <a:r>
              <a:rPr lang="en-GB" sz="2400" spc="-17" dirty="0">
                <a:solidFill>
                  <a:schemeClr val="tx1"/>
                </a:solidFill>
                <a:latin typeface="Comic Sans MS"/>
              </a:rPr>
              <a:t>	🟩 Reads the month number from the user (from 1 to 12).</a:t>
            </a:r>
          </a:p>
          <a:p>
            <a:r>
              <a:rPr lang="en-GB" sz="2400" spc="-17" dirty="0">
                <a:solidFill>
                  <a:schemeClr val="tx1"/>
                </a:solidFill>
                <a:latin typeface="Comic Sans MS"/>
              </a:rPr>
              <a:t>3️⃣ The </a:t>
            </a:r>
            <a:r>
              <a:rPr lang="en-GB" sz="2400" spc="-17" dirty="0" err="1">
                <a:solidFill>
                  <a:schemeClr val="tx1"/>
                </a:solidFill>
                <a:latin typeface="Comic Sans MS"/>
              </a:rPr>
              <a:t>IsLeapYear</a:t>
            </a:r>
            <a:r>
              <a:rPr lang="en-GB" sz="2400" spc="-17" dirty="0">
                <a:solidFill>
                  <a:schemeClr val="tx1"/>
                </a:solidFill>
                <a:latin typeface="Comic Sans MS"/>
              </a:rPr>
              <a:t>(int year) function</a:t>
            </a:r>
          </a:p>
          <a:p>
            <a:r>
              <a:rPr lang="en-GB" sz="2400" spc="-17" dirty="0">
                <a:solidFill>
                  <a:schemeClr val="tx1"/>
                </a:solidFill>
                <a:latin typeface="Comic Sans MS"/>
              </a:rPr>
              <a:t>	🟩 Checks if the year is a leap year:</a:t>
            </a:r>
          </a:p>
          <a:p>
            <a:r>
              <a:rPr lang="en-GB" sz="2400" spc="-17" dirty="0">
                <a:solidFill>
                  <a:schemeClr val="tx1"/>
                </a:solidFill>
                <a:latin typeface="Comic Sans MS"/>
              </a:rPr>
              <a:t>		A year is a leap year if:</a:t>
            </a:r>
          </a:p>
          <a:p>
            <a:r>
              <a:rPr lang="en-GB" sz="2400" spc="-17" dirty="0">
                <a:solidFill>
                  <a:schemeClr val="tx1"/>
                </a:solidFill>
                <a:latin typeface="Comic Sans MS"/>
              </a:rPr>
              <a:t>		(year % 4 == 0 &amp;&amp; year % 100 != 0) || (year % 400 == 0)</a:t>
            </a:r>
          </a:p>
          <a:p>
            <a:r>
              <a:rPr lang="en-GB" sz="2400" spc="-17" dirty="0">
                <a:solidFill>
                  <a:schemeClr val="tx1"/>
                </a:solidFill>
                <a:latin typeface="Comic Sans MS"/>
              </a:rPr>
              <a:t>4️⃣ The </a:t>
            </a:r>
            <a:r>
              <a:rPr lang="en-GB" sz="2400" spc="-17" dirty="0" err="1">
                <a:solidFill>
                  <a:schemeClr val="tx1"/>
                </a:solidFill>
                <a:latin typeface="Comic Sans MS"/>
              </a:rPr>
              <a:t>NumberOfDaysInAMonth</a:t>
            </a:r>
            <a:r>
              <a:rPr lang="en-GB" sz="2400" spc="-17" dirty="0">
                <a:solidFill>
                  <a:schemeClr val="tx1"/>
                </a:solidFill>
                <a:latin typeface="Comic Sans MS"/>
              </a:rPr>
              <a:t>(int month, int year) function</a:t>
            </a:r>
          </a:p>
          <a:p>
            <a:r>
              <a:rPr lang="en-GB" sz="2400" spc="-17" dirty="0">
                <a:solidFill>
                  <a:schemeClr val="tx1"/>
                </a:solidFill>
                <a:latin typeface="Comic Sans MS"/>
              </a:rPr>
              <a:t>	🟩 Returns the number of days in the specified month, taking into account 			whether February has 28 or 29 days.</a:t>
            </a:r>
          </a:p>
          <a:p>
            <a:r>
              <a:rPr lang="en-GB" sz="2400" spc="-17" dirty="0">
                <a:solidFill>
                  <a:schemeClr val="tx1"/>
                </a:solidFill>
                <a:latin typeface="Comic Sans MS"/>
              </a:rPr>
              <a:t>5️⃣ The </a:t>
            </a:r>
            <a:r>
              <a:rPr lang="en-GB" sz="2400" spc="-17" dirty="0" err="1">
                <a:solidFill>
                  <a:schemeClr val="tx1"/>
                </a:solidFill>
                <a:latin typeface="Comic Sans MS"/>
              </a:rPr>
              <a:t>DayOfWeekOrder</a:t>
            </a:r>
            <a:r>
              <a:rPr lang="en-GB" sz="2400" spc="-17" dirty="0">
                <a:solidFill>
                  <a:schemeClr val="tx1"/>
                </a:solidFill>
                <a:latin typeface="Comic Sans MS"/>
              </a:rPr>
              <a:t>(int day, int month, int year) function</a:t>
            </a:r>
          </a:p>
          <a:p>
            <a:r>
              <a:rPr lang="en-GB" sz="2400" spc="-17" dirty="0">
                <a:solidFill>
                  <a:schemeClr val="tx1"/>
                </a:solidFill>
                <a:latin typeface="Comic Sans MS"/>
              </a:rPr>
              <a:t>	🟩 Calculates the day of the week using the formula:</a:t>
            </a:r>
          </a:p>
          <a:p>
            <a:r>
              <a:rPr lang="en-GB" sz="2400" spc="-17" dirty="0">
                <a:solidFill>
                  <a:schemeClr val="tx1"/>
                </a:solidFill>
                <a:latin typeface="Comic Sans MS"/>
              </a:rPr>
              <a:t>		(day + y + (y/4) - (y/100) + (y/400) + ((31 * m) / 12)) % 7;</a:t>
            </a:r>
          </a:p>
          <a:p>
            <a:r>
              <a:rPr lang="en-GB" sz="2400" spc="-17" dirty="0">
                <a:solidFill>
                  <a:schemeClr val="tx1"/>
                </a:solidFill>
                <a:latin typeface="Comic Sans MS"/>
              </a:rPr>
              <a:t>	🟩 Output:</a:t>
            </a:r>
          </a:p>
          <a:p>
            <a:r>
              <a:rPr lang="en-GB" sz="2400" spc="-17" dirty="0">
                <a:solidFill>
                  <a:schemeClr val="tx1"/>
                </a:solidFill>
                <a:latin typeface="Comic Sans MS"/>
              </a:rPr>
              <a:t>		0 = Sun, 1 = Mon, 2 = Tue, ... etc.</a:t>
            </a:r>
          </a:p>
          <a:p>
            <a:r>
              <a:rPr lang="en-GB" sz="2400" spc="-17" dirty="0">
                <a:solidFill>
                  <a:schemeClr val="tx1"/>
                </a:solidFill>
                <a:latin typeface="Comic Sans MS"/>
              </a:rPr>
              <a:t>6️⃣ The </a:t>
            </a:r>
            <a:r>
              <a:rPr lang="en-GB" sz="2400" spc="-17" dirty="0" err="1">
                <a:solidFill>
                  <a:schemeClr val="tx1"/>
                </a:solidFill>
                <a:latin typeface="Comic Sans MS"/>
              </a:rPr>
              <a:t>DayShortName</a:t>
            </a:r>
            <a:r>
              <a:rPr lang="en-GB" sz="2400" spc="-17" dirty="0">
                <a:solidFill>
                  <a:schemeClr val="tx1"/>
                </a:solidFill>
                <a:latin typeface="Comic Sans MS"/>
              </a:rPr>
              <a:t>(int </a:t>
            </a:r>
            <a:r>
              <a:rPr lang="en-GB" sz="2400" spc="-17" dirty="0" err="1">
                <a:solidFill>
                  <a:schemeClr val="tx1"/>
                </a:solidFill>
                <a:latin typeface="Comic Sans MS"/>
              </a:rPr>
              <a:t>dayOrder</a:t>
            </a:r>
            <a:r>
              <a:rPr lang="en-GB" sz="2400" spc="-17" dirty="0">
                <a:solidFill>
                  <a:schemeClr val="tx1"/>
                </a:solidFill>
                <a:latin typeface="Comic Sans MS"/>
              </a:rPr>
              <a:t>) function</a:t>
            </a:r>
          </a:p>
          <a:p>
            <a:r>
              <a:rPr lang="en-GB" sz="2400" spc="-17" dirty="0">
                <a:solidFill>
                  <a:schemeClr val="tx1"/>
                </a:solidFill>
                <a:latin typeface="Comic Sans MS"/>
              </a:rPr>
              <a:t>	🟩 Returns the shortened name of the day based on the following order:</a:t>
            </a:r>
          </a:p>
          <a:p>
            <a:r>
              <a:rPr lang="en-GB" sz="2400" spc="-17" dirty="0">
                <a:solidFill>
                  <a:schemeClr val="tx1"/>
                </a:solidFill>
                <a:latin typeface="Comic Sans MS"/>
              </a:rPr>
              <a:t>		"Sun", "Mon", "Tue", "Wed", "Thu", "Fri", "Sat"</a:t>
            </a:r>
          </a:p>
          <a:p>
            <a:r>
              <a:rPr lang="en-GB" sz="2400" spc="-17" dirty="0">
                <a:solidFill>
                  <a:schemeClr val="tx1"/>
                </a:solidFill>
                <a:latin typeface="Comic Sans MS"/>
              </a:rPr>
              <a:t>7️⃣ The </a:t>
            </a:r>
            <a:r>
              <a:rPr lang="en-GB" sz="2400" spc="-17" dirty="0" err="1">
                <a:solidFill>
                  <a:schemeClr val="tx1"/>
                </a:solidFill>
                <a:latin typeface="Comic Sans MS"/>
              </a:rPr>
              <a:t>MonthShortName</a:t>
            </a:r>
            <a:r>
              <a:rPr lang="en-GB" sz="2400" spc="-17" dirty="0">
                <a:solidFill>
                  <a:schemeClr val="tx1"/>
                </a:solidFill>
                <a:latin typeface="Comic Sans MS"/>
              </a:rPr>
              <a:t>(int </a:t>
            </a:r>
            <a:r>
              <a:rPr lang="en-GB" sz="2400" spc="-17" dirty="0" err="1">
                <a:solidFill>
                  <a:schemeClr val="tx1"/>
                </a:solidFill>
                <a:latin typeface="Comic Sans MS"/>
              </a:rPr>
              <a:t>monthNumber</a:t>
            </a:r>
            <a:r>
              <a:rPr lang="en-GB" sz="2400" spc="-17" dirty="0">
                <a:solidFill>
                  <a:schemeClr val="tx1"/>
                </a:solidFill>
                <a:latin typeface="Comic Sans MS"/>
              </a:rPr>
              <a:t>) function</a:t>
            </a:r>
          </a:p>
          <a:p>
            <a:r>
              <a:rPr lang="en-GB" sz="2400" spc="-17" dirty="0">
                <a:solidFill>
                  <a:schemeClr val="tx1"/>
                </a:solidFill>
                <a:latin typeface="Comic Sans MS"/>
              </a:rPr>
              <a:t>	🟩 Returns the shortened name of the month, such as:</a:t>
            </a:r>
          </a:p>
          <a:p>
            <a:r>
              <a:rPr lang="en-GB" sz="2400" spc="-17" dirty="0">
                <a:solidFill>
                  <a:schemeClr val="tx1"/>
                </a:solidFill>
                <a:latin typeface="Comic Sans MS"/>
              </a:rPr>
              <a:t>		"Jan", "Feb", "Mar", ..., "Dec"</a:t>
            </a:r>
          </a:p>
        </p:txBody>
      </p:sp>
    </p:spTree>
    <p:extLst>
      <p:ext uri="{BB962C8B-B14F-4D97-AF65-F5344CB8AC3E}">
        <p14:creationId xmlns:p14="http://schemas.microsoft.com/office/powerpoint/2010/main" val="2604268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03F6A37-0874-1762-0BD1-A0BDFCAC435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D2B88A2-8E05-0E9F-1046-01BAE485E350}"/>
              </a:ext>
            </a:extLst>
          </p:cNvPr>
          <p:cNvSpPr txBox="1"/>
          <p:nvPr/>
        </p:nvSpPr>
        <p:spPr>
          <a:xfrm>
            <a:off x="381000" y="888075"/>
            <a:ext cx="12352767" cy="2371992"/>
          </a:xfrm>
          <a:prstGeom prst="rect">
            <a:avLst/>
          </a:prstGeom>
        </p:spPr>
        <p:txBody>
          <a:bodyPr vert="horz" wrap="square" lIns="0" tIns="154492" rIns="0" bIns="0" rtlCol="0">
            <a:spAutoFit/>
          </a:bodyPr>
          <a:lstStyle/>
          <a:p>
            <a:r>
              <a:rPr lang="en-GB" sz="2400" spc="-17" dirty="0">
                <a:solidFill>
                  <a:schemeClr val="tx1"/>
                </a:solidFill>
                <a:latin typeface="Comic Sans MS"/>
              </a:rPr>
              <a:t>8️⃣ The </a:t>
            </a:r>
            <a:r>
              <a:rPr lang="en-GB" sz="2400" spc="-17" dirty="0" err="1">
                <a:solidFill>
                  <a:schemeClr val="tx1"/>
                </a:solidFill>
                <a:latin typeface="Comic Sans MS"/>
              </a:rPr>
              <a:t>PrintMonthCalendar</a:t>
            </a:r>
            <a:r>
              <a:rPr lang="en-GB" sz="2400" spc="-17" dirty="0">
                <a:solidFill>
                  <a:schemeClr val="tx1"/>
                </a:solidFill>
                <a:latin typeface="Comic Sans MS"/>
              </a:rPr>
              <a:t>(int month, int year) function</a:t>
            </a:r>
          </a:p>
          <a:p>
            <a:r>
              <a:rPr lang="en-GB" sz="2400" spc="-17" dirty="0">
                <a:solidFill>
                  <a:schemeClr val="tx1"/>
                </a:solidFill>
                <a:latin typeface="Comic Sans MS"/>
              </a:rPr>
              <a:t>	🟩 Displays the calendar as follows:</a:t>
            </a:r>
          </a:p>
          <a:p>
            <a:r>
              <a:rPr lang="en-GB" sz="2400" spc="-17" dirty="0">
                <a:solidFill>
                  <a:schemeClr val="tx1"/>
                </a:solidFill>
                <a:latin typeface="Comic Sans MS"/>
              </a:rPr>
              <a:t>		🟨 Calculates the first day of the month</a:t>
            </a:r>
          </a:p>
          <a:p>
            <a:r>
              <a:rPr lang="en-GB" sz="2400" spc="-17" dirty="0">
                <a:solidFill>
                  <a:schemeClr val="tx1"/>
                </a:solidFill>
                <a:latin typeface="Comic Sans MS"/>
              </a:rPr>
              <a:t>		🟨 Prints the month name and headings (Sun, Mon, Tue…)</a:t>
            </a:r>
          </a:p>
          <a:p>
            <a:r>
              <a:rPr lang="en-GB" sz="2400" spc="-17" dirty="0">
                <a:solidFill>
                  <a:schemeClr val="tx1"/>
                </a:solidFill>
                <a:latin typeface="Comic Sans MS"/>
              </a:rPr>
              <a:t>		🟨 Allows spaces before the start of the month</a:t>
            </a:r>
          </a:p>
          <a:p>
            <a:r>
              <a:rPr lang="en-GB" sz="2400" spc="-17" dirty="0">
                <a:solidFill>
                  <a:schemeClr val="tx1"/>
                </a:solidFill>
                <a:latin typeface="Comic Sans MS"/>
              </a:rPr>
              <a:t>		🟨 Prints the days in their correct order</a:t>
            </a:r>
          </a:p>
        </p:txBody>
      </p:sp>
    </p:spTree>
    <p:extLst>
      <p:ext uri="{BB962C8B-B14F-4D97-AF65-F5344CB8AC3E}">
        <p14:creationId xmlns:p14="http://schemas.microsoft.com/office/powerpoint/2010/main" val="2317850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39F685-28AF-C9C3-8B6F-8BFF452B22F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F261E53-E7D3-546B-5B39-33EA8A9A6301}"/>
              </a:ext>
            </a:extLst>
          </p:cNvPr>
          <p:cNvSpPr txBox="1"/>
          <p:nvPr/>
        </p:nvSpPr>
        <p:spPr>
          <a:xfrm>
            <a:off x="381000" y="888075"/>
            <a:ext cx="12352767" cy="4834204"/>
          </a:xfrm>
          <a:prstGeom prst="rect">
            <a:avLst/>
          </a:prstGeom>
        </p:spPr>
        <p:txBody>
          <a:bodyPr vert="horz" wrap="square" lIns="0" tIns="154492" rIns="0" bIns="0" rtlCol="0">
            <a:spAutoFit/>
          </a:bodyPr>
          <a:lstStyle/>
          <a:p>
            <a:r>
              <a:rPr lang="en-GB" sz="4000" b="1" spc="-17" dirty="0">
                <a:solidFill>
                  <a:schemeClr val="tx1"/>
                </a:solidFill>
                <a:latin typeface="Comic Sans MS"/>
              </a:rPr>
              <a:t>💡 Example:</a:t>
            </a:r>
          </a:p>
          <a:p>
            <a:endParaRPr lang="en-GB" sz="2400" b="1" spc="-17" dirty="0">
              <a:solidFill>
                <a:schemeClr val="tx1"/>
              </a:solidFill>
              <a:latin typeface="Comic Sans MS"/>
            </a:endParaRPr>
          </a:p>
          <a:p>
            <a:pPr rtl="0"/>
            <a:r>
              <a:rPr lang="en-GB" sz="2400" spc="-17" dirty="0">
                <a:solidFill>
                  <a:schemeClr val="tx1"/>
                </a:solidFill>
                <a:latin typeface="Comic Sans MS"/>
              </a:rPr>
              <a:t>Please enter a year to check? 2022</a:t>
            </a:r>
          </a:p>
          <a:p>
            <a:pPr rtl="0"/>
            <a:r>
              <a:rPr lang="en-GB" sz="2400" spc="-17" dirty="0">
                <a:solidFill>
                  <a:schemeClr val="tx1"/>
                </a:solidFill>
                <a:latin typeface="Comic Sans MS"/>
              </a:rPr>
              <a:t>Please enter a Month to check? 9</a:t>
            </a:r>
          </a:p>
          <a:p>
            <a:pPr rtl="0"/>
            <a:r>
              <a:rPr lang="en-GB" sz="2400" spc="-17" dirty="0">
                <a:solidFill>
                  <a:schemeClr val="tx1"/>
                </a:solidFill>
                <a:latin typeface="Comic Sans MS"/>
              </a:rPr>
              <a:t>_________________Sep__________________</a:t>
            </a:r>
          </a:p>
          <a:p>
            <a:pPr rtl="0"/>
            <a:r>
              <a:rPr lang="en-GB" sz="2400" spc="-17" dirty="0">
                <a:solidFill>
                  <a:schemeClr val="tx1"/>
                </a:solidFill>
                <a:latin typeface="Comic Sans MS"/>
              </a:rPr>
              <a:t>Sun	Mon	Tue	Wed	Thu	Fri	Sat</a:t>
            </a:r>
          </a:p>
          <a:p>
            <a:pPr rtl="0"/>
            <a:r>
              <a:rPr lang="en-GB" sz="2400" spc="-17" dirty="0">
                <a:solidFill>
                  <a:schemeClr val="tx1"/>
                </a:solidFill>
                <a:latin typeface="Comic Sans MS"/>
              </a:rPr>
              <a:t>				1	2	3</a:t>
            </a:r>
          </a:p>
          <a:p>
            <a:pPr rtl="0"/>
            <a:r>
              <a:rPr lang="en-GB" sz="2400" spc="-17" dirty="0">
                <a:solidFill>
                  <a:schemeClr val="tx1"/>
                </a:solidFill>
                <a:latin typeface="Comic Sans MS"/>
              </a:rPr>
              <a:t>4	5	6	7	8	9	10</a:t>
            </a:r>
          </a:p>
          <a:p>
            <a:pPr rtl="0"/>
            <a:r>
              <a:rPr lang="en-GB" sz="2400" spc="-17" dirty="0">
                <a:solidFill>
                  <a:schemeClr val="tx1"/>
                </a:solidFill>
                <a:latin typeface="Comic Sans MS"/>
              </a:rPr>
              <a:t>11	12	13	14	15	16	17</a:t>
            </a:r>
          </a:p>
          <a:p>
            <a:pPr rtl="0"/>
            <a:r>
              <a:rPr lang="en-GB" sz="2400" spc="-17" dirty="0">
                <a:solidFill>
                  <a:schemeClr val="tx1"/>
                </a:solidFill>
                <a:latin typeface="Comic Sans MS"/>
              </a:rPr>
              <a:t>18	19	20	21	22	23	24</a:t>
            </a:r>
          </a:p>
          <a:p>
            <a:pPr rtl="0"/>
            <a:r>
              <a:rPr lang="en-GB" sz="2400" spc="-17" dirty="0">
                <a:solidFill>
                  <a:schemeClr val="tx1"/>
                </a:solidFill>
                <a:latin typeface="Comic Sans MS"/>
              </a:rPr>
              <a:t>25	26	27	28	29	30</a:t>
            </a:r>
          </a:p>
          <a:p>
            <a:pPr rtl="0"/>
            <a:r>
              <a:rPr lang="en-GB" sz="2400" spc="-17" dirty="0">
                <a:solidFill>
                  <a:schemeClr val="tx1"/>
                </a:solidFill>
                <a:latin typeface="Comic Sans MS"/>
              </a:rPr>
              <a:t> ______________________________________</a:t>
            </a:r>
          </a:p>
        </p:txBody>
      </p:sp>
    </p:spTree>
    <p:extLst>
      <p:ext uri="{BB962C8B-B14F-4D97-AF65-F5344CB8AC3E}">
        <p14:creationId xmlns:p14="http://schemas.microsoft.com/office/powerpoint/2010/main" val="3744403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3008DE3-7ED9-14E1-EF01-C2462BD0F13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2451880-3F00-EDE2-AE7E-D4D30EC29B95}"/>
              </a:ext>
            </a:extLst>
          </p:cNvPr>
          <p:cNvSpPr txBox="1"/>
          <p:nvPr/>
        </p:nvSpPr>
        <p:spPr>
          <a:xfrm>
            <a:off x="381000" y="888075"/>
            <a:ext cx="12352767" cy="2618213"/>
          </a:xfrm>
          <a:prstGeom prst="rect">
            <a:avLst/>
          </a:prstGeom>
        </p:spPr>
        <p:txBody>
          <a:bodyPr vert="horz" wrap="square" lIns="0" tIns="154492" rIns="0" bIns="0" rtlCol="0">
            <a:spAutoFit/>
          </a:bodyPr>
          <a:lstStyle/>
          <a:p>
            <a:r>
              <a:rPr lang="en-GB" sz="4000" b="1" spc="-17" dirty="0">
                <a:solidFill>
                  <a:schemeClr val="tx1"/>
                </a:solidFill>
                <a:latin typeface="Comic Sans MS"/>
              </a:rPr>
              <a:t>📌 Note:</a:t>
            </a:r>
          </a:p>
          <a:p>
            <a:endParaRPr lang="en-GB" sz="2400" b="1" spc="-17" dirty="0">
              <a:solidFill>
                <a:schemeClr val="tx1"/>
              </a:solidFill>
              <a:latin typeface="Comic Sans MS"/>
            </a:endParaRPr>
          </a:p>
          <a:p>
            <a:r>
              <a:rPr lang="en-GB" sz="2400" spc="-17" dirty="0">
                <a:solidFill>
                  <a:schemeClr val="tx1"/>
                </a:solidFill>
                <a:latin typeface="Comic Sans MS"/>
              </a:rPr>
              <a:t>🟨 Counting starts on Sunday as the first day of the week.</a:t>
            </a:r>
          </a:p>
          <a:p>
            <a:r>
              <a:rPr lang="en-GB" sz="2400" spc="-17" dirty="0">
                <a:solidFill>
                  <a:schemeClr val="tx1"/>
                </a:solidFill>
                <a:latin typeface="Comic Sans MS"/>
              </a:rPr>
              <a:t>🟨 Formatting uses the </a:t>
            </a:r>
            <a:r>
              <a:rPr lang="en-GB" sz="2400" spc="-17" dirty="0" err="1">
                <a:solidFill>
                  <a:schemeClr val="tx1"/>
                </a:solidFill>
                <a:latin typeface="Comic Sans MS"/>
              </a:rPr>
              <a:t>printf</a:t>
            </a:r>
            <a:r>
              <a:rPr lang="en-GB" sz="2400" spc="-17" dirty="0">
                <a:solidFill>
                  <a:schemeClr val="tx1"/>
                </a:solidFill>
                <a:latin typeface="Comic Sans MS"/>
              </a:rPr>
              <a:t> function for accurate alignment.</a:t>
            </a:r>
          </a:p>
          <a:p>
            <a:r>
              <a:rPr lang="en-GB" sz="2400" spc="-17" dirty="0">
                <a:solidFill>
                  <a:schemeClr val="tx1"/>
                </a:solidFill>
                <a:latin typeface="Comic Sans MS"/>
              </a:rPr>
              <a:t>🟨 There is no month number validation, so entering a number outside of 1–12 will 	return 0 days.</a:t>
            </a:r>
          </a:p>
        </p:txBody>
      </p:sp>
    </p:spTree>
    <p:extLst>
      <p:ext uri="{BB962C8B-B14F-4D97-AF65-F5344CB8AC3E}">
        <p14:creationId xmlns:p14="http://schemas.microsoft.com/office/powerpoint/2010/main" val="1049461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8F8250B-BF9B-9B86-69F8-E430AA0C376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86381DA-EA9C-A26D-0AEE-8B8B55C2436E}"/>
              </a:ext>
            </a:extLst>
          </p:cNvPr>
          <p:cNvSpPr txBox="1"/>
          <p:nvPr/>
        </p:nvSpPr>
        <p:spPr>
          <a:xfrm>
            <a:off x="381000" y="888075"/>
            <a:ext cx="12352767" cy="2248881"/>
          </a:xfrm>
          <a:prstGeom prst="rect">
            <a:avLst/>
          </a:prstGeom>
        </p:spPr>
        <p:txBody>
          <a:bodyPr vert="horz" wrap="square" lIns="0" tIns="154492" rIns="0" bIns="0" rtlCol="0">
            <a:spAutoFit/>
          </a:bodyPr>
          <a:lstStyle/>
          <a:p>
            <a:r>
              <a:rPr lang="en-GB" sz="4000" b="1" spc="-17">
                <a:solidFill>
                  <a:schemeClr val="tx1"/>
                </a:solidFill>
                <a:latin typeface="Comic Sans MS"/>
              </a:rPr>
              <a:t>🧐 </a:t>
            </a:r>
            <a:r>
              <a:rPr lang="en-GB" sz="4000" b="1" spc="-17">
                <a:solidFill>
                  <a:schemeClr val="tx1"/>
                </a:solidFill>
                <a:latin typeface="Comic Sans MS"/>
                <a:cs typeface="Comic Sans MS"/>
              </a:rPr>
              <a:t>Explanation</a:t>
            </a:r>
            <a:r>
              <a:rPr lang="en-GB" sz="4000" b="1" spc="-17">
                <a:solidFill>
                  <a:schemeClr val="tx1"/>
                </a:solidFill>
                <a:latin typeface="Comic Sans MS"/>
              </a:rPr>
              <a:t>:</a:t>
            </a:r>
            <a:endParaRPr lang="en-GB" sz="4000" b="1" spc="-17" dirty="0">
              <a:solidFill>
                <a:schemeClr val="tx1"/>
              </a:solidFill>
              <a:latin typeface="Comic Sans MS"/>
            </a:endParaRPr>
          </a:p>
          <a:p>
            <a:endParaRPr lang="en-GB" sz="2400" b="1" spc="-17" dirty="0">
              <a:solidFill>
                <a:schemeClr val="tx1"/>
              </a:solidFill>
              <a:latin typeface="Comic Sans MS"/>
            </a:endParaRPr>
          </a:p>
          <a:p>
            <a:r>
              <a:rPr lang="en-GB" sz="2400" spc="-17" dirty="0">
                <a:solidFill>
                  <a:schemeClr val="tx1"/>
                </a:solidFill>
                <a:latin typeface="Comic Sans MS"/>
              </a:rPr>
              <a:t>🟨 The equation used in </a:t>
            </a:r>
            <a:r>
              <a:rPr lang="en-GB" sz="2400" spc="-17" dirty="0" err="1">
                <a:solidFill>
                  <a:schemeClr val="tx1"/>
                </a:solidFill>
                <a:latin typeface="Comic Sans MS"/>
              </a:rPr>
              <a:t>DayOfWeekOrder</a:t>
            </a:r>
            <a:r>
              <a:rPr lang="en-GB" sz="2400" spc="-17" dirty="0">
                <a:solidFill>
                  <a:schemeClr val="tx1"/>
                </a:solidFill>
                <a:latin typeface="Comic Sans MS"/>
              </a:rPr>
              <a:t> is a modified Zeller's Congruence algorithm, 	which is an accurate method for determining the day of the week for any 	Gregorian date.</a:t>
            </a:r>
          </a:p>
        </p:txBody>
      </p:sp>
    </p:spTree>
    <p:extLst>
      <p:ext uri="{BB962C8B-B14F-4D97-AF65-F5344CB8AC3E}">
        <p14:creationId xmlns:p14="http://schemas.microsoft.com/office/powerpoint/2010/main" val="2835691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6548168-F6BF-9E3C-8335-7DFD704D0CC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7131D51-6AAA-DD4B-6C31-C4D46506634E}"/>
              </a:ext>
            </a:extLst>
          </p:cNvPr>
          <p:cNvSpPr txBox="1"/>
          <p:nvPr/>
        </p:nvSpPr>
        <p:spPr>
          <a:xfrm>
            <a:off x="381000" y="888075"/>
            <a:ext cx="12352767" cy="2864434"/>
          </a:xfrm>
          <a:prstGeom prst="rect">
            <a:avLst/>
          </a:prstGeom>
        </p:spPr>
        <p:txBody>
          <a:bodyPr vert="horz" wrap="square" lIns="0" tIns="154492" rIns="0" bIns="0" rtlCol="0">
            <a:spAutoFit/>
          </a:bodyPr>
          <a:lstStyle/>
          <a:p>
            <a:r>
              <a:rPr lang="en-GB" sz="4000" b="1" spc="-17" dirty="0">
                <a:solidFill>
                  <a:schemeClr val="tx1"/>
                </a:solidFill>
                <a:latin typeface="Comic Sans MS"/>
              </a:rPr>
              <a:t>✨ Summary</a:t>
            </a:r>
          </a:p>
          <a:p>
            <a:endParaRPr lang="en-GB" sz="4000" spc="-17" dirty="0">
              <a:solidFill>
                <a:schemeClr val="tx1"/>
              </a:solidFill>
              <a:latin typeface="Comic Sans MS"/>
            </a:endParaRPr>
          </a:p>
          <a:p>
            <a:r>
              <a:rPr lang="en-GB" sz="2400" spc="-17" dirty="0">
                <a:solidFill>
                  <a:schemeClr val="tx1"/>
                </a:solidFill>
                <a:latin typeface="Comic Sans MS"/>
              </a:rPr>
              <a:t>✅ The program uses the following concepts:</a:t>
            </a:r>
          </a:p>
          <a:p>
            <a:r>
              <a:rPr lang="en-GB" sz="2400" spc="-17" dirty="0">
                <a:solidFill>
                  <a:schemeClr val="tx1"/>
                </a:solidFill>
                <a:latin typeface="Comic Sans MS"/>
              </a:rPr>
              <a:t>	🟩 Modular functions</a:t>
            </a:r>
          </a:p>
          <a:p>
            <a:r>
              <a:rPr lang="en-GB" sz="2400" spc="-17" dirty="0">
                <a:solidFill>
                  <a:schemeClr val="tx1"/>
                </a:solidFill>
                <a:latin typeface="Comic Sans MS"/>
              </a:rPr>
              <a:t>	🟩 Mathematical calculation of the day</a:t>
            </a:r>
          </a:p>
          <a:p>
            <a:r>
              <a:rPr lang="en-GB" sz="2400" spc="-17" dirty="0">
                <a:solidFill>
                  <a:schemeClr val="tx1"/>
                </a:solidFill>
                <a:latin typeface="Comic Sans MS"/>
              </a:rPr>
              <a:t>	🟩 Rich printing using </a:t>
            </a:r>
            <a:r>
              <a:rPr lang="en-GB" sz="2400" spc="-17" dirty="0" err="1">
                <a:solidFill>
                  <a:schemeClr val="tx1"/>
                </a:solidFill>
                <a:latin typeface="Comic Sans MS"/>
              </a:rPr>
              <a:t>printf</a:t>
            </a:r>
            <a:endParaRPr lang="en-GB" sz="2400" spc="-17" dirty="0">
              <a:solidFill>
                <a:schemeClr val="tx1"/>
              </a:solidFill>
              <a:latin typeface="Comic Sans MS"/>
            </a:endParaRPr>
          </a:p>
        </p:txBody>
      </p:sp>
    </p:spTree>
    <p:extLst>
      <p:ext uri="{BB962C8B-B14F-4D97-AF65-F5344CB8AC3E}">
        <p14:creationId xmlns:p14="http://schemas.microsoft.com/office/powerpoint/2010/main" val="1464775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0C985-45BF-D625-B127-8108457FDBB6}"/>
            </a:ext>
          </a:extLst>
        </p:cNvPr>
        <p:cNvGrpSpPr/>
        <p:nvPr/>
      </p:nvGrpSpPr>
      <p:grpSpPr>
        <a:xfrm>
          <a:off x="0" y="0"/>
          <a:ext cx="0" cy="0"/>
          <a:chOff x="0" y="0"/>
          <a:chExt cx="0" cy="0"/>
        </a:xfrm>
      </p:grpSpPr>
      <p:sp>
        <p:nvSpPr>
          <p:cNvPr id="3" name="object 4">
            <a:extLst>
              <a:ext uri="{FF2B5EF4-FFF2-40B4-BE49-F238E27FC236}">
                <a16:creationId xmlns:a16="http://schemas.microsoft.com/office/drawing/2014/main" id="{2DD6DF42-8147-ACB0-9155-6AB216D32B4F}"/>
              </a:ext>
            </a:extLst>
          </p:cNvPr>
          <p:cNvSpPr txBox="1">
            <a:spLocks/>
          </p:cNvSpPr>
          <p:nvPr/>
        </p:nvSpPr>
        <p:spPr>
          <a:xfrm>
            <a:off x="0" y="4712874"/>
            <a:ext cx="13411200" cy="632652"/>
          </a:xfrm>
          <a:prstGeom prst="rect">
            <a:avLst/>
          </a:prstGeom>
        </p:spPr>
        <p:txBody>
          <a:bodyPr vert="horz" wrap="square" lIns="0" tIns="16934" rIns="0" bIns="0" rtlCol="0">
            <a:spAutoFit/>
          </a:bodyPr>
          <a:lstStyle>
            <a:defPPr>
              <a:defRPr kern="0"/>
            </a:defPPr>
            <a:lvl1pPr>
              <a:defRPr>
                <a:latin typeface="+mj-lt"/>
                <a:ea typeface="+mj-ea"/>
                <a:cs typeface="+mj-cs"/>
              </a:defRPr>
            </a:lvl1pPr>
          </a:lstStyle>
          <a:p>
            <a:pPr marL="16932" algn="ctr">
              <a:spcBef>
                <a:spcPts val="133"/>
              </a:spcBef>
            </a:pPr>
            <a:r>
              <a:rPr lang="sv-SE" sz="4000" b="1" spc="-17" dirty="0" err="1">
                <a:solidFill>
                  <a:srgbClr val="FF0000"/>
                </a:solidFill>
                <a:latin typeface="Comic Sans MS"/>
              </a:rPr>
              <a:t>Thank</a:t>
            </a:r>
            <a:r>
              <a:rPr lang="sv-SE" sz="4000" b="1" spc="-17" dirty="0">
                <a:solidFill>
                  <a:srgbClr val="FF0000"/>
                </a:solidFill>
                <a:latin typeface="Comic Sans MS"/>
              </a:rPr>
              <a:t> </a:t>
            </a:r>
            <a:r>
              <a:rPr lang="sv-SE" sz="4000" b="1" spc="-17" dirty="0" err="1">
                <a:solidFill>
                  <a:srgbClr val="FF0000"/>
                </a:solidFill>
                <a:latin typeface="Comic Sans MS"/>
              </a:rPr>
              <a:t>you</a:t>
            </a:r>
            <a:r>
              <a:rPr lang="sv-SE" sz="4000" spc="-21" dirty="0">
                <a:solidFill>
                  <a:srgbClr val="FF0000"/>
                </a:solidFill>
              </a:rPr>
              <a:t> </a:t>
            </a:r>
            <a:r>
              <a:rPr lang="sv-SE" sz="4000" spc="-67" dirty="0">
                <a:solidFill>
                  <a:srgbClr val="FF0000"/>
                </a:solidFill>
                <a:latin typeface="Wingdings"/>
                <a:cs typeface="Wingdings"/>
              </a:rPr>
              <a:t></a:t>
            </a:r>
            <a:endParaRPr lang="sv-SE" sz="4000" dirty="0">
              <a:solidFill>
                <a:srgbClr val="FF0000"/>
              </a:solidFill>
              <a:latin typeface="Wingdings"/>
              <a:cs typeface="Wingdings"/>
            </a:endParaRPr>
          </a:p>
        </p:txBody>
      </p:sp>
    </p:spTree>
    <p:extLst>
      <p:ext uri="{BB962C8B-B14F-4D97-AF65-F5344CB8AC3E}">
        <p14:creationId xmlns:p14="http://schemas.microsoft.com/office/powerpoint/2010/main" val="1303110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2940</TotalTime>
  <Words>665</Words>
  <Application>Microsoft Office PowerPoint</Application>
  <PresentationFormat>Custom</PresentationFormat>
  <Paragraphs>69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 MT</vt:lpstr>
      <vt:lpstr>Calibri</vt:lpstr>
      <vt:lpstr>Comic Sans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Sara Alterkawi</dc:creator>
  <cp:lastModifiedBy>Sara Alterkawi</cp:lastModifiedBy>
  <cp:revision>219</cp:revision>
  <dcterms:created xsi:type="dcterms:W3CDTF">2025-12-09T17:44:59Z</dcterms:created>
  <dcterms:modified xsi:type="dcterms:W3CDTF">2026-01-16T18:26:33Z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2025-12-09T00:00:00Z</vt:filetime>
  </property>
  <property fmtid="{D5CDD505-2E9C-101B-9397-08002B2CF9AE}" pid="3" name="Creator">
    <vt:lpwstr>Microsoft® PowerPoint® 2016</vt:lpwstr>
  </property>
  <property fmtid="{D5CDD505-2E9C-101B-9397-08002B2CF9AE}" pid="4" name="LastSaved">
    <vt:filetime>2025-12-09T00:00:00Z</vt:filetime>
  </property>
  <property fmtid="{D5CDD505-2E9C-101B-9397-08002B2CF9AE}" pid="5" name="Producer">
    <vt:lpwstr>www.ilovepdf.com</vt:lpwstr>
  </property>
</Properties>
</file>