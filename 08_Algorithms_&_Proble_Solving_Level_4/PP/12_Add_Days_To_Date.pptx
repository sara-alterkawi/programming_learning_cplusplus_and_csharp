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3" r:id="rId2"/>
    <p:sldId id="257" r:id="rId3"/>
    <p:sldId id="333" r:id="rId4"/>
    <p:sldId id="352" r:id="rId5"/>
    <p:sldId id="339" r:id="rId6"/>
    <p:sldId id="347" r:id="rId7"/>
    <p:sldId id="346" r:id="rId8"/>
    <p:sldId id="332" r:id="rId9"/>
    <p:sldId id="313" r:id="rId10"/>
  </p:sldIdLst>
  <p:sldSz cx="13411200" cy="10058400"/>
  <p:notesSz cx="7772400" cy="10058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37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2626"/>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1" d="100"/>
          <a:sy n="41" d="100"/>
        </p:scale>
        <p:origin x="15" y="438"/>
      </p:cViewPr>
      <p:guideLst>
        <p:guide orient="horz" pos="2880"/>
        <p:guide pos="372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05840" y="3118104"/>
            <a:ext cx="11399520" cy="902876"/>
          </a:xfrm>
          <a:prstGeom prst="rect">
            <a:avLst/>
          </a:prstGeom>
        </p:spPr>
        <p:txBody>
          <a:bodyPr wrap="square" lIns="0" tIns="0" rIns="0" bIns="0">
            <a:spAutoFit/>
          </a:bodyPr>
          <a:lstStyle>
            <a:lvl1pPr>
              <a:defRPr sz="5867" b="0" i="0">
                <a:solidFill>
                  <a:srgbClr val="FF0000"/>
                </a:solidFill>
                <a:latin typeface="Calibri"/>
                <a:cs typeface="Calibri"/>
              </a:defRPr>
            </a:lvl1pPr>
          </a:lstStyle>
          <a:p>
            <a:endParaRPr/>
          </a:p>
        </p:txBody>
      </p:sp>
      <p:sp>
        <p:nvSpPr>
          <p:cNvPr id="3" name="Holder 3"/>
          <p:cNvSpPr>
            <a:spLocks noGrp="1"/>
          </p:cNvSpPr>
          <p:nvPr>
            <p:ph type="subTitle" idx="4"/>
          </p:nvPr>
        </p:nvSpPr>
        <p:spPr>
          <a:xfrm>
            <a:off x="2011680" y="5632706"/>
            <a:ext cx="9387840" cy="477951"/>
          </a:xfrm>
          <a:prstGeom prst="rect">
            <a:avLst/>
          </a:prstGeom>
        </p:spPr>
        <p:txBody>
          <a:bodyPr wrap="square" lIns="0" tIns="0" rIns="0" bIns="0">
            <a:spAutoFit/>
          </a:bodyPr>
          <a:lstStyle>
            <a:lvl1pPr>
              <a:defRPr sz="3106"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31334" y="2514600"/>
            <a:ext cx="12753788" cy="4142104"/>
          </a:xfrm>
          <a:custGeom>
            <a:avLst/>
            <a:gdLst/>
            <a:ahLst/>
            <a:cxnLst/>
            <a:rect l="l" t="t" r="r" b="b"/>
            <a:pathLst>
              <a:path w="7391400" h="4142104">
                <a:moveTo>
                  <a:pt x="0" y="4141597"/>
                </a:moveTo>
                <a:lnTo>
                  <a:pt x="7391146" y="4141597"/>
                </a:lnTo>
                <a:lnTo>
                  <a:pt x="7391146" y="0"/>
                </a:lnTo>
                <a:lnTo>
                  <a:pt x="0" y="0"/>
                </a:lnTo>
                <a:lnTo>
                  <a:pt x="0" y="4141597"/>
                </a:lnTo>
                <a:close/>
              </a:path>
            </a:pathLst>
          </a:custGeom>
          <a:ln w="12192">
            <a:solidFill>
              <a:srgbClr val="000000"/>
            </a:solidFill>
          </a:ln>
        </p:spPr>
        <p:txBody>
          <a:bodyPr wrap="square" lIns="0" tIns="0" rIns="0" bIns="0" rtlCol="0"/>
          <a:lstStyle/>
          <a:p>
            <a:endParaRPr/>
          </a:p>
        </p:txBody>
      </p:sp>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type="body" idx="1"/>
          </p:nvPr>
        </p:nvSpPr>
        <p:spPr>
          <a:xfrm>
            <a:off x="617089" y="3228215"/>
            <a:ext cx="7643507" cy="477951"/>
          </a:xfrm>
        </p:spPr>
        <p:txBody>
          <a:bodyPr lIns="0" tIns="0" rIns="0" bIns="0"/>
          <a:lstStyle>
            <a:lvl1pPr>
              <a:defRPr sz="3106"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sz="half" idx="2"/>
          </p:nvPr>
        </p:nvSpPr>
        <p:spPr>
          <a:xfrm>
            <a:off x="670560" y="2313434"/>
            <a:ext cx="5833872"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906768" y="2313434"/>
            <a:ext cx="5833872"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 y="2209800"/>
            <a:ext cx="13411198" cy="5081016"/>
          </a:xfrm>
          <a:prstGeom prst="rect">
            <a:avLst/>
          </a:prstGeom>
        </p:spPr>
      </p:pic>
      <p:sp>
        <p:nvSpPr>
          <p:cNvPr id="17" name="bg object 17"/>
          <p:cNvSpPr/>
          <p:nvPr/>
        </p:nvSpPr>
        <p:spPr>
          <a:xfrm>
            <a:off x="105186" y="3901439"/>
            <a:ext cx="13306014" cy="789940"/>
          </a:xfrm>
          <a:custGeom>
            <a:avLst/>
            <a:gdLst/>
            <a:ahLst/>
            <a:cxnLst/>
            <a:rect l="l" t="t" r="r" b="b"/>
            <a:pathLst>
              <a:path w="7711440" h="789939">
                <a:moveTo>
                  <a:pt x="0" y="789431"/>
                </a:moveTo>
                <a:lnTo>
                  <a:pt x="7711440" y="789431"/>
                </a:lnTo>
                <a:lnTo>
                  <a:pt x="7711440" y="0"/>
                </a:lnTo>
                <a:lnTo>
                  <a:pt x="0" y="0"/>
                </a:lnTo>
                <a:lnTo>
                  <a:pt x="0" y="789431"/>
                </a:lnTo>
                <a:close/>
              </a:path>
            </a:pathLst>
          </a:custGeom>
          <a:ln w="12191">
            <a:solidFill>
              <a:srgbClr val="000000"/>
            </a:solidFill>
          </a:ln>
        </p:spPr>
        <p:txBody>
          <a:bodyPr wrap="square" lIns="0" tIns="0" rIns="0" bIns="0" rtlCol="0"/>
          <a:lstStyle/>
          <a:p>
            <a:endParaRPr/>
          </a:p>
        </p:txBody>
      </p:sp>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117587" y="3823463"/>
            <a:ext cx="7712317" cy="523220"/>
          </a:xfrm>
          <a:prstGeom prst="rect">
            <a:avLst/>
          </a:prstGeom>
        </p:spPr>
        <p:txBody>
          <a:bodyPr wrap="square" lIns="0" tIns="0" rIns="0" bIns="0">
            <a:spAutoFit/>
          </a:bodyPr>
          <a:lstStyle>
            <a:lvl1pPr>
              <a:defRPr sz="3400" b="0" i="0">
                <a:solidFill>
                  <a:srgbClr val="FF0000"/>
                </a:solidFill>
                <a:latin typeface="Calibri"/>
                <a:cs typeface="Calibri"/>
              </a:defRPr>
            </a:lvl1pPr>
          </a:lstStyle>
          <a:p>
            <a:endParaRPr/>
          </a:p>
        </p:txBody>
      </p:sp>
      <p:sp>
        <p:nvSpPr>
          <p:cNvPr id="3" name="Holder 3"/>
          <p:cNvSpPr>
            <a:spLocks noGrp="1"/>
          </p:cNvSpPr>
          <p:nvPr>
            <p:ph type="body" idx="1"/>
          </p:nvPr>
        </p:nvSpPr>
        <p:spPr>
          <a:xfrm>
            <a:off x="617089" y="3228213"/>
            <a:ext cx="7643507"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559808" y="9354314"/>
            <a:ext cx="4291584"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70560" y="9354314"/>
            <a:ext cx="3084576"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a:xfrm>
            <a:off x="9656064" y="9354314"/>
            <a:ext cx="3084576"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7">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bodyStyle>
    <p:other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7">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8EB70-F102-BAB5-31FD-19FC3742A4BC}"/>
            </a:ext>
          </a:extLst>
        </p:cNvPr>
        <p:cNvGrpSpPr/>
        <p:nvPr/>
      </p:nvGrpSpPr>
      <p:grpSpPr>
        <a:xfrm>
          <a:off x="0" y="0"/>
          <a:ext cx="0" cy="0"/>
          <a:chOff x="0" y="0"/>
          <a:chExt cx="0" cy="0"/>
        </a:xfrm>
      </p:grpSpPr>
      <p:sp>
        <p:nvSpPr>
          <p:cNvPr id="46" name="object 46">
            <a:extLst>
              <a:ext uri="{FF2B5EF4-FFF2-40B4-BE49-F238E27FC236}">
                <a16:creationId xmlns:a16="http://schemas.microsoft.com/office/drawing/2014/main" id="{1FBE4D91-85C7-0256-4A79-65056ECD04F4}"/>
              </a:ext>
            </a:extLst>
          </p:cNvPr>
          <p:cNvSpPr txBox="1">
            <a:spLocks noGrp="1"/>
          </p:cNvSpPr>
          <p:nvPr>
            <p:ph type="sldNum" sz="quarter" idx="7"/>
          </p:nvPr>
        </p:nvSpPr>
        <p:spPr>
          <a:xfrm>
            <a:off x="22501110" y="12821186"/>
            <a:ext cx="518023" cy="294953"/>
          </a:xfrm>
          <a:prstGeom prst="rect">
            <a:avLst/>
          </a:prstGeom>
        </p:spPr>
        <p:txBody>
          <a:bodyPr vert="horz" wrap="square" lIns="0" tIns="0" rIns="0" bIns="0" rtlCol="0">
            <a:spAutoFit/>
          </a:bodyPr>
          <a:lstStyle/>
          <a:p>
            <a:pPr marL="65742">
              <a:lnSpc>
                <a:spcPts val="2260"/>
              </a:lnSpc>
            </a:pPr>
            <a:fld id="{81D60167-4931-47E6-BA6A-407CBD079E47}" type="slidenum">
              <a:rPr spc="-86" dirty="0"/>
              <a:pPr marL="65742">
                <a:lnSpc>
                  <a:spcPts val="2260"/>
                </a:lnSpc>
              </a:pPr>
              <a:t>1</a:t>
            </a:fld>
            <a:endParaRPr spc="-86" dirty="0"/>
          </a:p>
        </p:txBody>
      </p:sp>
      <p:pic>
        <p:nvPicPr>
          <p:cNvPr id="47" name="object 25">
            <a:extLst>
              <a:ext uri="{FF2B5EF4-FFF2-40B4-BE49-F238E27FC236}">
                <a16:creationId xmlns:a16="http://schemas.microsoft.com/office/drawing/2014/main" id="{98B72FCF-C42A-5F3E-FCAD-5FE306171E0D}"/>
              </a:ext>
            </a:extLst>
          </p:cNvPr>
          <p:cNvPicPr/>
          <p:nvPr/>
        </p:nvPicPr>
        <p:blipFill>
          <a:blip r:embed="rId2">
            <a:extLst>
              <a:ext uri="{28A0092B-C50C-407E-A947-70E740481C1C}">
                <a14:useLocalDpi xmlns:a14="http://schemas.microsoft.com/office/drawing/2010/main" val="0"/>
              </a:ext>
            </a:extLst>
          </a:blip>
          <a:srcRect t="17" b="17"/>
          <a:stretch/>
        </p:blipFill>
        <p:spPr>
          <a:xfrm>
            <a:off x="1" y="457200"/>
            <a:ext cx="13411199" cy="9021482"/>
          </a:xfrm>
          <a:prstGeom prst="rect">
            <a:avLst/>
          </a:prstGeom>
        </p:spPr>
      </p:pic>
      <p:sp>
        <p:nvSpPr>
          <p:cNvPr id="2" name="object 30">
            <a:extLst>
              <a:ext uri="{FF2B5EF4-FFF2-40B4-BE49-F238E27FC236}">
                <a16:creationId xmlns:a16="http://schemas.microsoft.com/office/drawing/2014/main" id="{F0FF3176-3F91-64FC-E68E-9BEFB7D9E6B1}"/>
              </a:ext>
            </a:extLst>
          </p:cNvPr>
          <p:cNvSpPr txBox="1"/>
          <p:nvPr/>
        </p:nvSpPr>
        <p:spPr>
          <a:xfrm>
            <a:off x="0" y="3338091"/>
            <a:ext cx="13411198" cy="1603003"/>
          </a:xfrm>
          <a:prstGeom prst="rect">
            <a:avLst/>
          </a:prstGeom>
          <a:ln w="12953">
            <a:noFill/>
          </a:ln>
        </p:spPr>
        <p:txBody>
          <a:bodyPr vert="horz" wrap="square" lIns="0" tIns="0" rIns="0" bIns="0" rtlCol="0">
            <a:spAutoFit/>
          </a:bodyPr>
          <a:lstStyle/>
          <a:p>
            <a:pPr marL="2089760" algn="ctr">
              <a:spcBef>
                <a:spcPts val="505"/>
              </a:spcBef>
            </a:pPr>
            <a:r>
              <a:rPr lang="en-GB" sz="5000" b="1" dirty="0">
                <a:solidFill>
                  <a:srgbClr val="FFCE53"/>
                </a:solidFill>
                <a:latin typeface="Comic Sans MS"/>
              </a:rPr>
              <a:t>Algorithms &amp; Problem-Solving</a:t>
            </a:r>
          </a:p>
          <a:p>
            <a:pPr marL="2089760" algn="ctr">
              <a:spcBef>
                <a:spcPts val="505"/>
              </a:spcBef>
            </a:pPr>
            <a:r>
              <a:rPr lang="en-GB" sz="5000" b="1" dirty="0">
                <a:solidFill>
                  <a:schemeClr val="bg1"/>
                </a:solidFill>
                <a:latin typeface="Comic Sans MS"/>
                <a:cs typeface="Comic Sans MS"/>
              </a:rPr>
              <a:t>Level 4</a:t>
            </a:r>
          </a:p>
        </p:txBody>
      </p:sp>
    </p:spTree>
    <p:extLst>
      <p:ext uri="{BB962C8B-B14F-4D97-AF65-F5344CB8AC3E}">
        <p14:creationId xmlns:p14="http://schemas.microsoft.com/office/powerpoint/2010/main" val="12767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957" y="645359"/>
            <a:ext cx="13422157" cy="8767682"/>
            <a:chOff x="0" y="2209800"/>
            <a:chExt cx="7778750" cy="5081270"/>
          </a:xfrm>
        </p:grpSpPr>
        <p:pic>
          <p:nvPicPr>
            <p:cNvPr id="3" name="object 3"/>
            <p:cNvPicPr/>
            <p:nvPr/>
          </p:nvPicPr>
          <p:blipFill>
            <a:blip r:embed="rId2" cstate="print"/>
            <a:stretch>
              <a:fillRect/>
            </a:stretch>
          </p:blipFill>
          <p:spPr>
            <a:xfrm>
              <a:off x="0" y="2209800"/>
              <a:ext cx="7772399" cy="5081016"/>
            </a:xfrm>
            <a:prstGeom prst="rect">
              <a:avLst/>
            </a:prstGeom>
          </p:spPr>
        </p:pic>
        <p:sp>
          <p:nvSpPr>
            <p:cNvPr id="4" name="object 4"/>
            <p:cNvSpPr/>
            <p:nvPr/>
          </p:nvSpPr>
          <p:spPr>
            <a:xfrm>
              <a:off x="60960" y="3901439"/>
              <a:ext cx="7711440" cy="1264920"/>
            </a:xfrm>
            <a:custGeom>
              <a:avLst/>
              <a:gdLst/>
              <a:ahLst/>
              <a:cxnLst/>
              <a:rect l="l" t="t" r="r" b="b"/>
              <a:pathLst>
                <a:path w="7711440" h="1264920">
                  <a:moveTo>
                    <a:pt x="0" y="1264919"/>
                  </a:moveTo>
                  <a:lnTo>
                    <a:pt x="7711440" y="1264919"/>
                  </a:lnTo>
                  <a:lnTo>
                    <a:pt x="7711440" y="0"/>
                  </a:lnTo>
                  <a:lnTo>
                    <a:pt x="0" y="0"/>
                  </a:lnTo>
                  <a:lnTo>
                    <a:pt x="0" y="1264919"/>
                  </a:lnTo>
                  <a:close/>
                </a:path>
              </a:pathLst>
            </a:custGeom>
            <a:ln w="12192">
              <a:solidFill>
                <a:srgbClr val="000000"/>
              </a:solidFill>
            </a:ln>
          </p:spPr>
          <p:txBody>
            <a:bodyPr wrap="square" lIns="0" tIns="0" rIns="0" bIns="0" rtlCol="0"/>
            <a:lstStyle/>
            <a:p>
              <a:endParaRPr/>
            </a:p>
          </p:txBody>
        </p:sp>
      </p:grpSp>
      <p:sp>
        <p:nvSpPr>
          <p:cNvPr id="8" name="object 8"/>
          <p:cNvSpPr txBox="1"/>
          <p:nvPr/>
        </p:nvSpPr>
        <p:spPr>
          <a:xfrm>
            <a:off x="13091697" y="12746337"/>
            <a:ext cx="182980" cy="352972"/>
          </a:xfrm>
          <a:prstGeom prst="rect">
            <a:avLst/>
          </a:prstGeom>
        </p:spPr>
        <p:txBody>
          <a:bodyPr vert="horz" wrap="square" lIns="0" tIns="20818" rIns="0" bIns="0" rtlCol="0">
            <a:spAutoFit/>
          </a:bodyPr>
          <a:lstStyle/>
          <a:p>
            <a:pPr marL="21914">
              <a:spcBef>
                <a:spcPts val="164"/>
              </a:spcBef>
            </a:pPr>
            <a:r>
              <a:rPr sz="2157" spc="-86" dirty="0">
                <a:latin typeface="Calibri"/>
                <a:cs typeface="Calibri"/>
              </a:rPr>
              <a:t>2</a:t>
            </a:r>
            <a:endParaRPr sz="2157">
              <a:latin typeface="Calibri"/>
              <a:cs typeface="Calibri"/>
            </a:endParaRPr>
          </a:p>
        </p:txBody>
      </p:sp>
      <p:sp>
        <p:nvSpPr>
          <p:cNvPr id="9" name="object 30">
            <a:extLst>
              <a:ext uri="{FF2B5EF4-FFF2-40B4-BE49-F238E27FC236}">
                <a16:creationId xmlns:a16="http://schemas.microsoft.com/office/drawing/2014/main" id="{3AA9CB0E-53FA-ACBF-E593-FD91CDBB5BFF}"/>
              </a:ext>
            </a:extLst>
          </p:cNvPr>
          <p:cNvSpPr txBox="1"/>
          <p:nvPr/>
        </p:nvSpPr>
        <p:spPr>
          <a:xfrm>
            <a:off x="106432" y="3084218"/>
            <a:ext cx="13304768" cy="1779974"/>
          </a:xfrm>
          <a:prstGeom prst="rect">
            <a:avLst/>
          </a:prstGeom>
          <a:ln w="12953">
            <a:noFill/>
          </a:ln>
        </p:spPr>
        <p:txBody>
          <a:bodyPr vert="horz" wrap="square" lIns="0" tIns="0" rIns="0" bIns="0" rtlCol="0">
            <a:spAutoFit/>
          </a:bodyPr>
          <a:lstStyle/>
          <a:p>
            <a:pPr marL="2786346" algn="ctr">
              <a:spcBef>
                <a:spcPts val="673"/>
              </a:spcBef>
            </a:pPr>
            <a:r>
              <a:rPr lang="en-GB" sz="4000" spc="-17" dirty="0">
                <a:solidFill>
                  <a:srgbClr val="FFFFFF"/>
                </a:solidFill>
                <a:latin typeface="Comic Sans MS"/>
                <a:cs typeface="Comic Sans MS"/>
              </a:rPr>
              <a:t>Algorithms &amp; Problem Solving</a:t>
            </a:r>
          </a:p>
          <a:p>
            <a:pPr marL="2786346" algn="ctr">
              <a:spcBef>
                <a:spcPts val="673"/>
              </a:spcBef>
            </a:pPr>
            <a:r>
              <a:rPr lang="sv-SE" sz="2400" spc="-17" dirty="0" err="1">
                <a:solidFill>
                  <a:srgbClr val="FFFFFF"/>
                </a:solidFill>
                <a:latin typeface="Comic Sans MS"/>
                <a:cs typeface="Comic Sans MS"/>
              </a:rPr>
              <a:t>Level</a:t>
            </a:r>
            <a:r>
              <a:rPr lang="sv-SE" sz="2400" spc="-17" dirty="0">
                <a:solidFill>
                  <a:srgbClr val="FFFFFF"/>
                </a:solidFill>
                <a:latin typeface="Comic Sans MS"/>
                <a:cs typeface="Comic Sans MS"/>
              </a:rPr>
              <a:t> 4</a:t>
            </a:r>
          </a:p>
          <a:p>
            <a:pPr marL="2786346" algn="ctr">
              <a:spcBef>
                <a:spcPts val="673"/>
              </a:spcBef>
            </a:pPr>
            <a:r>
              <a:rPr lang="en-GB" sz="4000" b="1" dirty="0">
                <a:solidFill>
                  <a:srgbClr val="FFCE53"/>
                </a:solidFill>
                <a:latin typeface="Comic Sans MS"/>
                <a:cs typeface="Comic Sans MS"/>
              </a:rPr>
              <a:t>Add Days to Date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3266C84-96DF-4E4E-6F8B-91A05446CAA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FC5D9C1-B6BF-65E1-D3D6-95868F3F585A}"/>
              </a:ext>
            </a:extLst>
          </p:cNvPr>
          <p:cNvSpPr txBox="1"/>
          <p:nvPr/>
        </p:nvSpPr>
        <p:spPr>
          <a:xfrm>
            <a:off x="381000" y="888075"/>
            <a:ext cx="12352767" cy="2187326"/>
          </a:xfrm>
          <a:prstGeom prst="rect">
            <a:avLst/>
          </a:prstGeom>
        </p:spPr>
        <p:txBody>
          <a:bodyPr vert="horz" wrap="square" lIns="0" tIns="154492" rIns="0" bIns="0" rtlCol="0">
            <a:spAutoFit/>
          </a:bodyPr>
          <a:lstStyle/>
          <a:p>
            <a:r>
              <a:rPr lang="en-GB" sz="4000" b="1" spc="-17" dirty="0">
                <a:solidFill>
                  <a:schemeClr val="tx1"/>
                </a:solidFill>
                <a:latin typeface="Comic Sans MS"/>
                <a:cs typeface="Comic Sans MS"/>
              </a:rPr>
              <a:t>🔎 Definition</a:t>
            </a:r>
          </a:p>
          <a:p>
            <a:pPr marL="21912">
              <a:spcBef>
                <a:spcPts val="1216"/>
              </a:spcBef>
            </a:pPr>
            <a:endParaRPr lang="en-GB" sz="2400" spc="-17" dirty="0">
              <a:solidFill>
                <a:schemeClr val="tx1"/>
              </a:solidFill>
              <a:latin typeface="Comic Sans MS"/>
              <a:cs typeface="Comic Sans MS"/>
            </a:endParaRPr>
          </a:p>
          <a:p>
            <a:pPr marL="21912">
              <a:spcBef>
                <a:spcPts val="1216"/>
              </a:spcBef>
            </a:pPr>
            <a:r>
              <a:rPr lang="en-GB" sz="2400" spc="-17" dirty="0">
                <a:solidFill>
                  <a:schemeClr val="tx1"/>
                </a:solidFill>
                <a:latin typeface="Comic Sans MS"/>
                <a:cs typeface="Comic Sans MS"/>
              </a:rPr>
              <a:t>🟨 The goal is a program that reads a specific date and the number of days, then 	displays the resulting date after adding these days.</a:t>
            </a:r>
          </a:p>
        </p:txBody>
      </p:sp>
    </p:spTree>
    <p:extLst>
      <p:ext uri="{BB962C8B-B14F-4D97-AF65-F5344CB8AC3E}">
        <p14:creationId xmlns:p14="http://schemas.microsoft.com/office/powerpoint/2010/main" val="4046665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7DF29C-926B-B349-F7AB-619A974B3D5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07F8CC2-0D05-3A67-13C5-205C5D0C9370}"/>
              </a:ext>
            </a:extLst>
          </p:cNvPr>
          <p:cNvSpPr txBox="1"/>
          <p:nvPr/>
        </p:nvSpPr>
        <p:spPr>
          <a:xfrm>
            <a:off x="381000" y="888075"/>
            <a:ext cx="12352767" cy="5911422"/>
          </a:xfrm>
          <a:prstGeom prst="rect">
            <a:avLst/>
          </a:prstGeom>
        </p:spPr>
        <p:txBody>
          <a:bodyPr vert="horz" wrap="square" lIns="0" tIns="154492" rIns="0" bIns="0" rtlCol="0">
            <a:spAutoFit/>
          </a:bodyPr>
          <a:lstStyle/>
          <a:p>
            <a:r>
              <a:rPr lang="en-GB" sz="4000" b="1" spc="-17" dirty="0">
                <a:solidFill>
                  <a:schemeClr val="tx1"/>
                </a:solidFill>
                <a:latin typeface="Comic Sans MS"/>
                <a:cs typeface="Comic Sans MS"/>
              </a:rPr>
              <a:t>📖 Explanation</a:t>
            </a:r>
          </a:p>
          <a:p>
            <a:pPr marL="21912">
              <a:spcBef>
                <a:spcPts val="1216"/>
              </a:spcBef>
            </a:pPr>
            <a:endParaRPr lang="en-GB" sz="2400" spc="-17" dirty="0">
              <a:solidFill>
                <a:schemeClr val="tx1"/>
              </a:solidFill>
              <a:latin typeface="Comic Sans MS"/>
              <a:cs typeface="Comic Sans MS"/>
            </a:endParaRPr>
          </a:p>
          <a:p>
            <a:pPr marL="21912">
              <a:spcBef>
                <a:spcPts val="1216"/>
              </a:spcBef>
            </a:pPr>
            <a:r>
              <a:rPr lang="en-GB" sz="2400" spc="-17" dirty="0">
                <a:solidFill>
                  <a:schemeClr val="tx1"/>
                </a:solidFill>
                <a:latin typeface="Comic Sans MS"/>
                <a:cs typeface="Comic Sans MS"/>
              </a:rPr>
              <a:t>🟨 The program uses the </a:t>
            </a:r>
            <a:r>
              <a:rPr lang="en-GB" sz="2400" spc="-17" dirty="0" err="1">
                <a:solidFill>
                  <a:schemeClr val="tx1"/>
                </a:solidFill>
                <a:latin typeface="Comic Sans MS"/>
                <a:cs typeface="Comic Sans MS"/>
              </a:rPr>
              <a:t>sDate</a:t>
            </a:r>
            <a:r>
              <a:rPr lang="en-GB" sz="2400" spc="-17" dirty="0">
                <a:solidFill>
                  <a:schemeClr val="tx1"/>
                </a:solidFill>
                <a:latin typeface="Comic Sans MS"/>
                <a:cs typeface="Comic Sans MS"/>
              </a:rPr>
              <a:t> structure to store the date (day, month, year).</a:t>
            </a:r>
          </a:p>
          <a:p>
            <a:pPr marL="21912">
              <a:spcBef>
                <a:spcPts val="1216"/>
              </a:spcBef>
            </a:pPr>
            <a:r>
              <a:rPr lang="en-GB" sz="2400" spc="-17" dirty="0">
                <a:solidFill>
                  <a:schemeClr val="tx1"/>
                </a:solidFill>
                <a:latin typeface="Comic Sans MS"/>
                <a:cs typeface="Comic Sans MS"/>
              </a:rPr>
              <a:t>🟨 The basic process involves adding the days to be added to the number of days since 	the beginning of the year for the original date, then converting the result back 	to a full date.</a:t>
            </a:r>
          </a:p>
          <a:p>
            <a:pPr marL="21912">
              <a:spcBef>
                <a:spcPts val="1216"/>
              </a:spcBef>
            </a:pPr>
            <a:r>
              <a:rPr lang="en-GB" sz="2400" spc="-17" dirty="0">
                <a:solidFill>
                  <a:schemeClr val="tx1"/>
                </a:solidFill>
                <a:latin typeface="Comic Sans MS"/>
                <a:cs typeface="Comic Sans MS"/>
              </a:rPr>
              <a:t>	🟩 How it works:</a:t>
            </a:r>
          </a:p>
          <a:p>
            <a:pPr marL="21912">
              <a:spcBef>
                <a:spcPts val="1216"/>
              </a:spcBef>
            </a:pPr>
            <a:r>
              <a:rPr lang="en-GB" sz="2400" spc="-17" dirty="0">
                <a:solidFill>
                  <a:schemeClr val="tx1"/>
                </a:solidFill>
                <a:latin typeface="Comic Sans MS"/>
                <a:cs typeface="Comic Sans MS"/>
              </a:rPr>
              <a:t>		1️⃣ Calculate the total number of days since the beginning of the year for 			the original date.</a:t>
            </a:r>
          </a:p>
          <a:p>
            <a:pPr marL="21912">
              <a:spcBef>
                <a:spcPts val="1216"/>
              </a:spcBef>
            </a:pPr>
            <a:r>
              <a:rPr lang="en-GB" sz="2400" spc="-17" dirty="0">
                <a:solidFill>
                  <a:schemeClr val="tx1"/>
                </a:solidFill>
                <a:latin typeface="Comic Sans MS"/>
                <a:cs typeface="Comic Sans MS"/>
              </a:rPr>
              <a:t>		2️⃣ Add the days to be added.</a:t>
            </a:r>
          </a:p>
          <a:p>
            <a:pPr marL="21912">
              <a:spcBef>
                <a:spcPts val="1216"/>
              </a:spcBef>
            </a:pPr>
            <a:r>
              <a:rPr lang="en-GB" sz="2400" spc="-17" dirty="0">
                <a:solidFill>
                  <a:schemeClr val="tx1"/>
                </a:solidFill>
                <a:latin typeface="Comic Sans MS"/>
                <a:cs typeface="Comic Sans MS"/>
              </a:rPr>
              <a:t>		3️⃣ Convert the total number of days to a day, month, and year, taking into 			account leap years and different months.</a:t>
            </a:r>
          </a:p>
        </p:txBody>
      </p:sp>
    </p:spTree>
    <p:extLst>
      <p:ext uri="{BB962C8B-B14F-4D97-AF65-F5344CB8AC3E}">
        <p14:creationId xmlns:p14="http://schemas.microsoft.com/office/powerpoint/2010/main" val="3725727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BF0CD4-0319-9496-8478-267F28598EE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2F894D4-F401-E6A7-0F75-B717EFD319F6}"/>
              </a:ext>
            </a:extLst>
          </p:cNvPr>
          <p:cNvSpPr txBox="1"/>
          <p:nvPr/>
        </p:nvSpPr>
        <p:spPr>
          <a:xfrm>
            <a:off x="381000" y="888075"/>
            <a:ext cx="12725400" cy="5203536"/>
          </a:xfrm>
          <a:prstGeom prst="rect">
            <a:avLst/>
          </a:prstGeom>
        </p:spPr>
        <p:txBody>
          <a:bodyPr vert="horz" wrap="square" lIns="0" tIns="154492" rIns="0" bIns="0" rtlCol="0">
            <a:spAutoFit/>
          </a:bodyPr>
          <a:lstStyle/>
          <a:p>
            <a:r>
              <a:rPr lang="en-GB" sz="4000" b="1" spc="-17" dirty="0">
                <a:solidFill>
                  <a:schemeClr val="tx1"/>
                </a:solidFill>
                <a:latin typeface="Comic Sans MS"/>
              </a:rPr>
              <a:t>🟦 Procedures</a:t>
            </a:r>
          </a:p>
          <a:p>
            <a:endParaRPr lang="en-GB" sz="2400" spc="-17" dirty="0">
              <a:solidFill>
                <a:schemeClr val="tx1"/>
              </a:solidFill>
              <a:latin typeface="Comic Sans MS"/>
            </a:endParaRPr>
          </a:p>
          <a:p>
            <a:r>
              <a:rPr lang="en-GB" sz="2400" spc="-17" dirty="0">
                <a:solidFill>
                  <a:schemeClr val="tx1"/>
                </a:solidFill>
                <a:latin typeface="Comic Sans MS"/>
              </a:rPr>
              <a:t>1️⃣ Read the original date from the user</a:t>
            </a:r>
          </a:p>
          <a:p>
            <a:r>
              <a:rPr lang="en-GB" sz="2400" spc="-17" dirty="0">
                <a:solidFill>
                  <a:schemeClr val="tx1"/>
                </a:solidFill>
                <a:latin typeface="Comic Sans MS"/>
              </a:rPr>
              <a:t>	🟩 Using the </a:t>
            </a:r>
            <a:r>
              <a:rPr lang="en-GB" sz="2400" spc="-17" dirty="0" err="1">
                <a:solidFill>
                  <a:schemeClr val="tx1"/>
                </a:solidFill>
                <a:latin typeface="Comic Sans MS"/>
              </a:rPr>
              <a:t>ReadFullDate</a:t>
            </a:r>
            <a:r>
              <a:rPr lang="en-GB" sz="2400" spc="-17" dirty="0">
                <a:solidFill>
                  <a:schemeClr val="tx1"/>
                </a:solidFill>
                <a:latin typeface="Comic Sans MS"/>
              </a:rPr>
              <a:t>()</a:t>
            </a:r>
            <a:r>
              <a:rPr lang="en-GB" sz="2400" spc="-17" dirty="0" err="1">
                <a:solidFill>
                  <a:schemeClr val="tx1"/>
                </a:solidFill>
                <a:latin typeface="Comic Sans MS"/>
              </a:rPr>
              <a:t>i</a:t>
            </a:r>
            <a:r>
              <a:rPr lang="en-GB" sz="2400" spc="-17" dirty="0">
                <a:solidFill>
                  <a:schemeClr val="tx1"/>
                </a:solidFill>
                <a:latin typeface="Comic Sans MS"/>
              </a:rPr>
              <a:t> function which calls:</a:t>
            </a:r>
          </a:p>
          <a:p>
            <a:r>
              <a:rPr lang="en-GB" sz="2400" spc="-17" dirty="0">
                <a:solidFill>
                  <a:schemeClr val="tx1"/>
                </a:solidFill>
                <a:latin typeface="Comic Sans MS"/>
              </a:rPr>
              <a:t>		🟨 </a:t>
            </a:r>
            <a:r>
              <a:rPr lang="en-GB" sz="2400" spc="-17" dirty="0" err="1">
                <a:solidFill>
                  <a:schemeClr val="tx1"/>
                </a:solidFill>
                <a:latin typeface="Comic Sans MS"/>
              </a:rPr>
              <a:t>ReadDay</a:t>
            </a:r>
            <a:r>
              <a:rPr lang="en-GB" sz="2400" spc="-17" dirty="0">
                <a:solidFill>
                  <a:schemeClr val="tx1"/>
                </a:solidFill>
                <a:latin typeface="Comic Sans MS"/>
              </a:rPr>
              <a:t>() day</a:t>
            </a:r>
          </a:p>
          <a:p>
            <a:r>
              <a:rPr lang="en-GB" sz="2400" spc="-17" dirty="0">
                <a:solidFill>
                  <a:schemeClr val="tx1"/>
                </a:solidFill>
                <a:latin typeface="Comic Sans MS"/>
              </a:rPr>
              <a:t>		🟨 </a:t>
            </a:r>
            <a:r>
              <a:rPr lang="en-GB" sz="2400" spc="-17" dirty="0" err="1">
                <a:solidFill>
                  <a:schemeClr val="tx1"/>
                </a:solidFill>
                <a:latin typeface="Comic Sans MS"/>
              </a:rPr>
              <a:t>ReadMonth</a:t>
            </a:r>
            <a:r>
              <a:rPr lang="en-GB" sz="2400" spc="-17" dirty="0">
                <a:solidFill>
                  <a:schemeClr val="tx1"/>
                </a:solidFill>
                <a:latin typeface="Comic Sans MS"/>
              </a:rPr>
              <a:t>() month</a:t>
            </a:r>
          </a:p>
          <a:p>
            <a:r>
              <a:rPr lang="en-GB" sz="2400" spc="-17" dirty="0">
                <a:solidFill>
                  <a:schemeClr val="tx1"/>
                </a:solidFill>
                <a:latin typeface="Comic Sans MS"/>
              </a:rPr>
              <a:t>		🟨 </a:t>
            </a:r>
            <a:r>
              <a:rPr lang="en-GB" sz="2400" spc="-17" dirty="0" err="1">
                <a:solidFill>
                  <a:schemeClr val="tx1"/>
                </a:solidFill>
                <a:latin typeface="Comic Sans MS"/>
              </a:rPr>
              <a:t>ReadYear</a:t>
            </a:r>
            <a:r>
              <a:rPr lang="en-GB" sz="2400" spc="-17" dirty="0">
                <a:solidFill>
                  <a:schemeClr val="tx1"/>
                </a:solidFill>
                <a:latin typeface="Comic Sans MS"/>
              </a:rPr>
              <a:t>() year</a:t>
            </a:r>
          </a:p>
          <a:p>
            <a:r>
              <a:rPr lang="en-GB" sz="2400" spc="-17" dirty="0">
                <a:solidFill>
                  <a:schemeClr val="tx1"/>
                </a:solidFill>
                <a:latin typeface="Comic Sans MS"/>
              </a:rPr>
              <a:t>2️⃣ Read the number of days to be added</a:t>
            </a:r>
          </a:p>
          <a:p>
            <a:r>
              <a:rPr lang="en-GB" sz="2400" spc="-17" dirty="0">
                <a:solidFill>
                  <a:schemeClr val="tx1"/>
                </a:solidFill>
                <a:latin typeface="Comic Sans MS"/>
              </a:rPr>
              <a:t>	🟩 using the </a:t>
            </a:r>
            <a:r>
              <a:rPr lang="en-GB" sz="2400" spc="-17" dirty="0" err="1">
                <a:solidFill>
                  <a:schemeClr val="tx1"/>
                </a:solidFill>
                <a:latin typeface="Comic Sans MS"/>
              </a:rPr>
              <a:t>ReadDaysToAdd</a:t>
            </a:r>
            <a:r>
              <a:rPr lang="en-GB" sz="2400" spc="-17" dirty="0">
                <a:solidFill>
                  <a:schemeClr val="tx1"/>
                </a:solidFill>
                <a:latin typeface="Comic Sans MS"/>
              </a:rPr>
              <a:t>() function</a:t>
            </a:r>
          </a:p>
          <a:p>
            <a:r>
              <a:rPr lang="en-GB" sz="2400" spc="-17" dirty="0">
                <a:solidFill>
                  <a:schemeClr val="tx1"/>
                </a:solidFill>
                <a:latin typeface="Comic Sans MS"/>
              </a:rPr>
              <a:t>3️⃣ Calculating the new date after adding the days</a:t>
            </a:r>
          </a:p>
          <a:p>
            <a:r>
              <a:rPr lang="en-GB" sz="2400" spc="-17" dirty="0">
                <a:solidFill>
                  <a:schemeClr val="tx1"/>
                </a:solidFill>
                <a:latin typeface="Comic Sans MS"/>
              </a:rPr>
              <a:t>	🟩 Using the </a:t>
            </a:r>
            <a:r>
              <a:rPr lang="en-GB" sz="2400" spc="-17" dirty="0" err="1">
                <a:solidFill>
                  <a:schemeClr val="tx1"/>
                </a:solidFill>
                <a:latin typeface="Comic Sans MS"/>
              </a:rPr>
              <a:t>DateAddDays</a:t>
            </a:r>
            <a:r>
              <a:rPr lang="en-GB" sz="2400" spc="-17" dirty="0">
                <a:solidFill>
                  <a:schemeClr val="tx1"/>
                </a:solidFill>
                <a:latin typeface="Comic Sans MS"/>
              </a:rPr>
              <a:t>(days, date) function</a:t>
            </a:r>
          </a:p>
          <a:p>
            <a:r>
              <a:rPr lang="en-GB" sz="2400" spc="-17" dirty="0">
                <a:solidFill>
                  <a:schemeClr val="tx1"/>
                </a:solidFill>
                <a:latin typeface="Comic Sans MS"/>
              </a:rPr>
              <a:t>	🟩 The function checks the number of days in each month and moves to the next 		year when the month is over.</a:t>
            </a:r>
          </a:p>
        </p:txBody>
      </p:sp>
    </p:spTree>
    <p:extLst>
      <p:ext uri="{BB962C8B-B14F-4D97-AF65-F5344CB8AC3E}">
        <p14:creationId xmlns:p14="http://schemas.microsoft.com/office/powerpoint/2010/main" val="260426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39F685-28AF-C9C3-8B6F-8BFF452B22F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F261E53-E7D3-546B-5B39-33EA8A9A6301}"/>
              </a:ext>
            </a:extLst>
          </p:cNvPr>
          <p:cNvSpPr txBox="1"/>
          <p:nvPr/>
        </p:nvSpPr>
        <p:spPr>
          <a:xfrm>
            <a:off x="381000" y="888075"/>
            <a:ext cx="12352767" cy="3356877"/>
          </a:xfrm>
          <a:prstGeom prst="rect">
            <a:avLst/>
          </a:prstGeom>
        </p:spPr>
        <p:txBody>
          <a:bodyPr vert="horz" wrap="square" lIns="0" tIns="154492" rIns="0" bIns="0" rtlCol="0">
            <a:spAutoFit/>
          </a:bodyPr>
          <a:lstStyle/>
          <a:p>
            <a:r>
              <a:rPr lang="en-GB" sz="4000" b="1" spc="-17" dirty="0">
                <a:solidFill>
                  <a:schemeClr val="tx1"/>
                </a:solidFill>
                <a:latin typeface="Comic Sans MS"/>
              </a:rPr>
              <a:t>💡 Example:</a:t>
            </a:r>
          </a:p>
          <a:p>
            <a:endParaRPr lang="en-GB" sz="2400" b="1" spc="-17" dirty="0">
              <a:solidFill>
                <a:schemeClr val="tx1"/>
              </a:solidFill>
              <a:latin typeface="Comic Sans MS"/>
            </a:endParaRPr>
          </a:p>
          <a:p>
            <a:pPr rtl="0"/>
            <a:r>
              <a:rPr lang="en-GB" sz="2400" spc="-17" dirty="0">
                <a:solidFill>
                  <a:schemeClr val="tx1"/>
                </a:solidFill>
                <a:latin typeface="Comic Sans MS"/>
              </a:rPr>
              <a:t>Please enter a Day? 20</a:t>
            </a:r>
          </a:p>
          <a:p>
            <a:pPr rtl="0"/>
            <a:r>
              <a:rPr lang="en-GB" sz="2400" spc="-17" dirty="0">
                <a:solidFill>
                  <a:schemeClr val="tx1"/>
                </a:solidFill>
                <a:latin typeface="Comic Sans MS"/>
              </a:rPr>
              <a:t>Please enter a Month? 5</a:t>
            </a:r>
          </a:p>
          <a:p>
            <a:pPr rtl="0"/>
            <a:r>
              <a:rPr lang="en-GB" sz="2400" spc="-17" dirty="0">
                <a:solidFill>
                  <a:schemeClr val="tx1"/>
                </a:solidFill>
                <a:latin typeface="Comic Sans MS"/>
              </a:rPr>
              <a:t>Please enter a Year? 1981 </a:t>
            </a:r>
          </a:p>
          <a:p>
            <a:pPr rtl="0"/>
            <a:r>
              <a:rPr lang="en-GB" sz="2400" spc="-17" dirty="0">
                <a:solidFill>
                  <a:schemeClr val="tx1"/>
                </a:solidFill>
                <a:latin typeface="Comic Sans MS"/>
              </a:rPr>
              <a:t>Please enter a Days to add? 3000</a:t>
            </a:r>
          </a:p>
          <a:p>
            <a:pPr rtl="0"/>
            <a:r>
              <a:rPr lang="en-GB" sz="2400" spc="-17" dirty="0">
                <a:solidFill>
                  <a:schemeClr val="tx1"/>
                </a:solidFill>
                <a:latin typeface="Comic Sans MS"/>
              </a:rPr>
              <a:t>Number of Days from the beginning of the year is 140</a:t>
            </a:r>
          </a:p>
          <a:p>
            <a:pPr rtl="0"/>
            <a:r>
              <a:rPr lang="en-GB" sz="2400" spc="-17" dirty="0">
                <a:solidFill>
                  <a:schemeClr val="tx1"/>
                </a:solidFill>
                <a:latin typeface="Comic Sans MS"/>
              </a:rPr>
              <a:t>Date after adding [3000] days is: 14/8/2029</a:t>
            </a:r>
          </a:p>
        </p:txBody>
      </p:sp>
    </p:spTree>
    <p:extLst>
      <p:ext uri="{BB962C8B-B14F-4D97-AF65-F5344CB8AC3E}">
        <p14:creationId xmlns:p14="http://schemas.microsoft.com/office/powerpoint/2010/main" val="3744403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008DE3-7ED9-14E1-EF01-C2462BD0F13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2451880-3F00-EDE2-AE7E-D4D30EC29B95}"/>
              </a:ext>
            </a:extLst>
          </p:cNvPr>
          <p:cNvSpPr txBox="1"/>
          <p:nvPr/>
        </p:nvSpPr>
        <p:spPr>
          <a:xfrm>
            <a:off x="381000" y="888075"/>
            <a:ext cx="12352767" cy="2248881"/>
          </a:xfrm>
          <a:prstGeom prst="rect">
            <a:avLst/>
          </a:prstGeom>
        </p:spPr>
        <p:txBody>
          <a:bodyPr vert="horz" wrap="square" lIns="0" tIns="154492" rIns="0" bIns="0" rtlCol="0">
            <a:spAutoFit/>
          </a:bodyPr>
          <a:lstStyle/>
          <a:p>
            <a:r>
              <a:rPr lang="en-GB" sz="4000" b="1" spc="-17" dirty="0">
                <a:solidFill>
                  <a:schemeClr val="tx1"/>
                </a:solidFill>
                <a:latin typeface="Comic Sans MS"/>
              </a:rPr>
              <a:t>📌 Note:</a:t>
            </a:r>
          </a:p>
          <a:p>
            <a:endParaRPr lang="en-GB" sz="2400" b="1" spc="-17" dirty="0">
              <a:solidFill>
                <a:schemeClr val="tx1"/>
              </a:solidFill>
              <a:latin typeface="Comic Sans MS"/>
            </a:endParaRPr>
          </a:p>
          <a:p>
            <a:r>
              <a:rPr lang="en-GB" sz="2400" spc="-17" dirty="0">
                <a:solidFill>
                  <a:schemeClr val="tx1"/>
                </a:solidFill>
                <a:latin typeface="Comic Sans MS"/>
              </a:rPr>
              <a:t>🟨 The program supports leap years.</a:t>
            </a:r>
          </a:p>
          <a:p>
            <a:r>
              <a:rPr lang="en-GB" sz="2400" spc="-17" dirty="0">
                <a:solidFill>
                  <a:schemeClr val="tx1"/>
                </a:solidFill>
                <a:latin typeface="Comic Sans MS"/>
              </a:rPr>
              <a:t>🟨 Any number of days can be added, whether small or large (up to several thousand). 🟨 The </a:t>
            </a:r>
            <a:r>
              <a:rPr lang="en-GB" sz="2400" spc="-17" dirty="0" err="1">
                <a:solidFill>
                  <a:schemeClr val="tx1"/>
                </a:solidFill>
                <a:latin typeface="Comic Sans MS"/>
              </a:rPr>
              <a:t>sDate</a:t>
            </a:r>
            <a:r>
              <a:rPr lang="en-GB" sz="2400" spc="-17" dirty="0">
                <a:solidFill>
                  <a:schemeClr val="tx1"/>
                </a:solidFill>
                <a:latin typeface="Comic Sans MS"/>
              </a:rPr>
              <a:t> structure makes working with dates clearer and easier in programming.</a:t>
            </a:r>
          </a:p>
        </p:txBody>
      </p:sp>
    </p:spTree>
    <p:extLst>
      <p:ext uri="{BB962C8B-B14F-4D97-AF65-F5344CB8AC3E}">
        <p14:creationId xmlns:p14="http://schemas.microsoft.com/office/powerpoint/2010/main" val="1049461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6548168-F6BF-9E3C-8335-7DFD704D0CC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7131D51-6AAA-DD4B-6C31-C4D46506634E}"/>
              </a:ext>
            </a:extLst>
          </p:cNvPr>
          <p:cNvSpPr txBox="1"/>
          <p:nvPr/>
        </p:nvSpPr>
        <p:spPr>
          <a:xfrm>
            <a:off x="381000" y="888075"/>
            <a:ext cx="12352767" cy="2125771"/>
          </a:xfrm>
          <a:prstGeom prst="rect">
            <a:avLst/>
          </a:prstGeom>
        </p:spPr>
        <p:txBody>
          <a:bodyPr vert="horz" wrap="square" lIns="0" tIns="154492" rIns="0" bIns="0" rtlCol="0">
            <a:spAutoFit/>
          </a:bodyPr>
          <a:lstStyle/>
          <a:p>
            <a:r>
              <a:rPr lang="en-GB" sz="4000" b="1" spc="-17" dirty="0">
                <a:solidFill>
                  <a:schemeClr val="tx1"/>
                </a:solidFill>
                <a:latin typeface="Comic Sans MS"/>
              </a:rPr>
              <a:t>✨ Summary</a:t>
            </a:r>
          </a:p>
          <a:p>
            <a:endParaRPr lang="en-GB" sz="4000" spc="-17" dirty="0">
              <a:solidFill>
                <a:schemeClr val="tx1"/>
              </a:solidFill>
              <a:latin typeface="Comic Sans MS"/>
            </a:endParaRPr>
          </a:p>
          <a:p>
            <a:r>
              <a:rPr lang="en-GB" sz="2400" spc="-17">
                <a:solidFill>
                  <a:schemeClr val="tx1"/>
                </a:solidFill>
                <a:latin typeface="Comic Sans MS"/>
              </a:rPr>
              <a:t>✅ The program allows for the accurate calculation of future dates after any number 	of days and is suitable for calculating future appointments or time-bound tasks.</a:t>
            </a:r>
            <a:endParaRPr lang="en-GB" sz="2400" spc="-17" dirty="0">
              <a:solidFill>
                <a:schemeClr val="tx1"/>
              </a:solidFill>
              <a:latin typeface="Comic Sans MS"/>
            </a:endParaRPr>
          </a:p>
        </p:txBody>
      </p:sp>
    </p:spTree>
    <p:extLst>
      <p:ext uri="{BB962C8B-B14F-4D97-AF65-F5344CB8AC3E}">
        <p14:creationId xmlns:p14="http://schemas.microsoft.com/office/powerpoint/2010/main" val="1464775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C985-45BF-D625-B127-8108457FDBB6}"/>
            </a:ext>
          </a:extLst>
        </p:cNvPr>
        <p:cNvGrpSpPr/>
        <p:nvPr/>
      </p:nvGrpSpPr>
      <p:grpSpPr>
        <a:xfrm>
          <a:off x="0" y="0"/>
          <a:ext cx="0" cy="0"/>
          <a:chOff x="0" y="0"/>
          <a:chExt cx="0" cy="0"/>
        </a:xfrm>
      </p:grpSpPr>
      <p:sp>
        <p:nvSpPr>
          <p:cNvPr id="3" name="object 4">
            <a:extLst>
              <a:ext uri="{FF2B5EF4-FFF2-40B4-BE49-F238E27FC236}">
                <a16:creationId xmlns:a16="http://schemas.microsoft.com/office/drawing/2014/main" id="{2DD6DF42-8147-ACB0-9155-6AB216D32B4F}"/>
              </a:ext>
            </a:extLst>
          </p:cNvPr>
          <p:cNvSpPr txBox="1">
            <a:spLocks/>
          </p:cNvSpPr>
          <p:nvPr/>
        </p:nvSpPr>
        <p:spPr>
          <a:xfrm>
            <a:off x="0" y="4712874"/>
            <a:ext cx="13411200" cy="632652"/>
          </a:xfrm>
          <a:prstGeom prst="rect">
            <a:avLst/>
          </a:prstGeom>
        </p:spPr>
        <p:txBody>
          <a:bodyPr vert="horz" wrap="square" lIns="0" tIns="16934" rIns="0" bIns="0" rtlCol="0">
            <a:spAutoFit/>
          </a:bodyPr>
          <a:lstStyle>
            <a:defPPr>
              <a:defRPr kern="0"/>
            </a:defPPr>
            <a:lvl1pPr>
              <a:defRPr>
                <a:latin typeface="+mj-lt"/>
                <a:ea typeface="+mj-ea"/>
                <a:cs typeface="+mj-cs"/>
              </a:defRPr>
            </a:lvl1pPr>
          </a:lstStyle>
          <a:p>
            <a:pPr marL="16932" algn="ctr">
              <a:spcBef>
                <a:spcPts val="133"/>
              </a:spcBef>
            </a:pPr>
            <a:r>
              <a:rPr lang="sv-SE" sz="4000" b="1" spc="-17" dirty="0" err="1">
                <a:solidFill>
                  <a:srgbClr val="FF0000"/>
                </a:solidFill>
                <a:latin typeface="Comic Sans MS"/>
              </a:rPr>
              <a:t>Thank</a:t>
            </a:r>
            <a:r>
              <a:rPr lang="sv-SE" sz="4000" b="1" spc="-17" dirty="0">
                <a:solidFill>
                  <a:srgbClr val="FF0000"/>
                </a:solidFill>
                <a:latin typeface="Comic Sans MS"/>
              </a:rPr>
              <a:t> </a:t>
            </a:r>
            <a:r>
              <a:rPr lang="sv-SE" sz="4000" b="1" spc="-17" dirty="0" err="1">
                <a:solidFill>
                  <a:srgbClr val="FF0000"/>
                </a:solidFill>
                <a:latin typeface="Comic Sans MS"/>
              </a:rPr>
              <a:t>you</a:t>
            </a:r>
            <a:r>
              <a:rPr lang="sv-SE" sz="4000" spc="-21" dirty="0">
                <a:solidFill>
                  <a:srgbClr val="FF0000"/>
                </a:solidFill>
              </a:rPr>
              <a:t> </a:t>
            </a:r>
            <a:r>
              <a:rPr lang="sv-SE" sz="4000" spc="-67" dirty="0">
                <a:solidFill>
                  <a:srgbClr val="FF0000"/>
                </a:solidFill>
                <a:latin typeface="Wingdings"/>
                <a:cs typeface="Wingdings"/>
              </a:rPr>
              <a:t></a:t>
            </a:r>
            <a:endParaRPr lang="sv-SE" sz="4000" dirty="0">
              <a:solidFill>
                <a:srgbClr val="FF0000"/>
              </a:solidFill>
              <a:latin typeface="Wingdings"/>
              <a:cs typeface="Wingdings"/>
            </a:endParaRPr>
          </a:p>
        </p:txBody>
      </p:sp>
    </p:spTree>
    <p:extLst>
      <p:ext uri="{BB962C8B-B14F-4D97-AF65-F5344CB8AC3E}">
        <p14:creationId xmlns:p14="http://schemas.microsoft.com/office/powerpoint/2010/main" val="1303110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2958</TotalTime>
  <Words>402</Words>
  <Application>Microsoft Office PowerPoint</Application>
  <PresentationFormat>Custom</PresentationFormat>
  <Paragraphs>46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 MT</vt:lpstr>
      <vt:lpstr>Calibri</vt:lpstr>
      <vt:lpstr>Comic Sans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 Alterkawi</dc:creator>
  <cp:lastModifiedBy>Sara Alterkawi</cp:lastModifiedBy>
  <cp:revision>246</cp:revision>
  <dcterms:created xsi:type="dcterms:W3CDTF">2025-12-09T17:44:59Z</dcterms:created>
  <dcterms:modified xsi:type="dcterms:W3CDTF">2026-01-16T18:29:31Z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2025-12-09T00:00:00Z</vt:filetime>
  </property>
  <property fmtid="{D5CDD505-2E9C-101B-9397-08002B2CF9AE}" pid="3" name="Creator">
    <vt:lpwstr>Microsoft® PowerPoint® 2016</vt:lpwstr>
  </property>
  <property fmtid="{D5CDD505-2E9C-101B-9397-08002B2CF9AE}" pid="4" name="LastSaved">
    <vt:filetime>2025-12-09T00:00:00Z</vt:filetime>
  </property>
  <property fmtid="{D5CDD505-2E9C-101B-9397-08002B2CF9AE}" pid="5" name="Producer">
    <vt:lpwstr>www.ilovepdf.com</vt:lpwstr>
  </property>
</Properties>
</file>