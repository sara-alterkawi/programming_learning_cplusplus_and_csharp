
<file path=[Content_Types].xml><?xml version="1.0" encoding="utf-8"?>
<Types xmlns="http://schemas.openxmlformats.org/package/2006/content-types">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2.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363" r:id="rId2"/>
    <p:sldId id="257" r:id="rId3"/>
    <p:sldId id="333" r:id="rId4"/>
    <p:sldId id="362" r:id="rId5"/>
    <p:sldId id="339" r:id="rId6"/>
    <p:sldId id="347" r:id="rId7"/>
    <p:sldId id="360" r:id="rId8"/>
    <p:sldId id="361" r:id="rId9"/>
    <p:sldId id="354" r:id="rId10"/>
    <p:sldId id="313" r:id="rId11"/>
  </p:sldIdLst>
  <p:sldSz cx="13411200" cy="10058400"/>
  <p:notesSz cx="7772400" cy="100584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372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62626"/>
    <a:srgbClr val="29292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37" d="100"/>
          <a:sy n="37" d="100"/>
        </p:scale>
        <p:origin x="12" y="12"/>
      </p:cViewPr>
      <p:guideLst>
        <p:guide orient="horz" pos="2880"/>
        <p:guide pos="372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05840" y="3118104"/>
            <a:ext cx="11399520" cy="902876"/>
          </a:xfrm>
          <a:prstGeom prst="rect">
            <a:avLst/>
          </a:prstGeom>
        </p:spPr>
        <p:txBody>
          <a:bodyPr wrap="square" lIns="0" tIns="0" rIns="0" bIns="0">
            <a:spAutoFit/>
          </a:bodyPr>
          <a:lstStyle>
            <a:lvl1pPr>
              <a:defRPr sz="5867" b="0" i="0">
                <a:solidFill>
                  <a:srgbClr val="FF0000"/>
                </a:solidFill>
                <a:latin typeface="Calibri"/>
                <a:cs typeface="Calibri"/>
              </a:defRPr>
            </a:lvl1pPr>
          </a:lstStyle>
          <a:p>
            <a:endParaRPr/>
          </a:p>
        </p:txBody>
      </p:sp>
      <p:sp>
        <p:nvSpPr>
          <p:cNvPr id="3" name="Holder 3"/>
          <p:cNvSpPr>
            <a:spLocks noGrp="1"/>
          </p:cNvSpPr>
          <p:nvPr>
            <p:ph type="subTitle" idx="4"/>
          </p:nvPr>
        </p:nvSpPr>
        <p:spPr>
          <a:xfrm>
            <a:off x="2011680" y="5632706"/>
            <a:ext cx="9387840" cy="477951"/>
          </a:xfrm>
          <a:prstGeom prst="rect">
            <a:avLst/>
          </a:prstGeom>
        </p:spPr>
        <p:txBody>
          <a:bodyPr wrap="square" lIns="0" tIns="0" rIns="0" bIns="0">
            <a:spAutoFit/>
          </a:bodyPr>
          <a:lstStyle>
            <a:lvl1pPr>
              <a:defRPr sz="3106"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331334" y="2514600"/>
            <a:ext cx="12753788" cy="4142104"/>
          </a:xfrm>
          <a:custGeom>
            <a:avLst/>
            <a:gdLst/>
            <a:ahLst/>
            <a:cxnLst/>
            <a:rect l="l" t="t" r="r" b="b"/>
            <a:pathLst>
              <a:path w="7391400" h="4142104">
                <a:moveTo>
                  <a:pt x="0" y="4141597"/>
                </a:moveTo>
                <a:lnTo>
                  <a:pt x="7391146" y="4141597"/>
                </a:lnTo>
                <a:lnTo>
                  <a:pt x="7391146" y="0"/>
                </a:lnTo>
                <a:lnTo>
                  <a:pt x="0" y="0"/>
                </a:lnTo>
                <a:lnTo>
                  <a:pt x="0" y="4141597"/>
                </a:lnTo>
                <a:close/>
              </a:path>
            </a:pathLst>
          </a:custGeom>
          <a:ln w="12192">
            <a:solidFill>
              <a:srgbClr val="000000"/>
            </a:solidFill>
          </a:ln>
        </p:spPr>
        <p:txBody>
          <a:bodyPr wrap="square" lIns="0" tIns="0" rIns="0" bIns="0" rtlCol="0"/>
          <a:lstStyle/>
          <a:p>
            <a:endParaRPr/>
          </a:p>
        </p:txBody>
      </p:sp>
      <p:sp>
        <p:nvSpPr>
          <p:cNvPr id="2" name="Holder 2"/>
          <p:cNvSpPr>
            <a:spLocks noGrp="1"/>
          </p:cNvSpPr>
          <p:nvPr>
            <p:ph type="title"/>
          </p:nvPr>
        </p:nvSpPr>
        <p:spPr>
          <a:xfrm>
            <a:off x="4117587" y="3823463"/>
            <a:ext cx="7712317" cy="902876"/>
          </a:xfrm>
        </p:spPr>
        <p:txBody>
          <a:bodyPr lIns="0" tIns="0" rIns="0" bIns="0"/>
          <a:lstStyle>
            <a:lvl1pPr>
              <a:defRPr sz="5867" b="0" i="0">
                <a:solidFill>
                  <a:srgbClr val="FF0000"/>
                </a:solidFill>
                <a:latin typeface="Calibri"/>
                <a:cs typeface="Calibri"/>
              </a:defRPr>
            </a:lvl1pPr>
          </a:lstStyle>
          <a:p>
            <a:endParaRPr/>
          </a:p>
        </p:txBody>
      </p:sp>
      <p:sp>
        <p:nvSpPr>
          <p:cNvPr id="3" name="Holder 3"/>
          <p:cNvSpPr>
            <a:spLocks noGrp="1"/>
          </p:cNvSpPr>
          <p:nvPr>
            <p:ph type="body" idx="1"/>
          </p:nvPr>
        </p:nvSpPr>
        <p:spPr>
          <a:xfrm>
            <a:off x="617089" y="3228215"/>
            <a:ext cx="7643507" cy="477951"/>
          </a:xfrm>
        </p:spPr>
        <p:txBody>
          <a:bodyPr lIns="0" tIns="0" rIns="0" bIns="0"/>
          <a:lstStyle>
            <a:lvl1pPr>
              <a:defRPr sz="3106" b="0" i="0">
                <a:solidFill>
                  <a:schemeClr val="tx1"/>
                </a:solidFill>
                <a:latin typeface="Arial MT"/>
                <a:cs typeface="Arial MT"/>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4117587" y="3823463"/>
            <a:ext cx="7712317" cy="902876"/>
          </a:xfrm>
        </p:spPr>
        <p:txBody>
          <a:bodyPr lIns="0" tIns="0" rIns="0" bIns="0"/>
          <a:lstStyle>
            <a:lvl1pPr>
              <a:defRPr sz="5867" b="0" i="0">
                <a:solidFill>
                  <a:srgbClr val="FF0000"/>
                </a:solidFill>
                <a:latin typeface="Calibri"/>
                <a:cs typeface="Calibri"/>
              </a:defRPr>
            </a:lvl1pPr>
          </a:lstStyle>
          <a:p>
            <a:endParaRPr/>
          </a:p>
        </p:txBody>
      </p:sp>
      <p:sp>
        <p:nvSpPr>
          <p:cNvPr id="3" name="Holder 3"/>
          <p:cNvSpPr>
            <a:spLocks noGrp="1"/>
          </p:cNvSpPr>
          <p:nvPr>
            <p:ph sz="half" idx="2"/>
          </p:nvPr>
        </p:nvSpPr>
        <p:spPr>
          <a:xfrm>
            <a:off x="670560" y="2313434"/>
            <a:ext cx="5833872"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906768" y="2313434"/>
            <a:ext cx="5833872"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3" y="2209800"/>
            <a:ext cx="13411198" cy="5081016"/>
          </a:xfrm>
          <a:prstGeom prst="rect">
            <a:avLst/>
          </a:prstGeom>
        </p:spPr>
      </p:pic>
      <p:sp>
        <p:nvSpPr>
          <p:cNvPr id="17" name="bg object 17"/>
          <p:cNvSpPr/>
          <p:nvPr/>
        </p:nvSpPr>
        <p:spPr>
          <a:xfrm>
            <a:off x="105186" y="3901439"/>
            <a:ext cx="13306014" cy="789940"/>
          </a:xfrm>
          <a:custGeom>
            <a:avLst/>
            <a:gdLst/>
            <a:ahLst/>
            <a:cxnLst/>
            <a:rect l="l" t="t" r="r" b="b"/>
            <a:pathLst>
              <a:path w="7711440" h="789939">
                <a:moveTo>
                  <a:pt x="0" y="789431"/>
                </a:moveTo>
                <a:lnTo>
                  <a:pt x="7711440" y="789431"/>
                </a:lnTo>
                <a:lnTo>
                  <a:pt x="7711440" y="0"/>
                </a:lnTo>
                <a:lnTo>
                  <a:pt x="0" y="0"/>
                </a:lnTo>
                <a:lnTo>
                  <a:pt x="0" y="789431"/>
                </a:lnTo>
                <a:close/>
              </a:path>
            </a:pathLst>
          </a:custGeom>
          <a:ln w="12191">
            <a:solidFill>
              <a:srgbClr val="000000"/>
            </a:solidFill>
          </a:ln>
        </p:spPr>
        <p:txBody>
          <a:bodyPr wrap="square" lIns="0" tIns="0" rIns="0" bIns="0" rtlCol="0"/>
          <a:lstStyle/>
          <a:p>
            <a:endParaRPr/>
          </a:p>
        </p:txBody>
      </p:sp>
      <p:sp>
        <p:nvSpPr>
          <p:cNvPr id="2" name="Holder 2"/>
          <p:cNvSpPr>
            <a:spLocks noGrp="1"/>
          </p:cNvSpPr>
          <p:nvPr>
            <p:ph type="title"/>
          </p:nvPr>
        </p:nvSpPr>
        <p:spPr>
          <a:xfrm>
            <a:off x="4117587" y="3823463"/>
            <a:ext cx="7712317" cy="902876"/>
          </a:xfrm>
        </p:spPr>
        <p:txBody>
          <a:bodyPr lIns="0" tIns="0" rIns="0" bIns="0"/>
          <a:lstStyle>
            <a:lvl1pPr>
              <a:defRPr sz="5867" b="0" i="0">
                <a:solidFill>
                  <a:srgbClr val="FF0000"/>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117587" y="3823463"/>
            <a:ext cx="7712317" cy="523220"/>
          </a:xfrm>
          <a:prstGeom prst="rect">
            <a:avLst/>
          </a:prstGeom>
        </p:spPr>
        <p:txBody>
          <a:bodyPr wrap="square" lIns="0" tIns="0" rIns="0" bIns="0">
            <a:spAutoFit/>
          </a:bodyPr>
          <a:lstStyle>
            <a:lvl1pPr>
              <a:defRPr sz="3400" b="0" i="0">
                <a:solidFill>
                  <a:srgbClr val="FF0000"/>
                </a:solidFill>
                <a:latin typeface="Calibri"/>
                <a:cs typeface="Calibri"/>
              </a:defRPr>
            </a:lvl1pPr>
          </a:lstStyle>
          <a:p>
            <a:endParaRPr/>
          </a:p>
        </p:txBody>
      </p:sp>
      <p:sp>
        <p:nvSpPr>
          <p:cNvPr id="3" name="Holder 3"/>
          <p:cNvSpPr>
            <a:spLocks noGrp="1"/>
          </p:cNvSpPr>
          <p:nvPr>
            <p:ph type="body" idx="1"/>
          </p:nvPr>
        </p:nvSpPr>
        <p:spPr>
          <a:xfrm>
            <a:off x="617089" y="3228213"/>
            <a:ext cx="7643507" cy="276999"/>
          </a:xfrm>
          <a:prstGeom prst="rect">
            <a:avLst/>
          </a:prstGeom>
        </p:spPr>
        <p:txBody>
          <a:bodyPr wrap="square" lIns="0" tIns="0" rIns="0" bIns="0">
            <a:spAutoFit/>
          </a:bodyPr>
          <a:lstStyle>
            <a:lvl1pPr>
              <a:defRPr sz="18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4559808" y="9354314"/>
            <a:ext cx="4291584"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70560" y="9354314"/>
            <a:ext cx="3084576"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1/16/2026</a:t>
            </a:fld>
            <a:endParaRPr lang="en-US"/>
          </a:p>
        </p:txBody>
      </p:sp>
      <p:sp>
        <p:nvSpPr>
          <p:cNvPr id="6" name="Holder 6"/>
          <p:cNvSpPr>
            <a:spLocks noGrp="1"/>
          </p:cNvSpPr>
          <p:nvPr>
            <p:ph type="sldNum" sz="quarter" idx="7"/>
          </p:nvPr>
        </p:nvSpPr>
        <p:spPr>
          <a:xfrm>
            <a:off x="9656064" y="9354314"/>
            <a:ext cx="3084576"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788842">
        <a:defRPr>
          <a:latin typeface="+mn-lt"/>
          <a:ea typeface="+mn-ea"/>
          <a:cs typeface="+mn-cs"/>
        </a:defRPr>
      </a:lvl2pPr>
      <a:lvl3pPr marL="1577682">
        <a:defRPr>
          <a:latin typeface="+mn-lt"/>
          <a:ea typeface="+mn-ea"/>
          <a:cs typeface="+mn-cs"/>
        </a:defRPr>
      </a:lvl3pPr>
      <a:lvl4pPr marL="2366523">
        <a:defRPr>
          <a:latin typeface="+mn-lt"/>
          <a:ea typeface="+mn-ea"/>
          <a:cs typeface="+mn-cs"/>
        </a:defRPr>
      </a:lvl4pPr>
      <a:lvl5pPr marL="3155365">
        <a:defRPr>
          <a:latin typeface="+mn-lt"/>
          <a:ea typeface="+mn-ea"/>
          <a:cs typeface="+mn-cs"/>
        </a:defRPr>
      </a:lvl5pPr>
      <a:lvl6pPr marL="3944207">
        <a:defRPr>
          <a:latin typeface="+mn-lt"/>
          <a:ea typeface="+mn-ea"/>
          <a:cs typeface="+mn-cs"/>
        </a:defRPr>
      </a:lvl6pPr>
      <a:lvl7pPr marL="4733048">
        <a:defRPr>
          <a:latin typeface="+mn-lt"/>
          <a:ea typeface="+mn-ea"/>
          <a:cs typeface="+mn-cs"/>
        </a:defRPr>
      </a:lvl7pPr>
      <a:lvl8pPr marL="5521888">
        <a:defRPr>
          <a:latin typeface="+mn-lt"/>
          <a:ea typeface="+mn-ea"/>
          <a:cs typeface="+mn-cs"/>
        </a:defRPr>
      </a:lvl8pPr>
      <a:lvl9pPr marL="6310730">
        <a:defRPr>
          <a:latin typeface="+mn-lt"/>
          <a:ea typeface="+mn-ea"/>
          <a:cs typeface="+mn-cs"/>
        </a:defRPr>
      </a:lvl9pPr>
    </p:bodyStyle>
    <p:otherStyle>
      <a:lvl1pPr marL="0">
        <a:defRPr>
          <a:latin typeface="+mn-lt"/>
          <a:ea typeface="+mn-ea"/>
          <a:cs typeface="+mn-cs"/>
        </a:defRPr>
      </a:lvl1pPr>
      <a:lvl2pPr marL="788842">
        <a:defRPr>
          <a:latin typeface="+mn-lt"/>
          <a:ea typeface="+mn-ea"/>
          <a:cs typeface="+mn-cs"/>
        </a:defRPr>
      </a:lvl2pPr>
      <a:lvl3pPr marL="1577682">
        <a:defRPr>
          <a:latin typeface="+mn-lt"/>
          <a:ea typeface="+mn-ea"/>
          <a:cs typeface="+mn-cs"/>
        </a:defRPr>
      </a:lvl3pPr>
      <a:lvl4pPr marL="2366523">
        <a:defRPr>
          <a:latin typeface="+mn-lt"/>
          <a:ea typeface="+mn-ea"/>
          <a:cs typeface="+mn-cs"/>
        </a:defRPr>
      </a:lvl4pPr>
      <a:lvl5pPr marL="3155365">
        <a:defRPr>
          <a:latin typeface="+mn-lt"/>
          <a:ea typeface="+mn-ea"/>
          <a:cs typeface="+mn-cs"/>
        </a:defRPr>
      </a:lvl5pPr>
      <a:lvl6pPr marL="3944207">
        <a:defRPr>
          <a:latin typeface="+mn-lt"/>
          <a:ea typeface="+mn-ea"/>
          <a:cs typeface="+mn-cs"/>
        </a:defRPr>
      </a:lvl6pPr>
      <a:lvl7pPr marL="4733048">
        <a:defRPr>
          <a:latin typeface="+mn-lt"/>
          <a:ea typeface="+mn-ea"/>
          <a:cs typeface="+mn-cs"/>
        </a:defRPr>
      </a:lvl7pPr>
      <a:lvl8pPr marL="5521888">
        <a:defRPr>
          <a:latin typeface="+mn-lt"/>
          <a:ea typeface="+mn-ea"/>
          <a:cs typeface="+mn-cs"/>
        </a:defRPr>
      </a:lvl8pPr>
      <a:lvl9pPr marL="631073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58EB70-F102-BAB5-31FD-19FC3742A4BC}"/>
            </a:ext>
          </a:extLst>
        </p:cNvPr>
        <p:cNvGrpSpPr/>
        <p:nvPr/>
      </p:nvGrpSpPr>
      <p:grpSpPr>
        <a:xfrm>
          <a:off x="0" y="0"/>
          <a:ext cx="0" cy="0"/>
          <a:chOff x="0" y="0"/>
          <a:chExt cx="0" cy="0"/>
        </a:xfrm>
      </p:grpSpPr>
      <p:sp>
        <p:nvSpPr>
          <p:cNvPr id="46" name="object 46">
            <a:extLst>
              <a:ext uri="{FF2B5EF4-FFF2-40B4-BE49-F238E27FC236}">
                <a16:creationId xmlns:a16="http://schemas.microsoft.com/office/drawing/2014/main" id="{1FBE4D91-85C7-0256-4A79-65056ECD04F4}"/>
              </a:ext>
            </a:extLst>
          </p:cNvPr>
          <p:cNvSpPr txBox="1">
            <a:spLocks noGrp="1"/>
          </p:cNvSpPr>
          <p:nvPr>
            <p:ph type="sldNum" sz="quarter" idx="7"/>
          </p:nvPr>
        </p:nvSpPr>
        <p:spPr>
          <a:xfrm>
            <a:off x="22501110" y="12821186"/>
            <a:ext cx="518023" cy="294953"/>
          </a:xfrm>
          <a:prstGeom prst="rect">
            <a:avLst/>
          </a:prstGeom>
        </p:spPr>
        <p:txBody>
          <a:bodyPr vert="horz" wrap="square" lIns="0" tIns="0" rIns="0" bIns="0" rtlCol="0">
            <a:spAutoFit/>
          </a:bodyPr>
          <a:lstStyle/>
          <a:p>
            <a:pPr marL="65742">
              <a:lnSpc>
                <a:spcPts val="2260"/>
              </a:lnSpc>
            </a:pPr>
            <a:fld id="{81D60167-4931-47E6-BA6A-407CBD079E47}" type="slidenum">
              <a:rPr spc="-86" dirty="0"/>
              <a:pPr marL="65742">
                <a:lnSpc>
                  <a:spcPts val="2260"/>
                </a:lnSpc>
              </a:pPr>
              <a:t>1</a:t>
            </a:fld>
            <a:endParaRPr spc="-86" dirty="0"/>
          </a:p>
        </p:txBody>
      </p:sp>
      <p:pic>
        <p:nvPicPr>
          <p:cNvPr id="47" name="object 25">
            <a:extLst>
              <a:ext uri="{FF2B5EF4-FFF2-40B4-BE49-F238E27FC236}">
                <a16:creationId xmlns:a16="http://schemas.microsoft.com/office/drawing/2014/main" id="{98B72FCF-C42A-5F3E-FCAD-5FE306171E0D}"/>
              </a:ext>
            </a:extLst>
          </p:cNvPr>
          <p:cNvPicPr/>
          <p:nvPr/>
        </p:nvPicPr>
        <p:blipFill>
          <a:blip r:embed="rId2">
            <a:extLst>
              <a:ext uri="{28A0092B-C50C-407E-A947-70E740481C1C}">
                <a14:useLocalDpi xmlns:a14="http://schemas.microsoft.com/office/drawing/2010/main" val="0"/>
              </a:ext>
            </a:extLst>
          </a:blip>
          <a:srcRect t="17" b="17"/>
          <a:stretch/>
        </p:blipFill>
        <p:spPr>
          <a:xfrm>
            <a:off x="1" y="457200"/>
            <a:ext cx="13411199" cy="9021482"/>
          </a:xfrm>
          <a:prstGeom prst="rect">
            <a:avLst/>
          </a:prstGeom>
        </p:spPr>
      </p:pic>
      <p:sp>
        <p:nvSpPr>
          <p:cNvPr id="2" name="object 30">
            <a:extLst>
              <a:ext uri="{FF2B5EF4-FFF2-40B4-BE49-F238E27FC236}">
                <a16:creationId xmlns:a16="http://schemas.microsoft.com/office/drawing/2014/main" id="{F0FF3176-3F91-64FC-E68E-9BEFB7D9E6B1}"/>
              </a:ext>
            </a:extLst>
          </p:cNvPr>
          <p:cNvSpPr txBox="1"/>
          <p:nvPr/>
        </p:nvSpPr>
        <p:spPr>
          <a:xfrm>
            <a:off x="0" y="3338091"/>
            <a:ext cx="13411198" cy="1603003"/>
          </a:xfrm>
          <a:prstGeom prst="rect">
            <a:avLst/>
          </a:prstGeom>
          <a:ln w="12953">
            <a:noFill/>
          </a:ln>
        </p:spPr>
        <p:txBody>
          <a:bodyPr vert="horz" wrap="square" lIns="0" tIns="0" rIns="0" bIns="0" rtlCol="0">
            <a:spAutoFit/>
          </a:bodyPr>
          <a:lstStyle/>
          <a:p>
            <a:pPr marL="2089760" algn="ctr">
              <a:spcBef>
                <a:spcPts val="505"/>
              </a:spcBef>
            </a:pPr>
            <a:r>
              <a:rPr lang="en-GB" sz="5000" b="1" dirty="0">
                <a:solidFill>
                  <a:srgbClr val="FFCE53"/>
                </a:solidFill>
                <a:latin typeface="Comic Sans MS"/>
              </a:rPr>
              <a:t>Algorithms &amp; Problem-Solving</a:t>
            </a:r>
          </a:p>
          <a:p>
            <a:pPr marL="2089760" algn="ctr">
              <a:spcBef>
                <a:spcPts val="505"/>
              </a:spcBef>
            </a:pPr>
            <a:r>
              <a:rPr lang="en-GB" sz="5000" b="1" dirty="0">
                <a:solidFill>
                  <a:schemeClr val="bg1"/>
                </a:solidFill>
                <a:latin typeface="Comic Sans MS"/>
                <a:cs typeface="Comic Sans MS"/>
              </a:rPr>
              <a:t>Level 4</a:t>
            </a:r>
          </a:p>
        </p:txBody>
      </p:sp>
    </p:spTree>
    <p:extLst>
      <p:ext uri="{BB962C8B-B14F-4D97-AF65-F5344CB8AC3E}">
        <p14:creationId xmlns:p14="http://schemas.microsoft.com/office/powerpoint/2010/main" val="12767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10957" y="645359"/>
            <a:ext cx="13422157" cy="8767682"/>
            <a:chOff x="0" y="2209800"/>
            <a:chExt cx="7778750" cy="5081270"/>
          </a:xfrm>
        </p:grpSpPr>
        <p:pic>
          <p:nvPicPr>
            <p:cNvPr id="3" name="object 3"/>
            <p:cNvPicPr/>
            <p:nvPr/>
          </p:nvPicPr>
          <p:blipFill>
            <a:blip r:embed="rId2" cstate="print"/>
            <a:stretch>
              <a:fillRect/>
            </a:stretch>
          </p:blipFill>
          <p:spPr>
            <a:xfrm>
              <a:off x="0" y="2209800"/>
              <a:ext cx="7772399" cy="5081016"/>
            </a:xfrm>
            <a:prstGeom prst="rect">
              <a:avLst/>
            </a:prstGeom>
          </p:spPr>
        </p:pic>
        <p:sp>
          <p:nvSpPr>
            <p:cNvPr id="4" name="object 4"/>
            <p:cNvSpPr/>
            <p:nvPr/>
          </p:nvSpPr>
          <p:spPr>
            <a:xfrm>
              <a:off x="60960" y="3901439"/>
              <a:ext cx="7711440" cy="1264920"/>
            </a:xfrm>
            <a:custGeom>
              <a:avLst/>
              <a:gdLst/>
              <a:ahLst/>
              <a:cxnLst/>
              <a:rect l="l" t="t" r="r" b="b"/>
              <a:pathLst>
                <a:path w="7711440" h="1264920">
                  <a:moveTo>
                    <a:pt x="0" y="1264919"/>
                  </a:moveTo>
                  <a:lnTo>
                    <a:pt x="7711440" y="1264919"/>
                  </a:lnTo>
                  <a:lnTo>
                    <a:pt x="7711440" y="0"/>
                  </a:lnTo>
                  <a:lnTo>
                    <a:pt x="0" y="0"/>
                  </a:lnTo>
                  <a:lnTo>
                    <a:pt x="0" y="1264919"/>
                  </a:lnTo>
                  <a:close/>
                </a:path>
              </a:pathLst>
            </a:custGeom>
            <a:ln w="12192">
              <a:solidFill>
                <a:srgbClr val="000000"/>
              </a:solidFill>
            </a:ln>
          </p:spPr>
          <p:txBody>
            <a:bodyPr wrap="square" lIns="0" tIns="0" rIns="0" bIns="0" rtlCol="0"/>
            <a:lstStyle/>
            <a:p>
              <a:endParaRPr/>
            </a:p>
          </p:txBody>
        </p:sp>
      </p:grpSp>
      <p:sp>
        <p:nvSpPr>
          <p:cNvPr id="8" name="object 8"/>
          <p:cNvSpPr txBox="1"/>
          <p:nvPr/>
        </p:nvSpPr>
        <p:spPr>
          <a:xfrm>
            <a:off x="13091697" y="12746337"/>
            <a:ext cx="182980" cy="352972"/>
          </a:xfrm>
          <a:prstGeom prst="rect">
            <a:avLst/>
          </a:prstGeom>
        </p:spPr>
        <p:txBody>
          <a:bodyPr vert="horz" wrap="square" lIns="0" tIns="20818" rIns="0" bIns="0" rtlCol="0">
            <a:spAutoFit/>
          </a:bodyPr>
          <a:lstStyle/>
          <a:p>
            <a:pPr marL="21914">
              <a:spcBef>
                <a:spcPts val="164"/>
              </a:spcBef>
            </a:pPr>
            <a:r>
              <a:rPr sz="2157" spc="-86" dirty="0">
                <a:latin typeface="Calibri"/>
                <a:cs typeface="Calibri"/>
              </a:rPr>
              <a:t>2</a:t>
            </a:r>
            <a:endParaRPr sz="2157">
              <a:latin typeface="Calibri"/>
              <a:cs typeface="Calibri"/>
            </a:endParaRPr>
          </a:p>
        </p:txBody>
      </p:sp>
      <p:sp>
        <p:nvSpPr>
          <p:cNvPr id="9" name="object 30">
            <a:extLst>
              <a:ext uri="{FF2B5EF4-FFF2-40B4-BE49-F238E27FC236}">
                <a16:creationId xmlns:a16="http://schemas.microsoft.com/office/drawing/2014/main" id="{3AA9CB0E-53FA-ACBF-E593-FD91CDBB5BFF}"/>
              </a:ext>
            </a:extLst>
          </p:cNvPr>
          <p:cNvSpPr txBox="1"/>
          <p:nvPr/>
        </p:nvSpPr>
        <p:spPr>
          <a:xfrm>
            <a:off x="106432" y="3084218"/>
            <a:ext cx="13304768" cy="1779974"/>
          </a:xfrm>
          <a:prstGeom prst="rect">
            <a:avLst/>
          </a:prstGeom>
          <a:ln w="12953">
            <a:noFill/>
          </a:ln>
        </p:spPr>
        <p:txBody>
          <a:bodyPr vert="horz" wrap="square" lIns="0" tIns="0" rIns="0" bIns="0" rtlCol="0">
            <a:spAutoFit/>
          </a:bodyPr>
          <a:lstStyle/>
          <a:p>
            <a:pPr marL="2786346" algn="ctr">
              <a:spcBef>
                <a:spcPts val="673"/>
              </a:spcBef>
            </a:pPr>
            <a:r>
              <a:rPr lang="en-GB" sz="4000" spc="-17" dirty="0">
                <a:solidFill>
                  <a:srgbClr val="FFFFFF"/>
                </a:solidFill>
                <a:latin typeface="Comic Sans MS"/>
                <a:cs typeface="Comic Sans MS"/>
              </a:rPr>
              <a:t>Algorithms &amp; Problem Solving</a:t>
            </a:r>
          </a:p>
          <a:p>
            <a:pPr marL="2786346" algn="ctr">
              <a:spcBef>
                <a:spcPts val="673"/>
              </a:spcBef>
            </a:pPr>
            <a:r>
              <a:rPr lang="sv-SE" sz="2400" spc="-17" dirty="0" err="1">
                <a:solidFill>
                  <a:srgbClr val="FFFFFF"/>
                </a:solidFill>
                <a:latin typeface="Comic Sans MS"/>
                <a:cs typeface="Comic Sans MS"/>
              </a:rPr>
              <a:t>Level</a:t>
            </a:r>
            <a:r>
              <a:rPr lang="sv-SE" sz="2400" spc="-17" dirty="0">
                <a:solidFill>
                  <a:srgbClr val="FFFFFF"/>
                </a:solidFill>
                <a:latin typeface="Comic Sans MS"/>
                <a:cs typeface="Comic Sans MS"/>
              </a:rPr>
              <a:t> 4</a:t>
            </a:r>
          </a:p>
          <a:p>
            <a:pPr marL="2786346" algn="ctr">
              <a:spcBef>
                <a:spcPts val="673"/>
              </a:spcBef>
            </a:pPr>
            <a:r>
              <a:rPr lang="en-GB" sz="4000" b="1" dirty="0">
                <a:solidFill>
                  <a:srgbClr val="FFCE53"/>
                </a:solidFill>
                <a:latin typeface="Comic Sans MS"/>
                <a:cs typeface="Comic Sans MS"/>
              </a:rPr>
              <a:t>Validate Date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3266C84-96DF-4E4E-6F8B-91A05446CAA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DFC5D9C1-B6BF-65E1-D3D6-95868F3F585A}"/>
              </a:ext>
            </a:extLst>
          </p:cNvPr>
          <p:cNvSpPr txBox="1"/>
          <p:nvPr/>
        </p:nvSpPr>
        <p:spPr>
          <a:xfrm>
            <a:off x="381000" y="888075"/>
            <a:ext cx="12352767" cy="6742419"/>
          </a:xfrm>
          <a:prstGeom prst="rect">
            <a:avLst/>
          </a:prstGeom>
        </p:spPr>
        <p:txBody>
          <a:bodyPr vert="horz" wrap="square" lIns="0" tIns="154492" rIns="0" bIns="0" rtlCol="0">
            <a:spAutoFit/>
          </a:bodyPr>
          <a:lstStyle/>
          <a:p>
            <a:r>
              <a:rPr lang="en-GB" sz="4000" b="1" spc="-17" dirty="0">
                <a:solidFill>
                  <a:schemeClr val="tx1"/>
                </a:solidFill>
                <a:latin typeface="Comic Sans MS"/>
                <a:cs typeface="Comic Sans MS"/>
              </a:rPr>
              <a:t>🔎 Definition</a:t>
            </a:r>
          </a:p>
          <a:p>
            <a:pPr marL="21912">
              <a:spcBef>
                <a:spcPts val="1216"/>
              </a:spcBef>
            </a:pPr>
            <a:endParaRPr lang="en-GB" sz="2400" spc="-17" dirty="0">
              <a:solidFill>
                <a:schemeClr val="tx1"/>
              </a:solidFill>
              <a:latin typeface="Comic Sans MS"/>
              <a:cs typeface="Comic Sans MS"/>
            </a:endParaRPr>
          </a:p>
          <a:p>
            <a:pPr marL="21912">
              <a:spcBef>
                <a:spcPts val="1216"/>
              </a:spcBef>
            </a:pPr>
            <a:r>
              <a:rPr lang="en-GB" sz="2400" spc="-17" dirty="0">
                <a:solidFill>
                  <a:schemeClr val="tx1"/>
                </a:solidFill>
                <a:latin typeface="Comic Sans MS"/>
                <a:cs typeface="Comic Sans MS"/>
              </a:rPr>
              <a:t>🟨 </a:t>
            </a:r>
            <a:r>
              <a:rPr lang="en-GB" sz="2400" spc="-17" dirty="0" err="1">
                <a:solidFill>
                  <a:schemeClr val="tx1"/>
                </a:solidFill>
                <a:latin typeface="Comic Sans MS"/>
                <a:cs typeface="Comic Sans MS"/>
              </a:rPr>
              <a:t>sDate</a:t>
            </a:r>
            <a:r>
              <a:rPr lang="en-GB" sz="2400" spc="-17" dirty="0">
                <a:solidFill>
                  <a:schemeClr val="tx1"/>
                </a:solidFill>
                <a:latin typeface="Comic Sans MS"/>
                <a:cs typeface="Comic Sans MS"/>
              </a:rPr>
              <a:t> Struct: Represents the date and consists of:</a:t>
            </a:r>
          </a:p>
          <a:p>
            <a:pPr marL="21912">
              <a:spcBef>
                <a:spcPts val="1216"/>
              </a:spcBef>
            </a:pPr>
            <a:r>
              <a:rPr lang="en-GB" sz="2400" spc="-17" dirty="0">
                <a:solidFill>
                  <a:schemeClr val="tx1"/>
                </a:solidFill>
                <a:latin typeface="Comic Sans MS"/>
                <a:cs typeface="Comic Sans MS"/>
              </a:rPr>
              <a:t>	🟩 Day</a:t>
            </a:r>
          </a:p>
          <a:p>
            <a:pPr marL="21912">
              <a:spcBef>
                <a:spcPts val="1216"/>
              </a:spcBef>
            </a:pPr>
            <a:r>
              <a:rPr lang="en-GB" sz="2400" spc="-17" dirty="0">
                <a:solidFill>
                  <a:schemeClr val="tx1"/>
                </a:solidFill>
                <a:latin typeface="Comic Sans MS"/>
                <a:cs typeface="Comic Sans MS"/>
              </a:rPr>
              <a:t>	🟩 Month</a:t>
            </a:r>
          </a:p>
          <a:p>
            <a:pPr marL="21912">
              <a:spcBef>
                <a:spcPts val="1216"/>
              </a:spcBef>
            </a:pPr>
            <a:r>
              <a:rPr lang="en-GB" sz="2400" spc="-17" dirty="0">
                <a:solidFill>
                  <a:schemeClr val="tx1"/>
                </a:solidFill>
                <a:latin typeface="Comic Sans MS"/>
                <a:cs typeface="Comic Sans MS"/>
              </a:rPr>
              <a:t>	🟩 Year</a:t>
            </a:r>
          </a:p>
          <a:p>
            <a:pPr marL="21912">
              <a:spcBef>
                <a:spcPts val="1216"/>
              </a:spcBef>
            </a:pPr>
            <a:r>
              <a:rPr lang="en-GB" sz="2400" spc="-17" dirty="0">
                <a:solidFill>
                  <a:schemeClr val="tx1"/>
                </a:solidFill>
                <a:latin typeface="Comic Sans MS"/>
                <a:cs typeface="Comic Sans MS"/>
              </a:rPr>
              <a:t>🟨 </a:t>
            </a:r>
            <a:r>
              <a:rPr lang="en-GB" sz="2400" spc="-17" dirty="0" err="1">
                <a:solidFill>
                  <a:schemeClr val="tx1"/>
                </a:solidFill>
                <a:latin typeface="Comic Sans MS"/>
                <a:cs typeface="Comic Sans MS"/>
              </a:rPr>
              <a:t>IsLeapYear</a:t>
            </a:r>
            <a:r>
              <a:rPr lang="en-GB" sz="2400" spc="-17" dirty="0">
                <a:solidFill>
                  <a:schemeClr val="tx1"/>
                </a:solidFill>
                <a:latin typeface="Comic Sans MS"/>
                <a:cs typeface="Comic Sans MS"/>
              </a:rPr>
              <a:t>(year): Determines whether the year is a leap year or not.</a:t>
            </a:r>
          </a:p>
          <a:p>
            <a:pPr marL="21912">
              <a:spcBef>
                <a:spcPts val="1216"/>
              </a:spcBef>
            </a:pPr>
            <a:r>
              <a:rPr lang="en-GB" sz="2400" spc="-17" dirty="0">
                <a:solidFill>
                  <a:schemeClr val="tx1"/>
                </a:solidFill>
                <a:latin typeface="Comic Sans MS"/>
                <a:cs typeface="Comic Sans MS"/>
              </a:rPr>
              <a:t>	🟩 A year is a leap year if:</a:t>
            </a:r>
          </a:p>
          <a:p>
            <a:pPr marL="21912">
              <a:spcBef>
                <a:spcPts val="1216"/>
              </a:spcBef>
            </a:pPr>
            <a:r>
              <a:rPr lang="en-GB" sz="2400" spc="-17" dirty="0">
                <a:solidFill>
                  <a:schemeClr val="tx1"/>
                </a:solidFill>
                <a:latin typeface="Comic Sans MS"/>
                <a:cs typeface="Comic Sans MS"/>
              </a:rPr>
              <a:t>🟨 It is divisible by 400, or it is divisible by 4 but not by 100.</a:t>
            </a:r>
          </a:p>
          <a:p>
            <a:pPr marL="21912">
              <a:spcBef>
                <a:spcPts val="1216"/>
              </a:spcBef>
            </a:pPr>
            <a:r>
              <a:rPr lang="en-GB" sz="2400" spc="-17" dirty="0">
                <a:solidFill>
                  <a:schemeClr val="tx1"/>
                </a:solidFill>
                <a:latin typeface="Comic Sans MS"/>
                <a:cs typeface="Comic Sans MS"/>
              </a:rPr>
              <a:t>🟨 </a:t>
            </a:r>
            <a:r>
              <a:rPr lang="en-GB" sz="2400" spc="-17" dirty="0" err="1">
                <a:solidFill>
                  <a:schemeClr val="tx1"/>
                </a:solidFill>
                <a:latin typeface="Comic Sans MS"/>
                <a:cs typeface="Comic Sans MS"/>
              </a:rPr>
              <a:t>NumberOfDaysInAMonth</a:t>
            </a:r>
            <a:r>
              <a:rPr lang="en-GB" sz="2400" spc="-17" dirty="0">
                <a:solidFill>
                  <a:schemeClr val="tx1"/>
                </a:solidFill>
                <a:latin typeface="Comic Sans MS"/>
                <a:cs typeface="Comic Sans MS"/>
              </a:rPr>
              <a:t>(month, year): Returns the number of days in the month, 	taking into account the leap year for February.</a:t>
            </a:r>
          </a:p>
          <a:p>
            <a:pPr marL="21912">
              <a:spcBef>
                <a:spcPts val="1216"/>
              </a:spcBef>
            </a:pPr>
            <a:r>
              <a:rPr lang="en-GB" sz="2400" spc="-17" dirty="0">
                <a:solidFill>
                  <a:schemeClr val="tx1"/>
                </a:solidFill>
                <a:latin typeface="Comic Sans MS"/>
                <a:cs typeface="Comic Sans MS"/>
              </a:rPr>
              <a:t>🟨 </a:t>
            </a:r>
            <a:r>
              <a:rPr lang="en-GB" sz="2400" spc="-17" dirty="0" err="1">
                <a:solidFill>
                  <a:schemeClr val="tx1"/>
                </a:solidFill>
                <a:latin typeface="Comic Sans MS"/>
                <a:cs typeface="Comic Sans MS"/>
              </a:rPr>
              <a:t>IsValidDate</a:t>
            </a:r>
            <a:r>
              <a:rPr lang="en-GB" sz="2400" spc="-17" dirty="0">
                <a:solidFill>
                  <a:schemeClr val="tx1"/>
                </a:solidFill>
                <a:latin typeface="Comic Sans MS"/>
                <a:cs typeface="Comic Sans MS"/>
              </a:rPr>
              <a:t>(date): Checks that the day and month are within the correct range, and 	that the day does not exceed the number of days allowed in that month.</a:t>
            </a:r>
          </a:p>
        </p:txBody>
      </p:sp>
    </p:spTree>
    <p:extLst>
      <p:ext uri="{BB962C8B-B14F-4D97-AF65-F5344CB8AC3E}">
        <p14:creationId xmlns:p14="http://schemas.microsoft.com/office/powerpoint/2010/main" val="4046665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27639BF-5B04-2CDB-F954-0E7B331A79AB}"/>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AF03F9DF-291D-632D-CC20-FEEF616AD17D}"/>
              </a:ext>
            </a:extLst>
          </p:cNvPr>
          <p:cNvSpPr txBox="1"/>
          <p:nvPr/>
        </p:nvSpPr>
        <p:spPr>
          <a:xfrm>
            <a:off x="381000" y="888075"/>
            <a:ext cx="12352767" cy="2556658"/>
          </a:xfrm>
          <a:prstGeom prst="rect">
            <a:avLst/>
          </a:prstGeom>
        </p:spPr>
        <p:txBody>
          <a:bodyPr vert="horz" wrap="square" lIns="0" tIns="154492" rIns="0" bIns="0" rtlCol="0">
            <a:spAutoFit/>
          </a:bodyPr>
          <a:lstStyle/>
          <a:p>
            <a:r>
              <a:rPr lang="en-GB" sz="4000" b="1" spc="-17" dirty="0">
                <a:solidFill>
                  <a:schemeClr val="tx1"/>
                </a:solidFill>
                <a:latin typeface="Comic Sans MS"/>
                <a:cs typeface="Comic Sans MS"/>
              </a:rPr>
              <a:t>📖 Explanation:</a:t>
            </a:r>
            <a:endParaRPr lang="en-GB" sz="2400" spc="-17" dirty="0">
              <a:solidFill>
                <a:schemeClr val="tx1"/>
              </a:solidFill>
              <a:latin typeface="Comic Sans MS"/>
              <a:cs typeface="Comic Sans MS"/>
            </a:endParaRPr>
          </a:p>
          <a:p>
            <a:pPr marL="21912">
              <a:spcBef>
                <a:spcPts val="1216"/>
              </a:spcBef>
            </a:pPr>
            <a:endParaRPr lang="en-GB" sz="2400" spc="-17" dirty="0">
              <a:solidFill>
                <a:schemeClr val="tx1"/>
              </a:solidFill>
              <a:latin typeface="Comic Sans MS"/>
              <a:cs typeface="Comic Sans MS"/>
            </a:endParaRPr>
          </a:p>
          <a:p>
            <a:pPr marL="21912">
              <a:spcBef>
                <a:spcPts val="1216"/>
              </a:spcBef>
            </a:pPr>
            <a:r>
              <a:rPr lang="en-GB" sz="2400" spc="-17" dirty="0">
                <a:solidFill>
                  <a:schemeClr val="tx1"/>
                </a:solidFill>
                <a:latin typeface="Comic Sans MS"/>
                <a:cs typeface="Comic Sans MS"/>
              </a:rPr>
              <a:t>🟨 This program checks the validity of a date entered by the user (day, month, year) 	and verifies whether the date is correct in terms of the number of days in the 	month, the correctness of the month, and whether it is a leap year.</a:t>
            </a:r>
          </a:p>
        </p:txBody>
      </p:sp>
    </p:spTree>
    <p:extLst>
      <p:ext uri="{BB962C8B-B14F-4D97-AF65-F5344CB8AC3E}">
        <p14:creationId xmlns:p14="http://schemas.microsoft.com/office/powerpoint/2010/main" val="1090011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2BF0CD4-0319-9496-8478-267F28598EE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F2F894D4-F401-E6A7-0F75-B717EFD319F6}"/>
              </a:ext>
            </a:extLst>
          </p:cNvPr>
          <p:cNvSpPr txBox="1"/>
          <p:nvPr/>
        </p:nvSpPr>
        <p:spPr>
          <a:xfrm>
            <a:off x="381000" y="888075"/>
            <a:ext cx="12725400" cy="2618213"/>
          </a:xfrm>
          <a:prstGeom prst="rect">
            <a:avLst/>
          </a:prstGeom>
        </p:spPr>
        <p:txBody>
          <a:bodyPr vert="horz" wrap="square" lIns="0" tIns="154492" rIns="0" bIns="0" rtlCol="0">
            <a:spAutoFit/>
          </a:bodyPr>
          <a:lstStyle/>
          <a:p>
            <a:r>
              <a:rPr lang="en-GB" sz="4000" b="1" spc="-17" dirty="0">
                <a:solidFill>
                  <a:schemeClr val="tx1"/>
                </a:solidFill>
                <a:latin typeface="Comic Sans MS"/>
              </a:rPr>
              <a:t>🟦 Procedures</a:t>
            </a:r>
          </a:p>
          <a:p>
            <a:endParaRPr lang="en-GB" sz="2400" spc="-17" dirty="0">
              <a:solidFill>
                <a:schemeClr val="tx1"/>
              </a:solidFill>
              <a:latin typeface="Comic Sans MS"/>
            </a:endParaRPr>
          </a:p>
          <a:p>
            <a:r>
              <a:rPr lang="en-GB" sz="2400" spc="-17" dirty="0">
                <a:solidFill>
                  <a:schemeClr val="tx1"/>
                </a:solidFill>
                <a:latin typeface="Comic Sans MS"/>
              </a:rPr>
              <a:t>1️⃣ The user enters the day, month, and year.</a:t>
            </a:r>
          </a:p>
          <a:p>
            <a:r>
              <a:rPr lang="en-GB" sz="2400" spc="-17" dirty="0">
                <a:solidFill>
                  <a:schemeClr val="tx1"/>
                </a:solidFill>
                <a:latin typeface="Comic Sans MS"/>
              </a:rPr>
              <a:t>2️⃣ The number of days allowed for the given month is calculated.</a:t>
            </a:r>
          </a:p>
          <a:p>
            <a:r>
              <a:rPr lang="en-GB" sz="2400" spc="-17" dirty="0">
                <a:solidFill>
                  <a:schemeClr val="tx1"/>
                </a:solidFill>
                <a:latin typeface="Comic Sans MS"/>
              </a:rPr>
              <a:t>3️⃣ The entered values ​​are checked to be logical and correct.</a:t>
            </a:r>
          </a:p>
          <a:p>
            <a:r>
              <a:rPr lang="en-GB" sz="2400" spc="-17" dirty="0">
                <a:solidFill>
                  <a:schemeClr val="tx1"/>
                </a:solidFill>
                <a:latin typeface="Comic Sans MS"/>
              </a:rPr>
              <a:t>4️⃣ The result is displayed: whether the date is correct or invalid.</a:t>
            </a:r>
          </a:p>
        </p:txBody>
      </p:sp>
    </p:spTree>
    <p:extLst>
      <p:ext uri="{BB962C8B-B14F-4D97-AF65-F5344CB8AC3E}">
        <p14:creationId xmlns:p14="http://schemas.microsoft.com/office/powerpoint/2010/main" val="26042688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D39F685-28AF-C9C3-8B6F-8BFF452B22FF}"/>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4F261E53-E7D3-546B-5B39-33EA8A9A6301}"/>
              </a:ext>
            </a:extLst>
          </p:cNvPr>
          <p:cNvSpPr txBox="1"/>
          <p:nvPr/>
        </p:nvSpPr>
        <p:spPr>
          <a:xfrm>
            <a:off x="381000" y="888075"/>
            <a:ext cx="12352767" cy="5203536"/>
          </a:xfrm>
          <a:prstGeom prst="rect">
            <a:avLst/>
          </a:prstGeom>
        </p:spPr>
        <p:txBody>
          <a:bodyPr vert="horz" wrap="square" lIns="0" tIns="154492" rIns="0" bIns="0" rtlCol="0">
            <a:spAutoFit/>
          </a:bodyPr>
          <a:lstStyle/>
          <a:p>
            <a:r>
              <a:rPr lang="en-GB" sz="4000" b="1" spc="-17" dirty="0">
                <a:solidFill>
                  <a:schemeClr val="tx1"/>
                </a:solidFill>
                <a:latin typeface="Comic Sans MS"/>
              </a:rPr>
              <a:t>💡 Example:</a:t>
            </a:r>
          </a:p>
          <a:p>
            <a:endParaRPr lang="en-GB" sz="2400" b="1" spc="-17" dirty="0">
              <a:solidFill>
                <a:schemeClr val="tx1"/>
              </a:solidFill>
              <a:latin typeface="Comic Sans MS"/>
            </a:endParaRPr>
          </a:p>
          <a:p>
            <a:pPr rtl="0"/>
            <a:r>
              <a:rPr lang="en-GB" sz="2400" spc="-17" dirty="0">
                <a:solidFill>
                  <a:schemeClr val="tx1"/>
                </a:solidFill>
                <a:latin typeface="Comic Sans MS"/>
              </a:rPr>
              <a:t>Day = 35, Month = 1, Year = 2022</a:t>
            </a:r>
          </a:p>
          <a:p>
            <a:pPr rtl="0"/>
            <a:r>
              <a:rPr lang="en-GB" sz="2400" spc="-17" dirty="0">
                <a:solidFill>
                  <a:schemeClr val="tx1"/>
                </a:solidFill>
                <a:latin typeface="Comic Sans MS"/>
              </a:rPr>
              <a:t>No, Date is NOT valid date</a:t>
            </a:r>
          </a:p>
          <a:p>
            <a:pPr rtl="0"/>
            <a:endParaRPr lang="en-GB" sz="2400" spc="-17" dirty="0">
              <a:solidFill>
                <a:schemeClr val="tx1"/>
              </a:solidFill>
              <a:latin typeface="Comic Sans MS"/>
            </a:endParaRPr>
          </a:p>
          <a:p>
            <a:pPr rtl="0"/>
            <a:r>
              <a:rPr lang="en-GB" sz="2400" spc="-17" dirty="0">
                <a:solidFill>
                  <a:schemeClr val="tx1"/>
                </a:solidFill>
                <a:latin typeface="Comic Sans MS"/>
              </a:rPr>
              <a:t>Day = 29, Month = 2, Year = 2022</a:t>
            </a:r>
          </a:p>
          <a:p>
            <a:pPr rtl="0"/>
            <a:r>
              <a:rPr lang="en-GB" sz="2400" spc="-17" dirty="0">
                <a:solidFill>
                  <a:schemeClr val="tx1"/>
                </a:solidFill>
                <a:latin typeface="Comic Sans MS"/>
              </a:rPr>
              <a:t>No, Date is NOT valid date</a:t>
            </a:r>
          </a:p>
          <a:p>
            <a:pPr rtl="0"/>
            <a:endParaRPr lang="en-GB" sz="2400" spc="-17" dirty="0">
              <a:solidFill>
                <a:schemeClr val="tx1"/>
              </a:solidFill>
              <a:latin typeface="Comic Sans MS"/>
            </a:endParaRPr>
          </a:p>
          <a:p>
            <a:pPr rtl="0"/>
            <a:r>
              <a:rPr lang="en-GB" sz="2400" spc="-17" dirty="0">
                <a:solidFill>
                  <a:schemeClr val="tx1"/>
                </a:solidFill>
                <a:latin typeface="Comic Sans MS"/>
              </a:rPr>
              <a:t>Day = 29, Month = 2, Year = 2000</a:t>
            </a:r>
          </a:p>
          <a:p>
            <a:pPr rtl="0"/>
            <a:r>
              <a:rPr lang="en-GB" sz="2400" spc="-17" dirty="0">
                <a:solidFill>
                  <a:schemeClr val="tx1"/>
                </a:solidFill>
                <a:latin typeface="Comic Sans MS"/>
              </a:rPr>
              <a:t>Yes, Date is a valid date.</a:t>
            </a:r>
          </a:p>
          <a:p>
            <a:pPr rtl="0"/>
            <a:endParaRPr lang="en-GB" sz="2400" spc="-17" dirty="0">
              <a:solidFill>
                <a:schemeClr val="tx1"/>
              </a:solidFill>
              <a:latin typeface="Comic Sans MS"/>
            </a:endParaRPr>
          </a:p>
          <a:p>
            <a:pPr rtl="0"/>
            <a:r>
              <a:rPr lang="en-GB" sz="2400" spc="-17" dirty="0">
                <a:solidFill>
                  <a:schemeClr val="tx1"/>
                </a:solidFill>
                <a:latin typeface="Comic Sans MS"/>
              </a:rPr>
              <a:t>Day = 31, Month = 4, Year = 2022</a:t>
            </a:r>
          </a:p>
          <a:p>
            <a:pPr rtl="0"/>
            <a:r>
              <a:rPr lang="en-GB" sz="2400" spc="-17" dirty="0">
                <a:solidFill>
                  <a:schemeClr val="tx1"/>
                </a:solidFill>
                <a:latin typeface="Comic Sans MS"/>
              </a:rPr>
              <a:t>No, Date is NOT valid date</a:t>
            </a:r>
          </a:p>
        </p:txBody>
      </p:sp>
    </p:spTree>
    <p:extLst>
      <p:ext uri="{BB962C8B-B14F-4D97-AF65-F5344CB8AC3E}">
        <p14:creationId xmlns:p14="http://schemas.microsoft.com/office/powerpoint/2010/main" val="37444033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7D2DA5C-3FA1-B573-C71C-4EB0D1A2A1D7}"/>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E30B4A0-FCAB-B2B1-6497-A129BB23A104}"/>
              </a:ext>
            </a:extLst>
          </p:cNvPr>
          <p:cNvSpPr txBox="1"/>
          <p:nvPr/>
        </p:nvSpPr>
        <p:spPr>
          <a:xfrm>
            <a:off x="381000" y="888075"/>
            <a:ext cx="12352767" cy="1879549"/>
          </a:xfrm>
          <a:prstGeom prst="rect">
            <a:avLst/>
          </a:prstGeom>
        </p:spPr>
        <p:txBody>
          <a:bodyPr vert="horz" wrap="square" lIns="0" tIns="154492" rIns="0" bIns="0" rtlCol="0">
            <a:spAutoFit/>
          </a:bodyPr>
          <a:lstStyle/>
          <a:p>
            <a:r>
              <a:rPr lang="en-GB" sz="4000" b="1" spc="-17" dirty="0">
                <a:solidFill>
                  <a:schemeClr val="tx1"/>
                </a:solidFill>
                <a:latin typeface="Comic Sans MS"/>
              </a:rPr>
              <a:t>🧐 Explanation:</a:t>
            </a:r>
            <a:endParaRPr lang="en-GB" sz="2400" b="1" spc="-17" dirty="0">
              <a:solidFill>
                <a:schemeClr val="tx1"/>
              </a:solidFill>
              <a:latin typeface="Comic Sans MS"/>
            </a:endParaRPr>
          </a:p>
          <a:p>
            <a:pPr rtl="0"/>
            <a:endParaRPr lang="en-GB" sz="2400" spc="-17" dirty="0">
              <a:solidFill>
                <a:schemeClr val="tx1"/>
              </a:solidFill>
              <a:latin typeface="Comic Sans MS"/>
            </a:endParaRPr>
          </a:p>
          <a:p>
            <a:pPr rtl="0"/>
            <a:r>
              <a:rPr lang="en-GB" sz="2400" spc="-17" dirty="0">
                <a:solidFill>
                  <a:schemeClr val="tx1"/>
                </a:solidFill>
                <a:latin typeface="Comic Sans MS"/>
              </a:rPr>
              <a:t>🟨 If the month or day is outside the range (e.g., month 13 or day 0), the date will be 	considered invalid immediately.</a:t>
            </a:r>
          </a:p>
        </p:txBody>
      </p:sp>
    </p:spTree>
    <p:extLst>
      <p:ext uri="{BB962C8B-B14F-4D97-AF65-F5344CB8AC3E}">
        <p14:creationId xmlns:p14="http://schemas.microsoft.com/office/powerpoint/2010/main" val="36526019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FC4C884-4771-86CB-E73E-1C23CC6D35B5}"/>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013F1C83-3858-57B9-3003-D255623CC2E7}"/>
              </a:ext>
            </a:extLst>
          </p:cNvPr>
          <p:cNvSpPr txBox="1"/>
          <p:nvPr/>
        </p:nvSpPr>
        <p:spPr>
          <a:xfrm>
            <a:off x="381000" y="888075"/>
            <a:ext cx="12352767" cy="2248881"/>
          </a:xfrm>
          <a:prstGeom prst="rect">
            <a:avLst/>
          </a:prstGeom>
        </p:spPr>
        <p:txBody>
          <a:bodyPr vert="horz" wrap="square" lIns="0" tIns="154492" rIns="0" bIns="0" rtlCol="0">
            <a:spAutoFit/>
          </a:bodyPr>
          <a:lstStyle/>
          <a:p>
            <a:r>
              <a:rPr lang="en-GB" sz="4000" b="1" spc="-17" dirty="0">
                <a:solidFill>
                  <a:schemeClr val="tx1"/>
                </a:solidFill>
                <a:latin typeface="Comic Sans MS"/>
              </a:rPr>
              <a:t>🧐 Interpretation:</a:t>
            </a:r>
            <a:endParaRPr lang="en-GB" sz="2400" spc="-17" dirty="0">
              <a:solidFill>
                <a:schemeClr val="tx1"/>
              </a:solidFill>
              <a:latin typeface="Comic Sans MS"/>
            </a:endParaRPr>
          </a:p>
          <a:p>
            <a:pPr rtl="0"/>
            <a:endParaRPr lang="en-GB" sz="2400" spc="-17" dirty="0">
              <a:solidFill>
                <a:schemeClr val="tx1"/>
              </a:solidFill>
              <a:latin typeface="Comic Sans MS"/>
            </a:endParaRPr>
          </a:p>
          <a:p>
            <a:pPr rtl="0"/>
            <a:r>
              <a:rPr lang="en-GB" sz="2400" spc="-17" dirty="0">
                <a:solidFill>
                  <a:schemeClr val="tx1"/>
                </a:solidFill>
                <a:latin typeface="Comic Sans MS"/>
              </a:rPr>
              <a:t>🟨 The program compares the input day to the actual number of days in the month.</a:t>
            </a:r>
          </a:p>
          <a:p>
            <a:pPr rtl="0"/>
            <a:r>
              <a:rPr lang="en-GB" sz="2400" spc="-17" dirty="0">
                <a:solidFill>
                  <a:schemeClr val="tx1"/>
                </a:solidFill>
                <a:latin typeface="Comic Sans MS"/>
              </a:rPr>
              <a:t>🟨 The `</a:t>
            </a:r>
            <a:r>
              <a:rPr lang="en-GB" sz="2400" spc="-17" dirty="0" err="1">
                <a:solidFill>
                  <a:schemeClr val="tx1"/>
                </a:solidFill>
                <a:latin typeface="Comic Sans MS"/>
              </a:rPr>
              <a:t>IsLeapYear</a:t>
            </a:r>
            <a:r>
              <a:rPr lang="en-GB" sz="2400" spc="-17" dirty="0">
                <a:solidFill>
                  <a:schemeClr val="tx1"/>
                </a:solidFill>
                <a:latin typeface="Comic Sans MS"/>
              </a:rPr>
              <a:t>()` function is called to determine whether February has 28 or 29 days.</a:t>
            </a:r>
          </a:p>
        </p:txBody>
      </p:sp>
    </p:spTree>
    <p:extLst>
      <p:ext uri="{BB962C8B-B14F-4D97-AF65-F5344CB8AC3E}">
        <p14:creationId xmlns:p14="http://schemas.microsoft.com/office/powerpoint/2010/main" val="726810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08BD117-85F9-F581-6BCF-D291225FBB2A}"/>
            </a:ext>
          </a:extLst>
        </p:cNvPr>
        <p:cNvGrpSpPr/>
        <p:nvPr/>
      </p:nvGrpSpPr>
      <p:grpSpPr>
        <a:xfrm>
          <a:off x="0" y="0"/>
          <a:ext cx="0" cy="0"/>
          <a:chOff x="0" y="0"/>
          <a:chExt cx="0" cy="0"/>
        </a:xfrm>
      </p:grpSpPr>
      <p:sp>
        <p:nvSpPr>
          <p:cNvPr id="3" name="object 3">
            <a:extLst>
              <a:ext uri="{FF2B5EF4-FFF2-40B4-BE49-F238E27FC236}">
                <a16:creationId xmlns:a16="http://schemas.microsoft.com/office/drawing/2014/main" id="{6287D2CE-F3F4-6D4A-D490-25BCA2A32825}"/>
              </a:ext>
            </a:extLst>
          </p:cNvPr>
          <p:cNvSpPr txBox="1"/>
          <p:nvPr/>
        </p:nvSpPr>
        <p:spPr>
          <a:xfrm>
            <a:off x="381000" y="888075"/>
            <a:ext cx="12352767" cy="3233766"/>
          </a:xfrm>
          <a:prstGeom prst="rect">
            <a:avLst/>
          </a:prstGeom>
        </p:spPr>
        <p:txBody>
          <a:bodyPr vert="horz" wrap="square" lIns="0" tIns="154492" rIns="0" bIns="0" rtlCol="0">
            <a:spAutoFit/>
          </a:bodyPr>
          <a:lstStyle/>
          <a:p>
            <a:r>
              <a:rPr lang="en-GB" sz="4000" b="1" spc="-17" dirty="0">
                <a:solidFill>
                  <a:schemeClr val="tx1"/>
                </a:solidFill>
                <a:latin typeface="Comic Sans MS"/>
              </a:rPr>
              <a:t>✨ Summary</a:t>
            </a:r>
          </a:p>
          <a:p>
            <a:endParaRPr lang="en-GB" sz="4000" spc="-17" dirty="0">
              <a:solidFill>
                <a:schemeClr val="tx1"/>
              </a:solidFill>
              <a:latin typeface="Comic Sans MS"/>
            </a:endParaRPr>
          </a:p>
          <a:p>
            <a:r>
              <a:rPr lang="en-GB" sz="2400" spc="-17" dirty="0">
                <a:solidFill>
                  <a:schemeClr val="tx1"/>
                </a:solidFill>
                <a:latin typeface="Comic Sans MS"/>
              </a:rPr>
              <a:t>✅ The program thoroughly verifies the date using the following conditions:</a:t>
            </a:r>
          </a:p>
          <a:p>
            <a:r>
              <a:rPr lang="en-GB" sz="2400" spc="-17" dirty="0">
                <a:solidFill>
                  <a:schemeClr val="tx1"/>
                </a:solidFill>
                <a:latin typeface="Comic Sans MS"/>
              </a:rPr>
              <a:t>	🟩 Day between 1 and 31</a:t>
            </a:r>
          </a:p>
          <a:p>
            <a:r>
              <a:rPr lang="en-GB" sz="2400" spc="-17" dirty="0">
                <a:solidFill>
                  <a:schemeClr val="tx1"/>
                </a:solidFill>
                <a:latin typeface="Comic Sans MS"/>
              </a:rPr>
              <a:t>	🟩 Month between 1 and 12</a:t>
            </a:r>
          </a:p>
          <a:p>
            <a:r>
              <a:rPr lang="en-GB" sz="2400" spc="-17" dirty="0">
                <a:solidFill>
                  <a:schemeClr val="tx1"/>
                </a:solidFill>
                <a:latin typeface="Comic Sans MS"/>
              </a:rPr>
              <a:t>	🟩 Number of days does not exceed the allowed limit for the month</a:t>
            </a:r>
          </a:p>
          <a:p>
            <a:r>
              <a:rPr lang="en-GB" sz="2400" spc="-17">
                <a:solidFill>
                  <a:schemeClr val="tx1"/>
                </a:solidFill>
                <a:latin typeface="Comic Sans MS"/>
              </a:rPr>
              <a:t>	🟩 </a:t>
            </a:r>
            <a:r>
              <a:rPr lang="en-GB" sz="2400" spc="-17" dirty="0">
                <a:solidFill>
                  <a:schemeClr val="tx1"/>
                </a:solidFill>
                <a:latin typeface="Comic Sans MS"/>
              </a:rPr>
              <a:t>Correctly handles leap years</a:t>
            </a:r>
          </a:p>
        </p:txBody>
      </p:sp>
    </p:spTree>
    <p:extLst>
      <p:ext uri="{BB962C8B-B14F-4D97-AF65-F5344CB8AC3E}">
        <p14:creationId xmlns:p14="http://schemas.microsoft.com/office/powerpoint/2010/main" val="15105513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0C985-45BF-D625-B127-8108457FDBB6}"/>
            </a:ext>
          </a:extLst>
        </p:cNvPr>
        <p:cNvGrpSpPr/>
        <p:nvPr/>
      </p:nvGrpSpPr>
      <p:grpSpPr>
        <a:xfrm>
          <a:off x="0" y="0"/>
          <a:ext cx="0" cy="0"/>
          <a:chOff x="0" y="0"/>
          <a:chExt cx="0" cy="0"/>
        </a:xfrm>
      </p:grpSpPr>
      <p:sp>
        <p:nvSpPr>
          <p:cNvPr id="3" name="object 4">
            <a:extLst>
              <a:ext uri="{FF2B5EF4-FFF2-40B4-BE49-F238E27FC236}">
                <a16:creationId xmlns:a16="http://schemas.microsoft.com/office/drawing/2014/main" id="{2DD6DF42-8147-ACB0-9155-6AB216D32B4F}"/>
              </a:ext>
            </a:extLst>
          </p:cNvPr>
          <p:cNvSpPr txBox="1">
            <a:spLocks/>
          </p:cNvSpPr>
          <p:nvPr/>
        </p:nvSpPr>
        <p:spPr>
          <a:xfrm>
            <a:off x="0" y="4712874"/>
            <a:ext cx="13411200" cy="632652"/>
          </a:xfrm>
          <a:prstGeom prst="rect">
            <a:avLst/>
          </a:prstGeom>
        </p:spPr>
        <p:txBody>
          <a:bodyPr vert="horz" wrap="square" lIns="0" tIns="16934" rIns="0" bIns="0" rtlCol="0">
            <a:spAutoFit/>
          </a:bodyPr>
          <a:lstStyle>
            <a:defPPr>
              <a:defRPr kern="0"/>
            </a:defPPr>
            <a:lvl1pPr>
              <a:defRPr>
                <a:latin typeface="+mj-lt"/>
                <a:ea typeface="+mj-ea"/>
                <a:cs typeface="+mj-cs"/>
              </a:defRPr>
            </a:lvl1pPr>
          </a:lstStyle>
          <a:p>
            <a:pPr marL="16932" algn="ctr">
              <a:spcBef>
                <a:spcPts val="133"/>
              </a:spcBef>
            </a:pPr>
            <a:r>
              <a:rPr lang="sv-SE" sz="4000" b="1" spc="-17" dirty="0" err="1">
                <a:solidFill>
                  <a:srgbClr val="FF0000"/>
                </a:solidFill>
                <a:latin typeface="Comic Sans MS"/>
              </a:rPr>
              <a:t>Thank</a:t>
            </a:r>
            <a:r>
              <a:rPr lang="sv-SE" sz="4000" b="1" spc="-17" dirty="0">
                <a:solidFill>
                  <a:srgbClr val="FF0000"/>
                </a:solidFill>
                <a:latin typeface="Comic Sans MS"/>
              </a:rPr>
              <a:t> </a:t>
            </a:r>
            <a:r>
              <a:rPr lang="sv-SE" sz="4000" b="1" spc="-17" dirty="0" err="1">
                <a:solidFill>
                  <a:srgbClr val="FF0000"/>
                </a:solidFill>
                <a:latin typeface="Comic Sans MS"/>
              </a:rPr>
              <a:t>you</a:t>
            </a:r>
            <a:r>
              <a:rPr lang="sv-SE" sz="4000" spc="-21" dirty="0">
                <a:solidFill>
                  <a:srgbClr val="FF0000"/>
                </a:solidFill>
              </a:rPr>
              <a:t> </a:t>
            </a:r>
            <a:r>
              <a:rPr lang="sv-SE" sz="4000" spc="-67" dirty="0">
                <a:solidFill>
                  <a:srgbClr val="FF0000"/>
                </a:solidFill>
                <a:latin typeface="Wingdings"/>
                <a:cs typeface="Wingdings"/>
              </a:rPr>
              <a:t></a:t>
            </a:r>
            <a:endParaRPr lang="sv-SE" sz="4000" dirty="0">
              <a:solidFill>
                <a:srgbClr val="FF0000"/>
              </a:solidFill>
              <a:latin typeface="Wingdings"/>
              <a:cs typeface="Wingdings"/>
            </a:endParaRPr>
          </a:p>
        </p:txBody>
      </p:sp>
    </p:spTree>
    <p:extLst>
      <p:ext uri="{BB962C8B-B14F-4D97-AF65-F5344CB8AC3E}">
        <p14:creationId xmlns:p14="http://schemas.microsoft.com/office/powerpoint/2010/main" val="13031109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3038</TotalTime>
  <Words>450</Words>
  <Application>Microsoft Office PowerPoint</Application>
  <PresentationFormat>Custom</PresentationFormat>
  <Paragraphs>55</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 MT</vt:lpstr>
      <vt:lpstr>Calibri</vt:lpstr>
      <vt:lpstr>Comic Sans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Sara Alterkawi</dc:creator>
  <cp:lastModifiedBy>Sara Alterkawi</cp:lastModifiedBy>
  <cp:revision>368</cp:revision>
  <dcterms:created xsi:type="dcterms:W3CDTF">2025-12-09T17:44:59Z</dcterms:created>
  <dcterms:modified xsi:type="dcterms:W3CDTF">2026-01-16T18:41:24Z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2025-12-09T00:00:00Z</vt:filetime>
  </property>
  <property fmtid="{D5CDD505-2E9C-101B-9397-08002B2CF9AE}" pid="3" name="Creator">
    <vt:lpwstr>Microsoft® PowerPoint® 2016</vt:lpwstr>
  </property>
  <property fmtid="{D5CDD505-2E9C-101B-9397-08002B2CF9AE}" pid="4" name="LastSaved">
    <vt:filetime>2025-12-09T00:00:00Z</vt:filetime>
  </property>
  <property fmtid="{D5CDD505-2E9C-101B-9397-08002B2CF9AE}" pid="5" name="Producer">
    <vt:lpwstr>www.ilovepdf.com</vt:lpwstr>
  </property>
</Properties>
</file>