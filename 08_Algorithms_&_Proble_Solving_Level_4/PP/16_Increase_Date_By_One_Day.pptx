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6" r:id="rId2"/>
    <p:sldId id="257" r:id="rId3"/>
    <p:sldId id="333" r:id="rId4"/>
    <p:sldId id="352" r:id="rId5"/>
    <p:sldId id="339" r:id="rId6"/>
    <p:sldId id="355" r:id="rId7"/>
    <p:sldId id="347" r:id="rId8"/>
    <p:sldId id="346" r:id="rId9"/>
    <p:sldId id="353" r:id="rId10"/>
    <p:sldId id="332" r:id="rId11"/>
    <p:sldId id="354" r:id="rId12"/>
    <p:sldId id="313" r:id="rId13"/>
  </p:sldIdLst>
  <p:sldSz cx="13411200" cy="10058400"/>
  <p:notesSz cx="7772400" cy="10058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1" d="100"/>
          <a:sy n="41" d="100"/>
        </p:scale>
        <p:origin x="15" y="438"/>
      </p:cViewPr>
      <p:guideLst>
        <p:guide orient="horz" pos="2880"/>
        <p:guide pos="37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840" y="3118104"/>
            <a:ext cx="11399520" cy="902876"/>
          </a:xfrm>
          <a:prstGeom prst="rect">
            <a:avLst/>
          </a:prstGeom>
        </p:spPr>
        <p:txBody>
          <a:bodyPr wrap="square" lIns="0" tIns="0" rIns="0" bIns="0">
            <a:spAutoFit/>
          </a:bodyPr>
          <a:lstStyle>
            <a:lvl1pPr>
              <a:defRPr sz="5867" b="0" i="0">
                <a:solidFill>
                  <a:srgbClr val="FF0000"/>
                </a:solidFill>
                <a:latin typeface="Calibri"/>
                <a:cs typeface="Calibri"/>
              </a:defRPr>
            </a:lvl1pPr>
          </a:lstStyle>
          <a:p>
            <a:endParaRPr/>
          </a:p>
        </p:txBody>
      </p:sp>
      <p:sp>
        <p:nvSpPr>
          <p:cNvPr id="3" name="Holder 3"/>
          <p:cNvSpPr>
            <a:spLocks noGrp="1"/>
          </p:cNvSpPr>
          <p:nvPr>
            <p:ph type="subTitle" idx="4"/>
          </p:nvPr>
        </p:nvSpPr>
        <p:spPr>
          <a:xfrm>
            <a:off x="2011680" y="5632706"/>
            <a:ext cx="9387840" cy="477951"/>
          </a:xfrm>
          <a:prstGeom prst="rect">
            <a:avLst/>
          </a:prstGeom>
        </p:spPr>
        <p:txBody>
          <a:bodyPr wrap="square" lIns="0" tIns="0" rIns="0" bIns="0">
            <a:spAutoFit/>
          </a:bodyPr>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31334" y="2514600"/>
            <a:ext cx="12753788" cy="4142104"/>
          </a:xfrm>
          <a:custGeom>
            <a:avLst/>
            <a:gdLst/>
            <a:ahLst/>
            <a:cxnLst/>
            <a:rect l="l" t="t" r="r" b="b"/>
            <a:pathLst>
              <a:path w="7391400" h="4142104">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5"/>
            <a:ext cx="7643507" cy="477951"/>
          </a:xfrm>
        </p:spPr>
        <p:txBody>
          <a:bodyPr lIns="0" tIns="0" rIns="0" bIns="0"/>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sz="half" idx="2"/>
          </p:nvPr>
        </p:nvSpPr>
        <p:spPr>
          <a:xfrm>
            <a:off x="670560" y="2313434"/>
            <a:ext cx="583387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6768" y="2313434"/>
            <a:ext cx="5833872"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 y="2209800"/>
            <a:ext cx="13411198" cy="5081016"/>
          </a:xfrm>
          <a:prstGeom prst="rect">
            <a:avLst/>
          </a:prstGeom>
        </p:spPr>
      </p:pic>
      <p:sp>
        <p:nvSpPr>
          <p:cNvPr id="17" name="bg object 17"/>
          <p:cNvSpPr/>
          <p:nvPr/>
        </p:nvSpPr>
        <p:spPr>
          <a:xfrm>
            <a:off x="105186" y="3901439"/>
            <a:ext cx="13306014" cy="789940"/>
          </a:xfrm>
          <a:custGeom>
            <a:avLst/>
            <a:gdLst/>
            <a:ahLst/>
            <a:cxnLst/>
            <a:rect l="l" t="t" r="r" b="b"/>
            <a:pathLst>
              <a:path w="7711440" h="789939">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3"/>
            <a:ext cx="764350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EB70-F102-BAB5-31FD-19FC3742A4BC}"/>
            </a:ext>
          </a:extLst>
        </p:cNvPr>
        <p:cNvGrpSpPr/>
        <p:nvPr/>
      </p:nvGrpSpPr>
      <p:grpSpPr>
        <a:xfrm>
          <a:off x="0" y="0"/>
          <a:ext cx="0" cy="0"/>
          <a:chOff x="0" y="0"/>
          <a:chExt cx="0" cy="0"/>
        </a:xfrm>
      </p:grpSpPr>
      <p:sp>
        <p:nvSpPr>
          <p:cNvPr id="46" name="object 46">
            <a:extLst>
              <a:ext uri="{FF2B5EF4-FFF2-40B4-BE49-F238E27FC236}">
                <a16:creationId xmlns:a16="http://schemas.microsoft.com/office/drawing/2014/main" id="{1FBE4D91-85C7-0256-4A79-65056ECD04F4}"/>
              </a:ext>
            </a:extLst>
          </p:cNvPr>
          <p:cNvSpPr txBox="1">
            <a:spLocks noGrp="1"/>
          </p:cNvSpPr>
          <p:nvPr>
            <p:ph type="sldNum" sz="quarter" idx="7"/>
          </p:nvPr>
        </p:nvSpPr>
        <p:spPr>
          <a:xfrm>
            <a:off x="22501110" y="12821186"/>
            <a:ext cx="518023" cy="294953"/>
          </a:xfrm>
          <a:prstGeom prst="rect">
            <a:avLst/>
          </a:prstGeom>
        </p:spPr>
        <p:txBody>
          <a:bodyPr vert="horz" wrap="square" lIns="0" tIns="0" rIns="0" bIns="0" rtlCol="0">
            <a:spAutoFit/>
          </a:bodyPr>
          <a:lstStyle/>
          <a:p>
            <a:pPr marL="65742">
              <a:lnSpc>
                <a:spcPts val="2260"/>
              </a:lnSpc>
            </a:pPr>
            <a:fld id="{81D60167-4931-47E6-BA6A-407CBD079E47}" type="slidenum">
              <a:rPr spc="-86" dirty="0"/>
              <a:pPr marL="65742">
                <a:lnSpc>
                  <a:spcPts val="2260"/>
                </a:lnSpc>
              </a:pPr>
              <a:t>1</a:t>
            </a:fld>
            <a:endParaRPr spc="-86" dirty="0"/>
          </a:p>
        </p:txBody>
      </p:sp>
      <p:pic>
        <p:nvPicPr>
          <p:cNvPr id="47" name="object 25">
            <a:extLst>
              <a:ext uri="{FF2B5EF4-FFF2-40B4-BE49-F238E27FC236}">
                <a16:creationId xmlns:a16="http://schemas.microsoft.com/office/drawing/2014/main" id="{98B72FCF-C42A-5F3E-FCAD-5FE306171E0D}"/>
              </a:ext>
            </a:extLst>
          </p:cNvPr>
          <p:cNvPicPr/>
          <p:nvPr/>
        </p:nvPicPr>
        <p:blipFill>
          <a:blip r:embed="rId2">
            <a:extLst>
              <a:ext uri="{28A0092B-C50C-407E-A947-70E740481C1C}">
                <a14:useLocalDpi xmlns:a14="http://schemas.microsoft.com/office/drawing/2010/main" val="0"/>
              </a:ext>
            </a:extLst>
          </a:blip>
          <a:srcRect t="17" b="17"/>
          <a:stretch/>
        </p:blipFill>
        <p:spPr>
          <a:xfrm>
            <a:off x="1" y="457200"/>
            <a:ext cx="13411199" cy="9021482"/>
          </a:xfrm>
          <a:prstGeom prst="rect">
            <a:avLst/>
          </a:prstGeom>
        </p:spPr>
      </p:pic>
      <p:sp>
        <p:nvSpPr>
          <p:cNvPr id="2" name="object 30">
            <a:extLst>
              <a:ext uri="{FF2B5EF4-FFF2-40B4-BE49-F238E27FC236}">
                <a16:creationId xmlns:a16="http://schemas.microsoft.com/office/drawing/2014/main" id="{F0FF3176-3F91-64FC-E68E-9BEFB7D9E6B1}"/>
              </a:ext>
            </a:extLst>
          </p:cNvPr>
          <p:cNvSpPr txBox="1"/>
          <p:nvPr/>
        </p:nvSpPr>
        <p:spPr>
          <a:xfrm>
            <a:off x="0" y="3338091"/>
            <a:ext cx="13411198" cy="1603003"/>
          </a:xfrm>
          <a:prstGeom prst="rect">
            <a:avLst/>
          </a:prstGeom>
          <a:ln w="12953">
            <a:noFill/>
          </a:ln>
        </p:spPr>
        <p:txBody>
          <a:bodyPr vert="horz" wrap="square" lIns="0" tIns="0" rIns="0" bIns="0" rtlCol="0">
            <a:spAutoFit/>
          </a:bodyPr>
          <a:lstStyle/>
          <a:p>
            <a:pPr marL="2089760" algn="ctr">
              <a:spcBef>
                <a:spcPts val="505"/>
              </a:spcBef>
            </a:pPr>
            <a:r>
              <a:rPr lang="en-GB" sz="5000" b="1" dirty="0">
                <a:solidFill>
                  <a:srgbClr val="FFCE53"/>
                </a:solidFill>
                <a:latin typeface="Comic Sans MS"/>
              </a:rPr>
              <a:t>Algorithms &amp; Problem-Solving</a:t>
            </a:r>
          </a:p>
          <a:p>
            <a:pPr marL="2089760" algn="ctr">
              <a:spcBef>
                <a:spcPts val="505"/>
              </a:spcBef>
            </a:pPr>
            <a:r>
              <a:rPr lang="en-GB" sz="5000" b="1" dirty="0">
                <a:solidFill>
                  <a:schemeClr val="bg1"/>
                </a:solidFill>
                <a:latin typeface="Comic Sans MS"/>
                <a:cs typeface="Comic Sans MS"/>
              </a:rPr>
              <a:t>Level 4</a:t>
            </a:r>
          </a:p>
        </p:txBody>
      </p:sp>
    </p:spTree>
    <p:extLst>
      <p:ext uri="{BB962C8B-B14F-4D97-AF65-F5344CB8AC3E}">
        <p14:creationId xmlns:p14="http://schemas.microsoft.com/office/powerpoint/2010/main" val="1276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957" y="645359"/>
            <a:ext cx="13422157" cy="8767682"/>
            <a:chOff x="0" y="2209800"/>
            <a:chExt cx="7778750" cy="5081270"/>
          </a:xfrm>
        </p:grpSpPr>
        <p:pic>
          <p:nvPicPr>
            <p:cNvPr id="3" name="object 3"/>
            <p:cNvPicPr/>
            <p:nvPr/>
          </p:nvPicPr>
          <p:blipFill>
            <a:blip r:embed="rId2" cstate="print"/>
            <a:stretch>
              <a:fillRect/>
            </a:stretch>
          </p:blipFill>
          <p:spPr>
            <a:xfrm>
              <a:off x="0" y="2209800"/>
              <a:ext cx="7772399" cy="5081016"/>
            </a:xfrm>
            <a:prstGeom prst="rect">
              <a:avLst/>
            </a:prstGeom>
          </p:spPr>
        </p:pic>
        <p:sp>
          <p:nvSpPr>
            <p:cNvPr id="4" name="object 4"/>
            <p:cNvSpPr/>
            <p:nvPr/>
          </p:nvSpPr>
          <p:spPr>
            <a:xfrm>
              <a:off x="60960" y="3901439"/>
              <a:ext cx="7711440" cy="1264920"/>
            </a:xfrm>
            <a:custGeom>
              <a:avLst/>
              <a:gdLst/>
              <a:ahLst/>
              <a:cxnLst/>
              <a:rect l="l" t="t" r="r" b="b"/>
              <a:pathLst>
                <a:path w="7711440" h="1264920">
                  <a:moveTo>
                    <a:pt x="0" y="1264919"/>
                  </a:moveTo>
                  <a:lnTo>
                    <a:pt x="7711440" y="1264919"/>
                  </a:lnTo>
                  <a:lnTo>
                    <a:pt x="7711440" y="0"/>
                  </a:lnTo>
                  <a:lnTo>
                    <a:pt x="0" y="0"/>
                  </a:lnTo>
                  <a:lnTo>
                    <a:pt x="0" y="1264919"/>
                  </a:lnTo>
                  <a:close/>
                </a:path>
              </a:pathLst>
            </a:custGeom>
            <a:ln w="12192">
              <a:solidFill>
                <a:srgbClr val="000000"/>
              </a:solidFill>
            </a:ln>
          </p:spPr>
          <p:txBody>
            <a:bodyPr wrap="square" lIns="0" tIns="0" rIns="0" bIns="0" rtlCol="0"/>
            <a:lstStyle/>
            <a:p>
              <a:endParaRPr/>
            </a:p>
          </p:txBody>
        </p:sp>
      </p:grpSp>
      <p:sp>
        <p:nvSpPr>
          <p:cNvPr id="8" name="object 8"/>
          <p:cNvSpPr txBox="1"/>
          <p:nvPr/>
        </p:nvSpPr>
        <p:spPr>
          <a:xfrm>
            <a:off x="13091697" y="12746337"/>
            <a:ext cx="182980" cy="352972"/>
          </a:xfrm>
          <a:prstGeom prst="rect">
            <a:avLst/>
          </a:prstGeom>
        </p:spPr>
        <p:txBody>
          <a:bodyPr vert="horz" wrap="square" lIns="0" tIns="20818" rIns="0" bIns="0" rtlCol="0">
            <a:spAutoFit/>
          </a:bodyPr>
          <a:lstStyle/>
          <a:p>
            <a:pPr marL="21914">
              <a:spcBef>
                <a:spcPts val="164"/>
              </a:spcBef>
            </a:pPr>
            <a:r>
              <a:rPr sz="2157" spc="-86" dirty="0">
                <a:latin typeface="Calibri"/>
                <a:cs typeface="Calibri"/>
              </a:rPr>
              <a:t>2</a:t>
            </a:r>
            <a:endParaRPr sz="2157">
              <a:latin typeface="Calibri"/>
              <a:cs typeface="Calibri"/>
            </a:endParaRPr>
          </a:p>
        </p:txBody>
      </p:sp>
      <p:sp>
        <p:nvSpPr>
          <p:cNvPr id="9" name="object 30">
            <a:extLst>
              <a:ext uri="{FF2B5EF4-FFF2-40B4-BE49-F238E27FC236}">
                <a16:creationId xmlns:a16="http://schemas.microsoft.com/office/drawing/2014/main" id="{3AA9CB0E-53FA-ACBF-E593-FD91CDBB5BFF}"/>
              </a:ext>
            </a:extLst>
          </p:cNvPr>
          <p:cNvSpPr txBox="1"/>
          <p:nvPr/>
        </p:nvSpPr>
        <p:spPr>
          <a:xfrm>
            <a:off x="106432" y="3084218"/>
            <a:ext cx="13304768" cy="1779974"/>
          </a:xfrm>
          <a:prstGeom prst="rect">
            <a:avLst/>
          </a:prstGeom>
          <a:ln w="12953">
            <a:noFill/>
          </a:ln>
        </p:spPr>
        <p:txBody>
          <a:bodyPr vert="horz" wrap="square" lIns="0" tIns="0" rIns="0" bIns="0" rtlCol="0">
            <a:spAutoFit/>
          </a:bodyPr>
          <a:lstStyle/>
          <a:p>
            <a:pPr marL="2786346" algn="ctr">
              <a:spcBef>
                <a:spcPts val="673"/>
              </a:spcBef>
            </a:pPr>
            <a:r>
              <a:rPr lang="en-GB" sz="4000" spc="-17" dirty="0">
                <a:solidFill>
                  <a:srgbClr val="FFFFFF"/>
                </a:solidFill>
                <a:latin typeface="Comic Sans MS"/>
                <a:cs typeface="Comic Sans MS"/>
              </a:rPr>
              <a:t>Algorithms &amp; Problem Solving</a:t>
            </a:r>
          </a:p>
          <a:p>
            <a:pPr marL="2786346" algn="ctr">
              <a:spcBef>
                <a:spcPts val="673"/>
              </a:spcBef>
            </a:pPr>
            <a:r>
              <a:rPr lang="sv-SE" sz="2400" spc="-17" dirty="0" err="1">
                <a:solidFill>
                  <a:srgbClr val="FFFFFF"/>
                </a:solidFill>
                <a:latin typeface="Comic Sans MS"/>
                <a:cs typeface="Comic Sans MS"/>
              </a:rPr>
              <a:t>Level</a:t>
            </a:r>
            <a:r>
              <a:rPr lang="sv-SE" sz="2400" spc="-17" dirty="0">
                <a:solidFill>
                  <a:srgbClr val="FFFFFF"/>
                </a:solidFill>
                <a:latin typeface="Comic Sans MS"/>
                <a:cs typeface="Comic Sans MS"/>
              </a:rPr>
              <a:t> 4</a:t>
            </a:r>
          </a:p>
          <a:p>
            <a:pPr marL="2786346" algn="ctr">
              <a:spcBef>
                <a:spcPts val="673"/>
              </a:spcBef>
            </a:pPr>
            <a:r>
              <a:rPr lang="en-GB" sz="4000" b="1" dirty="0">
                <a:solidFill>
                  <a:srgbClr val="FFCE53"/>
                </a:solidFill>
                <a:latin typeface="Comic Sans MS"/>
                <a:cs typeface="Comic Sans MS"/>
              </a:rPr>
              <a:t>Increase Date By One 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266C84-96DF-4E4E-6F8B-91A05446CA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C5D9C1-B6BF-65E1-D3D6-95868F3F585A}"/>
              </a:ext>
            </a:extLst>
          </p:cNvPr>
          <p:cNvSpPr txBox="1"/>
          <p:nvPr/>
        </p:nvSpPr>
        <p:spPr>
          <a:xfrm>
            <a:off x="381000" y="888075"/>
            <a:ext cx="12352767" cy="2187326"/>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Definition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goal is a program that reads the date (day, month, year) from the user, then 	adds this date by just one day and displays the result on the screen.</a:t>
            </a:r>
          </a:p>
        </p:txBody>
      </p:sp>
    </p:spTree>
    <p:extLst>
      <p:ext uri="{BB962C8B-B14F-4D97-AF65-F5344CB8AC3E}">
        <p14:creationId xmlns:p14="http://schemas.microsoft.com/office/powerpoint/2010/main" val="40466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7DF29C-926B-B349-F7AB-619A974B3D5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07F8CC2-0D05-3A67-13C5-205C5D0C9370}"/>
              </a:ext>
            </a:extLst>
          </p:cNvPr>
          <p:cNvSpPr txBox="1"/>
          <p:nvPr/>
        </p:nvSpPr>
        <p:spPr>
          <a:xfrm>
            <a:off x="381000" y="888075"/>
            <a:ext cx="12352767" cy="3449210"/>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Explanation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goal is to correctly handle the changing days, especially when transitioning from 	the end of one month to the beginning of the next, or from the end of one year 	to the next.</a:t>
            </a:r>
          </a:p>
          <a:p>
            <a:pPr marL="21912">
              <a:spcBef>
                <a:spcPts val="1216"/>
              </a:spcBef>
            </a:pPr>
            <a:r>
              <a:rPr lang="en-GB" sz="2400" spc="-17" dirty="0">
                <a:solidFill>
                  <a:schemeClr val="tx1"/>
                </a:solidFill>
                <a:latin typeface="Comic Sans MS"/>
                <a:cs typeface="Comic Sans MS"/>
              </a:rPr>
              <a:t>🟨 The program relies on a set of organized functions to divide tasks such as reading 	the date, checking for leap years, and calculating the number of days in a month.</a:t>
            </a:r>
          </a:p>
        </p:txBody>
      </p:sp>
    </p:spTree>
    <p:extLst>
      <p:ext uri="{BB962C8B-B14F-4D97-AF65-F5344CB8AC3E}">
        <p14:creationId xmlns:p14="http://schemas.microsoft.com/office/powerpoint/2010/main" val="3725727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BF0CD4-0319-9496-8478-267F28598E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F894D4-F401-E6A7-0F75-B717EFD319F6}"/>
              </a:ext>
            </a:extLst>
          </p:cNvPr>
          <p:cNvSpPr txBox="1"/>
          <p:nvPr/>
        </p:nvSpPr>
        <p:spPr>
          <a:xfrm>
            <a:off x="381000" y="888075"/>
            <a:ext cx="12725400" cy="9266187"/>
          </a:xfrm>
          <a:prstGeom prst="rect">
            <a:avLst/>
          </a:prstGeom>
        </p:spPr>
        <p:txBody>
          <a:bodyPr vert="horz" wrap="square" lIns="0" tIns="154492" rIns="0" bIns="0" rtlCol="0">
            <a:spAutoFit/>
          </a:bodyPr>
          <a:lstStyle/>
          <a:p>
            <a:r>
              <a:rPr lang="en-GB" sz="4000" b="1" spc="-17" dirty="0">
                <a:solidFill>
                  <a:schemeClr val="tx1"/>
                </a:solidFill>
                <a:latin typeface="Comic Sans MS"/>
              </a:rPr>
              <a:t>🟦 Procedures</a:t>
            </a:r>
          </a:p>
          <a:p>
            <a:endParaRPr lang="en-GB" sz="2400" spc="-17" dirty="0">
              <a:solidFill>
                <a:schemeClr val="tx1"/>
              </a:solidFill>
              <a:latin typeface="Comic Sans MS"/>
            </a:endParaRPr>
          </a:p>
          <a:p>
            <a:r>
              <a:rPr lang="en-GB" sz="2400" spc="-17" dirty="0">
                <a:solidFill>
                  <a:schemeClr val="tx1"/>
                </a:solidFill>
                <a:latin typeface="Comic Sans MS"/>
              </a:rPr>
              <a:t>1️⃣ Defining the </a:t>
            </a:r>
            <a:r>
              <a:rPr lang="en-GB" sz="2400" spc="-17" dirty="0" err="1">
                <a:solidFill>
                  <a:schemeClr val="tx1"/>
                </a:solidFill>
                <a:latin typeface="Comic Sans MS"/>
              </a:rPr>
              <a:t>sDate</a:t>
            </a:r>
            <a:r>
              <a:rPr lang="en-GB" sz="2400" spc="-17" dirty="0">
                <a:solidFill>
                  <a:schemeClr val="tx1"/>
                </a:solidFill>
                <a:latin typeface="Comic Sans MS"/>
              </a:rPr>
              <a:t> structure to store the following information:</a:t>
            </a:r>
          </a:p>
          <a:p>
            <a:r>
              <a:rPr lang="en-GB" sz="2400" spc="-17" dirty="0">
                <a:solidFill>
                  <a:schemeClr val="tx1"/>
                </a:solidFill>
                <a:latin typeface="Comic Sans MS"/>
              </a:rPr>
              <a:t>	🟩 Year — Year</a:t>
            </a:r>
          </a:p>
          <a:p>
            <a:r>
              <a:rPr lang="en-GB" sz="2400" spc="-17" dirty="0">
                <a:solidFill>
                  <a:schemeClr val="tx1"/>
                </a:solidFill>
                <a:latin typeface="Comic Sans MS"/>
              </a:rPr>
              <a:t>	🟩 Month — Month</a:t>
            </a:r>
          </a:p>
          <a:p>
            <a:r>
              <a:rPr lang="en-GB" sz="2400" spc="-17" dirty="0">
                <a:solidFill>
                  <a:schemeClr val="tx1"/>
                </a:solidFill>
                <a:latin typeface="Comic Sans MS"/>
              </a:rPr>
              <a:t>	🟩 Day — Day</a:t>
            </a:r>
          </a:p>
          <a:p>
            <a:r>
              <a:rPr lang="en-GB" sz="2400" spc="-17" dirty="0">
                <a:solidFill>
                  <a:schemeClr val="tx1"/>
                </a:solidFill>
                <a:latin typeface="Comic Sans MS"/>
              </a:rPr>
              <a:t>2️⃣ Reading the date from the user using the following functions:</a:t>
            </a:r>
          </a:p>
          <a:p>
            <a:r>
              <a:rPr lang="en-GB" sz="2400" spc="-17" dirty="0">
                <a:solidFill>
                  <a:schemeClr val="tx1"/>
                </a:solidFill>
                <a:latin typeface="Comic Sans MS"/>
              </a:rPr>
              <a:t>	🟩</a:t>
            </a:r>
            <a:r>
              <a:rPr lang="en-GB" sz="2400" spc="-17" dirty="0" err="1">
                <a:solidFill>
                  <a:schemeClr val="tx1"/>
                </a:solidFill>
                <a:latin typeface="Comic Sans MS"/>
              </a:rPr>
              <a:t>ReadDay</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a:t>
            </a:r>
            <a:r>
              <a:rPr lang="en-GB" sz="2400" spc="-17" dirty="0" err="1">
                <a:solidFill>
                  <a:schemeClr val="tx1"/>
                </a:solidFill>
                <a:latin typeface="Comic Sans MS"/>
              </a:rPr>
              <a:t>ReadMonth</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a:t>
            </a:r>
            <a:r>
              <a:rPr lang="en-GB" sz="2400" spc="-17" dirty="0" err="1">
                <a:solidFill>
                  <a:schemeClr val="tx1"/>
                </a:solidFill>
                <a:latin typeface="Comic Sans MS"/>
              </a:rPr>
              <a:t>ReadYear</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3️⃣ Checking for leap years:</a:t>
            </a:r>
          </a:p>
          <a:p>
            <a:r>
              <a:rPr lang="en-GB" sz="2400" spc="-17" dirty="0">
                <a:solidFill>
                  <a:schemeClr val="tx1"/>
                </a:solidFill>
                <a:latin typeface="Comic Sans MS"/>
              </a:rPr>
              <a:t>	🟩</a:t>
            </a:r>
            <a:r>
              <a:rPr lang="en-GB" sz="2400" spc="-17" dirty="0" err="1">
                <a:solidFill>
                  <a:schemeClr val="tx1"/>
                </a:solidFill>
                <a:latin typeface="Comic Sans MS"/>
              </a:rPr>
              <a:t>IsLeapYear</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 Returns true if the year is a leap year, i.e., divisible by 4 but not by 100, or 	divisible by 400</a:t>
            </a:r>
          </a:p>
          <a:p>
            <a:r>
              <a:rPr lang="en-GB" sz="2400" spc="-17" dirty="0">
                <a:solidFill>
                  <a:schemeClr val="tx1"/>
                </a:solidFill>
                <a:latin typeface="Comic Sans MS"/>
              </a:rPr>
              <a:t>4️⃣ Determining the number of days in each month:</a:t>
            </a:r>
          </a:p>
          <a:p>
            <a:r>
              <a:rPr lang="en-GB" sz="2400" spc="-17" dirty="0">
                <a:solidFill>
                  <a:schemeClr val="tx1"/>
                </a:solidFill>
                <a:latin typeface="Comic Sans MS"/>
              </a:rPr>
              <a:t>	🟩</a:t>
            </a:r>
            <a:r>
              <a:rPr lang="en-GB" sz="2400" spc="-17" dirty="0" err="1">
                <a:solidFill>
                  <a:schemeClr val="tx1"/>
                </a:solidFill>
                <a:latin typeface="Comic Sans MS"/>
              </a:rPr>
              <a:t>NumberOfDaysInAMonth</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 Specifies the number of days according to the month and year (February = 28 	or 29 in a leap year)</a:t>
            </a:r>
          </a:p>
          <a:p>
            <a:r>
              <a:rPr lang="en-GB" sz="2400" spc="-17" dirty="0">
                <a:solidFill>
                  <a:schemeClr val="tx1"/>
                </a:solidFill>
                <a:latin typeface="Comic Sans MS"/>
              </a:rPr>
              <a:t>5️⃣ Checking the last day of the month:</a:t>
            </a:r>
          </a:p>
          <a:p>
            <a:r>
              <a:rPr lang="en-GB" sz="2400" spc="-17" dirty="0">
                <a:solidFill>
                  <a:schemeClr val="tx1"/>
                </a:solidFill>
                <a:latin typeface="Comic Sans MS"/>
              </a:rPr>
              <a:t>	🟩</a:t>
            </a:r>
            <a:r>
              <a:rPr lang="en-GB" sz="2400" spc="-17" dirty="0" err="1">
                <a:solidFill>
                  <a:schemeClr val="tx1"/>
                </a:solidFill>
                <a:latin typeface="Comic Sans MS"/>
              </a:rPr>
              <a:t>IsLastDayInMonth</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 Checks if the current day is the last day of the month Day of the Month</a:t>
            </a:r>
          </a:p>
          <a:p>
            <a:r>
              <a:rPr lang="en-GB" sz="2400" spc="-17" dirty="0">
                <a:solidFill>
                  <a:schemeClr val="tx1"/>
                </a:solidFill>
                <a:latin typeface="Comic Sans MS"/>
              </a:rPr>
              <a:t>6️⃣ Checking the Last Month of the Year:</a:t>
            </a:r>
          </a:p>
          <a:p>
            <a:r>
              <a:rPr lang="en-GB" sz="2400" spc="-17" dirty="0">
                <a:solidFill>
                  <a:schemeClr val="tx1"/>
                </a:solidFill>
                <a:latin typeface="Comic Sans MS"/>
              </a:rPr>
              <a:t>	🟩 </a:t>
            </a:r>
            <a:r>
              <a:rPr lang="en-GB" sz="2400" spc="-17" dirty="0" err="1">
                <a:solidFill>
                  <a:schemeClr val="tx1"/>
                </a:solidFill>
                <a:latin typeface="Comic Sans MS"/>
              </a:rPr>
              <a:t>IsLastMonthInYear</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 Returns true if the month is December (12)</a:t>
            </a:r>
          </a:p>
        </p:txBody>
      </p:sp>
    </p:spTree>
    <p:extLst>
      <p:ext uri="{BB962C8B-B14F-4D97-AF65-F5344CB8AC3E}">
        <p14:creationId xmlns:p14="http://schemas.microsoft.com/office/powerpoint/2010/main" val="260426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94267C-3059-1BF2-4493-26AA767229E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C715DD6-8A9B-F997-F412-DFF84682E49F}"/>
              </a:ext>
            </a:extLst>
          </p:cNvPr>
          <p:cNvSpPr txBox="1"/>
          <p:nvPr/>
        </p:nvSpPr>
        <p:spPr>
          <a:xfrm>
            <a:off x="381000" y="888075"/>
            <a:ext cx="12725400" cy="3479988"/>
          </a:xfrm>
          <a:prstGeom prst="rect">
            <a:avLst/>
          </a:prstGeom>
        </p:spPr>
        <p:txBody>
          <a:bodyPr vert="horz" wrap="square" lIns="0" tIns="154492" rIns="0" bIns="0" rtlCol="0">
            <a:spAutoFit/>
          </a:bodyPr>
          <a:lstStyle/>
          <a:p>
            <a:r>
              <a:rPr lang="en-GB" sz="2400" spc="-17" dirty="0">
                <a:solidFill>
                  <a:schemeClr val="tx1"/>
                </a:solidFill>
                <a:latin typeface="Comic Sans MS"/>
              </a:rPr>
              <a:t>7️⃣ Increasing the Date by One Day:</a:t>
            </a:r>
          </a:p>
          <a:p>
            <a:r>
              <a:rPr lang="en-GB" sz="2400" spc="-17" dirty="0">
                <a:solidFill>
                  <a:schemeClr val="tx1"/>
                </a:solidFill>
                <a:latin typeface="Comic Sans MS"/>
              </a:rPr>
              <a:t>	🟩 </a:t>
            </a:r>
            <a:r>
              <a:rPr lang="en-GB" sz="2400" spc="-17" dirty="0" err="1">
                <a:solidFill>
                  <a:schemeClr val="tx1"/>
                </a:solidFill>
                <a:latin typeface="Comic Sans MS"/>
              </a:rPr>
              <a:t>IncreaseDateByOneDay</a:t>
            </a:r>
            <a:r>
              <a:rPr lang="en-GB" sz="2400" spc="-17" dirty="0">
                <a:solidFill>
                  <a:schemeClr val="tx1"/>
                </a:solidFill>
                <a:latin typeface="Comic Sans MS"/>
              </a:rPr>
              <a:t>()</a:t>
            </a:r>
            <a:r>
              <a:rPr lang="en-GB" sz="2400" spc="-17" dirty="0" err="1">
                <a:solidFill>
                  <a:schemeClr val="tx1"/>
                </a:solidFill>
                <a:latin typeface="Comic Sans MS"/>
              </a:rPr>
              <a:t>i</a:t>
            </a:r>
            <a:endParaRPr lang="en-GB" sz="2400" spc="-17" dirty="0">
              <a:solidFill>
                <a:schemeClr val="tx1"/>
              </a:solidFill>
              <a:latin typeface="Comic Sans MS"/>
            </a:endParaRPr>
          </a:p>
          <a:p>
            <a:r>
              <a:rPr lang="en-GB" sz="2400" spc="-17" dirty="0">
                <a:solidFill>
                  <a:schemeClr val="tx1"/>
                </a:solidFill>
                <a:latin typeface="Comic Sans MS"/>
              </a:rPr>
              <a:t>	🟩 If it's the last day of the month and the last day of the year:</a:t>
            </a:r>
          </a:p>
          <a:p>
            <a:r>
              <a:rPr lang="en-GB" sz="2400" spc="-17" dirty="0">
                <a:solidFill>
                  <a:schemeClr val="tx1"/>
                </a:solidFill>
                <a:latin typeface="Comic Sans MS"/>
              </a:rPr>
              <a:t>		🟨 The year is incremented by +1, and the month and day are set to 1</a:t>
            </a:r>
          </a:p>
          <a:p>
            <a:r>
              <a:rPr lang="en-GB" sz="2400" spc="-17" dirty="0">
                <a:solidFill>
                  <a:schemeClr val="tx1"/>
                </a:solidFill>
                <a:latin typeface="Comic Sans MS"/>
              </a:rPr>
              <a:t>	🟩 If it's only the last day of the month (not the year):</a:t>
            </a:r>
          </a:p>
          <a:p>
            <a:r>
              <a:rPr lang="en-GB" sz="2400" spc="-17" dirty="0">
                <a:solidFill>
                  <a:schemeClr val="tx1"/>
                </a:solidFill>
                <a:latin typeface="Comic Sans MS"/>
              </a:rPr>
              <a:t>		🟨 The month is incremented by +1, and the day is set back to 1</a:t>
            </a:r>
          </a:p>
          <a:p>
            <a:r>
              <a:rPr lang="en-GB" sz="2400" spc="-17" dirty="0">
                <a:solidFill>
                  <a:schemeClr val="tx1"/>
                </a:solidFill>
                <a:latin typeface="Comic Sans MS"/>
              </a:rPr>
              <a:t>	🟩 Otherwise:</a:t>
            </a:r>
          </a:p>
          <a:p>
            <a:r>
              <a:rPr lang="en-GB" sz="2400" spc="-17" dirty="0">
                <a:solidFill>
                  <a:schemeClr val="tx1"/>
                </a:solidFill>
                <a:latin typeface="Comic Sans MS"/>
              </a:rPr>
              <a:t>		🟨 Only the day is incremented by +1</a:t>
            </a:r>
          </a:p>
          <a:p>
            <a:r>
              <a:rPr lang="en-GB" sz="2400" spc="-17" dirty="0">
                <a:solidFill>
                  <a:schemeClr val="tx1"/>
                </a:solidFill>
                <a:latin typeface="Comic Sans MS"/>
              </a:rPr>
              <a:t>8️⃣ Displaying the Final Result: 🟩 Prints the new date after incrementing by one day</a:t>
            </a:r>
          </a:p>
        </p:txBody>
      </p:sp>
    </p:spTree>
    <p:extLst>
      <p:ext uri="{BB962C8B-B14F-4D97-AF65-F5344CB8AC3E}">
        <p14:creationId xmlns:p14="http://schemas.microsoft.com/office/powerpoint/2010/main" val="253746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39F685-28AF-C9C3-8B6F-8BFF452B22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261E53-E7D3-546B-5B39-33EA8A9A6301}"/>
              </a:ext>
            </a:extLst>
          </p:cNvPr>
          <p:cNvSpPr txBox="1"/>
          <p:nvPr/>
        </p:nvSpPr>
        <p:spPr>
          <a:xfrm>
            <a:off x="381000" y="888075"/>
            <a:ext cx="12352767" cy="2618213"/>
          </a:xfrm>
          <a:prstGeom prst="rect">
            <a:avLst/>
          </a:prstGeom>
        </p:spPr>
        <p:txBody>
          <a:bodyPr vert="horz" wrap="square" lIns="0" tIns="154492" rIns="0" bIns="0" rtlCol="0">
            <a:spAutoFit/>
          </a:bodyPr>
          <a:lstStyle/>
          <a:p>
            <a:r>
              <a:rPr lang="en-GB" sz="4000" b="1" spc="-17" dirty="0">
                <a:solidFill>
                  <a:schemeClr val="tx1"/>
                </a:solidFill>
                <a:latin typeface="Comic Sans MS"/>
              </a:rPr>
              <a:t>💡 Example:</a:t>
            </a:r>
          </a:p>
          <a:p>
            <a:endParaRPr lang="en-GB" sz="2400" b="1" spc="-17" dirty="0">
              <a:solidFill>
                <a:schemeClr val="tx1"/>
              </a:solidFill>
              <a:latin typeface="Comic Sans MS"/>
            </a:endParaRPr>
          </a:p>
          <a:p>
            <a:pPr rtl="0"/>
            <a:r>
              <a:rPr lang="en-GB" sz="2400" spc="-17" dirty="0">
                <a:solidFill>
                  <a:schemeClr val="tx1"/>
                </a:solidFill>
                <a:latin typeface="Comic Sans MS"/>
              </a:rPr>
              <a:t>Please enter a Day? 31</a:t>
            </a:r>
          </a:p>
          <a:p>
            <a:pPr rtl="0"/>
            <a:r>
              <a:rPr lang="en-GB" sz="2400" spc="-17" dirty="0">
                <a:solidFill>
                  <a:schemeClr val="tx1"/>
                </a:solidFill>
                <a:latin typeface="Comic Sans MS"/>
              </a:rPr>
              <a:t>Please enter a Month? 12</a:t>
            </a:r>
          </a:p>
          <a:p>
            <a:pPr rtl="0"/>
            <a:r>
              <a:rPr lang="en-GB" sz="2400" spc="-17" dirty="0">
                <a:solidFill>
                  <a:schemeClr val="tx1"/>
                </a:solidFill>
                <a:latin typeface="Comic Sans MS"/>
              </a:rPr>
              <a:t>Please enter a Year? 2022</a:t>
            </a:r>
          </a:p>
          <a:p>
            <a:pPr rtl="0"/>
            <a:r>
              <a:rPr lang="en-GB" sz="2400" spc="-17" dirty="0">
                <a:solidFill>
                  <a:schemeClr val="tx1"/>
                </a:solidFill>
                <a:latin typeface="Comic Sans MS"/>
              </a:rPr>
              <a:t>Date after adding one day is: 1/1/2023</a:t>
            </a:r>
          </a:p>
        </p:txBody>
      </p:sp>
    </p:spTree>
    <p:extLst>
      <p:ext uri="{BB962C8B-B14F-4D97-AF65-F5344CB8AC3E}">
        <p14:creationId xmlns:p14="http://schemas.microsoft.com/office/powerpoint/2010/main" val="3744403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008DE3-7ED9-14E1-EF01-C2462BD0F13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2451880-3F00-EDE2-AE7E-D4D30EC29B95}"/>
              </a:ext>
            </a:extLst>
          </p:cNvPr>
          <p:cNvSpPr txBox="1"/>
          <p:nvPr/>
        </p:nvSpPr>
        <p:spPr>
          <a:xfrm>
            <a:off x="381000" y="888075"/>
            <a:ext cx="12352767" cy="2618213"/>
          </a:xfrm>
          <a:prstGeom prst="rect">
            <a:avLst/>
          </a:prstGeom>
        </p:spPr>
        <p:txBody>
          <a:bodyPr vert="horz" wrap="square" lIns="0" tIns="154492" rIns="0" bIns="0" rtlCol="0">
            <a:spAutoFit/>
          </a:bodyPr>
          <a:lstStyle/>
          <a:p>
            <a:r>
              <a:rPr lang="en-GB" sz="4000" b="1" spc="-17" dirty="0">
                <a:solidFill>
                  <a:schemeClr val="tx1"/>
                </a:solidFill>
                <a:latin typeface="Comic Sans MS"/>
              </a:rPr>
              <a:t>📌 Note:</a:t>
            </a:r>
          </a:p>
          <a:p>
            <a:endParaRPr lang="en-GB" sz="2400" b="1" spc="-17" dirty="0">
              <a:solidFill>
                <a:schemeClr val="tx1"/>
              </a:solidFill>
              <a:latin typeface="Comic Sans MS"/>
            </a:endParaRPr>
          </a:p>
          <a:p>
            <a:r>
              <a:rPr lang="en-GB" sz="2400" spc="-17" dirty="0">
                <a:solidFill>
                  <a:schemeClr val="tx1"/>
                </a:solidFill>
                <a:latin typeface="Comic Sans MS"/>
              </a:rPr>
              <a:t>🟨 The program accurately handles transitions between months and years, including 	leap years.</a:t>
            </a:r>
          </a:p>
          <a:p>
            <a:r>
              <a:rPr lang="en-GB" sz="2400" spc="-17" dirty="0">
                <a:solidFill>
                  <a:schemeClr val="tx1"/>
                </a:solidFill>
                <a:latin typeface="Comic Sans MS"/>
              </a:rPr>
              <a:t>🟨 The code is extensible to accommodate more days by using a loop that calls the 	same function multiple times.</a:t>
            </a:r>
          </a:p>
        </p:txBody>
      </p:sp>
    </p:spTree>
    <p:extLst>
      <p:ext uri="{BB962C8B-B14F-4D97-AF65-F5344CB8AC3E}">
        <p14:creationId xmlns:p14="http://schemas.microsoft.com/office/powerpoint/2010/main" val="1049461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295676-0878-EA89-CD52-60D92ABF523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B94DB5A-378F-6E6F-AD41-A2CBA4A87038}"/>
              </a:ext>
            </a:extLst>
          </p:cNvPr>
          <p:cNvSpPr txBox="1"/>
          <p:nvPr/>
        </p:nvSpPr>
        <p:spPr>
          <a:xfrm>
            <a:off x="381000" y="888075"/>
            <a:ext cx="12352767" cy="2248881"/>
          </a:xfrm>
          <a:prstGeom prst="rect">
            <a:avLst/>
          </a:prstGeom>
        </p:spPr>
        <p:txBody>
          <a:bodyPr vert="horz" wrap="square" lIns="0" tIns="154492" rIns="0" bIns="0" rtlCol="0">
            <a:spAutoFit/>
          </a:bodyPr>
          <a:lstStyle/>
          <a:p>
            <a:pPr rtl="0"/>
            <a:r>
              <a:rPr lang="en-GB" sz="4000" b="1" spc="-17" dirty="0">
                <a:solidFill>
                  <a:schemeClr val="tx1"/>
                </a:solidFill>
                <a:latin typeface="Comic Sans MS"/>
              </a:rPr>
              <a:t>🧐 Explanation:</a:t>
            </a:r>
          </a:p>
          <a:p>
            <a:pPr rtl="0"/>
            <a:endParaRPr lang="en-GB" sz="2400" spc="-17" dirty="0">
              <a:solidFill>
                <a:schemeClr val="tx1"/>
              </a:solidFill>
              <a:latin typeface="Comic Sans MS"/>
            </a:endParaRPr>
          </a:p>
          <a:p>
            <a:pPr rtl="0"/>
            <a:r>
              <a:rPr lang="en-GB" sz="2400" spc="-17" dirty="0">
                <a:solidFill>
                  <a:schemeClr val="tx1"/>
                </a:solidFill>
                <a:latin typeface="Comic Sans MS"/>
              </a:rPr>
              <a:t>🟨 The program links the logic of the Gregorian calendar with its mathematical rules:</a:t>
            </a:r>
          </a:p>
          <a:p>
            <a:pPr rtl="0"/>
            <a:r>
              <a:rPr lang="en-GB" sz="2400" spc="-17" dirty="0">
                <a:solidFill>
                  <a:schemeClr val="tx1"/>
                </a:solidFill>
                <a:latin typeface="Comic Sans MS"/>
              </a:rPr>
              <a:t>	🟩 When the number of days in a month ends, the counting starts again and the 		month or year increases as needed.</a:t>
            </a:r>
          </a:p>
        </p:txBody>
      </p:sp>
    </p:spTree>
    <p:extLst>
      <p:ext uri="{BB962C8B-B14F-4D97-AF65-F5344CB8AC3E}">
        <p14:creationId xmlns:p14="http://schemas.microsoft.com/office/powerpoint/2010/main" val="2005463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548168-F6BF-9E3C-8335-7DFD704D0C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131D51-6AAA-DD4B-6C31-C4D46506634E}"/>
              </a:ext>
            </a:extLst>
          </p:cNvPr>
          <p:cNvSpPr txBox="1"/>
          <p:nvPr/>
        </p:nvSpPr>
        <p:spPr>
          <a:xfrm>
            <a:off x="381000" y="888075"/>
            <a:ext cx="12352767" cy="1879549"/>
          </a:xfrm>
          <a:prstGeom prst="rect">
            <a:avLst/>
          </a:prstGeom>
        </p:spPr>
        <p:txBody>
          <a:bodyPr vert="horz" wrap="square" lIns="0" tIns="154492" rIns="0" bIns="0" rtlCol="0">
            <a:spAutoFit/>
          </a:bodyPr>
          <a:lstStyle/>
          <a:p>
            <a:r>
              <a:rPr lang="en-GB" sz="4000" b="1" spc="-17" dirty="0">
                <a:solidFill>
                  <a:schemeClr val="tx1"/>
                </a:solidFill>
                <a:latin typeface="Comic Sans MS"/>
              </a:rPr>
              <a:t>🚫 Warning:</a:t>
            </a:r>
          </a:p>
          <a:p>
            <a:endParaRPr lang="en-GB" sz="2400" spc="-17" dirty="0">
              <a:solidFill>
                <a:schemeClr val="tx1"/>
              </a:solidFill>
              <a:latin typeface="Comic Sans MS"/>
            </a:endParaRPr>
          </a:p>
          <a:p>
            <a:r>
              <a:rPr lang="en-GB" sz="2400" spc="-17" dirty="0">
                <a:solidFill>
                  <a:schemeClr val="tx1"/>
                </a:solidFill>
                <a:latin typeface="Comic Sans MS"/>
              </a:rPr>
              <a:t>🟨 If a month outside the range (1–12) or an invalid day is entered, the program will not 	give an accurate result because it does not have input error handling.</a:t>
            </a:r>
          </a:p>
        </p:txBody>
      </p:sp>
    </p:spTree>
    <p:extLst>
      <p:ext uri="{BB962C8B-B14F-4D97-AF65-F5344CB8AC3E}">
        <p14:creationId xmlns:p14="http://schemas.microsoft.com/office/powerpoint/2010/main" val="146477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8BD117-85F9-F581-6BCF-D291225FBB2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287D2CE-F3F4-6D4A-D490-25BCA2A32825}"/>
              </a:ext>
            </a:extLst>
          </p:cNvPr>
          <p:cNvSpPr txBox="1"/>
          <p:nvPr/>
        </p:nvSpPr>
        <p:spPr>
          <a:xfrm>
            <a:off x="381000" y="888075"/>
            <a:ext cx="12352767" cy="2125771"/>
          </a:xfrm>
          <a:prstGeom prst="rect">
            <a:avLst/>
          </a:prstGeom>
        </p:spPr>
        <p:txBody>
          <a:bodyPr vert="horz" wrap="square" lIns="0" tIns="154492" rIns="0" bIns="0" rtlCol="0">
            <a:spAutoFit/>
          </a:bodyPr>
          <a:lstStyle/>
          <a:p>
            <a:r>
              <a:rPr lang="en-GB" sz="4000" b="1" spc="-17" dirty="0">
                <a:solidFill>
                  <a:schemeClr val="tx1"/>
                </a:solidFill>
                <a:latin typeface="Comic Sans MS"/>
              </a:rPr>
              <a:t>✨ Summary</a:t>
            </a:r>
          </a:p>
          <a:p>
            <a:endParaRPr lang="en-GB" sz="4000" spc="-17" dirty="0">
              <a:solidFill>
                <a:schemeClr val="tx1"/>
              </a:solidFill>
              <a:latin typeface="Comic Sans MS"/>
            </a:endParaRPr>
          </a:p>
          <a:p>
            <a:r>
              <a:rPr lang="en-GB" sz="2400" spc="-17" dirty="0">
                <a:solidFill>
                  <a:schemeClr val="tx1"/>
                </a:solidFill>
                <a:latin typeface="Comic Sans MS"/>
              </a:rPr>
              <a:t>✅ The program accurately advances any date by one </a:t>
            </a:r>
            <a:r>
              <a:rPr lang="en-GB" sz="2400" spc="-17">
                <a:solidFill>
                  <a:schemeClr val="tx1"/>
                </a:solidFill>
                <a:latin typeface="Comic Sans MS"/>
              </a:rPr>
              <a:t>day.</a:t>
            </a:r>
            <a:endParaRPr lang="en-GB" sz="2400" spc="-17" dirty="0">
              <a:solidFill>
                <a:schemeClr val="tx1"/>
              </a:solidFill>
              <a:latin typeface="Comic Sans MS"/>
            </a:endParaRPr>
          </a:p>
          <a:p>
            <a:r>
              <a:rPr lang="en-GB" sz="2400" spc="-17" dirty="0">
                <a:solidFill>
                  <a:schemeClr val="tx1"/>
                </a:solidFill>
                <a:latin typeface="Comic Sans MS"/>
              </a:rPr>
              <a:t>✅ It takes into account the last days of months and leap years.</a:t>
            </a:r>
          </a:p>
        </p:txBody>
      </p:sp>
    </p:spTree>
    <p:extLst>
      <p:ext uri="{BB962C8B-B14F-4D97-AF65-F5344CB8AC3E}">
        <p14:creationId xmlns:p14="http://schemas.microsoft.com/office/powerpoint/2010/main" val="1510551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985-45BF-D625-B127-8108457FDBB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2DD6DF42-8147-ACB0-9155-6AB216D32B4F}"/>
              </a:ext>
            </a:extLst>
          </p:cNvPr>
          <p:cNvSpPr txBox="1">
            <a:spLocks/>
          </p:cNvSpPr>
          <p:nvPr/>
        </p:nvSpPr>
        <p:spPr>
          <a:xfrm>
            <a:off x="0" y="4712874"/>
            <a:ext cx="13411200" cy="632652"/>
          </a:xfrm>
          <a:prstGeom prst="rect">
            <a:avLst/>
          </a:prstGeom>
        </p:spPr>
        <p:txBody>
          <a:bodyPr vert="horz" wrap="square" lIns="0" tIns="16934" rIns="0" bIns="0" rtlCol="0">
            <a:spAutoFit/>
          </a:bodyPr>
          <a:lstStyle>
            <a:defPPr>
              <a:defRPr kern="0"/>
            </a:defPPr>
            <a:lvl1pPr>
              <a:defRPr>
                <a:latin typeface="+mj-lt"/>
                <a:ea typeface="+mj-ea"/>
                <a:cs typeface="+mj-cs"/>
              </a:defRPr>
            </a:lvl1pPr>
          </a:lstStyle>
          <a:p>
            <a:pPr marL="16932" algn="ctr">
              <a:spcBef>
                <a:spcPts val="133"/>
              </a:spcBef>
            </a:pPr>
            <a:r>
              <a:rPr lang="sv-SE" sz="4000" b="1" spc="-17" dirty="0" err="1">
                <a:solidFill>
                  <a:srgbClr val="FF0000"/>
                </a:solidFill>
                <a:latin typeface="Comic Sans MS"/>
              </a:rPr>
              <a:t>Thank</a:t>
            </a:r>
            <a:r>
              <a:rPr lang="sv-SE" sz="4000" b="1" spc="-17" dirty="0">
                <a:solidFill>
                  <a:srgbClr val="FF0000"/>
                </a:solidFill>
                <a:latin typeface="Comic Sans MS"/>
              </a:rPr>
              <a:t> </a:t>
            </a:r>
            <a:r>
              <a:rPr lang="sv-SE" sz="4000" b="1" spc="-17" dirty="0" err="1">
                <a:solidFill>
                  <a:srgbClr val="FF0000"/>
                </a:solidFill>
                <a:latin typeface="Comic Sans MS"/>
              </a:rPr>
              <a:t>you</a:t>
            </a:r>
            <a:r>
              <a:rPr lang="sv-SE" sz="4000" spc="-21" dirty="0">
                <a:solidFill>
                  <a:srgbClr val="FF0000"/>
                </a:solidFill>
              </a:rPr>
              <a:t> </a:t>
            </a:r>
            <a:r>
              <a:rPr lang="sv-SE" sz="4000" spc="-67" dirty="0">
                <a:solidFill>
                  <a:srgbClr val="FF0000"/>
                </a:solidFill>
                <a:latin typeface="Wingdings"/>
                <a:cs typeface="Wingdings"/>
              </a:rPr>
              <a:t></a:t>
            </a:r>
            <a:endParaRPr lang="sv-SE" sz="4000" dirty="0">
              <a:solidFill>
                <a:srgbClr val="FF0000"/>
              </a:solidFill>
              <a:latin typeface="Wingdings"/>
              <a:cs typeface="Wingdings"/>
            </a:endParaRPr>
          </a:p>
        </p:txBody>
      </p:sp>
    </p:spTree>
    <p:extLst>
      <p:ext uri="{BB962C8B-B14F-4D97-AF65-F5344CB8AC3E}">
        <p14:creationId xmlns:p14="http://schemas.microsoft.com/office/powerpoint/2010/main" val="1303110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2973</TotalTime>
  <Words>628</Words>
  <Application>Microsoft Office PowerPoint</Application>
  <PresentationFormat>Custom</PresentationFormat>
  <Paragraphs>67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 MT</vt:lpstr>
      <vt:lpstr>Calibri</vt:lpstr>
      <vt:lpstr>Comic Sans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 Alterkawi</dc:creator>
  <cp:lastModifiedBy>Sara Alterkawi</cp:lastModifiedBy>
  <cp:revision>273</cp:revision>
  <dcterms:created xsi:type="dcterms:W3CDTF">2025-12-09T17:44:59Z</dcterms:created>
  <dcterms:modified xsi:type="dcterms:W3CDTF">2026-01-16T18:32:07Z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