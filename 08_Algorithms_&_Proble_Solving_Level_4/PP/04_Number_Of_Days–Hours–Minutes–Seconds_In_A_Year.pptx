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47" r:id="rId2"/>
    <p:sldId id="257" r:id="rId3"/>
    <p:sldId id="333" r:id="rId4"/>
    <p:sldId id="342" r:id="rId5"/>
    <p:sldId id="339" r:id="rId6"/>
    <p:sldId id="343" r:id="rId7"/>
    <p:sldId id="345" r:id="rId8"/>
    <p:sldId id="331" r:id="rId9"/>
    <p:sldId id="332" r:id="rId10"/>
    <p:sldId id="313" r:id="rId11"/>
  </p:sldIdLst>
  <p:sldSz cx="13411200" cy="10058400"/>
  <p:notesSz cx="7772400" cy="10058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3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1" d="100"/>
          <a:sy n="41" d="100"/>
        </p:scale>
        <p:origin x="54" y="531"/>
      </p:cViewPr>
      <p:guideLst>
        <p:guide orient="horz" pos="2880"/>
        <p:guide pos="37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5840" y="3118104"/>
            <a:ext cx="11399520" cy="902876"/>
          </a:xfrm>
          <a:prstGeom prst="rect">
            <a:avLst/>
          </a:prstGeom>
        </p:spPr>
        <p:txBody>
          <a:bodyPr wrap="square" lIns="0" tIns="0" rIns="0" bIns="0">
            <a:spAutoFit/>
          </a:bodyPr>
          <a:lstStyle>
            <a:lvl1pPr>
              <a:defRPr sz="5867" b="0" i="0">
                <a:solidFill>
                  <a:srgbClr val="FF0000"/>
                </a:solidFill>
                <a:latin typeface="Calibri"/>
                <a:cs typeface="Calibri"/>
              </a:defRPr>
            </a:lvl1pPr>
          </a:lstStyle>
          <a:p>
            <a:endParaRPr/>
          </a:p>
        </p:txBody>
      </p:sp>
      <p:sp>
        <p:nvSpPr>
          <p:cNvPr id="3" name="Holder 3"/>
          <p:cNvSpPr>
            <a:spLocks noGrp="1"/>
          </p:cNvSpPr>
          <p:nvPr>
            <p:ph type="subTitle" idx="4"/>
          </p:nvPr>
        </p:nvSpPr>
        <p:spPr>
          <a:xfrm>
            <a:off x="2011680" y="5632706"/>
            <a:ext cx="9387840" cy="477951"/>
          </a:xfrm>
          <a:prstGeom prst="rect">
            <a:avLst/>
          </a:prstGeom>
        </p:spPr>
        <p:txBody>
          <a:bodyPr wrap="square" lIns="0" tIns="0" rIns="0" bIns="0">
            <a:spAutoFit/>
          </a:bodyPr>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31334" y="2514600"/>
            <a:ext cx="12753788" cy="4142104"/>
          </a:xfrm>
          <a:custGeom>
            <a:avLst/>
            <a:gdLst/>
            <a:ahLst/>
            <a:cxnLst/>
            <a:rect l="l" t="t" r="r" b="b"/>
            <a:pathLst>
              <a:path w="7391400" h="4142104">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5"/>
            <a:ext cx="7643507" cy="477951"/>
          </a:xfrm>
        </p:spPr>
        <p:txBody>
          <a:bodyPr lIns="0" tIns="0" rIns="0" bIns="0"/>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sz="half" idx="2"/>
          </p:nvPr>
        </p:nvSpPr>
        <p:spPr>
          <a:xfrm>
            <a:off x="670560" y="2313434"/>
            <a:ext cx="5833872"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06768" y="2313434"/>
            <a:ext cx="5833872"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 y="2209800"/>
            <a:ext cx="13411198" cy="5081016"/>
          </a:xfrm>
          <a:prstGeom prst="rect">
            <a:avLst/>
          </a:prstGeom>
        </p:spPr>
      </p:pic>
      <p:sp>
        <p:nvSpPr>
          <p:cNvPr id="17" name="bg object 17"/>
          <p:cNvSpPr/>
          <p:nvPr/>
        </p:nvSpPr>
        <p:spPr>
          <a:xfrm>
            <a:off x="105186" y="3901439"/>
            <a:ext cx="13306014" cy="789940"/>
          </a:xfrm>
          <a:custGeom>
            <a:avLst/>
            <a:gdLst/>
            <a:ahLst/>
            <a:cxnLst/>
            <a:rect l="l" t="t" r="r" b="b"/>
            <a:pathLst>
              <a:path w="7711440" h="789939">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3"/>
            <a:ext cx="764350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EB70-F102-BAB5-31FD-19FC3742A4BC}"/>
            </a:ext>
          </a:extLst>
        </p:cNvPr>
        <p:cNvGrpSpPr/>
        <p:nvPr/>
      </p:nvGrpSpPr>
      <p:grpSpPr>
        <a:xfrm>
          <a:off x="0" y="0"/>
          <a:ext cx="0" cy="0"/>
          <a:chOff x="0" y="0"/>
          <a:chExt cx="0" cy="0"/>
        </a:xfrm>
      </p:grpSpPr>
      <p:sp>
        <p:nvSpPr>
          <p:cNvPr id="46" name="object 46">
            <a:extLst>
              <a:ext uri="{FF2B5EF4-FFF2-40B4-BE49-F238E27FC236}">
                <a16:creationId xmlns:a16="http://schemas.microsoft.com/office/drawing/2014/main" id="{1FBE4D91-85C7-0256-4A79-65056ECD04F4}"/>
              </a:ext>
            </a:extLst>
          </p:cNvPr>
          <p:cNvSpPr txBox="1">
            <a:spLocks noGrp="1"/>
          </p:cNvSpPr>
          <p:nvPr>
            <p:ph type="sldNum" sz="quarter" idx="7"/>
          </p:nvPr>
        </p:nvSpPr>
        <p:spPr>
          <a:xfrm>
            <a:off x="22501110" y="12821186"/>
            <a:ext cx="518023" cy="294953"/>
          </a:xfrm>
          <a:prstGeom prst="rect">
            <a:avLst/>
          </a:prstGeom>
        </p:spPr>
        <p:txBody>
          <a:bodyPr vert="horz" wrap="square" lIns="0" tIns="0" rIns="0" bIns="0" rtlCol="0">
            <a:spAutoFit/>
          </a:bodyPr>
          <a:lstStyle/>
          <a:p>
            <a:pPr marL="65742">
              <a:lnSpc>
                <a:spcPts val="2260"/>
              </a:lnSpc>
            </a:pPr>
            <a:fld id="{81D60167-4931-47E6-BA6A-407CBD079E47}" type="slidenum">
              <a:rPr spc="-86" dirty="0"/>
              <a:pPr marL="65742">
                <a:lnSpc>
                  <a:spcPts val="2260"/>
                </a:lnSpc>
              </a:pPr>
              <a:t>1</a:t>
            </a:fld>
            <a:endParaRPr spc="-86" dirty="0"/>
          </a:p>
        </p:txBody>
      </p:sp>
      <p:pic>
        <p:nvPicPr>
          <p:cNvPr id="47" name="object 25">
            <a:extLst>
              <a:ext uri="{FF2B5EF4-FFF2-40B4-BE49-F238E27FC236}">
                <a16:creationId xmlns:a16="http://schemas.microsoft.com/office/drawing/2014/main" id="{98B72FCF-C42A-5F3E-FCAD-5FE306171E0D}"/>
              </a:ext>
            </a:extLst>
          </p:cNvPr>
          <p:cNvPicPr/>
          <p:nvPr/>
        </p:nvPicPr>
        <p:blipFill>
          <a:blip r:embed="rId2">
            <a:extLst>
              <a:ext uri="{28A0092B-C50C-407E-A947-70E740481C1C}">
                <a14:useLocalDpi xmlns:a14="http://schemas.microsoft.com/office/drawing/2010/main" val="0"/>
              </a:ext>
            </a:extLst>
          </a:blip>
          <a:srcRect t="17" b="17"/>
          <a:stretch/>
        </p:blipFill>
        <p:spPr>
          <a:xfrm>
            <a:off x="1" y="457200"/>
            <a:ext cx="13411199" cy="9021482"/>
          </a:xfrm>
          <a:prstGeom prst="rect">
            <a:avLst/>
          </a:prstGeom>
        </p:spPr>
      </p:pic>
      <p:sp>
        <p:nvSpPr>
          <p:cNvPr id="2" name="object 30">
            <a:extLst>
              <a:ext uri="{FF2B5EF4-FFF2-40B4-BE49-F238E27FC236}">
                <a16:creationId xmlns:a16="http://schemas.microsoft.com/office/drawing/2014/main" id="{F0FF3176-3F91-64FC-E68E-9BEFB7D9E6B1}"/>
              </a:ext>
            </a:extLst>
          </p:cNvPr>
          <p:cNvSpPr txBox="1"/>
          <p:nvPr/>
        </p:nvSpPr>
        <p:spPr>
          <a:xfrm>
            <a:off x="0" y="3338091"/>
            <a:ext cx="13411198" cy="1603003"/>
          </a:xfrm>
          <a:prstGeom prst="rect">
            <a:avLst/>
          </a:prstGeom>
          <a:ln w="12953">
            <a:noFill/>
          </a:ln>
        </p:spPr>
        <p:txBody>
          <a:bodyPr vert="horz" wrap="square" lIns="0" tIns="0" rIns="0" bIns="0" rtlCol="0">
            <a:spAutoFit/>
          </a:bodyPr>
          <a:lstStyle/>
          <a:p>
            <a:pPr marL="2089760" algn="ctr">
              <a:spcBef>
                <a:spcPts val="505"/>
              </a:spcBef>
            </a:pPr>
            <a:r>
              <a:rPr lang="en-GB" sz="5000" b="1" dirty="0">
                <a:solidFill>
                  <a:srgbClr val="FFCE53"/>
                </a:solidFill>
                <a:latin typeface="Comic Sans MS"/>
              </a:rPr>
              <a:t>Algorithms &amp; Problem-Solving</a:t>
            </a:r>
          </a:p>
          <a:p>
            <a:pPr marL="2089760" algn="ctr">
              <a:spcBef>
                <a:spcPts val="505"/>
              </a:spcBef>
            </a:pPr>
            <a:r>
              <a:rPr lang="en-GB" sz="5000" b="1" dirty="0">
                <a:solidFill>
                  <a:schemeClr val="bg1"/>
                </a:solidFill>
                <a:latin typeface="Comic Sans MS"/>
                <a:cs typeface="Comic Sans MS"/>
              </a:rPr>
              <a:t>Level 4</a:t>
            </a:r>
          </a:p>
        </p:txBody>
      </p:sp>
    </p:spTree>
    <p:extLst>
      <p:ext uri="{BB962C8B-B14F-4D97-AF65-F5344CB8AC3E}">
        <p14:creationId xmlns:p14="http://schemas.microsoft.com/office/powerpoint/2010/main" val="1276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957" y="645359"/>
            <a:ext cx="13422157" cy="8767682"/>
            <a:chOff x="0" y="2209800"/>
            <a:chExt cx="7778750" cy="5081270"/>
          </a:xfrm>
        </p:grpSpPr>
        <p:pic>
          <p:nvPicPr>
            <p:cNvPr id="3" name="object 3"/>
            <p:cNvPicPr/>
            <p:nvPr/>
          </p:nvPicPr>
          <p:blipFill>
            <a:blip r:embed="rId2" cstate="print"/>
            <a:stretch>
              <a:fillRect/>
            </a:stretch>
          </p:blipFill>
          <p:spPr>
            <a:xfrm>
              <a:off x="0" y="2209800"/>
              <a:ext cx="7772399" cy="5081016"/>
            </a:xfrm>
            <a:prstGeom prst="rect">
              <a:avLst/>
            </a:prstGeom>
          </p:spPr>
        </p:pic>
        <p:sp>
          <p:nvSpPr>
            <p:cNvPr id="4" name="object 4"/>
            <p:cNvSpPr/>
            <p:nvPr/>
          </p:nvSpPr>
          <p:spPr>
            <a:xfrm>
              <a:off x="60960" y="3901439"/>
              <a:ext cx="7711440" cy="1264920"/>
            </a:xfrm>
            <a:custGeom>
              <a:avLst/>
              <a:gdLst/>
              <a:ahLst/>
              <a:cxnLst/>
              <a:rect l="l" t="t" r="r" b="b"/>
              <a:pathLst>
                <a:path w="7711440" h="1264920">
                  <a:moveTo>
                    <a:pt x="0" y="1264919"/>
                  </a:moveTo>
                  <a:lnTo>
                    <a:pt x="7711440" y="1264919"/>
                  </a:lnTo>
                  <a:lnTo>
                    <a:pt x="7711440" y="0"/>
                  </a:lnTo>
                  <a:lnTo>
                    <a:pt x="0" y="0"/>
                  </a:lnTo>
                  <a:lnTo>
                    <a:pt x="0" y="1264919"/>
                  </a:lnTo>
                  <a:close/>
                </a:path>
              </a:pathLst>
            </a:custGeom>
            <a:ln w="12192">
              <a:solidFill>
                <a:srgbClr val="000000"/>
              </a:solidFill>
            </a:ln>
          </p:spPr>
          <p:txBody>
            <a:bodyPr wrap="square" lIns="0" tIns="0" rIns="0" bIns="0" rtlCol="0"/>
            <a:lstStyle/>
            <a:p>
              <a:endParaRPr/>
            </a:p>
          </p:txBody>
        </p:sp>
      </p:grpSp>
      <p:sp>
        <p:nvSpPr>
          <p:cNvPr id="8" name="object 8"/>
          <p:cNvSpPr txBox="1"/>
          <p:nvPr/>
        </p:nvSpPr>
        <p:spPr>
          <a:xfrm>
            <a:off x="13091697" y="12746337"/>
            <a:ext cx="182980" cy="352972"/>
          </a:xfrm>
          <a:prstGeom prst="rect">
            <a:avLst/>
          </a:prstGeom>
        </p:spPr>
        <p:txBody>
          <a:bodyPr vert="horz" wrap="square" lIns="0" tIns="20818" rIns="0" bIns="0" rtlCol="0">
            <a:spAutoFit/>
          </a:bodyPr>
          <a:lstStyle/>
          <a:p>
            <a:pPr marL="21914">
              <a:spcBef>
                <a:spcPts val="164"/>
              </a:spcBef>
            </a:pPr>
            <a:r>
              <a:rPr sz="2157" spc="-86" dirty="0">
                <a:latin typeface="Calibri"/>
                <a:cs typeface="Calibri"/>
              </a:rPr>
              <a:t>2</a:t>
            </a:r>
            <a:endParaRPr sz="2157">
              <a:latin typeface="Calibri"/>
              <a:cs typeface="Calibri"/>
            </a:endParaRPr>
          </a:p>
        </p:txBody>
      </p:sp>
      <p:sp>
        <p:nvSpPr>
          <p:cNvPr id="9" name="object 30">
            <a:extLst>
              <a:ext uri="{FF2B5EF4-FFF2-40B4-BE49-F238E27FC236}">
                <a16:creationId xmlns:a16="http://schemas.microsoft.com/office/drawing/2014/main" id="{3AA9CB0E-53FA-ACBF-E593-FD91CDBB5BFF}"/>
              </a:ext>
            </a:extLst>
          </p:cNvPr>
          <p:cNvSpPr txBox="1"/>
          <p:nvPr/>
        </p:nvSpPr>
        <p:spPr>
          <a:xfrm>
            <a:off x="106432" y="3084218"/>
            <a:ext cx="13304768" cy="3190617"/>
          </a:xfrm>
          <a:prstGeom prst="rect">
            <a:avLst/>
          </a:prstGeom>
          <a:ln w="12953">
            <a:noFill/>
          </a:ln>
        </p:spPr>
        <p:txBody>
          <a:bodyPr vert="horz" wrap="square" lIns="0" tIns="0" rIns="0" bIns="0" rtlCol="0">
            <a:spAutoFit/>
          </a:bodyPr>
          <a:lstStyle/>
          <a:p>
            <a:pPr marL="2786346" algn="ctr">
              <a:spcBef>
                <a:spcPts val="673"/>
              </a:spcBef>
            </a:pPr>
            <a:r>
              <a:rPr lang="en-GB" sz="4000" spc="-17" dirty="0">
                <a:solidFill>
                  <a:srgbClr val="FFFFFF"/>
                </a:solidFill>
                <a:latin typeface="Comic Sans MS"/>
                <a:cs typeface="Comic Sans MS"/>
              </a:rPr>
              <a:t>Algorithms &amp; Problem Solving</a:t>
            </a:r>
          </a:p>
          <a:p>
            <a:pPr marL="2786346" algn="ctr">
              <a:spcBef>
                <a:spcPts val="673"/>
              </a:spcBef>
            </a:pPr>
            <a:r>
              <a:rPr lang="sv-SE" sz="2400" spc="-17" dirty="0" err="1">
                <a:solidFill>
                  <a:srgbClr val="FFFFFF"/>
                </a:solidFill>
                <a:latin typeface="Comic Sans MS"/>
                <a:cs typeface="Comic Sans MS"/>
              </a:rPr>
              <a:t>Level</a:t>
            </a:r>
            <a:r>
              <a:rPr lang="sv-SE" sz="2400" spc="-17" dirty="0">
                <a:solidFill>
                  <a:srgbClr val="FFFFFF"/>
                </a:solidFill>
                <a:latin typeface="Comic Sans MS"/>
                <a:cs typeface="Comic Sans MS"/>
              </a:rPr>
              <a:t> 4</a:t>
            </a:r>
          </a:p>
          <a:p>
            <a:pPr marL="2786346" algn="ctr">
              <a:spcBef>
                <a:spcPts val="673"/>
              </a:spcBef>
            </a:pPr>
            <a:r>
              <a:rPr lang="en-GB" sz="4000" b="1" dirty="0">
                <a:solidFill>
                  <a:srgbClr val="FFCE53"/>
                </a:solidFill>
                <a:latin typeface="Comic Sans MS"/>
                <a:cs typeface="Comic Sans MS"/>
              </a:rPr>
              <a:t>Number of</a:t>
            </a:r>
          </a:p>
          <a:p>
            <a:pPr marL="2786346" algn="ctr">
              <a:spcBef>
                <a:spcPts val="673"/>
              </a:spcBef>
            </a:pPr>
            <a:r>
              <a:rPr lang="en-GB" sz="4000" b="1" dirty="0">
                <a:solidFill>
                  <a:srgbClr val="FFCE53"/>
                </a:solidFill>
                <a:latin typeface="Comic Sans MS"/>
                <a:cs typeface="Comic Sans MS"/>
              </a:rPr>
              <a:t>Days–Hours–Minutes–Seconds</a:t>
            </a:r>
          </a:p>
          <a:p>
            <a:pPr marL="2786346" algn="ctr">
              <a:spcBef>
                <a:spcPts val="673"/>
              </a:spcBef>
            </a:pPr>
            <a:r>
              <a:rPr lang="en-GB" sz="4000" b="1" dirty="0">
                <a:solidFill>
                  <a:srgbClr val="FFCE53"/>
                </a:solidFill>
                <a:latin typeface="Comic Sans MS"/>
                <a:cs typeface="Comic Sans MS"/>
              </a:rPr>
              <a:t>In a Year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266C84-96DF-4E4E-6F8B-91A05446CA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FC5D9C1-B6BF-65E1-D3D6-95868F3F585A}"/>
              </a:ext>
            </a:extLst>
          </p:cNvPr>
          <p:cNvSpPr txBox="1"/>
          <p:nvPr/>
        </p:nvSpPr>
        <p:spPr>
          <a:xfrm>
            <a:off x="381000" y="888075"/>
            <a:ext cx="12352767" cy="2187326"/>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Definition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The program's objective is to calculate the number of days, hours, minutes, and 	seconds in a given year, taking into account whether it is a leap year or not.</a:t>
            </a:r>
          </a:p>
        </p:txBody>
      </p:sp>
    </p:spTree>
    <p:extLst>
      <p:ext uri="{BB962C8B-B14F-4D97-AF65-F5344CB8AC3E}">
        <p14:creationId xmlns:p14="http://schemas.microsoft.com/office/powerpoint/2010/main" val="404666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7737A9-AB32-4756-AD77-A751F49BEF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E1AED49-D0E4-C08B-5871-46A936F8C83D}"/>
              </a:ext>
            </a:extLst>
          </p:cNvPr>
          <p:cNvSpPr txBox="1"/>
          <p:nvPr/>
        </p:nvSpPr>
        <p:spPr>
          <a:xfrm>
            <a:off x="381000" y="888075"/>
            <a:ext cx="12352767" cy="4803427"/>
          </a:xfrm>
          <a:prstGeom prst="rect">
            <a:avLst/>
          </a:prstGeom>
        </p:spPr>
        <p:txBody>
          <a:bodyPr vert="horz" wrap="square" lIns="0" tIns="154492" rIns="0" bIns="0" rtlCol="0">
            <a:spAutoFit/>
          </a:bodyPr>
          <a:lstStyle/>
          <a:p>
            <a:pPr marL="21912">
              <a:spcBef>
                <a:spcPts val="1216"/>
              </a:spcBef>
            </a:pPr>
            <a:r>
              <a:rPr lang="en-GB" sz="4000" b="1" spc="-17" dirty="0">
                <a:solidFill>
                  <a:schemeClr val="tx1"/>
                </a:solidFill>
                <a:latin typeface="Comic Sans MS"/>
                <a:cs typeface="Comic Sans MS"/>
              </a:rPr>
              <a:t>📖 Explanation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A leap year has 366 days, while a regular year has 365 days.</a:t>
            </a:r>
          </a:p>
          <a:p>
            <a:pPr marL="21912">
              <a:spcBef>
                <a:spcPts val="1216"/>
              </a:spcBef>
            </a:pPr>
            <a:r>
              <a:rPr lang="en-GB" sz="2400" spc="-17" dirty="0">
                <a:solidFill>
                  <a:schemeClr val="tx1"/>
                </a:solidFill>
                <a:latin typeface="Comic Sans MS"/>
                <a:cs typeface="Comic Sans MS"/>
              </a:rPr>
              <a:t>🟨 The remaining values ​​(hours, minutes, seconds) are calculated based on the number 	of days in a year.</a:t>
            </a:r>
          </a:p>
          <a:p>
            <a:pPr marL="21912">
              <a:spcBef>
                <a:spcPts val="1216"/>
              </a:spcBef>
            </a:pPr>
            <a:r>
              <a:rPr lang="en-GB" sz="2400" spc="-17" dirty="0">
                <a:solidFill>
                  <a:schemeClr val="tx1"/>
                </a:solidFill>
                <a:latin typeface="Comic Sans MS"/>
                <a:cs typeface="Comic Sans MS"/>
              </a:rPr>
              <a:t>	🟩 The mathematical relationship between the units is:</a:t>
            </a:r>
          </a:p>
          <a:p>
            <a:pPr marL="21912">
              <a:spcBef>
                <a:spcPts val="1216"/>
              </a:spcBef>
            </a:pPr>
            <a:r>
              <a:rPr lang="en-GB" sz="2400" spc="-17" dirty="0">
                <a:solidFill>
                  <a:schemeClr val="tx1"/>
                </a:solidFill>
                <a:latin typeface="Comic Sans MS"/>
                <a:cs typeface="Comic Sans MS"/>
              </a:rPr>
              <a:t>		🟨 1 day = 24 hours</a:t>
            </a:r>
          </a:p>
          <a:p>
            <a:pPr marL="21912">
              <a:spcBef>
                <a:spcPts val="1216"/>
              </a:spcBef>
            </a:pPr>
            <a:r>
              <a:rPr lang="en-GB" sz="2400" spc="-17" dirty="0">
                <a:solidFill>
                  <a:schemeClr val="tx1"/>
                </a:solidFill>
                <a:latin typeface="Comic Sans MS"/>
                <a:cs typeface="Comic Sans MS"/>
              </a:rPr>
              <a:t>		🟨 1 hour = 60 minutes</a:t>
            </a:r>
          </a:p>
          <a:p>
            <a:pPr marL="21912">
              <a:spcBef>
                <a:spcPts val="1216"/>
              </a:spcBef>
            </a:pPr>
            <a:r>
              <a:rPr lang="en-GB" sz="2400" spc="-17" dirty="0">
                <a:solidFill>
                  <a:schemeClr val="tx1"/>
                </a:solidFill>
                <a:latin typeface="Comic Sans MS"/>
                <a:cs typeface="Comic Sans MS"/>
              </a:rPr>
              <a:t>		🟨 1 minute = 60 seconds</a:t>
            </a:r>
          </a:p>
        </p:txBody>
      </p:sp>
    </p:spTree>
    <p:extLst>
      <p:ext uri="{BB962C8B-B14F-4D97-AF65-F5344CB8AC3E}">
        <p14:creationId xmlns:p14="http://schemas.microsoft.com/office/powerpoint/2010/main" val="196038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BF0CD4-0319-9496-8478-267F28598E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F894D4-F401-E6A7-0F75-B717EFD319F6}"/>
              </a:ext>
            </a:extLst>
          </p:cNvPr>
          <p:cNvSpPr txBox="1"/>
          <p:nvPr/>
        </p:nvSpPr>
        <p:spPr>
          <a:xfrm>
            <a:off x="381000" y="888075"/>
            <a:ext cx="12352767" cy="7788859"/>
          </a:xfrm>
          <a:prstGeom prst="rect">
            <a:avLst/>
          </a:prstGeom>
        </p:spPr>
        <p:txBody>
          <a:bodyPr vert="horz" wrap="square" lIns="0" tIns="154492" rIns="0" bIns="0" rtlCol="0">
            <a:spAutoFit/>
          </a:bodyPr>
          <a:lstStyle/>
          <a:p>
            <a:r>
              <a:rPr lang="en-GB" sz="4000" b="1" spc="-17" dirty="0">
                <a:solidFill>
                  <a:schemeClr val="tx1"/>
                </a:solidFill>
                <a:latin typeface="Comic Sans MS"/>
              </a:rPr>
              <a:t>🟦 Procedures</a:t>
            </a:r>
          </a:p>
          <a:p>
            <a:endParaRPr lang="en-GB" sz="2400" spc="-17" dirty="0">
              <a:solidFill>
                <a:schemeClr val="tx1"/>
              </a:solidFill>
              <a:latin typeface="Comic Sans MS"/>
            </a:endParaRPr>
          </a:p>
          <a:p>
            <a:r>
              <a:rPr lang="en-GB" sz="2400" spc="-17" dirty="0">
                <a:solidFill>
                  <a:schemeClr val="tx1"/>
                </a:solidFill>
                <a:latin typeface="Comic Sans MS"/>
              </a:rPr>
              <a:t>1️⃣ Read the year from the user:</a:t>
            </a:r>
          </a:p>
          <a:p>
            <a:r>
              <a:rPr lang="en-GB" sz="2400" spc="-17" dirty="0">
                <a:solidFill>
                  <a:schemeClr val="tx1"/>
                </a:solidFill>
                <a:latin typeface="Comic Sans MS"/>
              </a:rPr>
              <a:t>	🟩 Using the `</a:t>
            </a:r>
            <a:r>
              <a:rPr lang="en-GB" sz="2400" spc="-17" dirty="0" err="1">
                <a:solidFill>
                  <a:schemeClr val="tx1"/>
                </a:solidFill>
                <a:latin typeface="Comic Sans MS"/>
              </a:rPr>
              <a:t>readYear</a:t>
            </a:r>
            <a:r>
              <a:rPr lang="en-GB" sz="2400" spc="-17" dirty="0">
                <a:solidFill>
                  <a:schemeClr val="tx1"/>
                </a:solidFill>
                <a:latin typeface="Comic Sans MS"/>
              </a:rPr>
              <a:t>()` function which prompts the user to enter the year 		and returns it as an integer</a:t>
            </a:r>
          </a:p>
          <a:p>
            <a:pPr rtl="0"/>
            <a:r>
              <a:rPr lang="en-GB" sz="2400" spc="-17" dirty="0">
                <a:solidFill>
                  <a:schemeClr val="tx1"/>
                </a:solidFill>
                <a:latin typeface="Comic Sans MS"/>
              </a:rPr>
              <a:t>		int </a:t>
            </a:r>
            <a:r>
              <a:rPr lang="en-GB" sz="2400" spc="-17" dirty="0" err="1">
                <a:solidFill>
                  <a:schemeClr val="tx1"/>
                </a:solidFill>
                <a:latin typeface="Comic Sans MS"/>
              </a:rPr>
              <a:t>readYear</a:t>
            </a:r>
            <a:r>
              <a:rPr lang="en-GB" sz="2400" spc="-17" dirty="0">
                <a:solidFill>
                  <a:schemeClr val="tx1"/>
                </a:solidFill>
                <a:latin typeface="Comic Sans MS"/>
              </a:rPr>
              <a:t>()</a:t>
            </a:r>
          </a:p>
          <a:p>
            <a:pPr rtl="0"/>
            <a:r>
              <a:rPr lang="en-GB" sz="2400" spc="-17" dirty="0">
                <a:solidFill>
                  <a:schemeClr val="tx1"/>
                </a:solidFill>
                <a:latin typeface="Comic Sans MS"/>
              </a:rPr>
              <a:t>		{</a:t>
            </a:r>
          </a:p>
          <a:p>
            <a:pPr rtl="0"/>
            <a:r>
              <a:rPr lang="en-GB" sz="2400" spc="-17" dirty="0">
                <a:solidFill>
                  <a:schemeClr val="tx1"/>
                </a:solidFill>
                <a:latin typeface="Comic Sans MS"/>
              </a:rPr>
              <a:t>			int year;</a:t>
            </a:r>
          </a:p>
          <a:p>
            <a:pPr rtl="0"/>
            <a:r>
              <a:rPr lang="en-GB" sz="2400" spc="-17" dirty="0">
                <a:solidFill>
                  <a:schemeClr val="tx1"/>
                </a:solidFill>
                <a:latin typeface="Comic Sans MS"/>
              </a:rPr>
              <a:t>			</a:t>
            </a:r>
            <a:r>
              <a:rPr lang="en-GB" sz="2400" spc="-17" dirty="0" err="1">
                <a:solidFill>
                  <a:schemeClr val="tx1"/>
                </a:solidFill>
                <a:latin typeface="Comic Sans MS"/>
              </a:rPr>
              <a:t>cout</a:t>
            </a:r>
            <a:r>
              <a:rPr lang="en-GB" sz="2400" spc="-17" dirty="0">
                <a:solidFill>
                  <a:schemeClr val="tx1"/>
                </a:solidFill>
                <a:latin typeface="Comic Sans MS"/>
              </a:rPr>
              <a:t> &lt;&lt; "Please enter a year to check? ";</a:t>
            </a:r>
          </a:p>
          <a:p>
            <a:pPr rtl="0"/>
            <a:r>
              <a:rPr lang="en-GB" sz="2400" spc="-17" dirty="0">
                <a:solidFill>
                  <a:schemeClr val="tx1"/>
                </a:solidFill>
                <a:latin typeface="Comic Sans MS"/>
              </a:rPr>
              <a:t>			</a:t>
            </a:r>
            <a:r>
              <a:rPr lang="en-GB" sz="2400" spc="-17" dirty="0" err="1">
                <a:solidFill>
                  <a:schemeClr val="tx1"/>
                </a:solidFill>
                <a:latin typeface="Comic Sans MS"/>
              </a:rPr>
              <a:t>cin</a:t>
            </a:r>
            <a:r>
              <a:rPr lang="en-GB" sz="2400" spc="-17" dirty="0">
                <a:solidFill>
                  <a:schemeClr val="tx1"/>
                </a:solidFill>
                <a:latin typeface="Comic Sans MS"/>
              </a:rPr>
              <a:t> &gt;&gt; year;</a:t>
            </a:r>
          </a:p>
          <a:p>
            <a:pPr rtl="0"/>
            <a:r>
              <a:rPr lang="en-GB" sz="2400" spc="-17" dirty="0">
                <a:solidFill>
                  <a:schemeClr val="tx1"/>
                </a:solidFill>
                <a:latin typeface="Comic Sans MS"/>
              </a:rPr>
              <a:t>			return year;</a:t>
            </a:r>
          </a:p>
          <a:p>
            <a:pPr rtl="0"/>
            <a:r>
              <a:rPr lang="en-GB" sz="2400" spc="-17" dirty="0">
                <a:solidFill>
                  <a:schemeClr val="tx1"/>
                </a:solidFill>
                <a:latin typeface="Comic Sans MS"/>
              </a:rPr>
              <a:t>		}</a:t>
            </a:r>
          </a:p>
          <a:p>
            <a:pPr rtl="0"/>
            <a:r>
              <a:rPr lang="en-GB" sz="2400" spc="-17" dirty="0">
                <a:solidFill>
                  <a:schemeClr val="tx1"/>
                </a:solidFill>
                <a:latin typeface="Comic Sans MS"/>
              </a:rPr>
              <a:t>2️⃣ Checking if a year is a leap year:</a:t>
            </a:r>
          </a:p>
          <a:p>
            <a:pPr rtl="0"/>
            <a:r>
              <a:rPr lang="en-GB" sz="2400" spc="-17" dirty="0">
                <a:solidFill>
                  <a:schemeClr val="tx1"/>
                </a:solidFill>
                <a:latin typeface="Comic Sans MS"/>
              </a:rPr>
              <a:t>	🟩 Using the `</a:t>
            </a:r>
            <a:r>
              <a:rPr lang="en-GB" sz="2400" spc="-17" dirty="0" err="1">
                <a:solidFill>
                  <a:schemeClr val="tx1"/>
                </a:solidFill>
                <a:latin typeface="Comic Sans MS"/>
              </a:rPr>
              <a:t>isLeapYear</a:t>
            </a:r>
            <a:r>
              <a:rPr lang="en-GB" sz="2400" spc="-17" dirty="0">
                <a:solidFill>
                  <a:schemeClr val="tx1"/>
                </a:solidFill>
                <a:latin typeface="Comic Sans MS"/>
              </a:rPr>
              <a:t>(int year)` function, which relies on the following 			mathematical rule:</a:t>
            </a:r>
          </a:p>
          <a:p>
            <a:pPr rtl="0"/>
            <a:r>
              <a:rPr lang="en-GB" sz="2400" spc="-17" dirty="0">
                <a:solidFill>
                  <a:schemeClr val="tx1"/>
                </a:solidFill>
                <a:latin typeface="Comic Sans MS"/>
              </a:rPr>
              <a:t>		return(year % 4 == 0 &amp;&amp; year % 100 != 0) || (year % 400 == 0);</a:t>
            </a:r>
          </a:p>
          <a:p>
            <a:pPr rtl="0"/>
            <a:r>
              <a:rPr lang="en-GB" sz="2400" spc="-17" dirty="0">
                <a:solidFill>
                  <a:schemeClr val="tx1"/>
                </a:solidFill>
                <a:latin typeface="Comic Sans MS"/>
              </a:rPr>
              <a:t>	🟩 That is, a year is a leap year if it:</a:t>
            </a:r>
          </a:p>
          <a:p>
            <a:pPr rtl="0"/>
            <a:r>
              <a:rPr lang="en-GB" sz="2400" spc="-17" dirty="0">
                <a:solidFill>
                  <a:schemeClr val="tx1"/>
                </a:solidFill>
                <a:latin typeface="Comic Sans MS"/>
              </a:rPr>
              <a:t>		🟨 is divisible by 4</a:t>
            </a:r>
          </a:p>
          <a:p>
            <a:pPr rtl="0"/>
            <a:r>
              <a:rPr lang="en-GB" sz="2400" spc="-17" dirty="0">
                <a:solidFill>
                  <a:schemeClr val="tx1"/>
                </a:solidFill>
                <a:latin typeface="Comic Sans MS"/>
              </a:rPr>
              <a:t>		🟨 is not divisible by 100</a:t>
            </a:r>
          </a:p>
          <a:p>
            <a:pPr rtl="0"/>
            <a:r>
              <a:rPr lang="en-GB" sz="2400" spc="-17" dirty="0">
                <a:solidFill>
                  <a:schemeClr val="tx1"/>
                </a:solidFill>
                <a:latin typeface="Comic Sans MS"/>
              </a:rPr>
              <a:t>		🟨 or is divisible by 400</a:t>
            </a:r>
          </a:p>
        </p:txBody>
      </p:sp>
    </p:spTree>
    <p:extLst>
      <p:ext uri="{BB962C8B-B14F-4D97-AF65-F5344CB8AC3E}">
        <p14:creationId xmlns:p14="http://schemas.microsoft.com/office/powerpoint/2010/main" val="260426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1CDCB6-2B53-91AB-F670-2988B552B99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147EB51-9A50-A7FB-A1BB-2DA2319FDDB1}"/>
              </a:ext>
            </a:extLst>
          </p:cNvPr>
          <p:cNvSpPr txBox="1"/>
          <p:nvPr/>
        </p:nvSpPr>
        <p:spPr>
          <a:xfrm>
            <a:off x="381000" y="888075"/>
            <a:ext cx="12352767" cy="4218651"/>
          </a:xfrm>
          <a:prstGeom prst="rect">
            <a:avLst/>
          </a:prstGeom>
        </p:spPr>
        <p:txBody>
          <a:bodyPr vert="horz" wrap="square" lIns="0" tIns="154492" rIns="0" bIns="0" rtlCol="0">
            <a:spAutoFit/>
          </a:bodyPr>
          <a:lstStyle/>
          <a:p>
            <a:r>
              <a:rPr lang="en-GB" sz="2400" spc="-17" dirty="0">
                <a:solidFill>
                  <a:schemeClr val="tx1"/>
                </a:solidFill>
                <a:latin typeface="Comic Sans MS"/>
              </a:rPr>
              <a:t>3️⃣ Calculating the number of days, hours, minutes, and seconds:</a:t>
            </a:r>
          </a:p>
          <a:p>
            <a:r>
              <a:rPr lang="en-GB" sz="2400" spc="-17" dirty="0">
                <a:solidFill>
                  <a:schemeClr val="tx1"/>
                </a:solidFill>
                <a:latin typeface="Comic Sans MS"/>
              </a:rPr>
              <a:t>	🟩 The `</a:t>
            </a:r>
            <a:r>
              <a:rPr lang="en-GB" sz="2400" spc="-17" dirty="0" err="1">
                <a:solidFill>
                  <a:schemeClr val="tx1"/>
                </a:solidFill>
                <a:latin typeface="Comic Sans MS"/>
              </a:rPr>
              <a:t>printYearDetails</a:t>
            </a:r>
            <a:r>
              <a:rPr lang="en-GB" sz="2400" spc="-17" dirty="0">
                <a:solidFill>
                  <a:schemeClr val="tx1"/>
                </a:solidFill>
                <a:latin typeface="Comic Sans MS"/>
              </a:rPr>
              <a:t>(int year)` function is used as follows:</a:t>
            </a:r>
          </a:p>
          <a:p>
            <a:r>
              <a:rPr lang="en-GB" sz="2400" spc="-17" dirty="0">
                <a:solidFill>
                  <a:schemeClr val="tx1"/>
                </a:solidFill>
                <a:latin typeface="Comic Sans MS"/>
              </a:rPr>
              <a:t>		int days = </a:t>
            </a:r>
            <a:r>
              <a:rPr lang="en-GB" sz="2400" spc="-17" dirty="0" err="1">
                <a:solidFill>
                  <a:schemeClr val="tx1"/>
                </a:solidFill>
                <a:latin typeface="Comic Sans MS"/>
              </a:rPr>
              <a:t>isLeapYear</a:t>
            </a:r>
            <a:r>
              <a:rPr lang="en-GB" sz="2400" spc="-17" dirty="0">
                <a:solidFill>
                  <a:schemeClr val="tx1"/>
                </a:solidFill>
                <a:latin typeface="Comic Sans MS"/>
              </a:rPr>
              <a:t>(year) ? 366 : 365;</a:t>
            </a:r>
          </a:p>
          <a:p>
            <a:r>
              <a:rPr lang="en-GB" sz="2400" spc="-17" dirty="0">
                <a:solidFill>
                  <a:schemeClr val="tx1"/>
                </a:solidFill>
                <a:latin typeface="Comic Sans MS"/>
              </a:rPr>
              <a:t>		int hours = days * 24;</a:t>
            </a:r>
          </a:p>
          <a:p>
            <a:r>
              <a:rPr lang="en-GB" sz="2400" spc="-17" dirty="0">
                <a:solidFill>
                  <a:schemeClr val="tx1"/>
                </a:solidFill>
                <a:latin typeface="Comic Sans MS"/>
              </a:rPr>
              <a:t>		int minutes = hours * 60;</a:t>
            </a:r>
          </a:p>
          <a:p>
            <a:r>
              <a:rPr lang="en-GB" sz="2400" spc="-17" dirty="0">
                <a:solidFill>
                  <a:schemeClr val="tx1"/>
                </a:solidFill>
                <a:latin typeface="Comic Sans MS"/>
              </a:rPr>
              <a:t>		int seconds = minutes * 60;</a:t>
            </a:r>
          </a:p>
          <a:p>
            <a:r>
              <a:rPr lang="en-GB" sz="2400" spc="-17" dirty="0">
                <a:solidFill>
                  <a:schemeClr val="tx1"/>
                </a:solidFill>
                <a:latin typeface="Comic Sans MS"/>
              </a:rPr>
              <a:t>	🟩 The results are then displayed on the screen using `</a:t>
            </a:r>
            <a:r>
              <a:rPr lang="en-GB" sz="2400" spc="-17" dirty="0" err="1">
                <a:solidFill>
                  <a:schemeClr val="tx1"/>
                </a:solidFill>
                <a:latin typeface="Comic Sans MS"/>
              </a:rPr>
              <a:t>cout</a:t>
            </a:r>
            <a:r>
              <a:rPr lang="en-GB" sz="2400" spc="-17" dirty="0">
                <a:solidFill>
                  <a:schemeClr val="tx1"/>
                </a:solidFill>
                <a:latin typeface="Comic Sans MS"/>
              </a:rPr>
              <a:t>`.</a:t>
            </a:r>
          </a:p>
          <a:p>
            <a:r>
              <a:rPr lang="en-GB" sz="2400" spc="-17" dirty="0">
                <a:solidFill>
                  <a:schemeClr val="tx1"/>
                </a:solidFill>
                <a:latin typeface="Comic Sans MS"/>
              </a:rPr>
              <a:t>4️⃣ Main Program:</a:t>
            </a:r>
          </a:p>
          <a:p>
            <a:r>
              <a:rPr lang="en-GB" sz="2400" spc="-17" dirty="0">
                <a:solidFill>
                  <a:schemeClr val="tx1"/>
                </a:solidFill>
                <a:latin typeface="Comic Sans MS"/>
              </a:rPr>
              <a:t>	🟩 In main()</a:t>
            </a:r>
            <a:r>
              <a:rPr lang="en-GB" sz="2400" spc="-17" dirty="0" err="1">
                <a:solidFill>
                  <a:schemeClr val="tx1"/>
                </a:solidFill>
                <a:latin typeface="Comic Sans MS"/>
              </a:rPr>
              <a:t>i</a:t>
            </a:r>
            <a:r>
              <a:rPr lang="en-GB" sz="2400" spc="-17" dirty="0">
                <a:solidFill>
                  <a:schemeClr val="tx1"/>
                </a:solidFill>
                <a:latin typeface="Comic Sans MS"/>
              </a:rPr>
              <a:t>, the following two functions are called:</a:t>
            </a:r>
          </a:p>
          <a:p>
            <a:r>
              <a:rPr lang="en-GB" sz="2400" spc="-17" dirty="0">
                <a:solidFill>
                  <a:schemeClr val="tx1"/>
                </a:solidFill>
                <a:latin typeface="Comic Sans MS"/>
              </a:rPr>
              <a:t>		int year = </a:t>
            </a:r>
            <a:r>
              <a:rPr lang="en-GB" sz="2400" spc="-17" dirty="0" err="1">
                <a:solidFill>
                  <a:schemeClr val="tx1"/>
                </a:solidFill>
                <a:latin typeface="Comic Sans MS"/>
              </a:rPr>
              <a:t>readYear</a:t>
            </a:r>
            <a:r>
              <a:rPr lang="en-GB" sz="2400" spc="-17" dirty="0">
                <a:solidFill>
                  <a:schemeClr val="tx1"/>
                </a:solidFill>
                <a:latin typeface="Comic Sans MS"/>
              </a:rPr>
              <a:t>();</a:t>
            </a:r>
          </a:p>
          <a:p>
            <a:r>
              <a:rPr lang="en-GB" sz="2400" spc="-17" dirty="0">
                <a:solidFill>
                  <a:schemeClr val="tx1"/>
                </a:solidFill>
                <a:latin typeface="Comic Sans MS"/>
              </a:rPr>
              <a:t>		</a:t>
            </a:r>
            <a:r>
              <a:rPr lang="en-GB" sz="2400" spc="-17" dirty="0" err="1">
                <a:solidFill>
                  <a:schemeClr val="tx1"/>
                </a:solidFill>
                <a:latin typeface="Comic Sans MS"/>
              </a:rPr>
              <a:t>printYearDetails</a:t>
            </a:r>
            <a:r>
              <a:rPr lang="en-GB" sz="2400" spc="-17" dirty="0">
                <a:solidFill>
                  <a:schemeClr val="tx1"/>
                </a:solidFill>
                <a:latin typeface="Comic Sans MS"/>
              </a:rPr>
              <a:t>(year);</a:t>
            </a:r>
          </a:p>
        </p:txBody>
      </p:sp>
    </p:spTree>
    <p:extLst>
      <p:ext uri="{BB962C8B-B14F-4D97-AF65-F5344CB8AC3E}">
        <p14:creationId xmlns:p14="http://schemas.microsoft.com/office/powerpoint/2010/main" val="178353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651DC9-DE1E-7FA6-72FC-75F79E84A85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A8C8182-1E72-9AD9-CD77-483D235B35E3}"/>
              </a:ext>
            </a:extLst>
          </p:cNvPr>
          <p:cNvSpPr txBox="1"/>
          <p:nvPr/>
        </p:nvSpPr>
        <p:spPr>
          <a:xfrm>
            <a:off x="381000" y="888075"/>
            <a:ext cx="12352767" cy="5449758"/>
          </a:xfrm>
          <a:prstGeom prst="rect">
            <a:avLst/>
          </a:prstGeom>
        </p:spPr>
        <p:txBody>
          <a:bodyPr vert="horz" wrap="square" lIns="0" tIns="154492" rIns="0" bIns="0" rtlCol="0">
            <a:spAutoFit/>
          </a:bodyPr>
          <a:lstStyle/>
          <a:p>
            <a:r>
              <a:rPr lang="en-GB" sz="4000" b="1" spc="-17" dirty="0">
                <a:solidFill>
                  <a:schemeClr val="tx1"/>
                </a:solidFill>
                <a:latin typeface="Comic Sans MS"/>
              </a:rPr>
              <a:t>💡 Example:</a:t>
            </a:r>
          </a:p>
          <a:p>
            <a:endParaRPr lang="en-GB" sz="4000" b="1" spc="-17" dirty="0">
              <a:solidFill>
                <a:schemeClr val="tx1"/>
              </a:solidFill>
              <a:latin typeface="Comic Sans MS"/>
            </a:endParaRPr>
          </a:p>
          <a:p>
            <a:r>
              <a:rPr lang="en-GB" sz="2400" spc="-17" dirty="0">
                <a:solidFill>
                  <a:schemeClr val="tx1"/>
                </a:solidFill>
                <a:latin typeface="Comic Sans MS"/>
              </a:rPr>
              <a:t>Please enter a year to check? 2000</a:t>
            </a:r>
          </a:p>
          <a:p>
            <a:r>
              <a:rPr lang="en-GB" sz="2400" spc="-17" dirty="0">
                <a:solidFill>
                  <a:schemeClr val="tx1"/>
                </a:solidFill>
                <a:latin typeface="Comic Sans MS"/>
              </a:rPr>
              <a:t>Number of Days	in Year[2000] is 366</a:t>
            </a:r>
          </a:p>
          <a:p>
            <a:r>
              <a:rPr lang="en-GB" sz="2400" spc="-17" dirty="0" err="1">
                <a:solidFill>
                  <a:schemeClr val="tx1"/>
                </a:solidFill>
                <a:latin typeface="Comic Sans MS"/>
              </a:rPr>
              <a:t>Numbe</a:t>
            </a:r>
            <a:r>
              <a:rPr lang="en-GB" sz="2400" spc="-17" dirty="0">
                <a:solidFill>
                  <a:schemeClr val="tx1"/>
                </a:solidFill>
                <a:latin typeface="Comic Sans MS"/>
              </a:rPr>
              <a:t> of Hours	in Year [2000] is 8784</a:t>
            </a:r>
          </a:p>
          <a:p>
            <a:r>
              <a:rPr lang="en-GB" sz="2400" spc="-17" dirty="0">
                <a:solidFill>
                  <a:schemeClr val="tx1"/>
                </a:solidFill>
                <a:latin typeface="Comic Sans MS"/>
              </a:rPr>
              <a:t>Number of Minutes	in Year [2000] is 527040</a:t>
            </a:r>
          </a:p>
          <a:p>
            <a:r>
              <a:rPr lang="en-GB" sz="2400" spc="-17" dirty="0">
                <a:solidFill>
                  <a:schemeClr val="tx1"/>
                </a:solidFill>
                <a:latin typeface="Comic Sans MS"/>
              </a:rPr>
              <a:t>Number of Seconds	in Year [2000] is 31622400</a:t>
            </a:r>
          </a:p>
          <a:p>
            <a:endParaRPr lang="en-GB" sz="2400" spc="-17" dirty="0">
              <a:solidFill>
                <a:schemeClr val="tx1"/>
              </a:solidFill>
              <a:latin typeface="Comic Sans MS"/>
            </a:endParaRPr>
          </a:p>
          <a:p>
            <a:r>
              <a:rPr lang="en-GB" sz="2400" spc="-17" dirty="0">
                <a:solidFill>
                  <a:schemeClr val="tx1"/>
                </a:solidFill>
                <a:latin typeface="Comic Sans MS"/>
              </a:rPr>
              <a:t>Please enter a year to check? 1971</a:t>
            </a:r>
          </a:p>
          <a:p>
            <a:r>
              <a:rPr lang="en-GB" sz="2400" spc="-17" dirty="0">
                <a:solidFill>
                  <a:schemeClr val="tx1"/>
                </a:solidFill>
                <a:latin typeface="Comic Sans MS"/>
              </a:rPr>
              <a:t>Number of Days		in Year [1971] is 365</a:t>
            </a:r>
          </a:p>
          <a:p>
            <a:r>
              <a:rPr lang="en-GB" sz="2400" spc="-17" dirty="0">
                <a:solidFill>
                  <a:schemeClr val="tx1"/>
                </a:solidFill>
                <a:latin typeface="Comic Sans MS"/>
              </a:rPr>
              <a:t>Number of Hours		in Year [1971] is 8760</a:t>
            </a:r>
          </a:p>
          <a:p>
            <a:r>
              <a:rPr lang="en-GB" sz="2400" spc="-17" dirty="0">
                <a:solidFill>
                  <a:schemeClr val="tx1"/>
                </a:solidFill>
                <a:latin typeface="Comic Sans MS"/>
              </a:rPr>
              <a:t>Number of Minutes	in Year [1971] is 525600</a:t>
            </a:r>
          </a:p>
          <a:p>
            <a:r>
              <a:rPr lang="en-GB" sz="2400" spc="-17" dirty="0">
                <a:solidFill>
                  <a:schemeClr val="tx1"/>
                </a:solidFill>
                <a:latin typeface="Comic Sans MS"/>
              </a:rPr>
              <a:t>Number of Seconds	in Year [1971] is 31536000</a:t>
            </a:r>
          </a:p>
        </p:txBody>
      </p:sp>
    </p:spTree>
    <p:extLst>
      <p:ext uri="{BB962C8B-B14F-4D97-AF65-F5344CB8AC3E}">
        <p14:creationId xmlns:p14="http://schemas.microsoft.com/office/powerpoint/2010/main" val="3277866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38ADBA-785D-0311-02BD-3C25F13A9D1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4484DC7-4F82-713A-3A12-12B75BBC1B5F}"/>
              </a:ext>
            </a:extLst>
          </p:cNvPr>
          <p:cNvSpPr txBox="1"/>
          <p:nvPr/>
        </p:nvSpPr>
        <p:spPr>
          <a:xfrm>
            <a:off x="381000" y="888075"/>
            <a:ext cx="12352767" cy="2618213"/>
          </a:xfrm>
          <a:prstGeom prst="rect">
            <a:avLst/>
          </a:prstGeom>
        </p:spPr>
        <p:txBody>
          <a:bodyPr vert="horz" wrap="square" lIns="0" tIns="154492" rIns="0" bIns="0" rtlCol="0">
            <a:spAutoFit/>
          </a:bodyPr>
          <a:lstStyle/>
          <a:p>
            <a:r>
              <a:rPr lang="en-GB" sz="4000" b="1" spc="-17" dirty="0">
                <a:solidFill>
                  <a:schemeClr val="tx1"/>
                </a:solidFill>
                <a:latin typeface="Comic Sans MS"/>
              </a:rPr>
              <a:t>🧐 Explanation</a:t>
            </a:r>
          </a:p>
          <a:p>
            <a:endParaRPr lang="en-GB" sz="2400" spc="-17" dirty="0">
              <a:solidFill>
                <a:schemeClr val="tx1"/>
              </a:solidFill>
              <a:latin typeface="Comic Sans MS"/>
            </a:endParaRPr>
          </a:p>
          <a:p>
            <a:r>
              <a:rPr lang="en-GB" sz="2400" spc="-17" dirty="0">
                <a:solidFill>
                  <a:schemeClr val="tx1"/>
                </a:solidFill>
                <a:latin typeface="Comic Sans MS"/>
              </a:rPr>
              <a:t>🟨 If it's a leap year, an extra 24 hours (i.e., one day) are added to the total number of 	hours in the year, which is also reflected in the number of minutes and seconds.</a:t>
            </a:r>
          </a:p>
          <a:p>
            <a:r>
              <a:rPr lang="en-GB" sz="2400" spc="-17" dirty="0">
                <a:solidFill>
                  <a:schemeClr val="tx1"/>
                </a:solidFill>
                <a:latin typeface="Comic Sans MS"/>
              </a:rPr>
              <a:t>🟨 The calculations are sequential: each result depends on the previous one to ensure 	accuracy in the conversion between units.</a:t>
            </a:r>
          </a:p>
        </p:txBody>
      </p:sp>
    </p:spTree>
    <p:extLst>
      <p:ext uri="{BB962C8B-B14F-4D97-AF65-F5344CB8AC3E}">
        <p14:creationId xmlns:p14="http://schemas.microsoft.com/office/powerpoint/2010/main" val="132813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548168-F6BF-9E3C-8335-7DFD704D0CC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7131D51-6AAA-DD4B-6C31-C4D46506634E}"/>
              </a:ext>
            </a:extLst>
          </p:cNvPr>
          <p:cNvSpPr txBox="1"/>
          <p:nvPr/>
        </p:nvSpPr>
        <p:spPr>
          <a:xfrm>
            <a:off x="381000" y="888075"/>
            <a:ext cx="12352767" cy="2495103"/>
          </a:xfrm>
          <a:prstGeom prst="rect">
            <a:avLst/>
          </a:prstGeom>
        </p:spPr>
        <p:txBody>
          <a:bodyPr vert="horz" wrap="square" lIns="0" tIns="154492" rIns="0" bIns="0" rtlCol="0">
            <a:spAutoFit/>
          </a:bodyPr>
          <a:lstStyle/>
          <a:p>
            <a:r>
              <a:rPr lang="en-GB" sz="4000" b="1" spc="-17" dirty="0">
                <a:solidFill>
                  <a:schemeClr val="tx1"/>
                </a:solidFill>
                <a:latin typeface="Comic Sans MS"/>
              </a:rPr>
              <a:t>✨ Summary</a:t>
            </a:r>
          </a:p>
          <a:p>
            <a:endParaRPr lang="en-GB" sz="4000" spc="-17" dirty="0">
              <a:solidFill>
                <a:schemeClr val="tx1"/>
              </a:solidFill>
              <a:latin typeface="Comic Sans MS"/>
            </a:endParaRPr>
          </a:p>
          <a:p>
            <a:r>
              <a:rPr lang="en-GB" sz="2400" spc="-17" dirty="0">
                <a:solidFill>
                  <a:schemeClr val="tx1"/>
                </a:solidFill>
                <a:latin typeface="Comic Sans MS"/>
              </a:rPr>
              <a:t>✅ Leap year = 366 days → 8784 hours → 527040 minutes → </a:t>
            </a:r>
            <a:r>
              <a:rPr lang="en-GB" sz="2400" spc="-17">
                <a:solidFill>
                  <a:schemeClr val="tx1"/>
                </a:solidFill>
                <a:latin typeface="Comic Sans MS"/>
              </a:rPr>
              <a:t>31622400 seconds</a:t>
            </a:r>
            <a:endParaRPr lang="en-GB" sz="2400" spc="-17" dirty="0">
              <a:solidFill>
                <a:schemeClr val="tx1"/>
              </a:solidFill>
              <a:latin typeface="Comic Sans MS"/>
            </a:endParaRPr>
          </a:p>
          <a:p>
            <a:r>
              <a:rPr lang="en-GB" sz="2400" spc="-17" dirty="0">
                <a:solidFill>
                  <a:schemeClr val="tx1"/>
                </a:solidFill>
                <a:latin typeface="Comic Sans MS"/>
              </a:rPr>
              <a:t>✅ Regular year = 365 days → 8760 hours → 525600 minutes → 31536000 seconds</a:t>
            </a:r>
          </a:p>
          <a:p>
            <a:r>
              <a:rPr lang="en-GB" sz="2400" spc="-17" dirty="0">
                <a:solidFill>
                  <a:schemeClr val="tx1"/>
                </a:solidFill>
                <a:latin typeface="Comic Sans MS"/>
              </a:rPr>
              <a:t>✅ The program uses structured functions to calculate values ​​accurately and clearly.</a:t>
            </a:r>
          </a:p>
        </p:txBody>
      </p:sp>
    </p:spTree>
    <p:extLst>
      <p:ext uri="{BB962C8B-B14F-4D97-AF65-F5344CB8AC3E}">
        <p14:creationId xmlns:p14="http://schemas.microsoft.com/office/powerpoint/2010/main" val="1464775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C985-45BF-D625-B127-8108457FDBB6}"/>
            </a:ext>
          </a:extLst>
        </p:cNvPr>
        <p:cNvGrpSpPr/>
        <p:nvPr/>
      </p:nvGrpSpPr>
      <p:grpSpPr>
        <a:xfrm>
          <a:off x="0" y="0"/>
          <a:ext cx="0" cy="0"/>
          <a:chOff x="0" y="0"/>
          <a:chExt cx="0" cy="0"/>
        </a:xfrm>
      </p:grpSpPr>
      <p:sp>
        <p:nvSpPr>
          <p:cNvPr id="3" name="object 4">
            <a:extLst>
              <a:ext uri="{FF2B5EF4-FFF2-40B4-BE49-F238E27FC236}">
                <a16:creationId xmlns:a16="http://schemas.microsoft.com/office/drawing/2014/main" id="{2DD6DF42-8147-ACB0-9155-6AB216D32B4F}"/>
              </a:ext>
            </a:extLst>
          </p:cNvPr>
          <p:cNvSpPr txBox="1">
            <a:spLocks/>
          </p:cNvSpPr>
          <p:nvPr/>
        </p:nvSpPr>
        <p:spPr>
          <a:xfrm>
            <a:off x="0" y="4712874"/>
            <a:ext cx="13411200" cy="632652"/>
          </a:xfrm>
          <a:prstGeom prst="rect">
            <a:avLst/>
          </a:prstGeom>
        </p:spPr>
        <p:txBody>
          <a:bodyPr vert="horz" wrap="square" lIns="0" tIns="16934" rIns="0" bIns="0" rtlCol="0">
            <a:spAutoFit/>
          </a:bodyPr>
          <a:lstStyle>
            <a:defPPr>
              <a:defRPr kern="0"/>
            </a:defPPr>
            <a:lvl1pPr>
              <a:defRPr>
                <a:latin typeface="+mj-lt"/>
                <a:ea typeface="+mj-ea"/>
                <a:cs typeface="+mj-cs"/>
              </a:defRPr>
            </a:lvl1pPr>
          </a:lstStyle>
          <a:p>
            <a:pPr marL="16932" algn="ctr">
              <a:spcBef>
                <a:spcPts val="133"/>
              </a:spcBef>
            </a:pPr>
            <a:r>
              <a:rPr lang="sv-SE" sz="4000" b="1" spc="-17" dirty="0" err="1">
                <a:solidFill>
                  <a:srgbClr val="FF0000"/>
                </a:solidFill>
                <a:latin typeface="Comic Sans MS"/>
              </a:rPr>
              <a:t>Thank</a:t>
            </a:r>
            <a:r>
              <a:rPr lang="sv-SE" sz="4000" b="1" spc="-17" dirty="0">
                <a:solidFill>
                  <a:srgbClr val="FF0000"/>
                </a:solidFill>
                <a:latin typeface="Comic Sans MS"/>
              </a:rPr>
              <a:t> </a:t>
            </a:r>
            <a:r>
              <a:rPr lang="sv-SE" sz="4000" b="1" spc="-17" dirty="0" err="1">
                <a:solidFill>
                  <a:srgbClr val="FF0000"/>
                </a:solidFill>
                <a:latin typeface="Comic Sans MS"/>
              </a:rPr>
              <a:t>you</a:t>
            </a:r>
            <a:r>
              <a:rPr lang="sv-SE" sz="4000" spc="-21" dirty="0">
                <a:solidFill>
                  <a:srgbClr val="FF0000"/>
                </a:solidFill>
              </a:rPr>
              <a:t> </a:t>
            </a:r>
            <a:r>
              <a:rPr lang="sv-SE" sz="4000" spc="-67" dirty="0">
                <a:solidFill>
                  <a:srgbClr val="FF0000"/>
                </a:solidFill>
                <a:latin typeface="Wingdings"/>
                <a:cs typeface="Wingdings"/>
              </a:rPr>
              <a:t></a:t>
            </a:r>
            <a:endParaRPr lang="sv-SE" sz="4000" dirty="0">
              <a:solidFill>
                <a:srgbClr val="FF0000"/>
              </a:solidFill>
              <a:latin typeface="Wingdings"/>
              <a:cs typeface="Wingdings"/>
            </a:endParaRPr>
          </a:p>
        </p:txBody>
      </p:sp>
    </p:spTree>
    <p:extLst>
      <p:ext uri="{BB962C8B-B14F-4D97-AF65-F5344CB8AC3E}">
        <p14:creationId xmlns:p14="http://schemas.microsoft.com/office/powerpoint/2010/main" val="1303110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2924</TotalTime>
  <Words>654</Words>
  <Application>Microsoft Office PowerPoint</Application>
  <PresentationFormat>Custom</PresentationFormat>
  <Paragraphs>72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 MT</vt:lpstr>
      <vt:lpstr>Calibri</vt:lpstr>
      <vt:lpstr>Comic Sans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 Alterkawi</dc:creator>
  <cp:lastModifiedBy>Sara Alterkawi</cp:lastModifiedBy>
  <cp:revision>209</cp:revision>
  <dcterms:created xsi:type="dcterms:W3CDTF">2025-12-09T17:44:59Z</dcterms:created>
  <dcterms:modified xsi:type="dcterms:W3CDTF">2026-01-16T18:23:24Z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