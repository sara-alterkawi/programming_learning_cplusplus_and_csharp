
<file path=[Content_Types].xml><?xml version="1.0" encoding="utf-8"?>
<Types xmlns="http://schemas.openxmlformats.org/package/2006/content-types">
  <Default Extension="jpg" ContentType="image/jpeg"/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png" ContentType="image/png"/>
  <Default Extension="wmf" ContentType="image/x-wmf"/>
  <Override PartName="/ppt/presentation.xml" ContentType="application/vnd.openxmlformats-officedocument.presentationml.presentation.main+xml"/>
  <Override PartName="/ppt/slideLayouts/slideLayout5.xml" ContentType="application/vnd.openxmlformats-officedocument.presentationml.slideLayout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ppt/viewProps.xml" ContentType="application/vnd.openxmlformats-officedocument.presentationml.viewProps+xml"/>
  <Override PartName="/docProps/custom.xml" ContentType="application/vnd.openxmlformats-officedocument.custom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slides/slide1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11.xml" ContentType="application/vnd.openxmlformats-officedocument.presentationml.notesSlide+xml"/>
  <Override PartName="/ppt/notesSlides/notesSlide8.xml" ContentType="application/vnd.openxmlformats-officedocument.presentationml.notes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sldMasterIdLst>
    <p:sldMasterId id="2147483648" r:id="rId1"/>
  </p:sldMasterIdLst>
  <p:notesMasterIdLst>
    <p:notesMasterId r:id="rId15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</p:sldIdLst>
  <p:sldSz cx="13411200" cy="10058400"/>
  <p:notesSz cx="7772400" cy="10058400"/>
  <p:defaultTextStyle>
    <a:defPPr>
      <a:defRPr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>
      <p:cViewPr varScale="1">
        <p:scale>
          <a:sx n="41" d="100"/>
          <a:sy n="41" d="100"/>
        </p:scale>
        <p:origin x="54" y="771"/>
      </p:cViewPr>
      <p:guideLst>
        <p:guide pos="2880" orient="horz"/>
        <p:guide pos="3727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 /><Relationship Id="rId17" Type="http://schemas.openxmlformats.org/officeDocument/2006/relationships/tableStyles" Target="tableStyles.xml" /><Relationship Id="rId18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10824553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338040000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867221663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822956044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1972966435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384243703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3055551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7567325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4276757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AB30386-858D-E7F8-9EC1-96526C894032}" type="slidenum">
              <a:rPr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411654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7283818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0486985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198DE46-8DAF-B5B7-2366-A8D1CEBF0DDC}" type="slidenum">
              <a:rPr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010241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4427634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3852177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930BF87-D410-C3C8-7416-04E7AB6F2790}" type="slidenum">
              <a:rPr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9724430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3461939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9733845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EEEE434-A53A-77D6-A1A1-76816A380033}" type="slidenum">
              <a:rPr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5844666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7098227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0242116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EEEE434-A53A-77D6-A1A1-76816A380033}" type="slidenum">
              <a:rPr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923987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712787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7597208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ED4B15E-DC1D-871B-195A-409A7609C310}" type="slidenum">
              <a:rPr/>
              <a:t>7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169550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1982791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5270992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FB780D0-01FC-1E82-7F28-775DCD58CC27}" type="slidenum">
              <a:rPr/>
              <a:t>8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7790920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0545944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2087640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38F9459-2AB7-7A11-3614-6196561F7B41}" type="slidenum">
              <a:rPr/>
              <a:t>9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3384336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9642829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1415891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C46612F-4D71-E8FE-73F2-51D32A4C3E49}" type="slidenum">
              <a:rPr/>
              <a:t>10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2989513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9377088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6588919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D3E466E-FDE0-677F-9612-EA45582FD9CD}" type="slidenum">
              <a:rPr/>
              <a:t>11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1027330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2491017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8665560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59DFAF6-37CE-40E2-747A-C584C149C0F7}" type="slidenum">
              <a:rPr/>
              <a:t>12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37585940" name="Holder 2"/>
          <p:cNvSpPr>
            <a:spLocks noGrp="1"/>
          </p:cNvSpPr>
          <p:nvPr>
            <p:ph type="ctrTitle"/>
          </p:nvPr>
        </p:nvSpPr>
        <p:spPr bwMode="auto">
          <a:xfrm>
            <a:off x="1005840" y="3118104"/>
            <a:ext cx="11399520" cy="9028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988274650" name="Holder 3"/>
          <p:cNvSpPr>
            <a:spLocks noGrp="1"/>
          </p:cNvSpPr>
          <p:nvPr>
            <p:ph type="subTitle" idx="4"/>
          </p:nvPr>
        </p:nvSpPr>
        <p:spPr bwMode="auto">
          <a:xfrm>
            <a:off x="2011680" y="5632706"/>
            <a:ext cx="9387840" cy="47795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021312723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773764337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442332927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and Content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95163024" name="bg object 16"/>
          <p:cNvSpPr/>
          <p:nvPr/>
        </p:nvSpPr>
        <p:spPr bwMode="auto">
          <a:xfrm>
            <a:off x="331334" y="2514600"/>
            <a:ext cx="12753788" cy="4142104"/>
          </a:xfrm>
          <a:custGeom>
            <a:avLst/>
            <a:gdLst/>
            <a:ahLst/>
            <a:cxnLst/>
            <a:rect l="l" t="t" r="r" b="b"/>
            <a:pathLst>
              <a:path w="7391400" h="4142104" fill="norm" stroke="1" extrusionOk="0">
                <a:moveTo>
                  <a:pt x="0" y="4141597"/>
                </a:moveTo>
                <a:lnTo>
                  <a:pt x="7391146" y="4141597"/>
                </a:lnTo>
                <a:lnTo>
                  <a:pt x="7391146" y="0"/>
                </a:lnTo>
                <a:lnTo>
                  <a:pt x="0" y="0"/>
                </a:lnTo>
                <a:lnTo>
                  <a:pt x="0" y="4141597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331460878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659895637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5"/>
            <a:ext cx="7643506" cy="477951"/>
          </a:xfrm>
        </p:spPr>
        <p:txBody>
          <a:bodyPr lIns="0" tIns="0" rIns="0" bIns="0"/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058272629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422891693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93770808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82986440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935957775" name="Holder 3"/>
          <p:cNvSpPr>
            <a:spLocks noGrp="1"/>
          </p:cNvSpPr>
          <p:nvPr>
            <p:ph sz="half" idx="2"/>
          </p:nvPr>
        </p:nvSpPr>
        <p:spPr bwMode="auto">
          <a:xfrm>
            <a:off x="670560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248586948" name="Holder 4"/>
          <p:cNvSpPr>
            <a:spLocks noGrp="1"/>
          </p:cNvSpPr>
          <p:nvPr>
            <p:ph sz="half" idx="3"/>
          </p:nvPr>
        </p:nvSpPr>
        <p:spPr bwMode="auto">
          <a:xfrm>
            <a:off x="6906768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1441360361" name="Holder 5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669786506" name="Holder 6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858612192" name="Holder 7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Only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358991438" name="bg object 16"/>
          <p:cNvPicPr/>
          <p:nvPr/>
        </p:nvPicPr>
        <p:blipFill rotWithShape="1">
          <a:blip r:embed="rId2"/>
          <a:stretch/>
        </p:blipFill>
        <p:spPr bwMode="auto">
          <a:xfrm>
            <a:off x="3" y="2209800"/>
            <a:ext cx="13411198" cy="5081016"/>
          </a:xfrm>
          <a:prstGeom prst="rect">
            <a:avLst/>
          </a:prstGeom>
        </p:spPr>
      </p:pic>
      <p:sp>
        <p:nvSpPr>
          <p:cNvPr id="846167034" name="bg object 17"/>
          <p:cNvSpPr/>
          <p:nvPr/>
        </p:nvSpPr>
        <p:spPr bwMode="auto">
          <a:xfrm>
            <a:off x="105186" y="3901439"/>
            <a:ext cx="13306014" cy="789940"/>
          </a:xfrm>
          <a:custGeom>
            <a:avLst/>
            <a:gdLst/>
            <a:ahLst/>
            <a:cxnLst/>
            <a:rect l="l" t="t" r="r" b="b"/>
            <a:pathLst>
              <a:path w="7711440" h="789939" fill="norm" stroke="1" extrusionOk="0">
                <a:moveTo>
                  <a:pt x="0" y="789431"/>
                </a:moveTo>
                <a:lnTo>
                  <a:pt x="7711440" y="789431"/>
                </a:lnTo>
                <a:lnTo>
                  <a:pt x="7711440" y="0"/>
                </a:lnTo>
                <a:lnTo>
                  <a:pt x="0" y="0"/>
                </a:lnTo>
                <a:lnTo>
                  <a:pt x="0" y="789431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88203041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472815501" name="Holder 3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231144255" name="Holder 4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842887225" name="Holder 5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35993994" name="Holder 2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112570925" name="Holder 3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454626051" name="Holder 4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32369857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5232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435978256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3"/>
            <a:ext cx="764350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136512237" name="Holder 4"/>
          <p:cNvSpPr>
            <a:spLocks noGrp="1"/>
          </p:cNvSpPr>
          <p:nvPr>
            <p:ph type="ftr" sz="quarter" idx="5"/>
          </p:nvPr>
        </p:nvSpPr>
        <p:spPr bwMode="auto">
          <a:xfrm>
            <a:off x="4559808" y="9354314"/>
            <a:ext cx="4291584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892259561" name="Holder 5"/>
          <p:cNvSpPr>
            <a:spLocks noGrp="1"/>
          </p:cNvSpPr>
          <p:nvPr>
            <p:ph type="dt" sz="half" idx="6"/>
          </p:nvPr>
        </p:nvSpPr>
        <p:spPr bwMode="auto">
          <a:xfrm>
            <a:off x="670560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959495957" name="Holder 6"/>
          <p:cNvSpPr>
            <a:spLocks noGrp="1"/>
          </p:cNvSpPr>
          <p:nvPr>
            <p:ph type="sldNum" sz="quarter" idx="7"/>
          </p:nvPr>
        </p:nvSpPr>
        <p:spPr bwMode="auto">
          <a:xfrm>
            <a:off x="9656064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59896014" name="object 46"/>
          <p:cNvSpPr txBox="1">
            <a:spLocks noGrp="1"/>
          </p:cNvSpPr>
          <p:nvPr>
            <p:ph type="sldNum" sz="quarter" idx="7"/>
          </p:nvPr>
        </p:nvSpPr>
        <p:spPr bwMode="auto">
          <a:xfrm>
            <a:off x="22501110" y="12821186"/>
            <a:ext cx="518023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5742">
              <a:lnSpc>
                <a:spcPts val="2260"/>
              </a:lnSpc>
              <a:defRPr/>
            </a:pPr>
            <a:fld id="{81D60167-4931-47E6-BA6A-407CBD079E47}" type="slidenum">
              <a:rPr spc="-86"/>
              <a:t>1</a:t>
            </a:fld>
            <a:endParaRPr spc="-86"/>
          </a:p>
        </p:txBody>
      </p:sp>
      <p:pic>
        <p:nvPicPr>
          <p:cNvPr id="1955599958" name="object 25"/>
          <p:cNvPicPr/>
          <p:nvPr/>
        </p:nvPicPr>
        <p:blipFill rotWithShape="1">
          <a:blip r:embed="rId3"/>
          <a:srcRect l="0" t="17" r="0" b="16"/>
          <a:stretch/>
        </p:blipFill>
        <p:spPr bwMode="auto">
          <a:xfrm>
            <a:off x="1" y="457200"/>
            <a:ext cx="13411199" cy="9021482"/>
          </a:xfrm>
          <a:prstGeom prst="rect">
            <a:avLst/>
          </a:prstGeom>
        </p:spPr>
      </p:pic>
      <p:sp>
        <p:nvSpPr>
          <p:cNvPr id="22690096" name="object 30"/>
          <p:cNvSpPr txBox="1"/>
          <p:nvPr/>
        </p:nvSpPr>
        <p:spPr bwMode="auto">
          <a:xfrm>
            <a:off x="0" y="1143000"/>
            <a:ext cx="13115897" cy="4066137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  <a:defRPr/>
            </a:pP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Intoduction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To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Programming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Using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C++</a:t>
            </a:r>
            <a:endParaRPr/>
          </a:p>
          <a:p>
            <a:pPr marL="2786346" algn="ctr">
              <a:spcBef>
                <a:spcPts val="673"/>
              </a:spcBef>
              <a:defRPr/>
            </a:pPr>
            <a:r>
              <a:rPr lang="en-GB" sz="6000" b="1">
                <a:solidFill>
                  <a:schemeClr val="bg1"/>
                </a:solidFill>
                <a:latin typeface="Comic Sans MS"/>
                <a:cs typeface="Comic Sans MS"/>
              </a:rPr>
              <a:t>Level </a:t>
            </a:r>
            <a:r>
              <a:rPr sz="6000" b="1">
                <a:solidFill>
                  <a:schemeClr val="bg1"/>
                </a:solidFill>
                <a:latin typeface="Comic Sans MS"/>
                <a:cs typeface="Comic Sans MS"/>
              </a:rPr>
              <a:t>2</a:t>
            </a:r>
            <a:endParaRPr lang="sv-SE" sz="6000" b="1">
              <a:solidFill>
                <a:schemeClr val="bg1"/>
              </a:solidFill>
              <a:latin typeface="Comic Sans MS"/>
              <a:cs typeface="Comic Sans MS"/>
            </a:endParaRPr>
          </a:p>
          <a:p>
            <a:pPr marL="2786346" algn="ctr">
              <a:spcBef>
                <a:spcPts val="670"/>
              </a:spcBef>
              <a:defRPr/>
            </a:pPr>
            <a:endParaRPr lang="sv-SE"/>
          </a:p>
          <a:p>
            <a:pPr marL="2786346" algn="ctr">
              <a:spcBef>
                <a:spcPts val="671"/>
              </a:spcBef>
              <a:defRPr/>
            </a:pPr>
            <a:r>
              <a:rPr lang="en-US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Setw Manipulator</a:t>
            </a:r>
            <a:endParaRPr lang="en-US" sz="6000" b="1" i="0" u="none" strike="noStrike" cap="none" spc="0">
              <a:solidFill>
                <a:srgbClr val="FFCE53"/>
              </a:solidFill>
              <a:latin typeface="Comic Sans MS"/>
              <a:ea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337249179" name="object 2"/>
          <p:cNvGrpSpPr/>
          <p:nvPr/>
        </p:nvGrpSpPr>
        <p:grpSpPr bwMode="auto">
          <a:xfrm>
            <a:off x="-10956" y="645358"/>
            <a:ext cx="13422156" cy="8767681"/>
            <a:chOff x="0" y="2209799"/>
            <a:chExt cx="7778749" cy="5081269"/>
          </a:xfrm>
        </p:grpSpPr>
        <p:pic>
          <p:nvPicPr>
            <p:cNvPr id="1694131946" name="object 3"/>
            <p:cNvPicPr/>
            <p:nvPr/>
          </p:nvPicPr>
          <p:blipFill rotWithShape="1">
            <a:blip r:embed="rId3"/>
            <a:stretch/>
          </p:blipFill>
          <p:spPr bwMode="auto">
            <a:xfrm>
              <a:off x="0" y="2209799"/>
              <a:ext cx="7772398" cy="5081015"/>
            </a:xfrm>
            <a:prstGeom prst="rect">
              <a:avLst/>
            </a:prstGeom>
          </p:spPr>
        </p:pic>
        <p:sp>
          <p:nvSpPr>
            <p:cNvPr id="1853377854" name="object 4"/>
            <p:cNvSpPr/>
            <p:nvPr/>
          </p:nvSpPr>
          <p:spPr bwMode="auto">
            <a:xfrm>
              <a:off x="60959" y="3901438"/>
              <a:ext cx="7711438" cy="1264918"/>
            </a:xfrm>
            <a:custGeom>
              <a:avLst/>
              <a:gdLst/>
              <a:ahLst/>
              <a:cxnLst/>
              <a:rect l="l" t="t" r="r" b="b"/>
              <a:pathLst>
                <a:path w="7711440" h="1264920" fill="norm" stroke="1" extrusionOk="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grpFill/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</p:grpSp>
      <p:sp>
        <p:nvSpPr>
          <p:cNvPr id="118366726" name="object 8"/>
          <p:cNvSpPr txBox="1"/>
          <p:nvPr/>
        </p:nvSpPr>
        <p:spPr bwMode="auto">
          <a:xfrm>
            <a:off x="13091697" y="12746336"/>
            <a:ext cx="182979" cy="352971"/>
          </a:xfrm>
          <a:prstGeom prst="rect">
            <a:avLst/>
          </a:prstGeom>
        </p:spPr>
        <p:txBody>
          <a:bodyPr vert="horz" wrap="square" lIns="0" tIns="20817" rIns="0" bIns="0" rtlCol="0">
            <a:spAutoFit/>
          </a:bodyPr>
          <a:lstStyle/>
          <a:p>
            <a:pPr marL="21913">
              <a:spcBef>
                <a:spcPts val="162"/>
              </a:spcBef>
              <a:defRPr/>
            </a:pPr>
            <a:r>
              <a:rPr sz="2150" spc="-85">
                <a:latin typeface="Calibri"/>
                <a:cs typeface="Calibri"/>
              </a:rPr>
              <a:t>2</a:t>
            </a:r>
            <a:endParaRPr sz="2150">
              <a:latin typeface="Calibri"/>
              <a:cs typeface="Calibri"/>
            </a:endParaRPr>
          </a:p>
        </p:txBody>
      </p:sp>
      <p:sp>
        <p:nvSpPr>
          <p:cNvPr id="1251610196" name="object 30"/>
          <p:cNvSpPr txBox="1"/>
          <p:nvPr/>
        </p:nvSpPr>
        <p:spPr bwMode="auto">
          <a:xfrm flipH="0" flipV="0">
            <a:off x="106425" y="3084201"/>
            <a:ext cx="13281777" cy="1755753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2"/>
              </a:spcBef>
              <a:defRPr/>
            </a:pPr>
            <a:r>
              <a:rPr lang="en-US" sz="4000" b="0" i="0" u="none" strike="noStrike" cap="none" spc="-15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Intoduction To Programming Using C++</a:t>
            </a:r>
            <a:endParaRPr/>
          </a:p>
          <a:p>
            <a:pPr marL="2786346" algn="ctr">
              <a:spcBef>
                <a:spcPts val="672"/>
              </a:spcBef>
              <a:defRPr/>
            </a:pPr>
            <a:r>
              <a:rPr lang="sv-SE" sz="2400" spc="-16">
                <a:solidFill>
                  <a:srgbClr val="FFFFFF"/>
                </a:solidFill>
                <a:latin typeface="Comic Sans MS"/>
                <a:cs typeface="Comic Sans MS"/>
              </a:rPr>
              <a:t>Level </a:t>
            </a:r>
            <a:r>
              <a:rPr sz="2400" spc="-15">
                <a:solidFill>
                  <a:srgbClr val="FFFFFF"/>
                </a:solidFill>
                <a:latin typeface="Comic Sans MS"/>
                <a:cs typeface="Comic Sans MS"/>
              </a:rPr>
              <a:t>2</a:t>
            </a:r>
            <a:endParaRPr/>
          </a:p>
          <a:p>
            <a:pPr marL="2786346" algn="ctr">
              <a:spcBef>
                <a:spcPts val="670"/>
              </a:spcBef>
              <a:defRPr/>
            </a:pPr>
            <a:r>
              <a:rPr lang="en-US"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Setw Manipulator</a:t>
            </a:r>
            <a:endParaRPr lang="en-US" sz="4000" b="1" i="0" u="none" strike="noStrike" cap="none" spc="0">
              <a:solidFill>
                <a:srgbClr val="FFCE53"/>
              </a:solidFill>
              <a:latin typeface="Comic Sans MS"/>
              <a:ea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5295723" name="object 3"/>
          <p:cNvSpPr txBox="1"/>
          <p:nvPr/>
        </p:nvSpPr>
        <p:spPr bwMode="auto">
          <a:xfrm>
            <a:off x="380997" y="888075"/>
            <a:ext cx="12367511" cy="374798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  <a:cs typeface="Comic Sans MS"/>
              </a:rPr>
              <a:t>🔎 Definition</a:t>
            </a:r>
            <a:endParaRPr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Manipulators are tools in C++ used to control the formatting of Input and Output.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They can be used to control things such as: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Field Width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Number of Decimal Places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Alignment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`setw(n)` means "Set Width" and is used to specify the minimum width of the field in which the next value will be printed.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58444553" name="object 3"/>
          <p:cNvSpPr txBox="1"/>
          <p:nvPr/>
        </p:nvSpPr>
        <p:spPr bwMode="auto">
          <a:xfrm>
            <a:off x="380997" y="888075"/>
            <a:ext cx="12382272" cy="5218513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21912">
              <a:spcBef>
                <a:spcPts val="1215"/>
              </a:spcBef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  <a:cs typeface="Comic Sans MS"/>
              </a:rPr>
              <a:t>📖 Explanation</a:t>
            </a:r>
            <a:endParaRPr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`setw(n)` is provided by the `&lt;iomanip&gt;` Header File.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#include &lt;iomanip&gt;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basic syntax is: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cout &lt;&lt; setw(n) &lt;&lt; value;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`n` specifies the minimum Field Width.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`setw(n)` affects only the next value inserted into the Output Stream.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If the value is shorter than the specified Width, additional spaces are added to fill the Field.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By default, the value is right-aligned, so the spaces are placed before the value.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If the value is longer than the specified Width, it is printed completely. `setw()` does not cut or truncate the value.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22408153" name="object 3"/>
          <p:cNvSpPr txBox="1"/>
          <p:nvPr/>
        </p:nvSpPr>
        <p:spPr bwMode="auto">
          <a:xfrm>
            <a:off x="380997" y="888075"/>
            <a:ext cx="12388750" cy="3001474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GB" sz="4000" b="1" spc="-17">
                <a:solidFill>
                  <a:prstClr val="black"/>
                </a:solidFill>
                <a:latin typeface="Comic Sans MS"/>
              </a:rPr>
              <a:t>🟦 </a:t>
            </a:r>
            <a:r>
              <a:rPr lang="en-GB" sz="4000" b="1" i="0" u="none" strike="noStrike" cap="none" spc="-16">
                <a:solidFill>
                  <a:prstClr val="black"/>
                </a:solidFill>
                <a:latin typeface="Comic Sans MS"/>
                <a:ea typeface="Comic Sans MS"/>
                <a:cs typeface="Comic Sans MS"/>
              </a:rPr>
              <a:t>Procedures</a:t>
            </a:r>
            <a:endParaRPr lang="en-GB" sz="4000"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1️⃣ Include the `&lt;iomanip&gt;` Header File.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2️⃣ Use `setw(n)` before the value you want to format.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3️⃣ Specify the desired Field Width inside the parentheses.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4️⃣ Use `setw()` again before another value if you want to give that value a different Width.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3377600" name="object 3"/>
          <p:cNvSpPr txBox="1"/>
          <p:nvPr/>
        </p:nvSpPr>
        <p:spPr bwMode="auto">
          <a:xfrm>
            <a:off x="380997" y="888075"/>
            <a:ext cx="12372558" cy="4960194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sz="4000" b="1">
                <a:latin typeface="Comic Sans MS"/>
              </a:rPr>
              <a:t>💡 </a:t>
            </a:r>
            <a:r>
              <a:rPr lang="sv-SE" sz="4000" b="1">
                <a:latin typeface="Comic Sans MS"/>
              </a:rPr>
              <a:t>Example</a:t>
            </a:r>
            <a:endParaRPr lang="en-GB" sz="4000" b="1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int main()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{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   cout &lt;&lt; setw(9) &lt;&lt; "C101" &lt;&lt; "|"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        &lt;&lt; setw(32) &lt;&lt; "Introduction to Programming 1" &lt;&lt; "|"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        &lt;&lt; setw(9) &lt;&lt; "95" &lt;&lt; "|" &lt;&lt; endl;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   return 0;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}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➡️ Result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C101|   Introduction to Programming 1|       95|</a:t>
            </a:r>
            <a:endParaRPr lang="en-US" sz="2400" b="0" i="0" u="none" strike="noStrike" cap="none" spc="0">
              <a:solidFill>
                <a:srgbClr val="000000"/>
              </a:solidFill>
              <a:latin typeface="Calibri"/>
              <a:cs typeface="Calibri"/>
            </a:endParaRPr>
          </a:p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38000503" name="object 3"/>
          <p:cNvSpPr txBox="1"/>
          <p:nvPr/>
        </p:nvSpPr>
        <p:spPr bwMode="auto">
          <a:xfrm>
            <a:off x="380997" y="888075"/>
            <a:ext cx="12362840" cy="3367234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sz="4000"/>
              <a:t>📌</a:t>
            </a: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 Note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`setw()` affects only the next value inserted into the Stream.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cout &lt;&lt; setw(10) &lt;&lt; "Sara" &lt;&lt; "Alterkawi";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Only `"Sara"` receives the Width of 10.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`"Alterkawi"` is printed normally.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Therefore, if you want to format several values separately, you need to use `setw()` before each value.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9044742" name="object 3"/>
          <p:cNvSpPr txBox="1"/>
          <p:nvPr/>
        </p:nvSpPr>
        <p:spPr bwMode="auto">
          <a:xfrm>
            <a:off x="380997" y="888075"/>
            <a:ext cx="12364994" cy="225496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🚫 Warning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`setw()` specifies a minimum Field Width, not a maximum.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If the value is longer than the specified Width, the complete value is still printed.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cout &lt;&lt; setw(5) &lt;&lt; "Programming";</a:t>
            </a:r>
            <a:endParaRPr lang="en-GB" sz="2400">
              <a:latin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44419272" name="object 3"/>
          <p:cNvSpPr txBox="1"/>
          <p:nvPr/>
        </p:nvSpPr>
        <p:spPr bwMode="auto">
          <a:xfrm>
            <a:off x="380997" y="888075"/>
            <a:ext cx="12370041" cy="449448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⚖️ Comparison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🟩 `setw(n)`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Sets the minimum Field Width for the next value.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Adds spaces when the value is shorter than the specified Width.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Does not truncate values that are longer than the Width.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🟥 Without `setw()`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Values are printed using their normal Width.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No additional spacing is automatically added to create aligned columns.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Can make manually printed tables harder to align.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03670330" name="object 3"/>
          <p:cNvSpPr txBox="1"/>
          <p:nvPr/>
        </p:nvSpPr>
        <p:spPr bwMode="auto">
          <a:xfrm>
            <a:off x="380997" y="888075"/>
            <a:ext cx="12384072" cy="486024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✨ Summary</a:t>
            </a:r>
            <a:endParaRPr lang="en-GB" sz="40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`setw()` is a C++ Manipulator used to control Field Width.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It requires the `&lt;iomanip&gt;` Header File.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`setw(n)` sets the minimum Width of the next value.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By default, values are right-aligned.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If the value is shorter than the Width, spaces are added before it.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If the value is longer than the Width, it is printed completely.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`setw()` affects only the next value, so it must be used again for each value that needs a specific Width.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`setw()` is especially useful for formatting Tables and making Console Output easier to read.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84195192" name="object 4"/>
          <p:cNvSpPr txBox="1"/>
          <p:nvPr/>
        </p:nvSpPr>
        <p:spPr bwMode="auto">
          <a:xfrm>
            <a:off x="0" y="4712874"/>
            <a:ext cx="13411200" cy="632652"/>
          </a:xfrm>
          <a:prstGeom prst="rect">
            <a:avLst/>
          </a:prstGeom>
        </p:spPr>
        <p:txBody>
          <a:bodyPr vert="horz" wrap="square" lIns="0" tIns="16934" rIns="0" bIns="0" rtlCol="0">
            <a:spAutoFit/>
          </a:bodyPr>
          <a:lstStyle>
            <a:defPPr>
              <a:defRPr/>
            </a:defPPr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6932" algn="ctr">
              <a:spcBef>
                <a:spcPts val="133"/>
              </a:spcBef>
              <a:defRPr/>
            </a:pPr>
            <a:r>
              <a:rPr lang="sv-SE" sz="4000" b="1" spc="-17">
                <a:solidFill>
                  <a:srgbClr val="FF0000"/>
                </a:solidFill>
                <a:latin typeface="Comic Sans MS"/>
              </a:rPr>
              <a:t>Thank you</a:t>
            </a:r>
            <a:r>
              <a:rPr lang="sv-SE" sz="4000" spc="-21">
                <a:solidFill>
                  <a:srgbClr val="FF0000"/>
                </a:solidFill>
              </a:rPr>
              <a:t> </a:t>
            </a:r>
            <a:r>
              <a:rPr lang="sv-SE" sz="4000" spc="-67">
                <a:solidFill>
                  <a:srgbClr val="FF0000"/>
                </a:solidFill>
                <a:latin typeface="Wingdings"/>
                <a:cs typeface="Wingdings"/>
              </a:rPr>
              <a:t></a:t>
            </a:r>
            <a:endParaRPr lang="sv-SE" sz="4000">
              <a:solidFill>
                <a:srgbClr val="FF0000"/>
              </a:solidFill>
              <a:latin typeface="Wingdings"/>
              <a:cs typeface="Wingding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ONLYOFFICE/9.4.0.129</Application>
  <PresentationFormat>On-screen Show (4:3)</PresentationFormat>
  <Paragraphs>0</Paragraphs>
  <Slides>11</Slides>
  <Notes>11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/>
  <cp:revision>352</cp:revision>
  <dcterms:created xsi:type="dcterms:W3CDTF">2025-12-09T17:44:59Z</dcterms:created>
  <dcterms:modified xsi:type="dcterms:W3CDTF">2026-09-25T08:43:58Z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2025-12-09T00:00:00Z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2025-12-09T00:00:00Z</vt:filetime>
  </property>
  <property fmtid="{D5CDD505-2E9C-101B-9397-08002B2CF9AE}" pid="5" name="Producer">
    <vt:lpwstr>www.ilovepdf.com</vt:lpwstr>
  </property>
</Properties>
</file>