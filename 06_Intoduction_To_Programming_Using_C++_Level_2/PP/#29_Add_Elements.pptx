
<file path=[Content_Types].xml><?xml version="1.0" encoding="utf-8"?>
<Types xmlns="http://schemas.openxmlformats.org/package/2006/content-types">
  <Default Extension="jpg" ContentType="image/jpeg"/>
  <Default Extension="bin" ContentType="application/vnd.openxmlformats-officedocument.oleObject"/>
  <Default Extension="jpeg" ContentType="image/jpeg"/>
  <Default Extension="rels" ContentType="application/vnd.openxmlformats-package.relationships+xml"/>
  <Default Extension="xml" ContentType="application/xml"/>
  <Default Extension="png" ContentType="image/png"/>
  <Default Extension="wmf" ContentType="image/x-wmf"/>
  <Override PartName="/ppt/presentation.xml" ContentType="application/vnd.openxmlformats-officedocument.presentationml.presentation.main+xml"/>
  <Override PartName="/ppt/slideLayouts/slideLayout5.xml" ContentType="application/vnd.openxmlformats-officedocument.presentationml.slideLayout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docProps/app.xml" ContentType="application/vnd.openxmlformats-officedocument.extended-properties+xml"/>
  <Override PartName="/ppt/viewProps.xml" ContentType="application/vnd.openxmlformats-officedocument.presentationml.viewProps+xml"/>
  <Override PartName="/docProps/custom.xml" ContentType="application/vnd.openxmlformats-officedocument.custom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slides/slide1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10.xml" ContentType="application/vnd.openxmlformats-officedocument.presentationml.notes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sldMasterIdLst>
    <p:sldMasterId id="2147483648" r:id="rId1"/>
  </p:sldMasterIdLst>
  <p:notesMasterIdLst>
    <p:notesMasterId r:id="rId14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</p:sldIdLst>
  <p:sldSz cx="13411200" cy="10058400"/>
  <p:notesSz cx="7772400" cy="10058400"/>
  <p:defaultTextStyle>
    <a:defPPr>
      <a:defRPr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</p:showPr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>
      <p:cViewPr varScale="1">
        <p:scale>
          <a:sx n="41" d="100"/>
          <a:sy n="41" d="100"/>
        </p:scale>
        <p:origin x="54" y="771"/>
      </p:cViewPr>
      <p:guideLst>
        <p:guide pos="2880" orient="horz"/>
        <p:guide pos="3727"/>
      </p:guideLst>
    </p:cSldViewPr>
  </p:slide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 /><Relationship Id="rId16" Type="http://schemas.openxmlformats.org/officeDocument/2006/relationships/tableStyles" Target="tableStyles.xml" /><Relationship Id="rId17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35568512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867444966" name="Date Placeholder 2"/>
          <p:cNvSpPr>
            <a:spLocks noGrp="1"/>
          </p:cNvSpPr>
          <p:nvPr>
            <p:ph type="dt" idx="2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877169169" name="Date Placeholder 2"/>
          <p:cNvSpPr>
            <a:spLocks noGrp="1"/>
          </p:cNvSpPr>
          <p:nvPr>
            <p:ph type="dt" idx="3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898913975" name="Notes Placeholder 4"/>
          <p:cNvSpPr>
            <a:spLocks noGrp="1"/>
          </p:cNvSpPr>
          <p:nvPr>
            <p:ph type="body" sz="quarter" idx="1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/>
          </a:p>
        </p:txBody>
      </p:sp>
      <p:sp>
        <p:nvSpPr>
          <p:cNvPr id="1062568451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203663844" name="Slide Number Placeholder 6"/>
          <p:cNvSpPr>
            <a:spLocks noGrp="1"/>
          </p:cNvSpPr>
          <p:nvPr>
            <p:ph type="sldNum" sz="quarter" idx="10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 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 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6052370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4014182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3761298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AB30386-858D-E7F8-9EC1-96526C894032}" type="slidenum">
              <a:rPr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5005015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0464952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4533700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198DE46-8DAF-B5B7-2366-A8D1CEBF0DDC}" type="slidenum">
              <a:rPr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1562230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55303251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4673407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930BF87-D410-C3C8-7416-04E7AB6F2790}" type="slidenum">
              <a:rPr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0491555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4419561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544007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EEEE434-A53A-77D6-A1A1-76816A380033}" type="slidenum">
              <a:rPr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1380998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63652360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9164984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ED4B15E-DC1D-871B-195A-409A7609C310}" type="slidenum">
              <a:rPr/>
              <a:t>7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6032582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6373083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6563946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FB780D0-01FC-1E82-7F28-775DCD58CC27}" type="slidenum">
              <a:rPr/>
              <a:t>8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079684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47515202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1077601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38F9459-2AB7-7A11-3614-6196561F7B41}" type="slidenum">
              <a:rPr/>
              <a:t>9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2665237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6463833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6348247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C46612F-4D71-E8FE-73F2-51D32A4C3E49}" type="slidenum">
              <a:rPr/>
              <a:t>10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6708720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51393297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4045501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D3E466E-FDE0-677F-9612-EA45582FD9CD}" type="slidenum">
              <a:rPr/>
              <a:t>11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7287232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5978008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5194378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59DFAF6-37CE-40E2-747A-C584C149C0F7}" type="slidenum">
              <a:rPr/>
              <a:t>12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811482" name="Holder 2"/>
          <p:cNvSpPr>
            <a:spLocks noGrp="1"/>
          </p:cNvSpPr>
          <p:nvPr>
            <p:ph type="ctrTitle"/>
          </p:nvPr>
        </p:nvSpPr>
        <p:spPr bwMode="auto">
          <a:xfrm>
            <a:off x="1005840" y="3118104"/>
            <a:ext cx="11399520" cy="9028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752905837" name="Holder 3"/>
          <p:cNvSpPr>
            <a:spLocks noGrp="1"/>
          </p:cNvSpPr>
          <p:nvPr>
            <p:ph type="subTitle" idx="4"/>
          </p:nvPr>
        </p:nvSpPr>
        <p:spPr bwMode="auto">
          <a:xfrm>
            <a:off x="2011680" y="5632706"/>
            <a:ext cx="9387840" cy="47795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1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692645343" name="Holder 4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526560592" name="Holder 5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95061184" name="Holder 6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type="obj" userDrawn="1">
  <p:cSld name="Title and Content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08124357" name="bg object 16"/>
          <p:cNvSpPr/>
          <p:nvPr/>
        </p:nvSpPr>
        <p:spPr bwMode="auto">
          <a:xfrm>
            <a:off x="331334" y="2514600"/>
            <a:ext cx="12753788" cy="4142104"/>
          </a:xfrm>
          <a:custGeom>
            <a:avLst/>
            <a:gdLst/>
            <a:ahLst/>
            <a:cxnLst/>
            <a:rect l="l" t="t" r="r" b="b"/>
            <a:pathLst>
              <a:path w="7391400" h="4142104" fill="norm" stroke="1" extrusionOk="0">
                <a:moveTo>
                  <a:pt x="0" y="4141597"/>
                </a:moveTo>
                <a:lnTo>
                  <a:pt x="7391146" y="4141597"/>
                </a:lnTo>
                <a:lnTo>
                  <a:pt x="7391146" y="0"/>
                </a:lnTo>
                <a:lnTo>
                  <a:pt x="0" y="0"/>
                </a:lnTo>
                <a:lnTo>
                  <a:pt x="0" y="4141597"/>
                </a:lnTo>
                <a:close/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1382859752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049371613" name="Holder 3"/>
          <p:cNvSpPr>
            <a:spLocks noGrp="1"/>
          </p:cNvSpPr>
          <p:nvPr>
            <p:ph type="body" idx="1"/>
          </p:nvPr>
        </p:nvSpPr>
        <p:spPr bwMode="auto">
          <a:xfrm>
            <a:off x="617089" y="3228215"/>
            <a:ext cx="7643506" cy="477951"/>
          </a:xfrm>
        </p:spPr>
        <p:txBody>
          <a:bodyPr lIns="0" tIns="0" rIns="0" bIns="0"/>
          <a:lstStyle>
            <a:lvl1pPr>
              <a:defRPr sz="31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830300130" name="Holder 4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534736429" name="Holder 5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80801626" name="Holder 6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59024147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600914074" name="Holder 3"/>
          <p:cNvSpPr>
            <a:spLocks noGrp="1"/>
          </p:cNvSpPr>
          <p:nvPr>
            <p:ph sz="half" idx="2"/>
          </p:nvPr>
        </p:nvSpPr>
        <p:spPr bwMode="auto">
          <a:xfrm>
            <a:off x="670560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1934949886" name="Holder 4"/>
          <p:cNvSpPr>
            <a:spLocks noGrp="1"/>
          </p:cNvSpPr>
          <p:nvPr>
            <p:ph sz="half" idx="3"/>
          </p:nvPr>
        </p:nvSpPr>
        <p:spPr bwMode="auto">
          <a:xfrm>
            <a:off x="6906768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645772043" name="Holder 5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459830244" name="Holder 6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529769267" name="Holder 7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type="obj" userDrawn="1">
  <p:cSld name="Title Only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636821603" name="bg object 16"/>
          <p:cNvPicPr/>
          <p:nvPr/>
        </p:nvPicPr>
        <p:blipFill rotWithShape="1">
          <a:blip r:embed="rId2"/>
          <a:stretch/>
        </p:blipFill>
        <p:spPr bwMode="auto">
          <a:xfrm>
            <a:off x="3" y="2209800"/>
            <a:ext cx="13411198" cy="5081016"/>
          </a:xfrm>
          <a:prstGeom prst="rect">
            <a:avLst/>
          </a:prstGeom>
        </p:spPr>
      </p:pic>
      <p:sp>
        <p:nvSpPr>
          <p:cNvPr id="283177658" name="bg object 17"/>
          <p:cNvSpPr/>
          <p:nvPr/>
        </p:nvSpPr>
        <p:spPr bwMode="auto">
          <a:xfrm>
            <a:off x="105186" y="3901439"/>
            <a:ext cx="13306014" cy="789940"/>
          </a:xfrm>
          <a:custGeom>
            <a:avLst/>
            <a:gdLst/>
            <a:ahLst/>
            <a:cxnLst/>
            <a:rect l="l" t="t" r="r" b="b"/>
            <a:pathLst>
              <a:path w="7711440" h="789939" fill="norm" stroke="1" extrusionOk="0">
                <a:moveTo>
                  <a:pt x="0" y="789431"/>
                </a:moveTo>
                <a:lnTo>
                  <a:pt x="7711440" y="789431"/>
                </a:lnTo>
                <a:lnTo>
                  <a:pt x="7711440" y="0"/>
                </a:lnTo>
                <a:lnTo>
                  <a:pt x="0" y="0"/>
                </a:lnTo>
                <a:lnTo>
                  <a:pt x="0" y="789431"/>
                </a:lnTo>
                <a:close/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1604669821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2113718899" name="Holder 3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063230360" name="Holder 4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987139171" name="Holder 5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47061183" name="Holder 2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392984224" name="Holder 3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821411760" name="Holder 4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3489455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5232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40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768924550" name="Holder 3"/>
          <p:cNvSpPr>
            <a:spLocks noGrp="1"/>
          </p:cNvSpPr>
          <p:nvPr>
            <p:ph type="body" idx="1"/>
          </p:nvPr>
        </p:nvSpPr>
        <p:spPr bwMode="auto">
          <a:xfrm>
            <a:off x="617089" y="3228213"/>
            <a:ext cx="764350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271606393" name="Holder 4"/>
          <p:cNvSpPr>
            <a:spLocks noGrp="1"/>
          </p:cNvSpPr>
          <p:nvPr>
            <p:ph type="ftr" sz="quarter" idx="5"/>
          </p:nvPr>
        </p:nvSpPr>
        <p:spPr bwMode="auto">
          <a:xfrm>
            <a:off x="4559808" y="9354314"/>
            <a:ext cx="4291584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953413145" name="Holder 5"/>
          <p:cNvSpPr>
            <a:spLocks noGrp="1"/>
          </p:cNvSpPr>
          <p:nvPr>
            <p:ph type="dt" sz="half" idx="6"/>
          </p:nvPr>
        </p:nvSpPr>
        <p:spPr bwMode="auto">
          <a:xfrm>
            <a:off x="670560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137224375" name="Holder 6"/>
          <p:cNvSpPr>
            <a:spLocks noGrp="1"/>
          </p:cNvSpPr>
          <p:nvPr>
            <p:ph type="sldNum" sz="quarter" idx="7"/>
          </p:nvPr>
        </p:nvSpPr>
        <p:spPr bwMode="auto">
          <a:xfrm>
            <a:off x="9656064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6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6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jp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jp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95941042" name="object 46"/>
          <p:cNvSpPr txBox="1">
            <a:spLocks noGrp="1"/>
          </p:cNvSpPr>
          <p:nvPr>
            <p:ph type="sldNum" sz="quarter" idx="7"/>
          </p:nvPr>
        </p:nvSpPr>
        <p:spPr bwMode="auto">
          <a:xfrm>
            <a:off x="22501110" y="12821186"/>
            <a:ext cx="518023" cy="2949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5742">
              <a:lnSpc>
                <a:spcPts val="2260"/>
              </a:lnSpc>
              <a:defRPr/>
            </a:pPr>
            <a:fld id="{81D60167-4931-47E6-BA6A-407CBD079E47}" type="slidenum">
              <a:rPr spc="-86"/>
              <a:t>1</a:t>
            </a:fld>
            <a:endParaRPr spc="-86"/>
          </a:p>
        </p:txBody>
      </p:sp>
      <p:pic>
        <p:nvPicPr>
          <p:cNvPr id="2141839301" name="object 25"/>
          <p:cNvPicPr/>
          <p:nvPr/>
        </p:nvPicPr>
        <p:blipFill rotWithShape="1">
          <a:blip r:embed="rId3"/>
          <a:srcRect l="0" t="17" r="0" b="16"/>
          <a:stretch/>
        </p:blipFill>
        <p:spPr bwMode="auto">
          <a:xfrm>
            <a:off x="1" y="457200"/>
            <a:ext cx="13411199" cy="9021482"/>
          </a:xfrm>
          <a:prstGeom prst="rect">
            <a:avLst/>
          </a:prstGeom>
        </p:spPr>
      </p:pic>
      <p:sp>
        <p:nvSpPr>
          <p:cNvPr id="27145146" name="object 30"/>
          <p:cNvSpPr txBox="1"/>
          <p:nvPr/>
        </p:nvSpPr>
        <p:spPr bwMode="auto">
          <a:xfrm>
            <a:off x="0" y="1143000"/>
            <a:ext cx="13120574" cy="4066137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3"/>
              </a:spcBef>
              <a:defRPr/>
            </a:pP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Intoduction</a:t>
            </a:r>
            <a:r>
              <a:rPr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To</a:t>
            </a:r>
            <a:r>
              <a:rPr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Programming</a:t>
            </a:r>
            <a:r>
              <a:rPr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Using</a:t>
            </a:r>
            <a:r>
              <a:rPr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C++</a:t>
            </a:r>
            <a:endParaRPr/>
          </a:p>
          <a:p>
            <a:pPr marL="2786346" algn="ctr">
              <a:spcBef>
                <a:spcPts val="673"/>
              </a:spcBef>
              <a:defRPr/>
            </a:pPr>
            <a:r>
              <a:rPr lang="en-GB" sz="6000" b="1">
                <a:solidFill>
                  <a:schemeClr val="bg1"/>
                </a:solidFill>
                <a:latin typeface="Comic Sans MS"/>
                <a:cs typeface="Comic Sans MS"/>
              </a:rPr>
              <a:t>Level </a:t>
            </a:r>
            <a:r>
              <a:rPr sz="6000" b="1">
                <a:solidFill>
                  <a:schemeClr val="bg1"/>
                </a:solidFill>
                <a:latin typeface="Comic Sans MS"/>
                <a:cs typeface="Comic Sans MS"/>
              </a:rPr>
              <a:t>2</a:t>
            </a:r>
            <a:endParaRPr lang="sv-SE" sz="6000" b="1">
              <a:solidFill>
                <a:schemeClr val="bg1"/>
              </a:solidFill>
              <a:latin typeface="Comic Sans MS"/>
              <a:cs typeface="Comic Sans MS"/>
            </a:endParaRPr>
          </a:p>
          <a:p>
            <a:pPr marL="2786346" algn="ctr">
              <a:spcBef>
                <a:spcPts val="670"/>
              </a:spcBef>
              <a:defRPr/>
            </a:pPr>
            <a:endParaRPr lang="sv-SE"/>
          </a:p>
          <a:p>
            <a:pPr marL="2786346" algn="ctr">
              <a:spcBef>
                <a:spcPts val="671"/>
              </a:spcBef>
              <a:defRPr/>
            </a:pPr>
            <a:r>
              <a:rPr lang="en-US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Add Elements</a:t>
            </a:r>
            <a:endParaRPr lang="en-US" sz="6000" b="1" i="0" u="none" strike="noStrike" cap="none" spc="0">
              <a:solidFill>
                <a:srgbClr val="FFCE53"/>
              </a:solidFill>
              <a:latin typeface="Comic Sans MS"/>
              <a:ea typeface="Comic Sans MS"/>
              <a:cs typeface="Comic Sans MS"/>
            </a:endParaRPr>
          </a:p>
        </p:txBody>
      </p:sp>
      <p:sp>
        <p:nvSpPr>
          <p:cNvPr id="1568913905" name=""/>
          <p:cNvSpPr txBox="1"/>
          <p:nvPr/>
        </p:nvSpPr>
        <p:spPr bwMode="auto">
          <a:xfrm rot="0" flipH="0" flipV="0">
            <a:off x="6112492" y="4907279"/>
            <a:ext cx="1186215" cy="24383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l">
              <a:defRPr/>
            </a:pPr>
            <a:r>
              <a:rPr/>
              <a:t>#29_Add_Elements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945523688" name="object 2"/>
          <p:cNvGrpSpPr/>
          <p:nvPr/>
        </p:nvGrpSpPr>
        <p:grpSpPr bwMode="auto">
          <a:xfrm>
            <a:off x="-10956" y="645358"/>
            <a:ext cx="13422156" cy="8767681"/>
            <a:chOff x="0" y="2209799"/>
            <a:chExt cx="7778749" cy="5081269"/>
          </a:xfrm>
        </p:grpSpPr>
        <p:pic>
          <p:nvPicPr>
            <p:cNvPr id="1694131946" name="object 3"/>
            <p:cNvPicPr/>
            <p:nvPr/>
          </p:nvPicPr>
          <p:blipFill rotWithShape="1">
            <a:blip r:embed="rId3"/>
            <a:stretch/>
          </p:blipFill>
          <p:spPr bwMode="auto">
            <a:xfrm>
              <a:off x="0" y="2209799"/>
              <a:ext cx="7772398" cy="5081015"/>
            </a:xfrm>
            <a:prstGeom prst="rect">
              <a:avLst/>
            </a:prstGeom>
          </p:spPr>
        </p:pic>
        <p:sp>
          <p:nvSpPr>
            <p:cNvPr id="1853377854" name="object 4"/>
            <p:cNvSpPr/>
            <p:nvPr/>
          </p:nvSpPr>
          <p:spPr bwMode="auto">
            <a:xfrm>
              <a:off x="60959" y="3901438"/>
              <a:ext cx="7711438" cy="1264918"/>
            </a:xfrm>
            <a:custGeom>
              <a:avLst/>
              <a:gdLst/>
              <a:ahLst/>
              <a:cxnLst/>
              <a:rect l="l" t="t" r="r" b="b"/>
              <a:pathLst>
                <a:path w="7711440" h="1264920" fill="norm" stroke="1" extrusionOk="0">
                  <a:moveTo>
                    <a:pt x="0" y="1264919"/>
                  </a:moveTo>
                  <a:lnTo>
                    <a:pt x="7711440" y="1264919"/>
                  </a:lnTo>
                  <a:lnTo>
                    <a:pt x="7711440" y="0"/>
                  </a:lnTo>
                  <a:lnTo>
                    <a:pt x="0" y="0"/>
                  </a:lnTo>
                  <a:lnTo>
                    <a:pt x="0" y="1264919"/>
                  </a:lnTo>
                  <a:close/>
                </a:path>
              </a:pathLst>
            </a:custGeom>
            <a:grpFill/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>
                <a:defRPr/>
              </a:pPr>
              <a:endParaRPr/>
            </a:p>
          </p:txBody>
        </p:sp>
      </p:grpSp>
      <p:sp>
        <p:nvSpPr>
          <p:cNvPr id="961555238" name="object 8"/>
          <p:cNvSpPr txBox="1"/>
          <p:nvPr/>
        </p:nvSpPr>
        <p:spPr bwMode="auto">
          <a:xfrm>
            <a:off x="13091697" y="12746336"/>
            <a:ext cx="182979" cy="352971"/>
          </a:xfrm>
          <a:prstGeom prst="rect">
            <a:avLst/>
          </a:prstGeom>
        </p:spPr>
        <p:txBody>
          <a:bodyPr vert="horz" wrap="square" lIns="0" tIns="20817" rIns="0" bIns="0" rtlCol="0">
            <a:spAutoFit/>
          </a:bodyPr>
          <a:lstStyle/>
          <a:p>
            <a:pPr marL="21913">
              <a:spcBef>
                <a:spcPts val="162"/>
              </a:spcBef>
              <a:defRPr/>
            </a:pPr>
            <a:r>
              <a:rPr sz="2150" spc="-85">
                <a:latin typeface="Calibri"/>
                <a:cs typeface="Calibri"/>
              </a:rPr>
              <a:t>2</a:t>
            </a:r>
            <a:endParaRPr sz="2150">
              <a:latin typeface="Calibri"/>
              <a:cs typeface="Calibri"/>
            </a:endParaRPr>
          </a:p>
        </p:txBody>
      </p:sp>
      <p:sp>
        <p:nvSpPr>
          <p:cNvPr id="26288751" name="object 30"/>
          <p:cNvSpPr txBox="1"/>
          <p:nvPr/>
        </p:nvSpPr>
        <p:spPr bwMode="auto">
          <a:xfrm flipH="0" flipV="0">
            <a:off x="106425" y="3084201"/>
            <a:ext cx="13286454" cy="1755753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2"/>
              </a:spcBef>
              <a:defRPr/>
            </a:pPr>
            <a:r>
              <a:rPr lang="en-US" sz="4000" b="0" i="0" u="none" strike="noStrike" cap="none" spc="-15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Intoduction To Programming Using C++</a:t>
            </a:r>
            <a:endParaRPr/>
          </a:p>
          <a:p>
            <a:pPr marL="2786346" algn="ctr">
              <a:spcBef>
                <a:spcPts val="672"/>
              </a:spcBef>
              <a:defRPr/>
            </a:pPr>
            <a:r>
              <a:rPr lang="sv-SE" sz="2400" spc="-16">
                <a:solidFill>
                  <a:srgbClr val="FFFFFF"/>
                </a:solidFill>
                <a:latin typeface="Comic Sans MS"/>
                <a:cs typeface="Comic Sans MS"/>
              </a:rPr>
              <a:t>Level </a:t>
            </a:r>
            <a:r>
              <a:rPr sz="2400" spc="-15">
                <a:solidFill>
                  <a:srgbClr val="FFFFFF"/>
                </a:solidFill>
                <a:latin typeface="Comic Sans MS"/>
                <a:cs typeface="Comic Sans MS"/>
              </a:rPr>
              <a:t>2</a:t>
            </a:r>
            <a:endParaRPr/>
          </a:p>
          <a:p>
            <a:pPr marL="2786346" algn="ctr">
              <a:spcBef>
                <a:spcPts val="670"/>
              </a:spcBef>
              <a:defRPr/>
            </a:pPr>
            <a:r>
              <a:rPr lang="en-US"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Add Elements</a:t>
            </a:r>
            <a:endParaRPr lang="en-US" sz="4000" b="1" i="0" u="none" strike="noStrike" cap="none" spc="0">
              <a:solidFill>
                <a:srgbClr val="FFCE53"/>
              </a:solidFill>
              <a:latin typeface="Comic Sans MS"/>
              <a:ea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18004299" name="object 3"/>
          <p:cNvSpPr txBox="1"/>
          <p:nvPr/>
        </p:nvSpPr>
        <p:spPr bwMode="auto">
          <a:xfrm>
            <a:off x="380997" y="888075"/>
            <a:ext cx="12367870" cy="3367234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  <a:cs typeface="Comic Sans MS"/>
              </a:rPr>
              <a:t>🔎 Definition</a:t>
            </a:r>
            <a:endParaRPr/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In C++, we can add elements to a `Vector` during Run Time using the `push_back()` function.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`push_back()` always adds the new element to the end of the Vector.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Each call to `push_back()` increases the Vector's number of elements by one.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A Vector automatically manages its storage and can grow when more elements are added.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20465584" name="object 3"/>
          <p:cNvSpPr txBox="1"/>
          <p:nvPr/>
        </p:nvSpPr>
        <p:spPr bwMode="auto">
          <a:xfrm>
            <a:off x="380997" y="888075"/>
            <a:ext cx="12382272" cy="4852753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 marL="21912">
              <a:spcBef>
                <a:spcPts val="1215"/>
              </a:spcBef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  <a:cs typeface="Comic Sans MS"/>
              </a:rPr>
              <a:t>📖 Explanation</a:t>
            </a:r>
            <a:endParaRPr/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🟨 `push_back()` Function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`push_back()` is a member function of `std::vector`.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It is used to add an element to the end of the Vector.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Syntax: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	vNumbers.push_back(value);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The new element is placed after the current last element.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We do not need to manually specify the position where the new element should be added.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If the Vector needs more storage, it automatically allocates additional memory.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35308972" name="object 3"/>
          <p:cNvSpPr txBox="1"/>
          <p:nvPr/>
        </p:nvSpPr>
        <p:spPr bwMode="auto">
          <a:xfrm>
            <a:off x="380997" y="888075"/>
            <a:ext cx="12372918" cy="9349314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sz="4000" b="1">
                <a:latin typeface="Comic Sans MS"/>
              </a:rPr>
              <a:t>💡 </a:t>
            </a:r>
            <a:r>
              <a:rPr lang="sv-SE" sz="4000" b="1">
                <a:latin typeface="Comic Sans MS"/>
              </a:rPr>
              <a:t>Example</a:t>
            </a:r>
            <a:endParaRPr lang="en-GB" sz="4000" b="1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int main()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{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    vector&lt;int&gt; vNumbers;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    vNumbers.push_back(10);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    vNumbers.push_back(20);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    vNumbers.push_back(30);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    vNumbers.push_back(40);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    vNumbers.push_back(50);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    cout &lt;&lt; "Numbers Vector:\n";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    for (int &amp;Number : vNumbers)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    {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        cout &lt;&lt; Number &lt;&lt; endl;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    }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    return 0;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}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➡️ Result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Numbers Vector: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10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20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30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40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50</a:t>
            </a:r>
            <a:endParaRPr lang="en-US" sz="2400" b="0" i="0" u="none" strike="noStrike" cap="none" spc="0">
              <a:solidFill>
                <a:srgbClr val="000000"/>
              </a:solidFill>
              <a:latin typeface="Calibri"/>
              <a:cs typeface="Calibri"/>
            </a:endParaRPr>
          </a:p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01867927" name="object 3"/>
          <p:cNvSpPr txBox="1"/>
          <p:nvPr/>
        </p:nvSpPr>
        <p:spPr bwMode="auto">
          <a:xfrm>
            <a:off x="380997" y="888075"/>
            <a:ext cx="12362840" cy="5569287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sz="4000"/>
              <a:t>📌</a:t>
            </a: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 Note</a:t>
            </a:r>
            <a:endParaRPr/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`push_back()` does not replace existing elements. It adds a new element to the end.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You can call `push_back()` multiple times to add multiple elements.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`push_back()` is especially useful inside loops when receiving data from the user or processing data dynamically.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When simply displaying elements, using a Reference can avoid unnecessary copying: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for (const int &amp;Number : vNumbers)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{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    cout &lt;&lt; Number &lt;&lt; " ";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}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For small types such as `int`, copying is inexpensive. For larger objects, using a `const` Reference can be more beneficial.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13059961" name="object 3"/>
          <p:cNvSpPr txBox="1"/>
          <p:nvPr/>
        </p:nvSpPr>
        <p:spPr bwMode="auto">
          <a:xfrm>
            <a:off x="380997" y="888075"/>
            <a:ext cx="12364994" cy="3001474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🚫 Warning</a:t>
            </a:r>
            <a:endParaRPr/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🟨 Do not confuse `push_back()` with `insert()`.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`push_back()` adds an element specifically to the end of the Vector.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🟥 `insert()` can add an element at a specific position inside the Vector.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🟨 Vector storage is managed automatically. You normally do not need to manually allocate memory before using `push_back()`.</a:t>
            </a:r>
            <a:endParaRPr lang="en-GB" sz="2400">
              <a:latin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66255548" name="object 3"/>
          <p:cNvSpPr txBox="1"/>
          <p:nvPr/>
        </p:nvSpPr>
        <p:spPr bwMode="auto">
          <a:xfrm>
            <a:off x="380997" y="888075"/>
            <a:ext cx="12370041" cy="5240994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⚖️ Comparison</a:t>
            </a:r>
            <a:endParaRPr/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🟩 Vector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`push_back()` adds an element to the end.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`pop_back()` removes the last element.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A Vector can access any element using its index.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A Vector is a dynamic container.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🟥 Stack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`push()` adds an element to the top.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`pop()` removes the top element.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A Stack follows the LIFO principle.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LIFO = Last In, First Out.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69203460" name="object 3"/>
          <p:cNvSpPr txBox="1"/>
          <p:nvPr/>
        </p:nvSpPr>
        <p:spPr bwMode="auto">
          <a:xfrm>
            <a:off x="380997" y="888075"/>
            <a:ext cx="12384072" cy="4121233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✨ Summary</a:t>
            </a:r>
            <a:endParaRPr lang="en-GB" sz="40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`push_back()` is used to add elements to a Vector.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Each call adds one new element to the end.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A Vector automatically manages its storage as it grows.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`push_back()` is commonly used inside loops and during user input.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`pop_back()` removes the last element.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A Vector can be used to implement LIFO behavior when using `push_back()` and `pop_back()` together.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A Vector remains a flexible dynamic container and is not limited to Stack behavior.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14780168" name="object 4"/>
          <p:cNvSpPr txBox="1"/>
          <p:nvPr/>
        </p:nvSpPr>
        <p:spPr bwMode="auto">
          <a:xfrm>
            <a:off x="0" y="4712874"/>
            <a:ext cx="13411200" cy="632652"/>
          </a:xfrm>
          <a:prstGeom prst="rect">
            <a:avLst/>
          </a:prstGeom>
        </p:spPr>
        <p:txBody>
          <a:bodyPr vert="horz" wrap="square" lIns="0" tIns="16934" rIns="0" bIns="0" rtlCol="0">
            <a:spAutoFit/>
          </a:bodyPr>
          <a:lstStyle>
            <a:defPPr>
              <a:defRPr/>
            </a:defPPr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6932" algn="ctr">
              <a:spcBef>
                <a:spcPts val="133"/>
              </a:spcBef>
              <a:defRPr/>
            </a:pPr>
            <a:r>
              <a:rPr lang="sv-SE" sz="4000" b="1" spc="-17">
                <a:solidFill>
                  <a:srgbClr val="FF0000"/>
                </a:solidFill>
                <a:latin typeface="Comic Sans MS"/>
              </a:rPr>
              <a:t>Thank you</a:t>
            </a:r>
            <a:r>
              <a:rPr lang="sv-SE" sz="4000" spc="-21">
                <a:solidFill>
                  <a:srgbClr val="FF0000"/>
                </a:solidFill>
              </a:rPr>
              <a:t> </a:t>
            </a:r>
            <a:r>
              <a:rPr lang="sv-SE" sz="4000" spc="-67">
                <a:solidFill>
                  <a:srgbClr val="FF0000"/>
                </a:solidFill>
                <a:latin typeface="Wingdings"/>
                <a:cs typeface="Wingdings"/>
              </a:rPr>
              <a:t></a:t>
            </a:r>
            <a:endParaRPr lang="sv-SE" sz="4000">
              <a:solidFill>
                <a:srgbClr val="FF0000"/>
              </a:solidFill>
              <a:latin typeface="Wingdings"/>
              <a:cs typeface="Wingding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0</Words>
  <Application>ONLYOFFICE/9.4.0.129</Application>
  <PresentationFormat>On-screen Show (4:3)</PresentationFormat>
  <Paragraphs>0</Paragraphs>
  <Slides>10</Slides>
  <Notes>10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/>
  <cp:revision>355</cp:revision>
  <dcterms:created xsi:type="dcterms:W3CDTF">2025-12-09T17:44:59Z</dcterms:created>
  <dcterms:modified xsi:type="dcterms:W3CDTF">2026-09-25T09:00:20Z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2025-12-09T00:00:00Z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2025-12-09T00:00:00Z</vt:filetime>
  </property>
  <property fmtid="{D5CDD505-2E9C-101B-9397-08002B2CF9AE}" pid="5" name="Producer">
    <vt:lpwstr>www.ilovepdf.com</vt:lpwstr>
  </property>
</Properties>
</file>