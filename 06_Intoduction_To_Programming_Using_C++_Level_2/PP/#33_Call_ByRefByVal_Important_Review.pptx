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132883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5329405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0953508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09675609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775235339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62507953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40895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009036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5744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1928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816564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91890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98DE46-8DAF-B5B7-2366-A8D1CEBF0DDC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65414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487466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19734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02364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44214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06031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29646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128724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1511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79590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803275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30268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20289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944445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327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84292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70649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77758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64660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163301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14791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30483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821870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834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8858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801886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63532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2456876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25008727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53161262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54020285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374202701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670009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39096715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99610584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7491814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80758054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05011346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664874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157750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085310451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145888823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09202554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1037620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11821077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256357226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3325244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19231661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06088487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705314636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4026217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51045448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41028562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20932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52673298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47740053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19492811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75095758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2193777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394301005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075938160" name="object 30"/>
          <p:cNvSpPr txBox="1"/>
          <p:nvPr/>
        </p:nvSpPr>
        <p:spPr bwMode="auto">
          <a:xfrm>
            <a:off x="0" y="1143000"/>
            <a:ext cx="13127770" cy="49805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Intoduction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To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Programming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Using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C++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2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Call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ByRefByVal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Important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Review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85202061" name="object 2"/>
          <p:cNvGrpSpPr/>
          <p:nvPr/>
        </p:nvGrpSpPr>
        <p:grpSpPr bwMode="auto">
          <a:xfrm>
            <a:off x="-10956" y="645358"/>
            <a:ext cx="13422156" cy="8767681"/>
            <a:chOff x="0" y="2209799"/>
            <a:chExt cx="7778749" cy="5081269"/>
          </a:xfrm>
        </p:grpSpPr>
        <p:pic>
          <p:nvPicPr>
            <p:cNvPr id="1694131946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853377854" name="object 4"/>
            <p:cNvSpPr/>
            <p:nvPr/>
          </p:nvSpPr>
          <p:spPr bwMode="auto">
            <a:xfrm>
              <a:off x="60959" y="3901438"/>
              <a:ext cx="7711438" cy="1264918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238471201" name="object 8"/>
          <p:cNvSpPr txBox="1"/>
          <p:nvPr/>
        </p:nvSpPr>
        <p:spPr bwMode="auto">
          <a:xfrm>
            <a:off x="13091697" y="12746336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>
              <a:spcBef>
                <a:spcPts val="162"/>
              </a:spcBef>
              <a:defRPr/>
            </a:pPr>
            <a:r>
              <a:rPr sz="2150" spc="-85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404295743" name="object 30"/>
          <p:cNvSpPr txBox="1"/>
          <p:nvPr/>
        </p:nvSpPr>
        <p:spPr bwMode="auto">
          <a:xfrm flipH="0" flipV="0">
            <a:off x="106425" y="3084201"/>
            <a:ext cx="13293650" cy="175575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2"/>
              </a:spcBef>
              <a:defRPr/>
            </a:pPr>
            <a:r>
              <a:rPr lang="en-US" sz="4000" b="0" i="0" u="none" strike="noStrike" cap="none" spc="-15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Intoduction To Programming Using C++</a:t>
            </a:r>
            <a:endParaRPr/>
          </a:p>
          <a:p>
            <a:pPr marL="2786346" algn="ctr">
              <a:spcBef>
                <a:spcPts val="672"/>
              </a:spcBef>
              <a:defRPr/>
            </a:pPr>
            <a:r>
              <a:rPr lang="sv-SE" sz="2400" spc="-16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5">
                <a:solidFill>
                  <a:srgbClr val="FFFFFF"/>
                </a:solidFill>
                <a:latin typeface="Comic Sans MS"/>
                <a:cs typeface="Comic Sans MS"/>
              </a:rPr>
              <a:t>2</a:t>
            </a:r>
            <a:endParaRPr/>
          </a:p>
          <a:p>
            <a:pPr marL="2786346" algn="ctr">
              <a:spcBef>
                <a:spcPts val="670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Call</a:t>
            </a:r>
            <a:r>
              <a:rPr lang="ar-SY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ByRefByVal</a:t>
            </a:r>
            <a:r>
              <a:rPr lang="ar-SY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Important</a:t>
            </a:r>
            <a:r>
              <a:rPr lang="ar-SY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Review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7513727" name="object 3"/>
          <p:cNvSpPr txBox="1"/>
          <p:nvPr/>
        </p:nvSpPr>
        <p:spPr bwMode="auto">
          <a:xfrm>
            <a:off x="380997" y="888075"/>
            <a:ext cx="12367870" cy="447950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Call by Value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Call by Value means passing a copy of the argument's value to the function.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function receives its own parameter variable, so changing the parameter does not change the original variable in the calling function.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Call by Reference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Call by Reference means passing a reference to the original variable to the function.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function parameter becomes another name (Alias) for the original variable, so both refer to the same variable.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8541917" name="object 3"/>
          <p:cNvSpPr txBox="1"/>
          <p:nvPr/>
        </p:nvSpPr>
        <p:spPr bwMode="auto">
          <a:xfrm>
            <a:off x="380997" y="888075"/>
            <a:ext cx="12382272" cy="486024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Call by Value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When a variable is passed by value, the function receives a separate copy of its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Any modification made to the parameter affects only the copy.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original variable remains unchanged.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Call by Reference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When a variable is passed by reference using &amp;, the function works directly with the original variable.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No separate copy of the variable is created.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Any modification made to the reference also modifies the original variable.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9459379" name="object 3"/>
          <p:cNvSpPr txBox="1"/>
          <p:nvPr/>
        </p:nvSpPr>
        <p:spPr bwMode="auto">
          <a:xfrm>
            <a:off x="380997" y="888075"/>
            <a:ext cx="12388750" cy="448699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Create a variable in main().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Pass the variable to a function.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For Call by Value, define the parameter normally: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void Function1(int x)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For Call by Reference, use &amp;: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void Function1(int&amp; x)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Modify the parameter inside the function.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Return to main().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Check the value of the original variable.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6429413" name="object 3"/>
          <p:cNvSpPr txBox="1"/>
          <p:nvPr/>
        </p:nvSpPr>
        <p:spPr bwMode="auto">
          <a:xfrm>
            <a:off x="380997" y="888075"/>
            <a:ext cx="12372558" cy="716224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Call by Value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// Function to demonstrate Call by Value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void Function1(int x)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x++;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int main()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int a = 10;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Function1(a);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cout &lt;&lt; "\na after calling Function1 = " &lt;&lt; a &lt;&lt; endl;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return 0;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 after calling Function1 = 10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7608054" name="object 3"/>
          <p:cNvSpPr txBox="1"/>
          <p:nvPr/>
        </p:nvSpPr>
        <p:spPr bwMode="auto">
          <a:xfrm>
            <a:off x="380997" y="888075"/>
            <a:ext cx="12362840" cy="373299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&amp; in: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void Function1(int&amp; x)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means that x is a reference parameter.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 reference acts as another name (Alias) for the original variable.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You can use &amp;Name with cout to print the memory address of a variable: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cout &lt;&lt; &amp;Name &lt;&lt; endl;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address is normally displayed in hexadecimal format.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9402398" name="object 3"/>
          <p:cNvSpPr txBox="1"/>
          <p:nvPr/>
        </p:nvSpPr>
        <p:spPr bwMode="auto">
          <a:xfrm>
            <a:off x="380997" y="888075"/>
            <a:ext cx="12364994" cy="335974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Do not confuse Call by Reference with passing a pointer.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 C++, references and pointers are different concepts, even though both can be used to allow a function to modify the original object.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Call by Value does not necessarily mean that every argument always requires a large physical memory copy. The important concept is that the function receives a separate value rather than a reference to the original object.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7021311" name="object 3"/>
          <p:cNvSpPr txBox="1"/>
          <p:nvPr/>
        </p:nvSpPr>
        <p:spPr bwMode="auto">
          <a:xfrm>
            <a:off x="380997" y="888075"/>
            <a:ext cx="12370041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Call by Value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A copy of the value is passed to the function.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parameter is independent from the original variable.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Changes made inside the function do not affect the original variable.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Call by Reference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A reference to the original variable is passed to the function.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parameter refers to the same variable as the original.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Changes made inside the function affect the original variable.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4935565" name="object 3"/>
          <p:cNvSpPr txBox="1"/>
          <p:nvPr/>
        </p:nvSpPr>
        <p:spPr bwMode="auto">
          <a:xfrm>
            <a:off x="380997" y="888075"/>
            <a:ext cx="12384072" cy="265589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Call by Value → The function receives a separate value, so changes do not affect the original variable.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Call by Reference → The function works with the original variable through a reference, so changes affect the original variable.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5355716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359</cp:revision>
  <dcterms:created xsi:type="dcterms:W3CDTF">2025-12-09T17:44:59Z</dcterms:created>
  <dcterms:modified xsi:type="dcterms:W3CDTF">2026-09-25T09:30:38Z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