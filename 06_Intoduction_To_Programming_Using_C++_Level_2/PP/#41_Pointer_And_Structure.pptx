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38944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367748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1983175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4544396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2987907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6334880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47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87737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0336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8828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1891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1270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1480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3128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940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7102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2210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966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2315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7141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908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5433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05356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9255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909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90952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0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900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0603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56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3594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649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97562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202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8314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59727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2363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292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954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13553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962213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154842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03408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1592813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24060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9479349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33243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353662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09300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9431900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62911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408226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1753991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4560850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100512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7218744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249090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0364610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137650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381092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551283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4991248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6079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967865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2394030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0904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649235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898393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946847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5453349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59171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98178465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52985756" name="object 30"/>
          <p:cNvSpPr txBox="1"/>
          <p:nvPr/>
        </p:nvSpPr>
        <p:spPr bwMode="auto">
          <a:xfrm>
            <a:off x="0" y="1143000"/>
            <a:ext cx="13130645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Pointers and Structure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0118246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49307227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81067213" name="object 30"/>
          <p:cNvSpPr txBox="1"/>
          <p:nvPr/>
        </p:nvSpPr>
        <p:spPr bwMode="auto">
          <a:xfrm flipH="0" flipV="0">
            <a:off x="106425" y="3084201"/>
            <a:ext cx="13296528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Pointers and Structure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202608" name="object 3"/>
          <p:cNvSpPr txBox="1"/>
          <p:nvPr/>
        </p:nvSpPr>
        <p:spPr bwMode="auto">
          <a:xfrm>
            <a:off x="380997" y="888075"/>
            <a:ext cx="12368228" cy="4845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Pointer to a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pointer can point to a Structure object in C++.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accessing a Structure member through a pointer, we can use the arrow operator (-&gt;) instead of the dot operator (.).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Arrow Operator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arrow operator (-&gt;) is used to access a member of a Structure through a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following two expressions produce the same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(*ptr).Name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ptr-&gt;Name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933855" name="object 3"/>
          <p:cNvSpPr txBox="1"/>
          <p:nvPr/>
        </p:nvSpPr>
        <p:spPr bwMode="auto">
          <a:xfrm>
            <a:off x="380997" y="888075"/>
            <a:ext cx="12382632" cy="63307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Structure is a user-defined data type that can contain multiple members of different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 example, an employee Structure can contain a Name and a Salary.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Accessing Members Directly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we have a normal Structure object, we use the dot operator (.).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Employee1.Name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Employee1.Salary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Accessing Members Through a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we have a pointer to a Structure, we use the arrow operator (-&gt;).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ptr-&gt;Name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ptr-&gt;Salary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650229" name="object 3"/>
          <p:cNvSpPr txBox="1"/>
          <p:nvPr/>
        </p:nvSpPr>
        <p:spPr bwMode="auto">
          <a:xfrm>
            <a:off x="380997" y="888075"/>
            <a:ext cx="12389109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a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a Structure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Assign values to its members.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Create a pointer to the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Store the address of the Structure object in the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Use -&gt; to access the Structure members through the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Alternatively, use (*ptr).member to access the same members.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137165" name="object 3"/>
          <p:cNvSpPr txBox="1"/>
          <p:nvPr/>
        </p:nvSpPr>
        <p:spPr bwMode="auto">
          <a:xfrm>
            <a:off x="380997" y="888075"/>
            <a:ext cx="12373277" cy="97225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Pointer to a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struct stEmployee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string Name;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float Salary;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stEmployee Employee1, *ptr;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Employee1.Name = "Sara Alterkawi";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Employee1.Salary = 5000;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ptr = &amp;Employee1;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ptr-&gt;Name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ptr-&gt;Salary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(*ptr).Name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(*ptr).Salary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5000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5000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226016" name="object 3"/>
          <p:cNvSpPr txBox="1"/>
          <p:nvPr/>
        </p:nvSpPr>
        <p:spPr bwMode="auto">
          <a:xfrm>
            <a:off x="380997" y="888075"/>
            <a:ext cx="12363199" cy="59500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 the dot operator (.) when working directly with a Structure object: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Employee1.Name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 the arrow operator (-&gt;) when working with a pointer to a Structure: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ptr-&gt;Name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Parentheses are important when writing the longer form: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(*ptr).Name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not the same as: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*ptr.Name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expression: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(*ptr).Name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means: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Dereference ptr.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Then access Name.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401597" name="object 3"/>
          <p:cNvSpPr txBox="1"/>
          <p:nvPr/>
        </p:nvSpPr>
        <p:spPr bwMode="auto">
          <a:xfrm>
            <a:off x="380997" y="888075"/>
            <a:ext cx="1236535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the arrow operator (-&gt;) with the less-than and minus operators.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Also, do not use . directly on a pointer: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ptr.Name    // ❌ Incorrect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ptr-&gt;Name   // ✅ Correct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(*ptr).Name // ✅ Correct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219665" name="object 3"/>
          <p:cNvSpPr txBox="1"/>
          <p:nvPr/>
        </p:nvSpPr>
        <p:spPr bwMode="auto">
          <a:xfrm>
            <a:off x="380997" y="888075"/>
            <a:ext cx="12370401" cy="52260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Structure Object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 the dot operator (.).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Employee1.Name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object itself is used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Structure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 the arrow operator (-&gt;).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ptr-&gt;Name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pointer must point to a valid Structure object.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797128" name="object 3"/>
          <p:cNvSpPr txBox="1"/>
          <p:nvPr/>
        </p:nvSpPr>
        <p:spPr bwMode="auto">
          <a:xfrm>
            <a:off x="380997" y="888075"/>
            <a:ext cx="12384432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pointer can point to a Structure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. when accessing a member through a normal Structure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-&gt; when accessing a member through a pointer to a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ptr-&gt;Name is equivalent to (*ptr).Name.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arrow operator combines dereferencing and member access into one shorter syntax.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46406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367</cp:revision>
  <dcterms:created xsi:type="dcterms:W3CDTF">2025-12-09T17:44:59Z</dcterms:created>
  <dcterms:modified xsi:type="dcterms:W3CDTF">2026-09-25T11:47:30Z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