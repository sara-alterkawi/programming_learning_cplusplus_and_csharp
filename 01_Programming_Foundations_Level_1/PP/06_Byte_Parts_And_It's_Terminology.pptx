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90" r:id="rId2"/>
    <p:sldId id="257" r:id="rId3"/>
    <p:sldId id="333" r:id="rId4"/>
    <p:sldId id="483" r:id="rId5"/>
    <p:sldId id="484" r:id="rId6"/>
    <p:sldId id="461" r:id="rId7"/>
    <p:sldId id="463" r:id="rId8"/>
    <p:sldId id="489" r:id="rId9"/>
    <p:sldId id="485" r:id="rId10"/>
    <p:sldId id="477" r:id="rId11"/>
    <p:sldId id="349" r:id="rId12"/>
    <p:sldId id="487" r:id="rId13"/>
    <p:sldId id="438" r:id="rId14"/>
    <p:sldId id="425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Byte Parts and It's Terminology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6030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Byte Parts: Bit, Crumb, Nibble, Byte — LSB &amp; MSB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Every piece of digital data—text, images, sound—is built from </a:t>
            </a:r>
            <a:r>
              <a:rPr lang="en-GB" sz="2400" b="1" dirty="0">
                <a:latin typeface="Comic Sans MS" panose="030F0702030302020204" pitchFamily="66" charset="0"/>
              </a:rPr>
              <a:t>bits</a:t>
            </a:r>
            <a:r>
              <a:rPr lang="en-GB" sz="2400" dirty="0">
                <a:latin typeface="Comic Sans MS" panose="030F0702030302020204" pitchFamily="66" charset="0"/>
              </a:rPr>
              <a:t> (0 or 1).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Bits group into larger, human-friendly units with specific names: </a:t>
            </a:r>
            <a:r>
              <a:rPr lang="en-GB" sz="2400" b="1" dirty="0">
                <a:latin typeface="Comic Sans MS" panose="030F0702030302020204" pitchFamily="66" charset="0"/>
              </a:rPr>
              <a:t>crumbs</a:t>
            </a:r>
            <a:r>
              <a:rPr lang="en-GB" sz="2400" dirty="0">
                <a:latin typeface="Comic Sans MS" panose="030F0702030302020204" pitchFamily="66" charset="0"/>
              </a:rPr>
              <a:t> (2 bits), </a:t>
            </a:r>
            <a:r>
              <a:rPr lang="en-GB" sz="2400" b="1" dirty="0">
                <a:latin typeface="Comic Sans MS" panose="030F0702030302020204" pitchFamily="66" charset="0"/>
              </a:rPr>
              <a:t>nibbles</a:t>
            </a:r>
            <a:r>
              <a:rPr lang="en-GB" sz="2400" dirty="0">
                <a:latin typeface="Comic Sans MS" panose="030F0702030302020204" pitchFamily="66" charset="0"/>
              </a:rPr>
              <a:t> (4 bits), and </a:t>
            </a:r>
            <a:r>
              <a:rPr lang="en-GB" sz="2400" b="1" dirty="0">
                <a:latin typeface="Comic Sans MS" panose="030F0702030302020204" pitchFamily="66" charset="0"/>
              </a:rPr>
              <a:t>bytes</a:t>
            </a:r>
            <a:r>
              <a:rPr lang="en-GB" sz="2400" dirty="0">
                <a:latin typeface="Comic Sans MS" panose="030F0702030302020204" pitchFamily="66" charset="0"/>
              </a:rPr>
              <a:t> (8 bits).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Understanding these building blocks—and how </a:t>
            </a:r>
            <a:r>
              <a:rPr lang="en-GB" sz="2400" b="1" dirty="0">
                <a:latin typeface="Comic Sans MS" panose="030F0702030302020204" pitchFamily="66" charset="0"/>
              </a:rPr>
              <a:t>LSB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MSB</a:t>
            </a:r>
            <a:r>
              <a:rPr lang="en-GB" sz="2400" dirty="0">
                <a:latin typeface="Comic Sans MS" panose="030F0702030302020204" pitchFamily="66" charset="0"/>
              </a:rPr>
              <a:t> work—makes binary, hex, and memory maps much easier. 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2756A2-6CCC-3CDB-9986-5A0B70FE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366FB6C-440E-EA84-3A56-68EEE2AEED56}"/>
              </a:ext>
            </a:extLst>
          </p:cNvPr>
          <p:cNvSpPr txBox="1"/>
          <p:nvPr/>
        </p:nvSpPr>
        <p:spPr>
          <a:xfrm>
            <a:off x="381000" y="888075"/>
            <a:ext cx="12352767" cy="13871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Core</a:t>
            </a:r>
            <a:r>
              <a:rPr lang="sv-SE" sz="4000" b="1" dirty="0">
                <a:latin typeface="Comic Sans MS" panose="030F0702030302020204" pitchFamily="66" charset="0"/>
              </a:rPr>
              <a:t> Definitions</a:t>
            </a:r>
          </a:p>
          <a:p>
            <a:r>
              <a:rPr lang="sv-SE" sz="4000" b="1" dirty="0">
                <a:latin typeface="Comic Sans MS" panose="030F0702030302020204" pitchFamily="66" charset="0"/>
              </a:rPr>
              <a:t>Byte Parts:</a:t>
            </a:r>
            <a:endParaRPr lang="sv-SE" sz="4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2BFD7-4406-CCA1-EE38-4D89489F2A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591" y="2612864"/>
            <a:ext cx="12208018" cy="582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1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69CEA2-1142-F63B-47C5-52AD4690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66A746A-ADF5-23F3-B6AE-3082A7BCCA8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latin typeface="Comic Sans MS" panose="030F0702030302020204" pitchFamily="66" charset="0"/>
              </a:rPr>
              <a:t>Byte Parts: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/>
              <a:t>Bit</a:t>
            </a:r>
            <a:r>
              <a:rPr lang="en-GB" sz="2400" dirty="0"/>
              <a:t>: the smallest unit of information — </a:t>
            </a:r>
            <a:r>
              <a:rPr lang="en-GB" sz="2400" b="1" dirty="0"/>
              <a:t>0 or 1</a:t>
            </a:r>
            <a:r>
              <a:rPr lang="en-GB" sz="2400" dirty="0"/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/>
              <a:t>Crumb</a:t>
            </a:r>
            <a:r>
              <a:rPr lang="en-GB" sz="2400" dirty="0"/>
              <a:t>: a group of </a:t>
            </a:r>
            <a:r>
              <a:rPr lang="en-GB" sz="2400" b="1" dirty="0"/>
              <a:t>2 bits</a:t>
            </a:r>
            <a:r>
              <a:rPr lang="en-GB" sz="2400" dirty="0"/>
              <a:t>. </a:t>
            </a:r>
            <a:r>
              <a:rPr lang="en-GB" sz="2400" i="1" dirty="0"/>
              <a:t>(Yes, “crumb” is the official term used in your slides.)</a:t>
            </a:r>
            <a:endParaRPr lang="en-GB" sz="2400" dirty="0"/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/>
              <a:t>Nibble</a:t>
            </a:r>
            <a:r>
              <a:rPr lang="en-GB" sz="2400" dirty="0"/>
              <a:t>: a group of </a:t>
            </a:r>
            <a:r>
              <a:rPr lang="en-GB" sz="2400" b="1" dirty="0"/>
              <a:t>4 bits</a:t>
            </a:r>
            <a:r>
              <a:rPr lang="en-GB" sz="2400" dirty="0"/>
              <a:t> (½ byte).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/>
              <a:t>Byte</a:t>
            </a:r>
            <a:r>
              <a:rPr lang="en-GB" sz="2400" dirty="0"/>
              <a:t>: </a:t>
            </a:r>
            <a:r>
              <a:rPr lang="en-GB" sz="2400" b="1" dirty="0"/>
              <a:t>8 bits</a:t>
            </a:r>
            <a:r>
              <a:rPr lang="en-GB" sz="2400" dirty="0"/>
              <a:t>. (1 byte = 2 nibbles = 4 crumbs.)</a:t>
            </a:r>
          </a:p>
        </p:txBody>
      </p:sp>
    </p:spTree>
    <p:extLst>
      <p:ext uri="{BB962C8B-B14F-4D97-AF65-F5344CB8AC3E}">
        <p14:creationId xmlns:p14="http://schemas.microsoft.com/office/powerpoint/2010/main" val="11847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4A6000-37C8-14DB-769C-8145CBF2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EE63E6E-D50B-D036-BB9E-5FC8058BC06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Lower</a:t>
            </a:r>
            <a:r>
              <a:rPr lang="sv-SE" sz="4000" b="1" dirty="0">
                <a:latin typeface="Comic Sans MS" panose="030F0702030302020204" pitchFamily="66" charset="0"/>
              </a:rPr>
              <a:t> vs </a:t>
            </a:r>
            <a:r>
              <a:rPr lang="sv-SE" sz="4000" b="1" dirty="0" err="1">
                <a:latin typeface="Comic Sans MS" panose="030F0702030302020204" pitchFamily="66" charset="0"/>
              </a:rPr>
              <a:t>Upper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Nibble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Lower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: the </a:t>
            </a:r>
            <a:r>
              <a:rPr lang="sv-SE" sz="2400" b="1" dirty="0" err="1">
                <a:latin typeface="Comic Sans MS" panose="030F0702030302020204" pitchFamily="66" charset="0"/>
              </a:rPr>
              <a:t>rightmost</a:t>
            </a:r>
            <a:r>
              <a:rPr lang="sv-SE" sz="2400" dirty="0">
                <a:latin typeface="Comic Sans MS" panose="030F0702030302020204" pitchFamily="66" charset="0"/>
              </a:rPr>
              <a:t> 4 bits </a:t>
            </a:r>
            <a:r>
              <a:rPr lang="sv-SE" sz="2400" dirty="0" err="1">
                <a:latin typeface="Comic Sans MS" panose="030F0702030302020204" pitchFamily="66" charset="0"/>
              </a:rPr>
              <a:t>of</a:t>
            </a:r>
            <a:r>
              <a:rPr lang="sv-SE" sz="2400" dirty="0">
                <a:latin typeface="Comic Sans MS" panose="030F0702030302020204" pitchFamily="66" charset="0"/>
              </a:rPr>
              <a:t> a byte (b3 b2 b1 b0).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 err="1">
                <a:latin typeface="Comic Sans MS" panose="030F0702030302020204" pitchFamily="66" charset="0"/>
              </a:rPr>
              <a:t>Upper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: the </a:t>
            </a:r>
            <a:r>
              <a:rPr lang="sv-SE" sz="2400" b="1" dirty="0" err="1">
                <a:latin typeface="Comic Sans MS" panose="030F0702030302020204" pitchFamily="66" charset="0"/>
              </a:rPr>
              <a:t>leftmost</a:t>
            </a:r>
            <a:r>
              <a:rPr lang="sv-SE" sz="2400" dirty="0">
                <a:latin typeface="Comic Sans MS" panose="030F0702030302020204" pitchFamily="66" charset="0"/>
              </a:rPr>
              <a:t> 4 bits </a:t>
            </a:r>
            <a:r>
              <a:rPr lang="sv-SE" sz="2400" dirty="0" err="1">
                <a:latin typeface="Comic Sans MS" panose="030F0702030302020204" pitchFamily="66" charset="0"/>
              </a:rPr>
              <a:t>of</a:t>
            </a:r>
            <a:r>
              <a:rPr lang="sv-SE" sz="2400" dirty="0">
                <a:latin typeface="Comic Sans MS" panose="030F0702030302020204" pitchFamily="66" charset="0"/>
              </a:rPr>
              <a:t> a byte (b7 b6 b5 b4). </a:t>
            </a:r>
            <a:r>
              <a:rPr lang="sv-SE" sz="2400" dirty="0" err="1">
                <a:latin typeface="Comic Sans MS" panose="030F0702030302020204" pitchFamily="66" charset="0"/>
              </a:rPr>
              <a:t>These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names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matter</a:t>
            </a:r>
            <a:r>
              <a:rPr lang="sv-SE" sz="2400" dirty="0">
                <a:latin typeface="Comic Sans MS" panose="030F0702030302020204" pitchFamily="66" charset="0"/>
              </a:rPr>
              <a:t> 	</a:t>
            </a:r>
            <a:r>
              <a:rPr lang="sv-SE" sz="2400" dirty="0" err="1">
                <a:latin typeface="Comic Sans MS" panose="030F0702030302020204" pitchFamily="66" charset="0"/>
              </a:rPr>
              <a:t>because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dirty="0" err="1">
                <a:latin typeface="Comic Sans MS" panose="030F0702030302020204" pitchFamily="66" charset="0"/>
              </a:rPr>
              <a:t>maps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perfectly</a:t>
            </a:r>
            <a:r>
              <a:rPr lang="sv-SE" sz="2400" dirty="0">
                <a:latin typeface="Comic Sans MS" panose="030F0702030302020204" pitchFamily="66" charset="0"/>
              </a:rPr>
              <a:t> to </a:t>
            </a:r>
            <a:r>
              <a:rPr lang="sv-SE" sz="2400" dirty="0" err="1">
                <a:latin typeface="Comic Sans MS" panose="030F0702030302020204" pitchFamily="66" charset="0"/>
              </a:rPr>
              <a:t>nibbles</a:t>
            </a:r>
            <a:r>
              <a:rPr lang="sv-SE" sz="2400" dirty="0">
                <a:latin typeface="Comic Sans MS" panose="030F0702030302020204" pitchFamily="66" charset="0"/>
              </a:rPr>
              <a:t>: </a:t>
            </a:r>
            <a:r>
              <a:rPr lang="sv-SE" sz="2400" b="1" dirty="0">
                <a:latin typeface="Comic Sans MS" panose="030F0702030302020204" pitchFamily="66" charset="0"/>
              </a:rPr>
              <a:t>1 byte ↔ 2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digits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upper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 = 	</a:t>
            </a:r>
            <a:r>
              <a:rPr lang="sv-SE" sz="2400" dirty="0" err="1">
                <a:latin typeface="Comic Sans MS" panose="030F0702030302020204" pitchFamily="66" charset="0"/>
              </a:rPr>
              <a:t>first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digit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lower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 = second).</a:t>
            </a:r>
            <a:br>
              <a:rPr lang="sv-SE" sz="4000" dirty="0"/>
            </a:b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28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5A911B-7C98-EBD4-D110-8177BA2D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ECCDF8B3-AB07-F353-667D-90898F81B432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LSB &amp; MSB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LSB (Least Significant Bit)</a:t>
            </a:r>
            <a:r>
              <a:rPr lang="en-GB" sz="2400" dirty="0">
                <a:latin typeface="Comic Sans MS" panose="030F0702030302020204" pitchFamily="66" charset="0"/>
              </a:rPr>
              <a:t>: the </a:t>
            </a:r>
            <a:r>
              <a:rPr lang="en-GB" sz="2400" b="1" dirty="0">
                <a:latin typeface="Comic Sans MS" panose="030F0702030302020204" pitchFamily="66" charset="0"/>
              </a:rPr>
              <a:t>rightmost bit</a:t>
            </a:r>
            <a:r>
              <a:rPr lang="en-GB" sz="2400" dirty="0">
                <a:latin typeface="Comic Sans MS" panose="030F0702030302020204" pitchFamily="66" charset="0"/>
              </a:rPr>
              <a:t> of the byte (b0). It carries 	the </a:t>
            </a:r>
            <a:r>
              <a:rPr lang="en-GB" sz="2400" b="1" dirty="0">
                <a:latin typeface="Comic Sans MS" panose="030F0702030302020204" pitchFamily="66" charset="0"/>
              </a:rPr>
              <a:t>smallest weight (2⁰)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MSB (Most Significant Bit)</a:t>
            </a:r>
            <a:r>
              <a:rPr lang="en-GB" sz="2400" dirty="0">
                <a:latin typeface="Comic Sans MS" panose="030F0702030302020204" pitchFamily="66" charset="0"/>
              </a:rPr>
              <a:t>: the </a:t>
            </a:r>
            <a:r>
              <a:rPr lang="en-GB" sz="2400" b="1" dirty="0">
                <a:latin typeface="Comic Sans MS" panose="030F0702030302020204" pitchFamily="66" charset="0"/>
              </a:rPr>
              <a:t>leftmost bit</a:t>
            </a:r>
            <a:r>
              <a:rPr lang="en-GB" sz="2400" dirty="0">
                <a:latin typeface="Comic Sans MS" panose="030F0702030302020204" pitchFamily="66" charset="0"/>
              </a:rPr>
              <a:t> of the byte (b7). It carries 	the </a:t>
            </a:r>
            <a:r>
              <a:rPr lang="en-GB" sz="2400" b="1" dirty="0">
                <a:latin typeface="Comic Sans MS" panose="030F0702030302020204" pitchFamily="66" charset="0"/>
              </a:rPr>
              <a:t>largest weight (2⁷)</a:t>
            </a:r>
            <a:r>
              <a:rPr lang="en-GB" sz="2400" dirty="0">
                <a:latin typeface="Comic Sans MS" panose="030F0702030302020204" pitchFamily="66" charset="0"/>
              </a:rPr>
              <a:t>. We call them “least/most significant” because they 	contribute the </a:t>
            </a:r>
            <a:r>
              <a:rPr lang="en-GB" sz="2400" b="1" dirty="0">
                <a:latin typeface="Comic Sans MS" panose="030F0702030302020204" pitchFamily="66" charset="0"/>
              </a:rPr>
              <a:t>least/most</a:t>
            </a:r>
            <a:r>
              <a:rPr lang="en-GB" sz="2400" dirty="0">
                <a:latin typeface="Comic Sans MS" panose="030F0702030302020204" pitchFamily="66" charset="0"/>
              </a:rPr>
              <a:t> to the numeric value of the binary number.</a:t>
            </a:r>
          </a:p>
        </p:txBody>
      </p:sp>
    </p:spTree>
    <p:extLst>
      <p:ext uri="{BB962C8B-B14F-4D97-AF65-F5344CB8AC3E}">
        <p14:creationId xmlns:p14="http://schemas.microsoft.com/office/powerpoint/2010/main" val="375966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55F795-5AE7-1F45-388D-E81942C8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E4EB49BE-0C00-D88B-0195-95DEA59A48B0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>
                <a:latin typeface="Comic Sans MS" panose="030F0702030302020204" pitchFamily="66" charset="0"/>
              </a:rPr>
              <a:t>Quick </a:t>
            </a:r>
            <a:r>
              <a:rPr lang="sv-SE" sz="4000" b="1" dirty="0" err="1">
                <a:latin typeface="Comic Sans MS" panose="030F0702030302020204" pitchFamily="66" charset="0"/>
              </a:rPr>
              <a:t>Examples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Byte:</a:t>
            </a:r>
            <a:r>
              <a:rPr lang="sv-SE" sz="2400" dirty="0">
                <a:latin typeface="Comic Sans MS" panose="030F0702030302020204" pitchFamily="66" charset="0"/>
              </a:rPr>
              <a:t> 0101 1100</a:t>
            </a:r>
            <a:endParaRPr lang="sv-SE" sz="2400" b="1" dirty="0">
              <a:latin typeface="Comic Sans MS" panose="030F0702030302020204" pitchFamily="66" charset="0"/>
            </a:endParaRP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	🟩 </a:t>
            </a:r>
            <a:r>
              <a:rPr lang="sv-SE" sz="2400" b="1" dirty="0" err="1">
                <a:latin typeface="Comic Sans MS" panose="030F0702030302020204" pitchFamily="66" charset="0"/>
              </a:rPr>
              <a:t>Upper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 = 0101 (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5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	🟩 </a:t>
            </a:r>
            <a:r>
              <a:rPr lang="sv-SE" sz="2400" b="1" dirty="0" err="1">
                <a:latin typeface="Comic Sans MS" panose="030F0702030302020204" pitchFamily="66" charset="0"/>
              </a:rPr>
              <a:t>Lower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 = 1100 (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C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	🟩 LSB</a:t>
            </a:r>
            <a:r>
              <a:rPr lang="sv-SE" sz="2400" dirty="0">
                <a:latin typeface="Comic Sans MS" panose="030F0702030302020204" pitchFamily="66" charset="0"/>
              </a:rPr>
              <a:t> = 0 (</a:t>
            </a:r>
            <a:r>
              <a:rPr lang="sv-SE" sz="2400" dirty="0" err="1">
                <a:latin typeface="Comic Sans MS" panose="030F0702030302020204" pitchFamily="66" charset="0"/>
              </a:rPr>
              <a:t>rightmost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	🟩 MSB</a:t>
            </a:r>
            <a:r>
              <a:rPr lang="sv-SE" sz="2400" dirty="0">
                <a:latin typeface="Comic Sans MS" panose="030F0702030302020204" pitchFamily="66" charset="0"/>
              </a:rPr>
              <a:t> = 0 (</a:t>
            </a:r>
            <a:r>
              <a:rPr lang="sv-SE" sz="2400" dirty="0" err="1">
                <a:latin typeface="Comic Sans MS" panose="030F0702030302020204" pitchFamily="66" charset="0"/>
              </a:rPr>
              <a:t>leftmost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Byte:</a:t>
            </a:r>
            <a:r>
              <a:rPr lang="sv-SE" sz="2400" dirty="0">
                <a:latin typeface="Comic Sans MS" panose="030F0702030302020204" pitchFamily="66" charset="0"/>
              </a:rPr>
              <a:t> 1010 0111</a:t>
            </a: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	🟩 </a:t>
            </a:r>
            <a:r>
              <a:rPr lang="sv-SE" sz="2400" dirty="0" err="1">
                <a:latin typeface="Comic Sans MS" panose="030F0702030302020204" pitchFamily="66" charset="0"/>
              </a:rPr>
              <a:t>Upper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 = 1010 (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A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	🟩 </a:t>
            </a:r>
            <a:r>
              <a:rPr lang="sv-SE" sz="2400" dirty="0" err="1">
                <a:latin typeface="Comic Sans MS" panose="030F0702030302020204" pitchFamily="66" charset="0"/>
              </a:rPr>
              <a:t>Lower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 = 0111 (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>
                <a:latin typeface="Comic Sans MS" panose="030F0702030302020204" pitchFamily="66" charset="0"/>
              </a:rPr>
              <a:t>7</a:t>
            </a:r>
            <a:r>
              <a:rPr lang="sv-SE" sz="24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sv-SE" sz="2400" b="1" dirty="0">
                <a:latin typeface="Comic Sans MS" panose="030F0702030302020204" pitchFamily="66" charset="0"/>
              </a:rPr>
              <a:t>	🟩 </a:t>
            </a:r>
            <a:r>
              <a:rPr lang="sv-SE" sz="2400" dirty="0">
                <a:latin typeface="Comic Sans MS" panose="030F0702030302020204" pitchFamily="66" charset="0"/>
              </a:rPr>
              <a:t>LSB = 1, MSB = 1</a:t>
            </a:r>
          </a:p>
        </p:txBody>
      </p:sp>
    </p:spTree>
    <p:extLst>
      <p:ext uri="{BB962C8B-B14F-4D97-AF65-F5344CB8AC3E}">
        <p14:creationId xmlns:p14="http://schemas.microsoft.com/office/powerpoint/2010/main" val="297631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CBC27D-ED21-7619-3680-4FF2943E7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12E570-D282-0618-22D8-21937EDB9812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🔗 </a:t>
            </a:r>
            <a:r>
              <a:rPr lang="sv-SE" sz="4000" b="1" dirty="0" err="1">
                <a:latin typeface="Comic Sans MS" panose="030F0702030302020204" pitchFamily="66" charset="0"/>
              </a:rPr>
              <a:t>Interconnection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</a:t>
            </a:r>
            <a:r>
              <a:rPr lang="en-GB" sz="2400" dirty="0">
                <a:latin typeface="Comic Sans MS" panose="030F0702030302020204" pitchFamily="66" charset="0"/>
              </a:rPr>
              <a:t> </a:t>
            </a:r>
            <a:r>
              <a:rPr lang="sv-SE" sz="2400" b="1" dirty="0">
                <a:latin typeface="Comic Sans MS" panose="030F0702030302020204" pitchFamily="66" charset="0"/>
              </a:rPr>
              <a:t>2 bits = Crumb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4 bits =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8 bits = Byte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hierarchical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building</a:t>
            </a:r>
            <a:r>
              <a:rPr lang="sv-SE" sz="2400" dirty="0">
                <a:latin typeface="Comic Sans MS" panose="030F0702030302020204" pitchFamily="66" charset="0"/>
              </a:rPr>
              <a:t> blocks.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</a:t>
            </a:r>
            <a:r>
              <a:rPr lang="en-GB" sz="2400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Upper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left</a:t>
            </a:r>
            <a:r>
              <a:rPr lang="sv-SE" sz="2400" dirty="0">
                <a:latin typeface="Comic Sans MS" panose="030F0702030302020204" pitchFamily="66" charset="0"/>
              </a:rPr>
              <a:t> 4) + </a:t>
            </a:r>
            <a:r>
              <a:rPr lang="sv-SE" sz="2400" b="1" dirty="0" err="1">
                <a:latin typeface="Comic Sans MS" panose="030F0702030302020204" pitchFamily="66" charset="0"/>
              </a:rPr>
              <a:t>Lower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 (right 4) = </a:t>
            </a:r>
            <a:r>
              <a:rPr lang="sv-SE" sz="2400" b="1" dirty="0">
                <a:latin typeface="Comic Sans MS" panose="030F0702030302020204" pitchFamily="66" charset="0"/>
              </a:rPr>
              <a:t>1 byte</a:t>
            </a:r>
            <a:r>
              <a:rPr lang="sv-SE" sz="2400" dirty="0">
                <a:latin typeface="Comic Sans MS" panose="030F0702030302020204" pitchFamily="66" charset="0"/>
              </a:rPr>
              <a:t> → </a:t>
            </a:r>
            <a:r>
              <a:rPr lang="sv-SE" sz="2400" dirty="0" err="1">
                <a:latin typeface="Comic Sans MS" panose="030F0702030302020204" pitchFamily="66" charset="0"/>
              </a:rPr>
              <a:t>aligns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perfectly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with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two</a:t>
            </a:r>
            <a:r>
              <a:rPr lang="sv-SE" sz="2400" b="1" dirty="0">
                <a:latin typeface="Comic Sans MS" panose="030F0702030302020204" pitchFamily="66" charset="0"/>
              </a:rPr>
              <a:t> 	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digits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</a:t>
            </a:r>
            <a:r>
              <a:rPr lang="en-GB" sz="2400" dirty="0">
                <a:latin typeface="Comic Sans MS" panose="030F0702030302020204" pitchFamily="66" charset="0"/>
              </a:rPr>
              <a:t> </a:t>
            </a:r>
            <a:r>
              <a:rPr lang="sv-SE" sz="2400" b="1" dirty="0">
                <a:latin typeface="Comic Sans MS" panose="030F0702030302020204" pitchFamily="66" charset="0"/>
              </a:rPr>
              <a:t>MSB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leftmost</a:t>
            </a:r>
            <a:r>
              <a:rPr lang="sv-SE" sz="2400" dirty="0">
                <a:latin typeface="Comic Sans MS" panose="030F0702030302020204" pitchFamily="66" charset="0"/>
              </a:rPr>
              <a:t>) </a:t>
            </a:r>
            <a:r>
              <a:rPr lang="sv-SE" sz="2400" dirty="0" err="1">
                <a:latin typeface="Comic Sans MS" panose="030F0702030302020204" pitchFamily="66" charset="0"/>
              </a:rPr>
              <a:t>carries</a:t>
            </a:r>
            <a:r>
              <a:rPr lang="sv-SE" sz="2400" dirty="0">
                <a:latin typeface="Comic Sans MS" panose="030F0702030302020204" pitchFamily="66" charset="0"/>
              </a:rPr>
              <a:t> the </a:t>
            </a:r>
            <a:r>
              <a:rPr lang="sv-SE" sz="2400" b="1" dirty="0" err="1">
                <a:latin typeface="Comic Sans MS" panose="030F0702030302020204" pitchFamily="66" charset="0"/>
              </a:rPr>
              <a:t>highest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weight</a:t>
            </a:r>
            <a:r>
              <a:rPr lang="sv-SE" sz="2400" dirty="0">
                <a:latin typeface="Comic Sans MS" panose="030F0702030302020204" pitchFamily="66" charset="0"/>
              </a:rPr>
              <a:t>, </a:t>
            </a:r>
            <a:r>
              <a:rPr lang="sv-SE" sz="2400" b="1" dirty="0">
                <a:latin typeface="Comic Sans MS" panose="030F0702030302020204" pitchFamily="66" charset="0"/>
              </a:rPr>
              <a:t>LSB</a:t>
            </a:r>
            <a:r>
              <a:rPr lang="sv-SE" sz="2400" dirty="0">
                <a:latin typeface="Comic Sans MS" panose="030F0702030302020204" pitchFamily="66" charset="0"/>
              </a:rPr>
              <a:t> (</a:t>
            </a:r>
            <a:r>
              <a:rPr lang="sv-SE" sz="2400" dirty="0" err="1">
                <a:latin typeface="Comic Sans MS" panose="030F0702030302020204" pitchFamily="66" charset="0"/>
              </a:rPr>
              <a:t>rightmost</a:t>
            </a:r>
            <a:r>
              <a:rPr lang="sv-SE" sz="2400" dirty="0">
                <a:latin typeface="Comic Sans MS" panose="030F0702030302020204" pitchFamily="66" charset="0"/>
              </a:rPr>
              <a:t>) the </a:t>
            </a:r>
            <a:r>
              <a:rPr lang="sv-SE" sz="2400" b="1" dirty="0" err="1">
                <a:latin typeface="Comic Sans MS" panose="030F0702030302020204" pitchFamily="66" charset="0"/>
              </a:rPr>
              <a:t>lowest</a:t>
            </a:r>
            <a:r>
              <a:rPr lang="sv-SE" sz="2400" dirty="0">
                <a:latin typeface="Comic Sans MS" panose="030F0702030302020204" pitchFamily="66" charset="0"/>
              </a:rPr>
              <a:t> → drives 	</a:t>
            </a:r>
            <a:r>
              <a:rPr lang="sv-SE" sz="2400" dirty="0" err="1">
                <a:latin typeface="Comic Sans MS" panose="030F0702030302020204" pitchFamily="66" charset="0"/>
              </a:rPr>
              <a:t>numeric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value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By </a:t>
            </a:r>
            <a:r>
              <a:rPr lang="sv-SE" sz="2400" dirty="0" err="1">
                <a:latin typeface="Comic Sans MS" panose="030F0702030302020204" pitchFamily="66" charset="0"/>
              </a:rPr>
              <a:t>mastering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crumbs</a:t>
            </a:r>
            <a:r>
              <a:rPr lang="sv-SE" sz="2400" dirty="0">
                <a:latin typeface="Comic Sans MS" panose="030F0702030302020204" pitchFamily="66" charset="0"/>
              </a:rPr>
              <a:t>, </a:t>
            </a:r>
            <a:r>
              <a:rPr lang="sv-SE" sz="2400" dirty="0" err="1">
                <a:latin typeface="Comic Sans MS" panose="030F0702030302020204" pitchFamily="66" charset="0"/>
              </a:rPr>
              <a:t>nibbles</a:t>
            </a:r>
            <a:r>
              <a:rPr lang="sv-SE" sz="2400" dirty="0">
                <a:latin typeface="Comic Sans MS" panose="030F0702030302020204" pitchFamily="66" charset="0"/>
              </a:rPr>
              <a:t>, bytes, and LSB/MSB, </a:t>
            </a:r>
            <a:r>
              <a:rPr lang="sv-SE" sz="2400" dirty="0" err="1">
                <a:latin typeface="Comic Sans MS" panose="030F0702030302020204" pitchFamily="66" charset="0"/>
              </a:rPr>
              <a:t>you</a:t>
            </a:r>
            <a:r>
              <a:rPr lang="sv-SE" sz="2400" dirty="0">
                <a:latin typeface="Comic Sans MS" panose="030F0702030302020204" pitchFamily="66" charset="0"/>
              </a:rPr>
              <a:t> read </a:t>
            </a:r>
            <a:r>
              <a:rPr lang="sv-SE" sz="2400" dirty="0" err="1">
                <a:latin typeface="Comic Sans MS" panose="030F0702030302020204" pitchFamily="66" charset="0"/>
              </a:rPr>
              <a:t>binary</a:t>
            </a:r>
            <a:r>
              <a:rPr lang="sv-SE" sz="2400" dirty="0">
                <a:latin typeface="Comic Sans MS" panose="030F0702030302020204" pitchFamily="66" charset="0"/>
              </a:rPr>
              <a:t>/</a:t>
            </a:r>
            <a:r>
              <a:rPr lang="sv-SE" sz="2400" dirty="0" err="1">
                <a:latin typeface="Comic Sans MS" panose="030F0702030302020204" pitchFamily="66" charset="0"/>
              </a:rPr>
              <a:t>hex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confidently</a:t>
            </a:r>
            <a:r>
              <a:rPr lang="sv-SE" sz="2400" dirty="0">
                <a:latin typeface="Comic Sans MS" panose="030F0702030302020204" pitchFamily="66" charset="0"/>
              </a:rPr>
              <a:t> and </a:t>
            </a:r>
            <a:r>
              <a:rPr lang="sv-SE" sz="2400" dirty="0" err="1">
                <a:latin typeface="Comic Sans MS" panose="030F0702030302020204" pitchFamily="66" charset="0"/>
              </a:rPr>
              <a:t>avoid</a:t>
            </a:r>
            <a:r>
              <a:rPr lang="sv-SE" sz="2400" dirty="0">
                <a:latin typeface="Comic Sans MS" panose="030F0702030302020204" pitchFamily="66" charset="0"/>
              </a:rPr>
              <a:t> off-by-</a:t>
            </a:r>
            <a:r>
              <a:rPr lang="sv-SE" sz="2400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errors</a:t>
            </a:r>
            <a:r>
              <a:rPr lang="sv-SE" sz="2400" dirty="0">
                <a:latin typeface="Comic Sans MS" panose="030F0702030302020204" pitchFamily="66" charset="0"/>
              </a:rPr>
              <a:t> in real </a:t>
            </a:r>
            <a:r>
              <a:rPr lang="sv-SE" sz="2400" dirty="0" err="1">
                <a:latin typeface="Comic Sans MS" panose="030F0702030302020204" pitchFamily="66" charset="0"/>
              </a:rPr>
              <a:t>code</a:t>
            </a:r>
            <a:r>
              <a:rPr lang="sv-SE" sz="2400" dirty="0">
                <a:latin typeface="Comic Sans MS" panose="030F0702030302020204" pitchFamily="66" charset="0"/>
              </a:rPr>
              <a:t>! </a:t>
            </a:r>
            <a:r>
              <a:rPr lang="en-SE" sz="2400" dirty="0">
                <a:latin typeface="Comic Sans MS" panose="030F0702030302020204" pitchFamily="66" charset="0"/>
              </a:rPr>
              <a:t>🚀</a:t>
            </a:r>
          </a:p>
        </p:txBody>
      </p:sp>
    </p:spTree>
    <p:extLst>
      <p:ext uri="{BB962C8B-B14F-4D97-AF65-F5344CB8AC3E}">
        <p14:creationId xmlns:p14="http://schemas.microsoft.com/office/powerpoint/2010/main" val="3656596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967247-52CF-855F-2655-B81971E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844576B-230D-31A4-0484-A2FF3FBB07E8}"/>
              </a:ext>
            </a:extLst>
          </p:cNvPr>
          <p:cNvSpPr txBox="1"/>
          <p:nvPr/>
        </p:nvSpPr>
        <p:spPr>
          <a:xfrm>
            <a:off x="381000" y="888075"/>
            <a:ext cx="12352767" cy="70501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Answer the following questions based on what you learned about </a:t>
            </a:r>
            <a:r>
              <a:rPr lang="en-GB" sz="2400" b="1" dirty="0">
                <a:latin typeface="Comic Sans MS" panose="030F0702030302020204" pitchFamily="66" charset="0"/>
              </a:rPr>
              <a:t>bits, crumbs, nibbles, bytes, and their parts (LSB/MSB):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What is a </a:t>
            </a:r>
            <a:r>
              <a:rPr lang="en-GB" sz="2400" b="1" dirty="0">
                <a:latin typeface="Comic Sans MS" panose="030F0702030302020204" pitchFamily="66" charset="0"/>
              </a:rPr>
              <a:t>bit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2️⃣ What is a </a:t>
            </a:r>
            <a:r>
              <a:rPr lang="en-GB" sz="2400" b="1" dirty="0">
                <a:latin typeface="Comic Sans MS" panose="030F0702030302020204" pitchFamily="66" charset="0"/>
              </a:rPr>
              <a:t>crumb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3️⃣ What is a </a:t>
            </a:r>
            <a:r>
              <a:rPr lang="en-GB" sz="2400" b="1" dirty="0">
                <a:latin typeface="Comic Sans MS" panose="030F0702030302020204" pitchFamily="66" charset="0"/>
              </a:rPr>
              <a:t>nibble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4️⃣ What is a </a:t>
            </a:r>
            <a:r>
              <a:rPr lang="en-GB" sz="2400" b="1" dirty="0">
                <a:latin typeface="Comic Sans MS" panose="030F0702030302020204" pitchFamily="66" charset="0"/>
              </a:rPr>
              <a:t>byte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5️⃣ How many </a:t>
            </a:r>
            <a:r>
              <a:rPr lang="en-GB" sz="2400" b="1" dirty="0">
                <a:latin typeface="Comic Sans MS" panose="030F0702030302020204" pitchFamily="66" charset="0"/>
              </a:rPr>
              <a:t>bits</a:t>
            </a:r>
            <a:r>
              <a:rPr lang="en-GB" sz="2400" dirty="0">
                <a:latin typeface="Comic Sans MS" panose="030F0702030302020204" pitchFamily="66" charset="0"/>
              </a:rPr>
              <a:t> are in a byte?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6️⃣ How many </a:t>
            </a:r>
            <a:r>
              <a:rPr lang="en-GB" sz="2400" b="1" dirty="0">
                <a:latin typeface="Comic Sans MS" panose="030F0702030302020204" pitchFamily="66" charset="0"/>
              </a:rPr>
              <a:t>crumbs</a:t>
            </a:r>
            <a:r>
              <a:rPr lang="en-GB" sz="2400" dirty="0">
                <a:latin typeface="Comic Sans MS" panose="030F0702030302020204" pitchFamily="66" charset="0"/>
              </a:rPr>
              <a:t> are in a byte?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7️⃣ How many </a:t>
            </a:r>
            <a:r>
              <a:rPr lang="en-GB" sz="2400" b="1" dirty="0">
                <a:latin typeface="Comic Sans MS" panose="030F0702030302020204" pitchFamily="66" charset="0"/>
              </a:rPr>
              <a:t>nibbles</a:t>
            </a:r>
            <a:r>
              <a:rPr lang="en-GB" sz="2400" dirty="0">
                <a:latin typeface="Comic Sans MS" panose="030F0702030302020204" pitchFamily="66" charset="0"/>
              </a:rPr>
              <a:t> are in a byte?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8️⃣ How many </a:t>
            </a:r>
            <a:r>
              <a:rPr lang="en-GB" sz="2400" b="1" dirty="0">
                <a:latin typeface="Comic Sans MS" panose="030F0702030302020204" pitchFamily="66" charset="0"/>
              </a:rPr>
              <a:t>crumbs</a:t>
            </a:r>
            <a:r>
              <a:rPr lang="en-GB" sz="2400" dirty="0">
                <a:latin typeface="Comic Sans MS" panose="030F0702030302020204" pitchFamily="66" charset="0"/>
              </a:rPr>
              <a:t> are in a nibble?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9️⃣ What is the </a:t>
            </a:r>
            <a:r>
              <a:rPr lang="en-GB" sz="2400" b="1" dirty="0">
                <a:latin typeface="Comic Sans MS" panose="030F0702030302020204" pitchFamily="66" charset="0"/>
              </a:rPr>
              <a:t>lower nibble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🔟 What is the </a:t>
            </a:r>
            <a:r>
              <a:rPr lang="en-GB" sz="2400" b="1" dirty="0">
                <a:latin typeface="Comic Sans MS" panose="030F0702030302020204" pitchFamily="66" charset="0"/>
              </a:rPr>
              <a:t>upper nibble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1️⃣1️⃣ What is </a:t>
            </a:r>
            <a:r>
              <a:rPr lang="en-GB" sz="2400" b="1" dirty="0">
                <a:latin typeface="Comic Sans MS" panose="030F0702030302020204" pitchFamily="66" charset="0"/>
              </a:rPr>
              <a:t>LSB</a:t>
            </a:r>
            <a:r>
              <a:rPr lang="en-GB" sz="2400" dirty="0">
                <a:latin typeface="Comic Sans MS" panose="030F0702030302020204" pitchFamily="66" charset="0"/>
              </a:rPr>
              <a:t>, why do we call it LSB, and what is its value?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1️⃣2️⃣ What is </a:t>
            </a:r>
            <a:r>
              <a:rPr lang="en-GB" sz="2400" b="1" dirty="0">
                <a:latin typeface="Comic Sans MS" panose="030F0702030302020204" pitchFamily="66" charset="0"/>
              </a:rPr>
              <a:t>MSB</a:t>
            </a:r>
            <a:r>
              <a:rPr lang="en-GB" sz="2400" dirty="0">
                <a:latin typeface="Comic Sans MS" panose="030F0702030302020204" pitchFamily="66" charset="0"/>
              </a:rPr>
              <a:t>, why do we call it MSB, and what is its value?</a:t>
            </a:r>
          </a:p>
        </p:txBody>
      </p:sp>
    </p:spTree>
    <p:extLst>
      <p:ext uri="{BB962C8B-B14F-4D97-AF65-F5344CB8AC3E}">
        <p14:creationId xmlns:p14="http://schemas.microsoft.com/office/powerpoint/2010/main" val="228600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What is a </a:t>
            </a:r>
            <a:r>
              <a:rPr lang="en-GB" sz="2400" b="1" dirty="0">
                <a:latin typeface="Comic Sans MS" panose="030F0702030302020204" pitchFamily="66" charset="0"/>
              </a:rPr>
              <a:t>bit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Bit:</a:t>
            </a:r>
            <a:r>
              <a:rPr lang="en-GB" sz="2400" dirty="0">
                <a:latin typeface="Comic Sans MS" panose="030F0702030302020204" pitchFamily="66" charset="0"/>
              </a:rPr>
              <a:t> The smallest unit of information in computing; it can be </a:t>
            </a:r>
            <a:r>
              <a:rPr lang="en-GB" sz="2400" b="1" dirty="0">
                <a:latin typeface="Comic Sans MS" panose="030F0702030302020204" pitchFamily="66" charset="0"/>
              </a:rPr>
              <a:t>0 or 1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What is a </a:t>
            </a:r>
            <a:r>
              <a:rPr lang="en-GB" sz="2400" b="1" dirty="0">
                <a:latin typeface="Comic Sans MS" panose="030F0702030302020204" pitchFamily="66" charset="0"/>
              </a:rPr>
              <a:t>crumb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Crumb:</a:t>
            </a:r>
            <a:r>
              <a:rPr lang="en-GB" sz="2400" dirty="0">
                <a:latin typeface="Comic Sans MS" panose="030F0702030302020204" pitchFamily="66" charset="0"/>
              </a:rPr>
              <a:t> A small group of </a:t>
            </a:r>
            <a:r>
              <a:rPr lang="en-GB" sz="2400" b="1" dirty="0">
                <a:latin typeface="Comic Sans MS" panose="030F0702030302020204" pitchFamily="66" charset="0"/>
              </a:rPr>
              <a:t>2 bits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What is a </a:t>
            </a:r>
            <a:r>
              <a:rPr lang="en-GB" sz="2400" b="1" dirty="0">
                <a:latin typeface="Comic Sans MS" panose="030F0702030302020204" pitchFamily="66" charset="0"/>
              </a:rPr>
              <a:t>nibble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Nibble:</a:t>
            </a:r>
            <a:r>
              <a:rPr lang="en-GB" sz="2400" dirty="0">
                <a:latin typeface="Comic Sans MS" panose="030F0702030302020204" pitchFamily="66" charset="0"/>
              </a:rPr>
              <a:t> A group of </a:t>
            </a:r>
            <a:r>
              <a:rPr lang="en-GB" sz="2400" b="1" dirty="0">
                <a:latin typeface="Comic Sans MS" panose="030F0702030302020204" pitchFamily="66" charset="0"/>
              </a:rPr>
              <a:t>4 bits</a:t>
            </a:r>
            <a:r>
              <a:rPr lang="en-GB" sz="2400" dirty="0">
                <a:latin typeface="Comic Sans MS" panose="030F0702030302020204" pitchFamily="66" charset="0"/>
              </a:rPr>
              <a:t> (half of a byte).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What is a </a:t>
            </a:r>
            <a:r>
              <a:rPr lang="en-GB" sz="2400" b="1" dirty="0">
                <a:latin typeface="Comic Sans MS" panose="030F0702030302020204" pitchFamily="66" charset="0"/>
              </a:rPr>
              <a:t>byte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Byte:</a:t>
            </a:r>
            <a:r>
              <a:rPr lang="en-GB" sz="2400" dirty="0">
                <a:latin typeface="Comic Sans MS" panose="030F0702030302020204" pitchFamily="66" charset="0"/>
              </a:rPr>
              <a:t> A collection of </a:t>
            </a:r>
            <a:r>
              <a:rPr lang="en-GB" sz="2400" b="1" dirty="0">
                <a:latin typeface="Comic Sans MS" panose="030F0702030302020204" pitchFamily="66" charset="0"/>
              </a:rPr>
              <a:t>8 bits</a:t>
            </a:r>
            <a:r>
              <a:rPr lang="en-GB" sz="2400" dirty="0">
                <a:latin typeface="Comic Sans MS" panose="030F0702030302020204" pitchFamily="66" charset="0"/>
              </a:rPr>
              <a:t> (2 nibbles or 4 crumbs).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How many </a:t>
            </a:r>
            <a:r>
              <a:rPr lang="en-GB" sz="2400" b="1" dirty="0">
                <a:latin typeface="Comic Sans MS" panose="030F0702030302020204" pitchFamily="66" charset="0"/>
              </a:rPr>
              <a:t>bits</a:t>
            </a:r>
            <a:r>
              <a:rPr lang="en-GB" sz="2400" dirty="0">
                <a:latin typeface="Comic Sans MS" panose="030F0702030302020204" pitchFamily="66" charset="0"/>
              </a:rPr>
              <a:t> are in a byte?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Bits in a byte: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8 bits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How many </a:t>
            </a:r>
            <a:r>
              <a:rPr lang="en-GB" sz="2400" b="1" dirty="0">
                <a:latin typeface="Comic Sans MS" panose="030F0702030302020204" pitchFamily="66" charset="0"/>
              </a:rPr>
              <a:t>crumbs</a:t>
            </a:r>
            <a:r>
              <a:rPr lang="en-GB" sz="2400" dirty="0">
                <a:latin typeface="Comic Sans MS" panose="030F0702030302020204" pitchFamily="66" charset="0"/>
              </a:rPr>
              <a:t> are in a byte?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Crumbs in a byte: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4 crumbs</a:t>
            </a:r>
            <a:r>
              <a:rPr lang="en-GB" sz="2400" dirty="0">
                <a:latin typeface="Comic Sans MS" panose="030F0702030302020204" pitchFamily="66" charset="0"/>
              </a:rPr>
              <a:t> (8 bits ÷ 2 bits per crumb).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How many </a:t>
            </a:r>
            <a:r>
              <a:rPr lang="en-GB" sz="2400" b="1" dirty="0">
                <a:latin typeface="Comic Sans MS" panose="030F0702030302020204" pitchFamily="66" charset="0"/>
              </a:rPr>
              <a:t>nibbles</a:t>
            </a:r>
            <a:r>
              <a:rPr lang="en-GB" sz="2400" dirty="0">
                <a:latin typeface="Comic Sans MS" panose="030F0702030302020204" pitchFamily="66" charset="0"/>
              </a:rPr>
              <a:t> are in a byte?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Nibbles in a byte: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2 nibbles</a:t>
            </a:r>
            <a:r>
              <a:rPr lang="en-GB" sz="2400" dirty="0">
                <a:latin typeface="Comic Sans MS" panose="030F0702030302020204" pitchFamily="66" charset="0"/>
              </a:rPr>
              <a:t> (8 bits ÷ 4 bits per nibble).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How many </a:t>
            </a:r>
            <a:r>
              <a:rPr lang="en-GB" sz="2400" b="1" dirty="0">
                <a:latin typeface="Comic Sans MS" panose="030F0702030302020204" pitchFamily="66" charset="0"/>
              </a:rPr>
              <a:t>crumbs</a:t>
            </a:r>
            <a:r>
              <a:rPr lang="en-GB" sz="2400" dirty="0">
                <a:latin typeface="Comic Sans MS" panose="030F0702030302020204" pitchFamily="66" charset="0"/>
              </a:rPr>
              <a:t> are in a nibble?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Crumbs in a nibble: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b="1" dirty="0">
                <a:latin typeface="Comic Sans MS" panose="030F0702030302020204" pitchFamily="66" charset="0"/>
              </a:rPr>
              <a:t>2 crumbs</a:t>
            </a:r>
            <a:r>
              <a:rPr lang="en-GB" sz="2400" dirty="0">
                <a:latin typeface="Comic Sans MS" panose="030F0702030302020204" pitchFamily="66" charset="0"/>
              </a:rPr>
              <a:t> (4 bits ÷ 2 bits per crumb).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 What is the </a:t>
            </a:r>
            <a:r>
              <a:rPr lang="en-GB" sz="2400" b="1" dirty="0">
                <a:latin typeface="Comic Sans MS" panose="030F0702030302020204" pitchFamily="66" charset="0"/>
              </a:rPr>
              <a:t>lower nibble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Lower nibble:</a:t>
            </a:r>
            <a:r>
              <a:rPr lang="en-GB" sz="2400" dirty="0">
                <a:latin typeface="Comic Sans MS" panose="030F0702030302020204" pitchFamily="66" charset="0"/>
              </a:rPr>
              <a:t> The </a:t>
            </a:r>
            <a:r>
              <a:rPr lang="en-GB" sz="2400" b="1" dirty="0">
                <a:latin typeface="Comic Sans MS" panose="030F0702030302020204" pitchFamily="66" charset="0"/>
              </a:rPr>
              <a:t>rightmost 4 bits</a:t>
            </a:r>
            <a:r>
              <a:rPr lang="en-GB" sz="2400" dirty="0">
                <a:latin typeface="Comic Sans MS" panose="030F0702030302020204" pitchFamily="66" charset="0"/>
              </a:rPr>
              <a:t> of a byte (least significant half).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🔟 What is the </a:t>
            </a:r>
            <a:r>
              <a:rPr lang="en-GB" sz="2400" b="1" dirty="0">
                <a:latin typeface="Comic Sans MS" panose="030F0702030302020204" pitchFamily="66" charset="0"/>
              </a:rPr>
              <a:t>upper nibble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Upper nibble:</a:t>
            </a:r>
            <a:r>
              <a:rPr lang="en-GB" sz="2400" dirty="0">
                <a:latin typeface="Comic Sans MS" panose="030F0702030302020204" pitchFamily="66" charset="0"/>
              </a:rPr>
              <a:t> The </a:t>
            </a:r>
            <a:r>
              <a:rPr lang="en-GB" sz="2400" b="1" dirty="0">
                <a:latin typeface="Comic Sans MS" panose="030F0702030302020204" pitchFamily="66" charset="0"/>
              </a:rPr>
              <a:t>leftmost 4 bits</a:t>
            </a:r>
            <a:r>
              <a:rPr lang="en-GB" sz="2400" dirty="0">
                <a:latin typeface="Comic Sans MS" panose="030F0702030302020204" pitchFamily="66" charset="0"/>
              </a:rPr>
              <a:t> of a byte (most significant half).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71A05C-B4FE-28B0-9B1C-25118398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0606BB-7846-E3EB-429D-55ACB587B744}"/>
              </a:ext>
            </a:extLst>
          </p:cNvPr>
          <p:cNvSpPr txBox="1"/>
          <p:nvPr/>
        </p:nvSpPr>
        <p:spPr>
          <a:xfrm>
            <a:off x="381000" y="888075"/>
            <a:ext cx="12352767" cy="45879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1️⃣1️⃣ What is </a:t>
            </a:r>
            <a:r>
              <a:rPr lang="en-GB" sz="2400" b="1" dirty="0">
                <a:latin typeface="Comic Sans MS" panose="030F0702030302020204" pitchFamily="66" charset="0"/>
              </a:rPr>
              <a:t>LSB</a:t>
            </a:r>
            <a:r>
              <a:rPr lang="en-GB" sz="2400" dirty="0">
                <a:latin typeface="Comic Sans MS" panose="030F0702030302020204" pitchFamily="66" charset="0"/>
              </a:rPr>
              <a:t>, why do we call it LSB, and what is its value?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LSB (Least Significant Bit):</a:t>
            </a:r>
            <a:endParaRPr lang="en-GB" sz="2400" dirty="0">
              <a:latin typeface="Comic Sans MS" panose="030F0702030302020204" pitchFamily="66" charset="0"/>
            </a:endParaRP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It’s the </a:t>
            </a:r>
            <a:r>
              <a:rPr lang="en-GB" sz="2400" b="1" dirty="0">
                <a:latin typeface="Comic Sans MS" panose="030F0702030302020204" pitchFamily="66" charset="0"/>
              </a:rPr>
              <a:t>rightmost bit</a:t>
            </a:r>
            <a:r>
              <a:rPr lang="en-GB" sz="2400" dirty="0">
                <a:latin typeface="Comic Sans MS" panose="030F0702030302020204" pitchFamily="66" charset="0"/>
              </a:rPr>
              <a:t> in a binary number.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Called “least significant” because it has the </a:t>
            </a:r>
            <a:r>
              <a:rPr lang="en-GB" sz="2400" b="1" dirty="0">
                <a:latin typeface="Comic Sans MS" panose="030F0702030302020204" pitchFamily="66" charset="0"/>
              </a:rPr>
              <a:t>smallest weight</a:t>
            </a:r>
            <a:r>
              <a:rPr lang="en-GB" sz="2400" dirty="0">
                <a:latin typeface="Comic Sans MS" panose="030F0702030302020204" pitchFamily="66" charset="0"/>
              </a:rPr>
              <a:t> (2⁰ = 1).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Its value contributes the least to the overall binary value.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1️⃣2️⃣ What is </a:t>
            </a:r>
            <a:r>
              <a:rPr lang="en-GB" sz="2400" b="1" dirty="0">
                <a:latin typeface="Comic Sans MS" panose="030F0702030302020204" pitchFamily="66" charset="0"/>
              </a:rPr>
              <a:t>MSB</a:t>
            </a:r>
            <a:r>
              <a:rPr lang="en-GB" sz="2400" dirty="0">
                <a:latin typeface="Comic Sans MS" panose="030F0702030302020204" pitchFamily="66" charset="0"/>
              </a:rPr>
              <a:t>, why do we call it MSB, and what is its value?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MSB (Most Significant Bit):</a:t>
            </a:r>
            <a:endParaRPr lang="en-GB" sz="2400" dirty="0">
              <a:latin typeface="Comic Sans MS" panose="030F0702030302020204" pitchFamily="66" charset="0"/>
            </a:endParaRP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It’s the </a:t>
            </a:r>
            <a:r>
              <a:rPr lang="en-GB" sz="2400" b="1" dirty="0">
                <a:latin typeface="Comic Sans MS" panose="030F0702030302020204" pitchFamily="66" charset="0"/>
              </a:rPr>
              <a:t>leftmost bit</a:t>
            </a:r>
            <a:r>
              <a:rPr lang="en-GB" sz="2400" dirty="0">
                <a:latin typeface="Comic Sans MS" panose="030F0702030302020204" pitchFamily="66" charset="0"/>
              </a:rPr>
              <a:t> in a binary number.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Called “most significant” because it has the </a:t>
            </a:r>
            <a:r>
              <a:rPr lang="en-GB" sz="2400" b="1" dirty="0">
                <a:latin typeface="Comic Sans MS" panose="030F0702030302020204" pitchFamily="66" charset="0"/>
              </a:rPr>
              <a:t>highest weight</a:t>
            </a:r>
            <a:r>
              <a:rPr lang="en-GB" sz="2400" dirty="0">
                <a:latin typeface="Comic Sans MS" panose="030F0702030302020204" pitchFamily="66" charset="0"/>
              </a:rPr>
              <a:t> (2⁷ = 128 in an 8-bit 	byte).</a:t>
            </a:r>
          </a:p>
          <a:p>
            <a:pPr lvl="1"/>
            <a:r>
              <a:rPr lang="en-GB" sz="2400" dirty="0">
                <a:latin typeface="Comic Sans MS" panose="030F0702030302020204" pitchFamily="66" charset="0"/>
              </a:rPr>
              <a:t>	Its value contributes the most to the binary value, often used to 	indicate </a:t>
            </a:r>
            <a:r>
              <a:rPr lang="en-GB" sz="2400" b="1" dirty="0">
                <a:latin typeface="Comic Sans MS" panose="030F0702030302020204" pitchFamily="66" charset="0"/>
              </a:rPr>
              <a:t>sign</a:t>
            </a:r>
            <a:r>
              <a:rPr lang="en-GB" sz="2400" dirty="0">
                <a:latin typeface="Comic Sans MS" panose="030F0702030302020204" pitchFamily="66" charset="0"/>
              </a:rPr>
              <a:t> or </a:t>
            </a:r>
            <a:r>
              <a:rPr lang="en-GB" sz="2400" b="1" dirty="0">
                <a:latin typeface="Comic Sans MS" panose="030F0702030302020204" pitchFamily="66" charset="0"/>
              </a:rPr>
              <a:t>priority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45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Bit → Crumb (2) → Nibble (4) → Byte (8)</a:t>
            </a:r>
            <a:r>
              <a:rPr lang="en-GB" sz="2400" dirty="0">
                <a:latin typeface="Comic Sans MS" panose="030F0702030302020204" pitchFamily="66" charset="0"/>
              </a:rPr>
              <a:t> are the fundamental groupings of binary data.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Upper/Lower nibble</a:t>
            </a:r>
            <a:r>
              <a:rPr lang="en-GB" sz="2400" dirty="0">
                <a:latin typeface="Comic Sans MS" panose="030F0702030302020204" pitchFamily="66" charset="0"/>
              </a:rPr>
              <a:t> make byte parsing and hex representation straightforward.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LSB/MSB</a:t>
            </a:r>
            <a:r>
              <a:rPr lang="en-GB" sz="2400" dirty="0">
                <a:latin typeface="Comic Sans MS" panose="030F0702030302020204" pitchFamily="66" charset="0"/>
              </a:rPr>
              <a:t> determine each bit’s weight and are key in numeric value and flag interpretation.</a:t>
            </a:r>
            <a:br>
              <a:rPr lang="en-GB" sz="2400" dirty="0">
                <a:latin typeface="Comic Sans MS" panose="030F0702030302020204" pitchFamily="66" charset="0"/>
              </a:rPr>
            </a:b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Mastering these byte parts turns “scary binary” into a clean, predictable structure you can read and write with confidence. 💪 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3196</TotalTime>
  <Words>1111</Words>
  <Application>Microsoft Office PowerPoint</Application>
  <PresentationFormat>Custom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323</cp:revision>
  <dcterms:created xsi:type="dcterms:W3CDTF">2025-12-09T17:44:59Z</dcterms:created>
  <dcterms:modified xsi:type="dcterms:W3CDTF">2026-01-16T17:49:23Z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