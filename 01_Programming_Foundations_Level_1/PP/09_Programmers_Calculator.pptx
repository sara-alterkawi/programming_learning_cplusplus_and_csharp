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41" r:id="rId2"/>
    <p:sldId id="257" r:id="rId3"/>
    <p:sldId id="490" r:id="rId4"/>
    <p:sldId id="503" r:id="rId5"/>
    <p:sldId id="532" r:id="rId6"/>
    <p:sldId id="533" r:id="rId7"/>
    <p:sldId id="534" r:id="rId8"/>
    <p:sldId id="477" r:id="rId9"/>
    <p:sldId id="536" r:id="rId10"/>
    <p:sldId id="537" r:id="rId11"/>
    <p:sldId id="538" r:id="rId12"/>
    <p:sldId id="539" r:id="rId13"/>
    <p:sldId id="540" r:id="rId14"/>
    <p:sldId id="535" r:id="rId15"/>
    <p:sldId id="531" r:id="rId16"/>
    <p:sldId id="349" r:id="rId17"/>
    <p:sldId id="438" r:id="rId18"/>
    <p:sldId id="425" r:id="rId1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Programmers Calculator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9F29B5-C88C-FE94-D245-2B863E93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585CD5-A392-1B7F-FC82-A7F92D5F9517}"/>
              </a:ext>
            </a:extLst>
          </p:cNvPr>
          <p:cNvSpPr txBox="1"/>
          <p:nvPr/>
        </p:nvSpPr>
        <p:spPr>
          <a:xfrm>
            <a:off x="381000" y="888075"/>
            <a:ext cx="12352767" cy="53266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Using the Programmer’s Calculator to Convert Between Numbering Systems</a:t>
            </a:r>
          </a:p>
          <a:p>
            <a:endParaRPr lang="en-GB" sz="40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Computers represent numbers in different </a:t>
            </a:r>
            <a:r>
              <a:rPr lang="en-GB" sz="2400" b="1" dirty="0">
                <a:latin typeface="Comic Sans MS" panose="030F0702030302020204" pitchFamily="66" charset="0"/>
              </a:rPr>
              <a:t>bases</a:t>
            </a:r>
            <a:r>
              <a:rPr lang="en-GB" sz="2400" dirty="0">
                <a:latin typeface="Comic Sans MS" panose="030F0702030302020204" pitchFamily="66" charset="0"/>
              </a:rPr>
              <a:t> (Decimal, Binary, Octal, Hexadecimal).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To quickly switch between them, developers and students use a tool built right into Windows — the </a:t>
            </a:r>
            <a:r>
              <a:rPr lang="en-GB" sz="2400" b="1" dirty="0">
                <a:latin typeface="Comic Sans MS" panose="030F0702030302020204" pitchFamily="66" charset="0"/>
              </a:rPr>
              <a:t>Programmer’s Calculator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It allows you to: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Instantly convert values between </a:t>
            </a:r>
            <a:r>
              <a:rPr lang="en-GB" sz="2400" b="1" dirty="0">
                <a:latin typeface="Comic Sans MS" panose="030F0702030302020204" pitchFamily="66" charset="0"/>
              </a:rPr>
              <a:t>Binary (base-2)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Octal (base-8)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Decimal (base-10)</a:t>
            </a:r>
            <a:r>
              <a:rPr lang="en-GB" sz="2400" dirty="0">
                <a:latin typeface="Comic Sans MS" panose="030F0702030302020204" pitchFamily="66" charset="0"/>
              </a:rPr>
              <a:t>, and </a:t>
            </a:r>
            <a:r>
              <a:rPr lang="en-GB" sz="2400" b="1" dirty="0">
                <a:latin typeface="Comic Sans MS" panose="030F0702030302020204" pitchFamily="66" charset="0"/>
              </a:rPr>
              <a:t>Hexadecimal (base-16)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See how the same value looks in each base.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Avoid manual conversion errors while learning or coding.</a:t>
            </a:r>
          </a:p>
        </p:txBody>
      </p:sp>
    </p:spTree>
    <p:extLst>
      <p:ext uri="{BB962C8B-B14F-4D97-AF65-F5344CB8AC3E}">
        <p14:creationId xmlns:p14="http://schemas.microsoft.com/office/powerpoint/2010/main" val="409251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66AE84-458F-ABBF-63B0-C871707F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6BB0319-DB60-89D8-BB73-CD1755D4397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/>
              <a:t>Opening</a:t>
            </a:r>
            <a:r>
              <a:rPr lang="sv-SE" sz="4000" b="1" dirty="0"/>
              <a:t> the </a:t>
            </a:r>
            <a:r>
              <a:rPr lang="sv-SE" sz="4000" b="1" dirty="0" err="1"/>
              <a:t>Programmer’s</a:t>
            </a:r>
            <a:r>
              <a:rPr lang="sv-SE" sz="4000" b="1" dirty="0"/>
              <a:t> </a:t>
            </a:r>
            <a:r>
              <a:rPr lang="sv-SE" sz="4000" b="1" dirty="0" err="1"/>
              <a:t>Calculator</a:t>
            </a:r>
            <a:endParaRPr lang="sv-SE" sz="4000" dirty="0"/>
          </a:p>
          <a:p>
            <a:endParaRPr lang="sv-SE" sz="2400" dirty="0"/>
          </a:p>
          <a:p>
            <a:r>
              <a:rPr lang="en-SE" sz="2400" dirty="0"/>
              <a:t>📋 </a:t>
            </a:r>
            <a:r>
              <a:rPr lang="sv-SE" sz="2400" b="1" dirty="0"/>
              <a:t>Steps:</a:t>
            </a:r>
            <a:br>
              <a:rPr lang="sv-SE" sz="2400" dirty="0"/>
            </a:br>
            <a:r>
              <a:rPr lang="sv-SE" sz="2400" dirty="0"/>
              <a:t>1️⃣ Press </a:t>
            </a:r>
            <a:r>
              <a:rPr lang="sv-SE" sz="2400" b="1" dirty="0"/>
              <a:t>Windows + R</a:t>
            </a:r>
            <a:r>
              <a:rPr lang="sv-SE" sz="2400" dirty="0"/>
              <a:t> → </a:t>
            </a:r>
            <a:r>
              <a:rPr lang="sv-SE" sz="2400" dirty="0" err="1"/>
              <a:t>type</a:t>
            </a:r>
            <a:r>
              <a:rPr lang="sv-SE" sz="2400" dirty="0"/>
              <a:t> </a:t>
            </a:r>
            <a:r>
              <a:rPr lang="sv-SE" sz="2400" dirty="0" err="1"/>
              <a:t>calc</a:t>
            </a:r>
            <a:r>
              <a:rPr lang="sv-SE" sz="2400" dirty="0"/>
              <a:t> → press </a:t>
            </a:r>
            <a:r>
              <a:rPr lang="sv-SE" sz="2400" b="1" dirty="0" err="1"/>
              <a:t>Enter</a:t>
            </a:r>
            <a:r>
              <a:rPr lang="sv-SE" sz="2400" dirty="0"/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9FCB05-A0C2-3CDE-FB2F-C5CE77BCA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2362200"/>
            <a:ext cx="4610100" cy="762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996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BC19C9-EF5A-3D0E-FF34-8D424774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A6BABE-5C8F-394C-2ED1-F456574B237B}"/>
              </a:ext>
            </a:extLst>
          </p:cNvPr>
          <p:cNvSpPr txBox="1"/>
          <p:nvPr/>
        </p:nvSpPr>
        <p:spPr>
          <a:xfrm>
            <a:off x="381000" y="888075"/>
            <a:ext cx="12352767" cy="8946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2️⃣ In the Calculator app, open the </a:t>
            </a:r>
            <a:r>
              <a:rPr lang="en-GB" sz="2400" b="1" dirty="0">
                <a:latin typeface="Comic Sans MS" panose="030F0702030302020204" pitchFamily="66" charset="0"/>
              </a:rPr>
              <a:t>menu (☰)</a:t>
            </a:r>
            <a:r>
              <a:rPr lang="en-GB" sz="2400" dirty="0">
                <a:latin typeface="Comic Sans MS" panose="030F0702030302020204" pitchFamily="66" charset="0"/>
              </a:rPr>
              <a:t> or click the </a:t>
            </a:r>
            <a:r>
              <a:rPr lang="en-GB" sz="2400" b="1" dirty="0">
                <a:latin typeface="Comic Sans MS" panose="030F0702030302020204" pitchFamily="66" charset="0"/>
              </a:rPr>
              <a:t>hamburger icon</a:t>
            </a:r>
            <a:r>
              <a:rPr lang="en-GB" sz="2400" dirty="0">
                <a:latin typeface="Comic Sans MS" panose="030F0702030302020204" pitchFamily="66" charset="0"/>
              </a:rPr>
              <a:t> on the top left.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0481EFA-1E69-F65F-8C25-4E3709F30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0" y="2393706"/>
            <a:ext cx="4933950" cy="762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34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7F3633-8C58-6EB0-334D-80E5DE7D4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423FC7C-FFA8-5B74-BA3B-6FD75F4C839A}"/>
              </a:ext>
            </a:extLst>
          </p:cNvPr>
          <p:cNvSpPr txBox="1"/>
          <p:nvPr/>
        </p:nvSpPr>
        <p:spPr>
          <a:xfrm>
            <a:off x="381000" y="888075"/>
            <a:ext cx="12352767" cy="48342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3️⃣ Select </a:t>
            </a:r>
            <a:r>
              <a:rPr lang="en-GB" sz="2400" b="1" dirty="0">
                <a:latin typeface="Comic Sans MS" panose="030F0702030302020204" pitchFamily="66" charset="0"/>
              </a:rPr>
              <a:t>Programmer</a:t>
            </a:r>
            <a:r>
              <a:rPr lang="en-GB" sz="2400" dirty="0">
                <a:latin typeface="Comic Sans MS" panose="030F0702030302020204" pitchFamily="66" charset="0"/>
              </a:rPr>
              <a:t> mode (it may appear as “Programmer” or “Programmer’s Calculator”).</a:t>
            </a:r>
          </a:p>
          <a:p>
            <a:endParaRPr lang="en-GB" sz="40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💡 Shortcut: Press </a:t>
            </a:r>
            <a:r>
              <a:rPr lang="en-GB" sz="2400" b="1" dirty="0">
                <a:latin typeface="Comic Sans MS" panose="030F0702030302020204" pitchFamily="66" charset="0"/>
              </a:rPr>
              <a:t>Alt + 3</a:t>
            </a:r>
            <a:r>
              <a:rPr lang="en-GB" sz="2400" dirty="0">
                <a:latin typeface="Comic Sans MS" panose="030F0702030302020204" pitchFamily="66" charset="0"/>
              </a:rPr>
              <a:t> (in newer Windows versions)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 to open Programmer mode directly.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You’ll now see four numbering systems on the left side of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the window: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HEX</a:t>
            </a:r>
            <a:r>
              <a:rPr lang="en-GB" sz="2400" dirty="0">
                <a:latin typeface="Comic Sans MS" panose="030F0702030302020204" pitchFamily="66" charset="0"/>
              </a:rPr>
              <a:t> → Hexadecimal (base 16)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DEC</a:t>
            </a:r>
            <a:r>
              <a:rPr lang="en-GB" sz="2400" dirty="0">
                <a:latin typeface="Comic Sans MS" panose="030F0702030302020204" pitchFamily="66" charset="0"/>
              </a:rPr>
              <a:t> → Decimal (base 10)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OCT</a:t>
            </a:r>
            <a:r>
              <a:rPr lang="en-GB" sz="2400" dirty="0">
                <a:latin typeface="Comic Sans MS" panose="030F0702030302020204" pitchFamily="66" charset="0"/>
              </a:rPr>
              <a:t> → Octal (base 8)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BIN</a:t>
            </a:r>
            <a:r>
              <a:rPr lang="en-GB" sz="2400" dirty="0">
                <a:latin typeface="Comic Sans MS" panose="030F0702030302020204" pitchFamily="66" charset="0"/>
              </a:rPr>
              <a:t> → Binary (base 2)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2141FE0-06A3-B962-F50F-FB87CBB2E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975" y="2428875"/>
            <a:ext cx="4848225" cy="762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247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3B66BE-53A8-5700-8F15-D657C8175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386B06D-7DFB-01E6-F673-B75295113134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/>
              <a:t>🔹 Understanding the Interface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The Programmer’s Calculator shows: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A numeric keypad (changes depending on the base you choose).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Four buttons (HEX / DEC / OCT / BIN) to choose the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input base.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The corresponding values in all systems update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automatically when you enter a number.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40C33FC-E6E5-1374-C7F2-BB7494117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975" y="2428875"/>
            <a:ext cx="4848225" cy="762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027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967247-52CF-855F-2655-B81971E3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844576B-230D-31A4-0484-A2FF3FBB07E8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Example: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If you select </a:t>
            </a:r>
            <a:r>
              <a:rPr lang="en-GB" sz="2400" b="1" dirty="0">
                <a:latin typeface="Comic Sans MS" panose="030F0702030302020204" pitchFamily="66" charset="0"/>
              </a:rPr>
              <a:t>DEC</a:t>
            </a:r>
            <a:r>
              <a:rPr lang="en-GB" sz="2400" dirty="0">
                <a:latin typeface="Comic Sans MS" panose="030F0702030302020204" pitchFamily="66" charset="0"/>
              </a:rPr>
              <a:t>, type 469, the calculator will automatically show: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HEX → 1D5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OCT → 725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BIN → 111010101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It instantly converts across all four systems!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0D8C2E9-5F81-FCFC-B3A3-299E4D5BE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325" y="2362200"/>
            <a:ext cx="5095875" cy="762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6009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F87A23C-5C29-2E34-E19E-8ED62AAE4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C7196D4-FDCD-4560-580D-AA0FAE22B136}"/>
              </a:ext>
            </a:extLst>
          </p:cNvPr>
          <p:cNvSpPr txBox="1"/>
          <p:nvPr/>
        </p:nvSpPr>
        <p:spPr>
          <a:xfrm>
            <a:off x="381000" y="888075"/>
            <a:ext cx="12352767" cy="47110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🔹 </a:t>
            </a:r>
            <a:r>
              <a:rPr lang="sv-SE" sz="4000" b="1" dirty="0" err="1">
                <a:latin typeface="Comic Sans MS" panose="030F0702030302020204" pitchFamily="66" charset="0"/>
              </a:rPr>
              <a:t>Converting</a:t>
            </a:r>
            <a:r>
              <a:rPr lang="sv-SE" sz="4000" b="1" dirty="0">
                <a:latin typeface="Comic Sans MS" panose="030F0702030302020204" pitchFamily="66" charset="0"/>
              </a:rPr>
              <a:t> Decimal to </a:t>
            </a:r>
            <a:r>
              <a:rPr lang="sv-SE" sz="4000" b="1" dirty="0" err="1">
                <a:latin typeface="Comic Sans MS" panose="030F0702030302020204" pitchFamily="66" charset="0"/>
              </a:rPr>
              <a:t>Other</a:t>
            </a:r>
            <a:r>
              <a:rPr lang="sv-SE" sz="4000" b="1" dirty="0">
                <a:latin typeface="Comic Sans MS" panose="030F0702030302020204" pitchFamily="66" charset="0"/>
              </a:rPr>
              <a:t> Systems</a:t>
            </a:r>
            <a:endParaRPr lang="sv-SE" sz="4000" dirty="0">
              <a:latin typeface="Comic Sans MS" panose="030F0702030302020204" pitchFamily="66" charset="0"/>
            </a:endParaRPr>
          </a:p>
          <a:p>
            <a:endParaRPr lang="sv-SE" sz="4000" dirty="0"/>
          </a:p>
          <a:p>
            <a:r>
              <a:rPr lang="en-SE" sz="2400" dirty="0">
                <a:latin typeface="Comic Sans MS" panose="030F0702030302020204" pitchFamily="66" charset="0"/>
              </a:rPr>
              <a:t>📋 </a:t>
            </a:r>
            <a:r>
              <a:rPr lang="sv-SE" sz="2400" b="1" dirty="0" err="1">
                <a:latin typeface="Comic Sans MS" panose="030F0702030302020204" pitchFamily="66" charset="0"/>
              </a:rPr>
              <a:t>Example</a:t>
            </a:r>
            <a:r>
              <a:rPr lang="sv-SE" sz="2400" b="1" dirty="0">
                <a:latin typeface="Comic Sans MS" panose="030F0702030302020204" pitchFamily="66" charset="0"/>
              </a:rPr>
              <a:t>: </a:t>
            </a:r>
            <a:r>
              <a:rPr lang="sv-SE" sz="2400" b="1" dirty="0" err="1">
                <a:latin typeface="Comic Sans MS" panose="030F0702030302020204" pitchFamily="66" charset="0"/>
              </a:rPr>
              <a:t>Convert</a:t>
            </a:r>
            <a:r>
              <a:rPr lang="sv-SE" sz="2400" b="1" dirty="0">
                <a:latin typeface="Comic Sans MS" panose="030F0702030302020204" pitchFamily="66" charset="0"/>
              </a:rPr>
              <a:t> 469 (decimal)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1️⃣ </a:t>
            </a:r>
            <a:r>
              <a:rPr lang="sv-SE" sz="2400" dirty="0" err="1">
                <a:latin typeface="Comic Sans MS" panose="030F0702030302020204" pitchFamily="66" charset="0"/>
              </a:rPr>
              <a:t>Select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DEC</a:t>
            </a:r>
            <a:r>
              <a:rPr lang="sv-SE" sz="2400" dirty="0">
                <a:latin typeface="Comic Sans MS" panose="030F0702030302020204" pitchFamily="66" charset="0"/>
              </a:rPr>
              <a:t> (Decimal).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2️⃣ </a:t>
            </a:r>
            <a:r>
              <a:rPr lang="sv-SE" sz="2400" dirty="0" err="1">
                <a:latin typeface="Comic Sans MS" panose="030F0702030302020204" pitchFamily="66" charset="0"/>
              </a:rPr>
              <a:t>Type</a:t>
            </a:r>
            <a:r>
              <a:rPr lang="sv-SE" sz="2400" dirty="0">
                <a:latin typeface="Comic Sans MS" panose="030F0702030302020204" pitchFamily="66" charset="0"/>
              </a:rPr>
              <a:t> 469.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3️⃣ </a:t>
            </a:r>
            <a:r>
              <a:rPr lang="sv-SE" sz="2400" dirty="0" err="1">
                <a:latin typeface="Comic Sans MS" panose="030F0702030302020204" pitchFamily="66" charset="0"/>
              </a:rPr>
              <a:t>Observe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conversions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HEX → 1D5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OCT → 725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BIN → 111010101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🧠 </a:t>
            </a:r>
            <a:r>
              <a:rPr lang="sv-SE" sz="2400" b="1" dirty="0" err="1">
                <a:latin typeface="Comic Sans MS" panose="030F0702030302020204" pitchFamily="66" charset="0"/>
              </a:rPr>
              <a:t>Explanation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r>
              <a:rPr lang="sv-SE" sz="2400" dirty="0">
                <a:latin typeface="Comic Sans MS" panose="030F0702030302020204" pitchFamily="66" charset="0"/>
              </a:rPr>
              <a:t> The </a:t>
            </a:r>
            <a:r>
              <a:rPr lang="sv-SE" sz="2400" dirty="0" err="1">
                <a:latin typeface="Comic Sans MS" panose="030F0702030302020204" pitchFamily="66" charset="0"/>
              </a:rPr>
              <a:t>calculator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automatically</a:t>
            </a:r>
            <a:r>
              <a:rPr lang="sv-SE" sz="2400" dirty="0">
                <a:latin typeface="Comic Sans MS" panose="030F0702030302020204" pitchFamily="66" charset="0"/>
              </a:rPr>
              <a:t> interprets </a:t>
            </a:r>
            <a:r>
              <a:rPr lang="sv-SE" sz="2400" dirty="0" err="1">
                <a:latin typeface="Comic Sans MS" panose="030F0702030302020204" pitchFamily="66" charset="0"/>
              </a:rPr>
              <a:t>your</a:t>
            </a:r>
            <a:r>
              <a:rPr lang="sv-SE" sz="2400" dirty="0">
                <a:latin typeface="Comic Sans MS" panose="030F0702030302020204" pitchFamily="66" charset="0"/>
              </a:rPr>
              <a:t> input as Decimal and shows </a:t>
            </a:r>
            <a:r>
              <a:rPr lang="sv-SE" sz="2400" dirty="0" err="1">
                <a:latin typeface="Comic Sans MS" panose="030F0702030302020204" pitchFamily="66" charset="0"/>
              </a:rPr>
              <a:t>equivalent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values</a:t>
            </a:r>
            <a:r>
              <a:rPr lang="sv-SE" sz="2400" dirty="0">
                <a:latin typeface="Comic Sans MS" panose="030F0702030302020204" pitchFamily="66" charset="0"/>
              </a:rPr>
              <a:t> in all </a:t>
            </a:r>
            <a:r>
              <a:rPr lang="sv-SE" sz="2400" dirty="0" err="1">
                <a:latin typeface="Comic Sans MS" panose="030F0702030302020204" pitchFamily="66" charset="0"/>
              </a:rPr>
              <a:t>other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bases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740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54F67C-3233-AC26-5076-7A920CA34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FB3BADE-64ED-D032-5B4B-4A4BA8F92C27}"/>
              </a:ext>
            </a:extLst>
          </p:cNvPr>
          <p:cNvSpPr txBox="1"/>
          <p:nvPr/>
        </p:nvSpPr>
        <p:spPr>
          <a:xfrm>
            <a:off x="381000" y="888075"/>
            <a:ext cx="12352767" cy="557286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🔹 </a:t>
            </a:r>
            <a:r>
              <a:rPr lang="sv-SE" sz="4000" b="1" dirty="0" err="1">
                <a:latin typeface="Comic Sans MS" panose="030F0702030302020204" pitchFamily="66" charset="0"/>
              </a:rPr>
              <a:t>Converting</a:t>
            </a:r>
            <a:r>
              <a:rPr lang="sv-SE" sz="4000" b="1" dirty="0">
                <a:latin typeface="Comic Sans MS" panose="030F0702030302020204" pitchFamily="66" charset="0"/>
              </a:rPr>
              <a:t> Hexadecimal to </a:t>
            </a:r>
            <a:r>
              <a:rPr lang="sv-SE" sz="4000" b="1" dirty="0" err="1">
                <a:latin typeface="Comic Sans MS" panose="030F0702030302020204" pitchFamily="66" charset="0"/>
              </a:rPr>
              <a:t>Other</a:t>
            </a:r>
            <a:r>
              <a:rPr lang="sv-SE" sz="4000" b="1" dirty="0">
                <a:latin typeface="Comic Sans MS" panose="030F0702030302020204" pitchFamily="66" charset="0"/>
              </a:rPr>
              <a:t> Systems</a:t>
            </a:r>
            <a:endParaRPr lang="sv-SE" sz="4000" dirty="0">
              <a:latin typeface="Comic Sans MS" panose="030F0702030302020204" pitchFamily="66" charset="0"/>
            </a:endParaRPr>
          </a:p>
          <a:p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📋 </a:t>
            </a:r>
            <a:r>
              <a:rPr lang="sv-SE" sz="2400" b="1" dirty="0" err="1">
                <a:latin typeface="Comic Sans MS" panose="030F0702030302020204" pitchFamily="66" charset="0"/>
              </a:rPr>
              <a:t>Example</a:t>
            </a:r>
            <a:r>
              <a:rPr lang="sv-SE" sz="2400" b="1" dirty="0">
                <a:latin typeface="Comic Sans MS" panose="030F0702030302020204" pitchFamily="66" charset="0"/>
              </a:rPr>
              <a:t>: </a:t>
            </a:r>
            <a:r>
              <a:rPr lang="sv-SE" sz="2400" b="1" dirty="0" err="1">
                <a:latin typeface="Comic Sans MS" panose="030F0702030302020204" pitchFamily="66" charset="0"/>
              </a:rPr>
              <a:t>Convert</a:t>
            </a:r>
            <a:r>
              <a:rPr lang="sv-SE" sz="2400" b="1" dirty="0">
                <a:latin typeface="Comic Sans MS" panose="030F0702030302020204" pitchFamily="66" charset="0"/>
              </a:rPr>
              <a:t> 1D5 (</a:t>
            </a:r>
            <a:r>
              <a:rPr lang="sv-SE" sz="2400" b="1" dirty="0" err="1">
                <a:latin typeface="Comic Sans MS" panose="030F0702030302020204" pitchFamily="66" charset="0"/>
              </a:rPr>
              <a:t>hex</a:t>
            </a:r>
            <a:r>
              <a:rPr lang="sv-SE" sz="2400" b="1" dirty="0">
                <a:latin typeface="Comic Sans MS" panose="030F0702030302020204" pitchFamily="66" charset="0"/>
              </a:rPr>
              <a:t>)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1️⃣ </a:t>
            </a:r>
            <a:r>
              <a:rPr lang="sv-SE" sz="2400" dirty="0" err="1">
                <a:latin typeface="Comic Sans MS" panose="030F0702030302020204" pitchFamily="66" charset="0"/>
              </a:rPr>
              <a:t>Select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HEX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2️⃣ </a:t>
            </a:r>
            <a:r>
              <a:rPr lang="sv-SE" sz="2400" dirty="0" err="1">
                <a:latin typeface="Comic Sans MS" panose="030F0702030302020204" pitchFamily="66" charset="0"/>
              </a:rPr>
              <a:t>Enter</a:t>
            </a:r>
            <a:r>
              <a:rPr lang="sv-SE" sz="2400" dirty="0">
                <a:latin typeface="Comic Sans MS" panose="030F0702030302020204" pitchFamily="66" charset="0"/>
              </a:rPr>
              <a:t> 1D5.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If </a:t>
            </a:r>
            <a:r>
              <a:rPr lang="sv-SE" sz="2400" dirty="0" err="1">
                <a:latin typeface="Comic Sans MS" panose="030F0702030302020204" pitchFamily="66" charset="0"/>
              </a:rPr>
              <a:t>your</a:t>
            </a:r>
            <a:r>
              <a:rPr lang="sv-SE" sz="2400" dirty="0">
                <a:latin typeface="Comic Sans MS" panose="030F0702030302020204" pitchFamily="66" charset="0"/>
              </a:rPr>
              <a:t> keyboard </a:t>
            </a:r>
            <a:r>
              <a:rPr lang="sv-SE" sz="2400" dirty="0" err="1">
                <a:latin typeface="Comic Sans MS" panose="030F0702030302020204" pitchFamily="66" charset="0"/>
              </a:rPr>
              <a:t>doesn’t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have</a:t>
            </a:r>
            <a:r>
              <a:rPr lang="sv-SE" sz="2400" dirty="0">
                <a:latin typeface="Comic Sans MS" panose="030F0702030302020204" pitchFamily="66" charset="0"/>
              </a:rPr>
              <a:t> letter </a:t>
            </a:r>
            <a:r>
              <a:rPr lang="sv-SE" sz="2400" dirty="0" err="1">
                <a:latin typeface="Comic Sans MS" panose="030F0702030302020204" pitchFamily="66" charset="0"/>
              </a:rPr>
              <a:t>keys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sv-SE" sz="2400" dirty="0" err="1">
                <a:latin typeface="Comic Sans MS" panose="030F0702030302020204" pitchFamily="66" charset="0"/>
              </a:rPr>
              <a:t>active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ensure</a:t>
            </a:r>
            <a:r>
              <a:rPr lang="sv-SE" sz="2400" dirty="0">
                <a:latin typeface="Comic Sans MS" panose="030F0702030302020204" pitchFamily="66" charset="0"/>
              </a:rPr>
              <a:t> HEX is </a:t>
            </a:r>
            <a:r>
              <a:rPr lang="sv-SE" sz="2400" dirty="0" err="1">
                <a:latin typeface="Comic Sans MS" panose="030F0702030302020204" pitchFamily="66" charset="0"/>
              </a:rPr>
              <a:t>selected</a:t>
            </a:r>
            <a:r>
              <a:rPr lang="sv-SE" sz="2400" dirty="0">
                <a:latin typeface="Comic Sans MS" panose="030F0702030302020204" pitchFamily="66" charset="0"/>
              </a:rPr>
              <a:t> 	(</a:t>
            </a:r>
            <a:r>
              <a:rPr lang="sv-SE" sz="2400" dirty="0" err="1">
                <a:latin typeface="Comic Sans MS" panose="030F0702030302020204" pitchFamily="66" charset="0"/>
              </a:rPr>
              <a:t>then</a:t>
            </a:r>
            <a:r>
              <a:rPr lang="sv-SE" sz="2400" dirty="0">
                <a:latin typeface="Comic Sans MS" panose="030F0702030302020204" pitchFamily="66" charset="0"/>
              </a:rPr>
              <a:t> 	A–F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sv-SE" sz="2400" dirty="0" err="1">
                <a:latin typeface="Comic Sans MS" panose="030F0702030302020204" pitchFamily="66" charset="0"/>
              </a:rPr>
              <a:t>buttons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appear</a:t>
            </a:r>
            <a:r>
              <a:rPr lang="sv-SE" sz="2400" dirty="0">
                <a:latin typeface="Comic Sans MS" panose="030F0702030302020204" pitchFamily="66" charset="0"/>
              </a:rPr>
              <a:t>)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GB" sz="2400" b="1" dirty="0">
                <a:latin typeface="Comic Sans MS" panose="030F0702030302020204" pitchFamily="66" charset="0"/>
              </a:rPr>
              <a:t>3️⃣ Observe: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DEC → 469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OCT → 725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BIN → 111010101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✅ The same logic applies — type in any base, and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the others update instantly.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77A23F5-0860-129C-24D6-15F83DD3C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5688" y="2364262"/>
            <a:ext cx="4819650" cy="762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941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C0516F-CC20-10C1-6AFE-3ECCFCC39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5DAA9B2-3B53-0E38-9A57-30D5DF00DFD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🔹 </a:t>
            </a:r>
            <a:r>
              <a:rPr lang="sv-SE" sz="4000" b="1" dirty="0" err="1">
                <a:latin typeface="Comic Sans MS" panose="030F0702030302020204" pitchFamily="66" charset="0"/>
              </a:rPr>
              <a:t>Converting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Binary</a:t>
            </a:r>
            <a:r>
              <a:rPr lang="sv-SE" sz="4000" b="1" dirty="0">
                <a:latin typeface="Comic Sans MS" panose="030F0702030302020204" pitchFamily="66" charset="0"/>
              </a:rPr>
              <a:t> to </a:t>
            </a:r>
            <a:r>
              <a:rPr lang="sv-SE" sz="4000" b="1" dirty="0" err="1">
                <a:latin typeface="Comic Sans MS" panose="030F0702030302020204" pitchFamily="66" charset="0"/>
              </a:rPr>
              <a:t>Other</a:t>
            </a:r>
            <a:r>
              <a:rPr lang="sv-SE" sz="4000" b="1" dirty="0">
                <a:latin typeface="Comic Sans MS" panose="030F0702030302020204" pitchFamily="66" charset="0"/>
              </a:rPr>
              <a:t> Systems</a:t>
            </a:r>
            <a:endParaRPr lang="sv-SE" sz="4000" dirty="0">
              <a:latin typeface="Comic Sans MS" panose="030F0702030302020204" pitchFamily="66" charset="0"/>
            </a:endParaRP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📋 </a:t>
            </a:r>
            <a:r>
              <a:rPr lang="sv-SE" sz="2400" b="1" dirty="0" err="1">
                <a:latin typeface="Comic Sans MS" panose="030F0702030302020204" pitchFamily="66" charset="0"/>
              </a:rPr>
              <a:t>Example</a:t>
            </a:r>
            <a:r>
              <a:rPr lang="sv-SE" sz="2400" b="1" dirty="0">
                <a:latin typeface="Comic Sans MS" panose="030F0702030302020204" pitchFamily="66" charset="0"/>
              </a:rPr>
              <a:t>: </a:t>
            </a:r>
            <a:r>
              <a:rPr lang="sv-SE" sz="2400" b="1" dirty="0" err="1">
                <a:latin typeface="Comic Sans MS" panose="030F0702030302020204" pitchFamily="66" charset="0"/>
              </a:rPr>
              <a:t>Convert</a:t>
            </a:r>
            <a:r>
              <a:rPr lang="sv-SE" sz="2400" b="1" dirty="0">
                <a:latin typeface="Comic Sans MS" panose="030F0702030302020204" pitchFamily="66" charset="0"/>
              </a:rPr>
              <a:t> 111010101 (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)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1️⃣ </a:t>
            </a:r>
            <a:r>
              <a:rPr lang="sv-SE" sz="2400" dirty="0" err="1">
                <a:latin typeface="Comic Sans MS" panose="030F0702030302020204" pitchFamily="66" charset="0"/>
              </a:rPr>
              <a:t>Select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BIN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2️⃣ </a:t>
            </a:r>
            <a:r>
              <a:rPr lang="sv-SE" sz="2400" dirty="0" err="1">
                <a:latin typeface="Comic Sans MS" panose="030F0702030302020204" pitchFamily="66" charset="0"/>
              </a:rPr>
              <a:t>Type</a:t>
            </a:r>
            <a:r>
              <a:rPr lang="sv-SE" sz="2400" dirty="0">
                <a:latin typeface="Comic Sans MS" panose="030F0702030302020204" pitchFamily="66" charset="0"/>
              </a:rPr>
              <a:t> 111010101.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3️⃣ </a:t>
            </a:r>
            <a:r>
              <a:rPr lang="sv-SE" sz="2400" dirty="0" err="1">
                <a:latin typeface="Comic Sans MS" panose="030F0702030302020204" pitchFamily="66" charset="0"/>
              </a:rPr>
              <a:t>Observe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OCT → 725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DEC → 469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HEX → 1D5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💡 </a:t>
            </a:r>
            <a:r>
              <a:rPr lang="sv-SE" sz="2400" dirty="0" err="1">
                <a:latin typeface="Comic Sans MS" panose="030F0702030302020204" pitchFamily="66" charset="0"/>
              </a:rPr>
              <a:t>Tip</a:t>
            </a:r>
            <a:r>
              <a:rPr lang="sv-SE" sz="2400" dirty="0">
                <a:latin typeface="Comic Sans MS" panose="030F0702030302020204" pitchFamily="66" charset="0"/>
              </a:rPr>
              <a:t>: The </a:t>
            </a:r>
            <a:r>
              <a:rPr lang="sv-SE" sz="2400" dirty="0" err="1">
                <a:latin typeface="Comic Sans MS" panose="030F0702030302020204" pitchFamily="66" charset="0"/>
              </a:rPr>
              <a:t>calculator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only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allows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r>
              <a:rPr lang="sv-SE" sz="2400" dirty="0">
                <a:latin typeface="Comic Sans MS" panose="030F0702030302020204" pitchFamily="66" charset="0"/>
              </a:rPr>
              <a:t> and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keys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when</a:t>
            </a:r>
            <a:r>
              <a:rPr lang="sv-SE" sz="2400" dirty="0">
                <a:latin typeface="Comic Sans MS" panose="030F0702030302020204" pitchFamily="66" charset="0"/>
              </a:rPr>
              <a:t> in </a:t>
            </a:r>
            <a:r>
              <a:rPr lang="sv-SE" sz="2400" dirty="0" err="1">
                <a:latin typeface="Comic Sans MS" panose="030F0702030302020204" pitchFamily="66" charset="0"/>
              </a:rPr>
              <a:t>binary</a:t>
            </a:r>
            <a:r>
              <a:rPr lang="sv-SE" sz="2400" dirty="0">
                <a:latin typeface="Comic Sans MS" panose="030F0702030302020204" pitchFamily="66" charset="0"/>
              </a:rPr>
              <a:t> mode preventing 		</a:t>
            </a:r>
            <a:r>
              <a:rPr lang="sv-SE" sz="2400" dirty="0" err="1">
                <a:latin typeface="Comic Sans MS" panose="030F0702030302020204" pitchFamily="66" charset="0"/>
              </a:rPr>
              <a:t>mistakes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9417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805910-6E52-222E-3E19-9122A0FA8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A98AF89-338C-5B82-AE9B-46EA9519A394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🔹 </a:t>
            </a:r>
            <a:r>
              <a:rPr lang="sv-SE" sz="4000" b="1" dirty="0" err="1">
                <a:latin typeface="Comic Sans MS" panose="030F0702030302020204" pitchFamily="66" charset="0"/>
              </a:rPr>
              <a:t>Converting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Octal</a:t>
            </a:r>
            <a:r>
              <a:rPr lang="sv-SE" sz="4000" b="1" dirty="0">
                <a:latin typeface="Comic Sans MS" panose="030F0702030302020204" pitchFamily="66" charset="0"/>
              </a:rPr>
              <a:t> to </a:t>
            </a:r>
            <a:r>
              <a:rPr lang="sv-SE" sz="4000" b="1" dirty="0" err="1">
                <a:latin typeface="Comic Sans MS" panose="030F0702030302020204" pitchFamily="66" charset="0"/>
              </a:rPr>
              <a:t>Other</a:t>
            </a:r>
            <a:r>
              <a:rPr lang="sv-SE" sz="4000" b="1" dirty="0">
                <a:latin typeface="Comic Sans MS" panose="030F0702030302020204" pitchFamily="66" charset="0"/>
              </a:rPr>
              <a:t> Systems</a:t>
            </a:r>
            <a:endParaRPr lang="sv-SE" sz="4000" dirty="0">
              <a:latin typeface="Comic Sans MS" panose="030F0702030302020204" pitchFamily="66" charset="0"/>
            </a:endParaRP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📋 </a:t>
            </a:r>
            <a:r>
              <a:rPr lang="sv-SE" sz="2400" b="1" dirty="0" err="1">
                <a:latin typeface="Comic Sans MS" panose="030F0702030302020204" pitchFamily="66" charset="0"/>
              </a:rPr>
              <a:t>Example</a:t>
            </a:r>
            <a:r>
              <a:rPr lang="sv-SE" sz="2400" b="1" dirty="0">
                <a:latin typeface="Comic Sans MS" panose="030F0702030302020204" pitchFamily="66" charset="0"/>
              </a:rPr>
              <a:t>: </a:t>
            </a:r>
            <a:r>
              <a:rPr lang="sv-SE" sz="2400" b="1" dirty="0" err="1">
                <a:latin typeface="Comic Sans MS" panose="030F0702030302020204" pitchFamily="66" charset="0"/>
              </a:rPr>
              <a:t>Convert</a:t>
            </a:r>
            <a:r>
              <a:rPr lang="sv-SE" sz="2400" b="1" dirty="0">
                <a:latin typeface="Comic Sans MS" panose="030F0702030302020204" pitchFamily="66" charset="0"/>
              </a:rPr>
              <a:t> 725 (</a:t>
            </a:r>
            <a:r>
              <a:rPr lang="sv-SE" sz="2400" b="1" dirty="0" err="1">
                <a:latin typeface="Comic Sans MS" panose="030F0702030302020204" pitchFamily="66" charset="0"/>
              </a:rPr>
              <a:t>octal</a:t>
            </a:r>
            <a:r>
              <a:rPr lang="sv-SE" sz="2400" b="1" dirty="0">
                <a:latin typeface="Comic Sans MS" panose="030F0702030302020204" pitchFamily="66" charset="0"/>
              </a:rPr>
              <a:t>)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dirty="0">
                <a:latin typeface="Comic Sans MS" panose="030F0702030302020204" pitchFamily="66" charset="0"/>
              </a:rPr>
              <a:t>1️⃣ </a:t>
            </a:r>
            <a:r>
              <a:rPr lang="sv-SE" sz="2400" dirty="0" err="1">
                <a:latin typeface="Comic Sans MS" panose="030F0702030302020204" pitchFamily="66" charset="0"/>
              </a:rPr>
              <a:t>Select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OCT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2️⃣ </a:t>
            </a:r>
            <a:r>
              <a:rPr lang="sv-SE" sz="2400" dirty="0" err="1">
                <a:latin typeface="Comic Sans MS" panose="030F0702030302020204" pitchFamily="66" charset="0"/>
              </a:rPr>
              <a:t>Enter</a:t>
            </a:r>
            <a:r>
              <a:rPr lang="sv-SE" sz="2400" dirty="0">
                <a:latin typeface="Comic Sans MS" panose="030F0702030302020204" pitchFamily="66" charset="0"/>
              </a:rPr>
              <a:t> 725.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3️⃣ </a:t>
            </a:r>
            <a:r>
              <a:rPr lang="sv-SE" sz="2400" dirty="0" err="1">
                <a:latin typeface="Comic Sans MS" panose="030F0702030302020204" pitchFamily="66" charset="0"/>
              </a:rPr>
              <a:t>Observe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BIN → 111010101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DEC → 469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HEX → 1D5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🧩 </a:t>
            </a:r>
            <a:r>
              <a:rPr lang="sv-SE" sz="2400" dirty="0" err="1">
                <a:latin typeface="Comic Sans MS" panose="030F0702030302020204" pitchFamily="66" charset="0"/>
              </a:rPr>
              <a:t>Notice</a:t>
            </a:r>
            <a:r>
              <a:rPr lang="sv-SE" sz="2400" dirty="0">
                <a:latin typeface="Comic Sans MS" panose="030F0702030302020204" pitchFamily="66" charset="0"/>
              </a:rPr>
              <a:t>: </a:t>
            </a:r>
            <a:r>
              <a:rPr lang="sv-SE" sz="2400" dirty="0" err="1">
                <a:latin typeface="Comic Sans MS" panose="030F0702030302020204" pitchFamily="66" charset="0"/>
              </a:rPr>
              <a:t>every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conversion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leads</a:t>
            </a:r>
            <a:r>
              <a:rPr lang="sv-SE" sz="2400" dirty="0">
                <a:latin typeface="Comic Sans MS" panose="030F0702030302020204" pitchFamily="66" charset="0"/>
              </a:rPr>
              <a:t> back to the same </a:t>
            </a:r>
            <a:r>
              <a:rPr lang="sv-SE" sz="2400" dirty="0" err="1">
                <a:latin typeface="Comic Sans MS" panose="030F0702030302020204" pitchFamily="66" charset="0"/>
              </a:rPr>
              <a:t>consistent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value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regardless</a:t>
            </a:r>
            <a:r>
              <a:rPr lang="sv-SE" sz="2400" dirty="0">
                <a:latin typeface="Comic Sans MS" panose="030F0702030302020204" pitchFamily="66" charset="0"/>
              </a:rPr>
              <a:t> 		</a:t>
            </a:r>
            <a:r>
              <a:rPr lang="sv-SE" sz="2400" dirty="0" err="1">
                <a:latin typeface="Comic Sans MS" panose="030F0702030302020204" pitchFamily="66" charset="0"/>
              </a:rPr>
              <a:t>of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starting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base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920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77B3D6-E1BC-A890-8F49-B121FB92D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9BD9EED-EE53-BEBD-4A72-ADDC0EAB44AF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🔹 </a:t>
            </a:r>
            <a:r>
              <a:rPr lang="en-GB" sz="4000" dirty="0">
                <a:latin typeface="Comic Sans MS" panose="030F0702030302020204" pitchFamily="66" charset="0"/>
              </a:rPr>
              <a:t>Using Word Size (for advanced learners)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In the Programmer’s Calculator, you can change </a:t>
            </a:r>
            <a:r>
              <a:rPr lang="en-GB" sz="2400" b="1" dirty="0">
                <a:latin typeface="Comic Sans MS" panose="030F0702030302020204" pitchFamily="66" charset="0"/>
              </a:rPr>
              <a:t>Word size</a:t>
            </a:r>
            <a:r>
              <a:rPr lang="en-GB" sz="2400" dirty="0">
                <a:latin typeface="Comic Sans MS" panose="030F0702030302020204" pitchFamily="66" charset="0"/>
              </a:rPr>
              <a:t> (QWORD, DWORD, WORD, BYTE) to see how numbers behave when truncated (useful for programmers working with 8-bit, 16-bit, 32-bit, or 64-bit systems).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Example: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Change word size → select </a:t>
            </a:r>
            <a:r>
              <a:rPr lang="en-GB" sz="2400" b="1" dirty="0">
                <a:latin typeface="Comic Sans MS" panose="030F0702030302020204" pitchFamily="66" charset="0"/>
              </a:rPr>
              <a:t>BYTE</a:t>
            </a:r>
            <a:r>
              <a:rPr lang="en-GB" sz="2400" dirty="0">
                <a:latin typeface="Comic Sans MS" panose="030F0702030302020204" pitchFamily="66" charset="0"/>
              </a:rPr>
              <a:t> → notice that large numbers wrap around if 	they exceed 255 (since a byte = 8 bits).</a:t>
            </a:r>
          </a:p>
        </p:txBody>
      </p:sp>
    </p:spTree>
    <p:extLst>
      <p:ext uri="{BB962C8B-B14F-4D97-AF65-F5344CB8AC3E}">
        <p14:creationId xmlns:p14="http://schemas.microsoft.com/office/powerpoint/2010/main" val="1139261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DA9696-180C-EB28-D56A-42825B4C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491B257-2E3C-8321-F7EE-83109D816151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>
                <a:latin typeface="Comic Sans MS" panose="030F0702030302020204" pitchFamily="66" charset="0"/>
              </a:rPr>
              <a:t>🔗 </a:t>
            </a:r>
            <a:r>
              <a:rPr lang="en-GB" sz="4000" b="1" dirty="0">
                <a:latin typeface="Comic Sans MS" panose="030F0702030302020204" pitchFamily="66" charset="0"/>
              </a:rPr>
              <a:t>Interconnection</a:t>
            </a:r>
            <a:endParaRPr lang="en-GB" sz="4000" dirty="0">
              <a:latin typeface="Comic Sans MS" panose="030F0702030302020204" pitchFamily="66" charset="0"/>
            </a:endParaRPr>
          </a:p>
          <a:p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base</a:t>
            </a:r>
            <a:r>
              <a:rPr lang="sv-SE" sz="2400" b="1" dirty="0">
                <a:latin typeface="Comic Sans MS" panose="030F0702030302020204" pitchFamily="66" charset="0"/>
              </a:rPr>
              <a:t> 2)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machine-level</a:t>
            </a:r>
            <a:r>
              <a:rPr lang="sv-SE" sz="2400" dirty="0">
                <a:latin typeface="Comic Sans MS" panose="030F0702030302020204" pitchFamily="66" charset="0"/>
              </a:rPr>
              <a:t> representation (0s &amp; 1s).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sv-SE" sz="2400" b="1" dirty="0" err="1">
                <a:latin typeface="Comic Sans MS" panose="030F0702030302020204" pitchFamily="66" charset="0"/>
              </a:rPr>
              <a:t>Octal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base</a:t>
            </a:r>
            <a:r>
              <a:rPr lang="sv-SE" sz="2400" b="1" dirty="0">
                <a:latin typeface="Comic Sans MS" panose="030F0702030302020204" pitchFamily="66" charset="0"/>
              </a:rPr>
              <a:t> 8)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legacy</a:t>
            </a:r>
            <a:r>
              <a:rPr lang="sv-SE" sz="2400" dirty="0">
                <a:latin typeface="Comic Sans MS" panose="030F0702030302020204" pitchFamily="66" charset="0"/>
              </a:rPr>
              <a:t> system (3-bit </a:t>
            </a:r>
            <a:r>
              <a:rPr lang="sv-SE" sz="2400" dirty="0" err="1">
                <a:latin typeface="Comic Sans MS" panose="030F0702030302020204" pitchFamily="66" charset="0"/>
              </a:rPr>
              <a:t>groupings</a:t>
            </a:r>
            <a:r>
              <a:rPr lang="sv-SE" sz="2400" dirty="0">
                <a:latin typeface="Comic Sans MS" panose="030F0702030302020204" pitchFamily="66" charset="0"/>
              </a:rPr>
              <a:t>).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sv-SE" sz="2400" b="1" dirty="0">
                <a:latin typeface="Comic Sans MS" panose="030F0702030302020204" pitchFamily="66" charset="0"/>
              </a:rPr>
              <a:t>Decimal (</a:t>
            </a:r>
            <a:r>
              <a:rPr lang="sv-SE" sz="2400" b="1" dirty="0" err="1">
                <a:latin typeface="Comic Sans MS" panose="030F0702030302020204" pitchFamily="66" charset="0"/>
              </a:rPr>
              <a:t>base</a:t>
            </a:r>
            <a:r>
              <a:rPr lang="sv-SE" sz="2400" b="1" dirty="0">
                <a:latin typeface="Comic Sans MS" panose="030F0702030302020204" pitchFamily="66" charset="0"/>
              </a:rPr>
              <a:t> 10)</a:t>
            </a:r>
            <a:r>
              <a:rPr lang="sv-SE" sz="2400" dirty="0">
                <a:latin typeface="Comic Sans MS" panose="030F0702030302020204" pitchFamily="66" charset="0"/>
              </a:rPr>
              <a:t> → human-</a:t>
            </a:r>
            <a:r>
              <a:rPr lang="sv-SE" sz="2400" dirty="0" err="1">
                <a:latin typeface="Comic Sans MS" panose="030F0702030302020204" pitchFamily="66" charset="0"/>
              </a:rPr>
              <a:t>readable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sv-SE" sz="2400" b="1" dirty="0">
                <a:latin typeface="Comic Sans MS" panose="030F0702030302020204" pitchFamily="66" charset="0"/>
              </a:rPr>
              <a:t>Hexadecimal (</a:t>
            </a:r>
            <a:r>
              <a:rPr lang="sv-SE" sz="2400" b="1" dirty="0" err="1">
                <a:latin typeface="Comic Sans MS" panose="030F0702030302020204" pitchFamily="66" charset="0"/>
              </a:rPr>
              <a:t>base</a:t>
            </a:r>
            <a:r>
              <a:rPr lang="sv-SE" sz="2400" b="1" dirty="0">
                <a:latin typeface="Comic Sans MS" panose="030F0702030302020204" pitchFamily="66" charset="0"/>
              </a:rPr>
              <a:t> 16)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compact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developer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shorthand</a:t>
            </a:r>
            <a:r>
              <a:rPr lang="sv-SE" sz="2400" dirty="0">
                <a:latin typeface="Comic Sans MS" panose="030F0702030302020204" pitchFamily="66" charset="0"/>
              </a:rPr>
              <a:t> (4-bit </a:t>
            </a:r>
            <a:r>
              <a:rPr lang="sv-SE" sz="2400" dirty="0" err="1">
                <a:latin typeface="Comic Sans MS" panose="030F0702030302020204" pitchFamily="66" charset="0"/>
              </a:rPr>
              <a:t>groupings</a:t>
            </a:r>
            <a:r>
              <a:rPr lang="sv-SE" sz="2400" dirty="0">
                <a:latin typeface="Comic Sans MS" panose="030F0702030302020204" pitchFamily="66" charset="0"/>
              </a:rPr>
              <a:t>).</a:t>
            </a:r>
          </a:p>
          <a:p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By </a:t>
            </a:r>
            <a:r>
              <a:rPr lang="sv-SE" sz="2400" dirty="0" err="1">
                <a:latin typeface="Comic Sans MS" panose="030F0702030302020204" pitchFamily="66" charset="0"/>
              </a:rPr>
              <a:t>mastering</a:t>
            </a:r>
            <a:r>
              <a:rPr lang="sv-SE" sz="2400" dirty="0">
                <a:latin typeface="Comic Sans MS" panose="030F0702030302020204" pitchFamily="66" charset="0"/>
              </a:rPr>
              <a:t> the </a:t>
            </a:r>
            <a:r>
              <a:rPr lang="sv-SE" sz="2400" b="1" dirty="0" err="1">
                <a:latin typeface="Comic Sans MS" panose="030F0702030302020204" pitchFamily="66" charset="0"/>
              </a:rPr>
              <a:t>Programmer’s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Calculator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you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can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see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instantly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how</a:t>
            </a:r>
            <a:r>
              <a:rPr lang="sv-SE" sz="2400" dirty="0">
                <a:latin typeface="Comic Sans MS" panose="030F0702030302020204" pitchFamily="66" charset="0"/>
              </a:rPr>
              <a:t> all </a:t>
            </a:r>
            <a:r>
              <a:rPr lang="sv-SE" sz="2400" dirty="0" err="1">
                <a:latin typeface="Comic Sans MS" panose="030F0702030302020204" pitchFamily="66" charset="0"/>
              </a:rPr>
              <a:t>four</a:t>
            </a:r>
            <a:r>
              <a:rPr lang="sv-SE" sz="2400" dirty="0">
                <a:latin typeface="Comic Sans MS" panose="030F0702030302020204" pitchFamily="66" charset="0"/>
              </a:rPr>
              <a:t> systems </a:t>
            </a:r>
            <a:r>
              <a:rPr lang="sv-SE" sz="2400" dirty="0" err="1">
                <a:latin typeface="Comic Sans MS" panose="030F0702030302020204" pitchFamily="66" charset="0"/>
              </a:rPr>
              <a:t>interconnect</a:t>
            </a:r>
            <a:r>
              <a:rPr lang="sv-SE" sz="2400" dirty="0">
                <a:latin typeface="Comic Sans MS" panose="030F0702030302020204" pitchFamily="66" charset="0"/>
              </a:rPr>
              <a:t> — no manual </a:t>
            </a:r>
            <a:r>
              <a:rPr lang="sv-SE" sz="2400" dirty="0" err="1">
                <a:latin typeface="Comic Sans MS" panose="030F0702030302020204" pitchFamily="66" charset="0"/>
              </a:rPr>
              <a:t>conversion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needed</a:t>
            </a:r>
            <a:r>
              <a:rPr lang="sv-SE" sz="2400" dirty="0">
                <a:latin typeface="Comic Sans MS" panose="030F0702030302020204" pitchFamily="66" charset="0"/>
              </a:rPr>
              <a:t>! </a:t>
            </a:r>
            <a:r>
              <a:rPr lang="en-SE" sz="2400" dirty="0">
                <a:latin typeface="Comic Sans MS" panose="030F0702030302020204" pitchFamily="66" charset="0"/>
              </a:rPr>
              <a:t>🚀</a:t>
            </a:r>
          </a:p>
        </p:txBody>
      </p:sp>
    </p:spTree>
    <p:extLst>
      <p:ext uri="{BB962C8B-B14F-4D97-AF65-F5344CB8AC3E}">
        <p14:creationId xmlns:p14="http://schemas.microsoft.com/office/powerpoint/2010/main" val="529509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F24F78-448E-2676-A6C0-4AFF138F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459010-756A-4CD6-6C91-C23A3F615ECF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Use the Windows Programmer’s Calculator to perform the following conversions.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Write your answers in </a:t>
            </a:r>
            <a:r>
              <a:rPr lang="en-GB" sz="2400" b="1" dirty="0">
                <a:latin typeface="Comic Sans MS" panose="030F0702030302020204" pitchFamily="66" charset="0"/>
              </a:rPr>
              <a:t>all four systems</a:t>
            </a:r>
            <a:r>
              <a:rPr lang="en-GB" sz="2400" dirty="0">
                <a:latin typeface="Comic Sans MS" panose="030F0702030302020204" pitchFamily="66" charset="0"/>
              </a:rPr>
              <a:t> (HEX, DEC, OCT, BIN).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1️⃣ Convert </a:t>
            </a:r>
            <a:r>
              <a:rPr lang="en-GB" sz="2400" b="1" dirty="0">
                <a:latin typeface="Comic Sans MS" panose="030F0702030302020204" pitchFamily="66" charset="0"/>
              </a:rPr>
              <a:t>255 (DEC)</a:t>
            </a:r>
            <a:r>
              <a:rPr lang="en-GB" sz="2400" dirty="0">
                <a:latin typeface="Comic Sans MS" panose="030F0702030302020204" pitchFamily="66" charset="0"/>
              </a:rPr>
              <a:t> to HEX, OCT, and BIN.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2️⃣ Convert </a:t>
            </a:r>
            <a:r>
              <a:rPr lang="en-GB" sz="2400" b="1" dirty="0">
                <a:latin typeface="Comic Sans MS" panose="030F0702030302020204" pitchFamily="66" charset="0"/>
              </a:rPr>
              <a:t>0xA3 (HEX)</a:t>
            </a:r>
            <a:r>
              <a:rPr lang="en-GB" sz="2400" dirty="0">
                <a:latin typeface="Comic Sans MS" panose="030F0702030302020204" pitchFamily="66" charset="0"/>
              </a:rPr>
              <a:t> to DEC, OCT, and BIN.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3️⃣ Convert </a:t>
            </a:r>
            <a:r>
              <a:rPr lang="en-GB" sz="2400" b="1" dirty="0">
                <a:latin typeface="Comic Sans MS" panose="030F0702030302020204" pitchFamily="66" charset="0"/>
              </a:rPr>
              <a:t>110101 (BIN)</a:t>
            </a:r>
            <a:r>
              <a:rPr lang="en-GB" sz="2400" dirty="0">
                <a:latin typeface="Comic Sans MS" panose="030F0702030302020204" pitchFamily="66" charset="0"/>
              </a:rPr>
              <a:t> to DEC, OCT, and HEX.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4️⃣ Convert </a:t>
            </a:r>
            <a:r>
              <a:rPr lang="en-GB" sz="2400" b="1" dirty="0">
                <a:latin typeface="Comic Sans MS" panose="030F0702030302020204" pitchFamily="66" charset="0"/>
              </a:rPr>
              <a:t>725 (OCT)</a:t>
            </a:r>
            <a:r>
              <a:rPr lang="en-GB" sz="2400" dirty="0">
                <a:latin typeface="Comic Sans MS" panose="030F0702030302020204" pitchFamily="66" charset="0"/>
              </a:rPr>
              <a:t> to DEC, BIN, and HEX.</a:t>
            </a:r>
          </a:p>
        </p:txBody>
      </p:sp>
    </p:spTree>
    <p:extLst>
      <p:ext uri="{BB962C8B-B14F-4D97-AF65-F5344CB8AC3E}">
        <p14:creationId xmlns:p14="http://schemas.microsoft.com/office/powerpoint/2010/main" val="3538147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AF90479-5E65-0100-738F-A9AEE6210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3429000"/>
            <a:ext cx="113538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The </a:t>
            </a:r>
            <a:r>
              <a:rPr lang="en-GB" sz="2400" b="1" dirty="0">
                <a:latin typeface="Comic Sans MS" panose="030F0702030302020204" pitchFamily="66" charset="0"/>
              </a:rPr>
              <a:t>Programmer’s Calculator</a:t>
            </a:r>
            <a:r>
              <a:rPr lang="en-GB" sz="2400" dirty="0">
                <a:latin typeface="Comic Sans MS" panose="030F0702030302020204" pitchFamily="66" charset="0"/>
              </a:rPr>
              <a:t> is an essential tool for anyone learning </a:t>
            </a:r>
            <a:r>
              <a:rPr lang="en-GB" sz="2400" b="1" dirty="0">
                <a:latin typeface="Comic Sans MS" panose="030F0702030302020204" pitchFamily="66" charset="0"/>
              </a:rPr>
              <a:t>Binary, 	Octal, Decimal, and Hexadecimal systems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It allows </a:t>
            </a:r>
            <a:r>
              <a:rPr lang="en-GB" sz="2400" b="1" dirty="0">
                <a:latin typeface="Comic Sans MS" panose="030F0702030302020204" pitchFamily="66" charset="0"/>
              </a:rPr>
              <a:t>instant cross-conversion</a:t>
            </a:r>
            <a:r>
              <a:rPr lang="en-GB" sz="2400" dirty="0">
                <a:latin typeface="Comic Sans MS" panose="030F0702030302020204" pitchFamily="66" charset="0"/>
              </a:rPr>
              <a:t> with zero risk of manual errors.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It helps visualize </a:t>
            </a:r>
            <a:r>
              <a:rPr lang="en-GB" sz="2400" b="1" dirty="0">
                <a:latin typeface="Comic Sans MS" panose="030F0702030302020204" pitchFamily="66" charset="0"/>
              </a:rPr>
              <a:t>bit sizes, overflow, and representation</a:t>
            </a:r>
            <a:r>
              <a:rPr lang="en-GB" sz="2400" dirty="0">
                <a:latin typeface="Comic Sans MS" panose="030F0702030302020204" pitchFamily="66" charset="0"/>
              </a:rPr>
              <a:t> — key concepts for 	</a:t>
            </a:r>
            <a:r>
              <a:rPr lang="en-GB" sz="2400">
                <a:latin typeface="Comic Sans MS" panose="030F0702030302020204" pitchFamily="66" charset="0"/>
              </a:rPr>
              <a:t>programmers.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By practicing with this tool, you’ll quickly become fluent in reading and converting between numbering systems used in computer architecture and coding. 💻⚡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3329</TotalTime>
  <Words>950</Words>
  <Application>Microsoft Office PowerPoint</Application>
  <PresentationFormat>Custom</PresentationFormat>
  <Paragraphs>108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362</cp:revision>
  <dcterms:created xsi:type="dcterms:W3CDTF">2025-12-09T17:44:59Z</dcterms:created>
  <dcterms:modified xsi:type="dcterms:W3CDTF">2026-01-16T17:56:02Z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