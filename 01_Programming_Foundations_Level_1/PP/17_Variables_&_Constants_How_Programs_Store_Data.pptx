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33" r:id="rId2"/>
    <p:sldId id="257" r:id="rId3"/>
    <p:sldId id="634" r:id="rId4"/>
    <p:sldId id="564" r:id="rId5"/>
    <p:sldId id="577" r:id="rId6"/>
    <p:sldId id="576" r:id="rId7"/>
    <p:sldId id="578" r:id="rId8"/>
    <p:sldId id="580" r:id="rId9"/>
    <p:sldId id="582" r:id="rId10"/>
    <p:sldId id="583" r:id="rId11"/>
    <p:sldId id="584" r:id="rId12"/>
    <p:sldId id="585" r:id="rId13"/>
    <p:sldId id="586" r:id="rId14"/>
    <p:sldId id="587" r:id="rId15"/>
    <p:sldId id="588" r:id="rId16"/>
    <p:sldId id="579" r:id="rId17"/>
    <p:sldId id="581" r:id="rId18"/>
    <p:sldId id="591" r:id="rId19"/>
    <p:sldId id="592" r:id="rId20"/>
    <p:sldId id="589" r:id="rId21"/>
    <p:sldId id="594" r:id="rId22"/>
    <p:sldId id="590" r:id="rId23"/>
    <p:sldId id="596" r:id="rId24"/>
    <p:sldId id="597" r:id="rId25"/>
    <p:sldId id="531" r:id="rId26"/>
    <p:sldId id="349" r:id="rId27"/>
    <p:sldId id="598" r:id="rId28"/>
    <p:sldId id="438" r:id="rId29"/>
    <p:sldId id="425" r:id="rId3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2626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12" Type="http://schemas.openxmlformats.org/officeDocument/2006/relationships/image" Target="../media/image14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g"/><Relationship Id="rId10" Type="http://schemas.openxmlformats.org/officeDocument/2006/relationships/image" Target="../media/image12.jp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Variables &amp; Constants: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 Programs Store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0A6E22-F7BD-C4E5-15AC-EAEE82D34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40A7E24-1E0F-06A2-7398-EB02D45B9740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B200907-2124-2E45-387A-B561FBFB058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B4951A5-20E2-1FBB-E7E5-D7081E4A3DED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7F88065-D325-A6EE-C968-307B873AD601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D3669B5-28C6-6012-EE3D-C07828D19BA0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a Variable?</a:t>
            </a:r>
          </a:p>
        </p:txBody>
      </p:sp>
    </p:spTree>
    <p:extLst>
      <p:ext uri="{BB962C8B-B14F-4D97-AF65-F5344CB8AC3E}">
        <p14:creationId xmlns:p14="http://schemas.microsoft.com/office/powerpoint/2010/main" val="262125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4EFCF7-66F2-6E93-3294-C6889F85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68305C-9D84-82AA-5F56-F7E45D7316D8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Variables &amp; Constants: How Programs Store Data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Programs need a place to </a:t>
            </a:r>
            <a:r>
              <a:rPr lang="en-GB" sz="2400" b="1" dirty="0">
                <a:latin typeface="Comic Sans MS" panose="030F0702030302020204" pitchFamily="66" charset="0"/>
              </a:rPr>
              <a:t>store information</a:t>
            </a:r>
            <a:r>
              <a:rPr lang="en-GB" sz="2400" dirty="0">
                <a:latin typeface="Comic Sans MS" panose="030F0702030302020204" pitchFamily="66" charset="0"/>
              </a:rPr>
              <a:t> while they run.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That place is a </a:t>
            </a:r>
            <a:r>
              <a:rPr lang="en-GB" sz="2400" b="1" dirty="0">
                <a:latin typeface="Comic Sans MS" panose="030F0702030302020204" pitchFamily="66" charset="0"/>
              </a:rPr>
              <a:t>variable</a:t>
            </a:r>
            <a:r>
              <a:rPr lang="en-GB" sz="2400" dirty="0">
                <a:latin typeface="Comic Sans MS" panose="030F0702030302020204" pitchFamily="66" charset="0"/>
              </a:rPr>
              <a:t>—a named </a:t>
            </a:r>
            <a:r>
              <a:rPr lang="en-GB" sz="2400" b="1" dirty="0">
                <a:latin typeface="Comic Sans MS" panose="030F0702030302020204" pitchFamily="66" charset="0"/>
              </a:rPr>
              <a:t>container</a:t>
            </a:r>
            <a:r>
              <a:rPr lang="en-GB" sz="2400" dirty="0">
                <a:latin typeface="Comic Sans MS" panose="030F0702030302020204" pitchFamily="66" charset="0"/>
              </a:rPr>
              <a:t> in memory that holds a value you can read and change. Sometimes you also need a </a:t>
            </a:r>
            <a:r>
              <a:rPr lang="en-GB" sz="2400" b="1" dirty="0">
                <a:latin typeface="Comic Sans MS" panose="030F0702030302020204" pitchFamily="66" charset="0"/>
              </a:rPr>
              <a:t>constant</a:t>
            </a:r>
            <a:r>
              <a:rPr lang="en-GB" sz="2400" dirty="0">
                <a:latin typeface="Comic Sans MS" panose="030F0702030302020204" pitchFamily="66" charset="0"/>
              </a:rPr>
              <a:t>—a container you </a:t>
            </a:r>
            <a:r>
              <a:rPr lang="en-GB" sz="2400" b="1" dirty="0">
                <a:latin typeface="Comic Sans MS" panose="030F0702030302020204" pitchFamily="66" charset="0"/>
              </a:rPr>
              <a:t>cannot</a:t>
            </a:r>
            <a:r>
              <a:rPr lang="en-GB" sz="2400" dirty="0">
                <a:latin typeface="Comic Sans MS" panose="030F0702030302020204" pitchFamily="66" charset="0"/>
              </a:rPr>
              <a:t> change after setting it.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In this lesson you’ll see how data lives in </a:t>
            </a:r>
            <a:r>
              <a:rPr lang="en-GB" sz="2400" b="1" dirty="0">
                <a:latin typeface="Comic Sans MS" panose="030F0702030302020204" pitchFamily="66" charset="0"/>
              </a:rPr>
              <a:t>memory cells</a:t>
            </a:r>
            <a:r>
              <a:rPr lang="en-GB" sz="2400" dirty="0">
                <a:latin typeface="Comic Sans MS" panose="030F0702030302020204" pitchFamily="66" charset="0"/>
              </a:rPr>
              <a:t>, what a </a:t>
            </a:r>
            <a:r>
              <a:rPr lang="en-GB" sz="2400" b="1" dirty="0">
                <a:latin typeface="Comic Sans MS" panose="030F0702030302020204" pitchFamily="66" charset="0"/>
              </a:rPr>
              <a:t>memory address</a:t>
            </a:r>
            <a:r>
              <a:rPr lang="en-GB" sz="2400" dirty="0">
                <a:latin typeface="Comic Sans MS" panose="030F0702030302020204" pitchFamily="66" charset="0"/>
              </a:rPr>
              <a:t> is, what an </a:t>
            </a:r>
            <a:r>
              <a:rPr lang="en-GB" sz="2400" b="1" dirty="0">
                <a:latin typeface="Comic Sans MS" panose="030F0702030302020204" pitchFamily="66" charset="0"/>
              </a:rPr>
              <a:t>identifier</a:t>
            </a:r>
            <a:r>
              <a:rPr lang="en-GB" sz="2400" dirty="0">
                <a:latin typeface="Comic Sans MS" panose="030F0702030302020204" pitchFamily="66" charset="0"/>
              </a:rPr>
              <a:t> means, and how to choose the </a:t>
            </a:r>
            <a:r>
              <a:rPr lang="en-GB" sz="2400" b="1" dirty="0">
                <a:latin typeface="Comic Sans MS" panose="030F0702030302020204" pitchFamily="66" charset="0"/>
              </a:rPr>
              <a:t>right type</a:t>
            </a:r>
            <a:r>
              <a:rPr lang="en-GB" sz="2400" dirty="0">
                <a:latin typeface="Comic Sans MS" panose="030F0702030302020204" pitchFamily="66" charset="0"/>
              </a:rPr>
              <a:t> without wasting memory.</a:t>
            </a:r>
          </a:p>
        </p:txBody>
      </p:sp>
    </p:spTree>
    <p:extLst>
      <p:ext uri="{BB962C8B-B14F-4D97-AF65-F5344CB8AC3E}">
        <p14:creationId xmlns:p14="http://schemas.microsoft.com/office/powerpoint/2010/main" val="3353103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03A27C-F469-DD99-DD6D-2710B1C4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AB61BD0-8195-C61B-D087-3187DFC54209}"/>
              </a:ext>
            </a:extLst>
          </p:cNvPr>
          <p:cNvSpPr txBox="1"/>
          <p:nvPr/>
        </p:nvSpPr>
        <p:spPr>
          <a:xfrm>
            <a:off x="381000" y="8686800"/>
            <a:ext cx="12352767" cy="8946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 A </a:t>
            </a:r>
            <a:r>
              <a:rPr lang="en-GB" sz="2400" b="1" dirty="0">
                <a:latin typeface="Comic Sans MS" panose="030F0702030302020204" pitchFamily="66" charset="0"/>
              </a:rPr>
              <a:t>variable</a:t>
            </a:r>
            <a:r>
              <a:rPr lang="en-GB" sz="2400" dirty="0">
                <a:latin typeface="Comic Sans MS" panose="030F0702030302020204" pitchFamily="66" charset="0"/>
              </a:rPr>
              <a:t> is a </a:t>
            </a:r>
            <a:r>
              <a:rPr lang="en-GB" sz="2400" b="1" dirty="0">
                <a:latin typeface="Comic Sans MS" panose="030F0702030302020204" pitchFamily="66" charset="0"/>
              </a:rPr>
              <a:t>container for storing data values</a:t>
            </a:r>
            <a:r>
              <a:rPr lang="en-GB" sz="2400" dirty="0">
                <a:latin typeface="Comic Sans MS" panose="030F0702030302020204" pitchFamily="66" charset="0"/>
              </a:rPr>
              <a:t> you’ll reuse during program execution.</a:t>
            </a: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3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6EA5FD-3806-1903-514A-2B0191C9F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1748CA06-EE31-8E01-86C4-2EBE98A10B5A}"/>
              </a:ext>
            </a:extLst>
          </p:cNvPr>
          <p:cNvSpPr txBox="1"/>
          <p:nvPr/>
        </p:nvSpPr>
        <p:spPr>
          <a:xfrm>
            <a:off x="381000" y="888075"/>
            <a:ext cx="12352767" cy="71117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lang="sv-SE" sz="4000" b="1" dirty="0" err="1">
                <a:latin typeface="Comic Sans MS" panose="030F0702030302020204" pitchFamily="66" charset="0"/>
              </a:rPr>
              <a:t>What</a:t>
            </a:r>
            <a:r>
              <a:rPr lang="sv-SE" sz="4000" b="1" spc="4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are</a:t>
            </a:r>
            <a:r>
              <a:rPr lang="sv-SE" sz="4000" b="1" spc="65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 err="1">
                <a:latin typeface="Comic Sans MS" panose="030F0702030302020204" pitchFamily="66" charset="0"/>
              </a:rPr>
              <a:t>Variables</a:t>
            </a:r>
            <a:r>
              <a:rPr lang="sv-SE" sz="4000" b="1" spc="-13" dirty="0">
                <a:latin typeface="Comic Sans MS" panose="030F0702030302020204" pitchFamily="66" charset="0"/>
              </a:rPr>
              <a:t>?</a:t>
            </a:r>
            <a:endParaRPr lang="en-GB" sz="4000" b="1" u="sng" dirty="0">
              <a:uFill>
                <a:solidFill>
                  <a:srgbClr val="000000"/>
                </a:solidFill>
              </a:uFill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148"/>
              </a:spcBef>
            </a:pPr>
            <a:endParaRPr lang="en-GB" sz="4000" u="sng" dirty="0">
              <a:uFill>
                <a:solidFill>
                  <a:srgbClr val="000000"/>
                </a:solidFill>
              </a:uFill>
              <a:latin typeface="Comic Sans MS" panose="030F0702030302020204" pitchFamily="66" charset="0"/>
              <a:cs typeface="Comic Sans MS"/>
            </a:endParaRPr>
          </a:p>
          <a:p>
            <a:pPr marL="16435" defTabSz="1183325">
              <a:spcBef>
                <a:spcPts val="148"/>
              </a:spcBef>
            </a:pPr>
            <a:r>
              <a:rPr lang="en-GB" sz="40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Variables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b="1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containers</a:t>
            </a:r>
            <a:r>
              <a:rPr lang="en-GB" sz="4000" b="1" spc="-414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for</a:t>
            </a:r>
            <a:r>
              <a:rPr lang="en-GB" sz="40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storing</a:t>
            </a:r>
            <a:r>
              <a:rPr lang="en-GB" sz="4000" spc="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data</a:t>
            </a:r>
            <a:r>
              <a:rPr lang="en-GB" sz="4000" spc="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values</a:t>
            </a: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defTabSz="1183325">
              <a:spcBef>
                <a:spcPts val="867"/>
              </a:spcBef>
            </a:pP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marL="16435" defTabSz="1183325"/>
            <a:r>
              <a:rPr lang="en-GB" sz="4000" dirty="0">
                <a:latin typeface="Comic Sans MS" panose="030F0702030302020204" pitchFamily="66" charset="0"/>
                <a:cs typeface="Comic Sans MS"/>
              </a:rPr>
              <a:t>VARIABLES</a:t>
            </a:r>
            <a:r>
              <a:rPr lang="en-GB" sz="4000" spc="-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are used</a:t>
            </a:r>
            <a:r>
              <a:rPr lang="en-GB" sz="40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store 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data.</a:t>
            </a: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defTabSz="1183325">
              <a:spcBef>
                <a:spcPts val="1254"/>
              </a:spcBef>
            </a:pPr>
            <a:endParaRPr lang="en-GB" sz="4000" dirty="0">
              <a:latin typeface="Comic Sans MS" panose="030F0702030302020204" pitchFamily="66" charset="0"/>
              <a:cs typeface="Comic Sans MS"/>
            </a:endParaRPr>
          </a:p>
          <a:p>
            <a:pPr marL="16435" marR="6574" defTabSz="1183325">
              <a:tabLst>
                <a:tab pos="1576945" algn="l"/>
              </a:tabLst>
            </a:pPr>
            <a:r>
              <a:rPr lang="en-GB" sz="4000" spc="-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Storing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information</a:t>
            </a:r>
            <a:r>
              <a:rPr lang="en-GB" sz="4000" spc="-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is</a:t>
            </a:r>
            <a:r>
              <a:rPr lang="en-GB" sz="40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useful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when</a:t>
            </a:r>
            <a:r>
              <a:rPr lang="en-GB" sz="4000" spc="-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you want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to</a:t>
            </a:r>
            <a:r>
              <a:rPr lang="en-GB" sz="4000" spc="13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reuse</a:t>
            </a:r>
            <a:r>
              <a:rPr lang="en-GB" sz="4000" spc="-26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that </a:t>
            </a:r>
            <a:r>
              <a:rPr lang="en-GB" sz="4000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information</a:t>
            </a:r>
            <a:r>
              <a:rPr lang="en-GB" sz="4000" spc="-19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many times</a:t>
            </a:r>
            <a:r>
              <a:rPr lang="en-GB" sz="4000" spc="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or use</a:t>
            </a:r>
            <a:r>
              <a:rPr lang="en-GB" sz="4000" spc="-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it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at</a:t>
            </a:r>
            <a:r>
              <a:rPr lang="en-GB" sz="4000" spc="-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different</a:t>
            </a:r>
            <a:r>
              <a:rPr lang="en-GB" sz="4000" spc="-32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times</a:t>
            </a:r>
            <a:r>
              <a:rPr lang="en-GB" sz="4000" spc="-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while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running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dirty="0">
                <a:latin typeface="Comic Sans MS" panose="030F0702030302020204" pitchFamily="66" charset="0"/>
                <a:cs typeface="Comic Sans MS"/>
              </a:rPr>
              <a:t>a</a:t>
            </a:r>
            <a:r>
              <a:rPr lang="en-GB" sz="4000" spc="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4000" spc="-13" dirty="0">
                <a:latin typeface="Comic Sans MS" panose="030F0702030302020204" pitchFamily="66" charset="0"/>
                <a:cs typeface="Comic Sans MS"/>
              </a:rPr>
              <a:t>program.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Think “kitchen containers”: you pick the </a:t>
            </a:r>
            <a:r>
              <a:rPr lang="en-GB" sz="2400" b="1" dirty="0">
                <a:latin typeface="Comic Sans MS" panose="030F0702030302020204" pitchFamily="66" charset="0"/>
              </a:rPr>
              <a:t>right size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label</a:t>
            </a:r>
            <a:r>
              <a:rPr lang="en-GB" sz="2400" dirty="0">
                <a:latin typeface="Comic Sans MS" panose="030F0702030302020204" pitchFamily="66" charset="0"/>
              </a:rPr>
              <a:t> it for what it holds.</a:t>
            </a:r>
          </a:p>
        </p:txBody>
      </p:sp>
    </p:spTree>
    <p:extLst>
      <p:ext uri="{BB962C8B-B14F-4D97-AF65-F5344CB8AC3E}">
        <p14:creationId xmlns:p14="http://schemas.microsoft.com/office/powerpoint/2010/main" val="39944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71370F-B93E-1EF4-E9F1-8E9A4A9F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0552AA7F-9677-290E-9E43-A22C8D68DC9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48"/>
              </a:spcBef>
            </a:pPr>
            <a:r>
              <a:rPr lang="sv-SE" sz="4000" b="1" dirty="0">
                <a:latin typeface="Comic Sans MS" panose="030F0702030302020204" pitchFamily="66" charset="0"/>
              </a:rPr>
              <a:t>In</a:t>
            </a:r>
            <a:r>
              <a:rPr lang="sv-SE" sz="4000" b="1" spc="-19" dirty="0">
                <a:latin typeface="Comic Sans MS" panose="030F0702030302020204" pitchFamily="66" charset="0"/>
              </a:rPr>
              <a:t> </a:t>
            </a:r>
            <a:r>
              <a:rPr lang="sv-SE" sz="4000" b="1" dirty="0">
                <a:latin typeface="Comic Sans MS" panose="030F0702030302020204" pitchFamily="66" charset="0"/>
              </a:rPr>
              <a:t>the</a:t>
            </a:r>
            <a:r>
              <a:rPr lang="sv-SE" sz="4000" b="1" spc="65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 err="1">
                <a:latin typeface="Comic Sans MS" panose="030F0702030302020204" pitchFamily="66" charset="0"/>
              </a:rPr>
              <a:t>kitchen</a:t>
            </a:r>
            <a:endParaRPr lang="sv-SE" sz="4000" b="1" spc="-13" dirty="0">
              <a:latin typeface="Comic Sans MS" panose="030F0702030302020204" pitchFamily="66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5625" y="6981713"/>
            <a:ext cx="1546231" cy="1214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7035" y="2583324"/>
            <a:ext cx="1252620" cy="7719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4637" y="2559961"/>
            <a:ext cx="1601454" cy="10018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2306" y="5322006"/>
            <a:ext cx="1018556" cy="10643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9952" y="5086476"/>
            <a:ext cx="1389793" cy="145343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0068" y="4799058"/>
            <a:ext cx="1661855" cy="17377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811" y="2520517"/>
            <a:ext cx="644920" cy="739587"/>
          </a:xfrm>
          <a:prstGeom prst="rect">
            <a:avLst/>
          </a:prstGeom>
        </p:spPr>
      </p:pic>
      <p:pic>
        <p:nvPicPr>
          <p:cNvPr id="3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1116" y="3861637"/>
            <a:ext cx="926949" cy="3944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52512" y="3873470"/>
            <a:ext cx="1451564" cy="42205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2470" y="3861637"/>
            <a:ext cx="2114235" cy="43389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13710" y="3443524"/>
            <a:ext cx="4196915" cy="126222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6726" y="7245993"/>
            <a:ext cx="946672" cy="72578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37749" y="7044825"/>
            <a:ext cx="1798677" cy="132534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03991" y="5403926"/>
            <a:ext cx="3723579" cy="291496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645457" y="2519895"/>
            <a:ext cx="2457898" cy="608278"/>
          </a:xfrm>
          <a:prstGeom prst="rect">
            <a:avLst/>
          </a:prstGeom>
        </p:spPr>
        <p:txBody>
          <a:bodyPr vert="horz" wrap="square" lIns="0" tIns="20544" rIns="0" bIns="0" rtlCol="0">
            <a:spAutoFit/>
          </a:bodyPr>
          <a:lstStyle/>
          <a:p>
            <a:pPr marL="16435" defTabSz="1183325">
              <a:spcBef>
                <a:spcPts val="162"/>
              </a:spcBef>
            </a:pPr>
            <a:r>
              <a:rPr sz="3818" spc="-13" dirty="0">
                <a:solidFill>
                  <a:srgbClr val="FF0000"/>
                </a:solidFill>
                <a:latin typeface="Comic Sans MS"/>
                <a:cs typeface="Comic Sans MS"/>
              </a:rPr>
              <a:t>Containers</a:t>
            </a:r>
            <a:endParaRPr sz="3818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86222" y="5462432"/>
            <a:ext cx="2554045" cy="674528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marR="6574" defTabSz="1183325">
              <a:spcBef>
                <a:spcPts val="136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Can</a:t>
            </a:r>
            <a:r>
              <a:rPr sz="2135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you</a:t>
            </a:r>
            <a:r>
              <a:rPr sz="2135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use</a:t>
            </a:r>
            <a:r>
              <a:rPr sz="2135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this</a:t>
            </a:r>
            <a:r>
              <a:rPr sz="2135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32" dirty="0">
                <a:solidFill>
                  <a:srgbClr val="FF0000"/>
                </a:solidFill>
                <a:latin typeface="Comic Sans MS"/>
                <a:cs typeface="Comic Sans MS"/>
              </a:rPr>
              <a:t>for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one</a:t>
            </a:r>
            <a:r>
              <a:rPr sz="2135" spc="-1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26" dirty="0">
                <a:solidFill>
                  <a:srgbClr val="FF0000"/>
                </a:solidFill>
                <a:latin typeface="Comic Sans MS"/>
                <a:cs typeface="Comic Sans MS"/>
              </a:rPr>
              <a:t>Egg?</a:t>
            </a:r>
            <a:endParaRPr sz="2135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879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2253B5-2463-CB04-71D0-523A849A2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1706490-B7D1-B69D-72A3-8101DA384848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Anatomy of a Variable (RAM view)</a:t>
            </a:r>
            <a:endParaRPr lang="en-GB" sz="4000" dirty="0">
              <a:latin typeface="Comic Sans MS" panose="030F0702030302020204" pitchFamily="66" charset="0"/>
            </a:endParaRPr>
          </a:p>
        </p:txBody>
      </p:sp>
      <p:grpSp>
        <p:nvGrpSpPr>
          <p:cNvPr id="19" name="object 2"/>
          <p:cNvGrpSpPr/>
          <p:nvPr/>
        </p:nvGrpSpPr>
        <p:grpSpPr>
          <a:xfrm>
            <a:off x="3120075" y="2212849"/>
            <a:ext cx="6911041" cy="3069291"/>
            <a:chOff x="2258567" y="1709928"/>
            <a:chExt cx="5340350" cy="2371725"/>
          </a:xfrm>
        </p:grpSpPr>
        <p:pic>
          <p:nvPicPr>
            <p:cNvPr id="20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8567" y="1709928"/>
              <a:ext cx="5340096" cy="1482851"/>
            </a:xfrm>
            <a:prstGeom prst="rect">
              <a:avLst/>
            </a:prstGeom>
          </p:spPr>
        </p:pic>
        <p:sp>
          <p:nvSpPr>
            <p:cNvPr id="21" name="object 4"/>
            <p:cNvSpPr/>
            <p:nvPr/>
          </p:nvSpPr>
          <p:spPr>
            <a:xfrm>
              <a:off x="3195827" y="2868167"/>
              <a:ext cx="1188720" cy="1213485"/>
            </a:xfrm>
            <a:custGeom>
              <a:avLst/>
              <a:gdLst/>
              <a:ahLst/>
              <a:cxnLst/>
              <a:rect l="l" t="t" r="r" b="b"/>
              <a:pathLst>
                <a:path w="1188720" h="1213485">
                  <a:moveTo>
                    <a:pt x="847344" y="1213104"/>
                  </a:moveTo>
                  <a:lnTo>
                    <a:pt x="847344" y="1193291"/>
                  </a:lnTo>
                  <a:lnTo>
                    <a:pt x="850392" y="1176527"/>
                  </a:lnTo>
                  <a:lnTo>
                    <a:pt x="870204" y="1138427"/>
                  </a:lnTo>
                  <a:lnTo>
                    <a:pt x="902208" y="1117091"/>
                  </a:lnTo>
                  <a:lnTo>
                    <a:pt x="937260" y="1098804"/>
                  </a:lnTo>
                  <a:lnTo>
                    <a:pt x="947927" y="1092708"/>
                  </a:lnTo>
                  <a:lnTo>
                    <a:pt x="958596" y="1085087"/>
                  </a:lnTo>
                  <a:lnTo>
                    <a:pt x="967740" y="1075943"/>
                  </a:lnTo>
                  <a:lnTo>
                    <a:pt x="976883" y="1065275"/>
                  </a:lnTo>
                  <a:lnTo>
                    <a:pt x="918971" y="1050035"/>
                  </a:lnTo>
                  <a:lnTo>
                    <a:pt x="864108" y="1034795"/>
                  </a:lnTo>
                  <a:lnTo>
                    <a:pt x="807719" y="1016508"/>
                  </a:lnTo>
                  <a:lnTo>
                    <a:pt x="752856" y="996695"/>
                  </a:lnTo>
                  <a:lnTo>
                    <a:pt x="697992" y="975360"/>
                  </a:lnTo>
                  <a:lnTo>
                    <a:pt x="644651" y="952500"/>
                  </a:lnTo>
                  <a:lnTo>
                    <a:pt x="592836" y="926591"/>
                  </a:lnTo>
                  <a:lnTo>
                    <a:pt x="541020" y="899160"/>
                  </a:lnTo>
                  <a:lnTo>
                    <a:pt x="492251" y="871727"/>
                  </a:lnTo>
                  <a:lnTo>
                    <a:pt x="445007" y="839724"/>
                  </a:lnTo>
                  <a:lnTo>
                    <a:pt x="399288" y="806195"/>
                  </a:lnTo>
                  <a:lnTo>
                    <a:pt x="353568" y="771143"/>
                  </a:lnTo>
                  <a:lnTo>
                    <a:pt x="310895" y="733043"/>
                  </a:lnTo>
                  <a:lnTo>
                    <a:pt x="271271" y="691895"/>
                  </a:lnTo>
                  <a:lnTo>
                    <a:pt x="233171" y="650747"/>
                  </a:lnTo>
                  <a:lnTo>
                    <a:pt x="196595" y="605028"/>
                  </a:lnTo>
                  <a:lnTo>
                    <a:pt x="161543" y="557784"/>
                  </a:lnTo>
                  <a:lnTo>
                    <a:pt x="131063" y="507491"/>
                  </a:lnTo>
                  <a:lnTo>
                    <a:pt x="102107" y="455676"/>
                  </a:lnTo>
                  <a:lnTo>
                    <a:pt x="76199" y="399287"/>
                  </a:lnTo>
                  <a:lnTo>
                    <a:pt x="53339" y="342900"/>
                  </a:lnTo>
                  <a:lnTo>
                    <a:pt x="33527" y="280416"/>
                  </a:lnTo>
                  <a:lnTo>
                    <a:pt x="27431" y="262128"/>
                  </a:lnTo>
                  <a:lnTo>
                    <a:pt x="22859" y="243840"/>
                  </a:lnTo>
                  <a:lnTo>
                    <a:pt x="10667" y="201168"/>
                  </a:lnTo>
                  <a:lnTo>
                    <a:pt x="1523" y="153924"/>
                  </a:lnTo>
                  <a:lnTo>
                    <a:pt x="0" y="129539"/>
                  </a:lnTo>
                  <a:lnTo>
                    <a:pt x="0" y="106679"/>
                  </a:lnTo>
                  <a:lnTo>
                    <a:pt x="4571" y="59436"/>
                  </a:lnTo>
                  <a:lnTo>
                    <a:pt x="19811" y="18288"/>
                  </a:lnTo>
                  <a:lnTo>
                    <a:pt x="33527" y="0"/>
                  </a:lnTo>
                  <a:lnTo>
                    <a:pt x="56387" y="0"/>
                  </a:lnTo>
                  <a:lnTo>
                    <a:pt x="67055" y="71628"/>
                  </a:lnTo>
                  <a:lnTo>
                    <a:pt x="79247" y="140208"/>
                  </a:lnTo>
                  <a:lnTo>
                    <a:pt x="96011" y="205740"/>
                  </a:lnTo>
                  <a:lnTo>
                    <a:pt x="112775" y="269748"/>
                  </a:lnTo>
                  <a:lnTo>
                    <a:pt x="135635" y="329184"/>
                  </a:lnTo>
                  <a:lnTo>
                    <a:pt x="160019" y="387095"/>
                  </a:lnTo>
                  <a:lnTo>
                    <a:pt x="187451" y="441960"/>
                  </a:lnTo>
                  <a:lnTo>
                    <a:pt x="217931" y="493776"/>
                  </a:lnTo>
                  <a:lnTo>
                    <a:pt x="249936" y="544067"/>
                  </a:lnTo>
                  <a:lnTo>
                    <a:pt x="286512" y="589787"/>
                  </a:lnTo>
                  <a:lnTo>
                    <a:pt x="324612" y="633983"/>
                  </a:lnTo>
                  <a:lnTo>
                    <a:pt x="364236" y="675131"/>
                  </a:lnTo>
                  <a:lnTo>
                    <a:pt x="408431" y="713231"/>
                  </a:lnTo>
                  <a:lnTo>
                    <a:pt x="454151" y="749808"/>
                  </a:lnTo>
                  <a:lnTo>
                    <a:pt x="501396" y="780287"/>
                  </a:lnTo>
                  <a:lnTo>
                    <a:pt x="550164" y="810768"/>
                  </a:lnTo>
                  <a:lnTo>
                    <a:pt x="603503" y="838200"/>
                  </a:lnTo>
                  <a:lnTo>
                    <a:pt x="656844" y="861060"/>
                  </a:lnTo>
                  <a:lnTo>
                    <a:pt x="713231" y="882395"/>
                  </a:lnTo>
                  <a:lnTo>
                    <a:pt x="772667" y="902208"/>
                  </a:lnTo>
                  <a:lnTo>
                    <a:pt x="832104" y="917447"/>
                  </a:lnTo>
                  <a:lnTo>
                    <a:pt x="894588" y="929639"/>
                  </a:lnTo>
                  <a:lnTo>
                    <a:pt x="958596" y="940308"/>
                  </a:lnTo>
                  <a:lnTo>
                    <a:pt x="1024127" y="947927"/>
                  </a:lnTo>
                  <a:lnTo>
                    <a:pt x="1019556" y="931164"/>
                  </a:lnTo>
                  <a:lnTo>
                    <a:pt x="1011935" y="917447"/>
                  </a:lnTo>
                  <a:lnTo>
                    <a:pt x="1005840" y="903731"/>
                  </a:lnTo>
                  <a:lnTo>
                    <a:pt x="996696" y="891539"/>
                  </a:lnTo>
                  <a:lnTo>
                    <a:pt x="969263" y="859535"/>
                  </a:lnTo>
                  <a:lnTo>
                    <a:pt x="958596" y="850391"/>
                  </a:lnTo>
                  <a:lnTo>
                    <a:pt x="950975" y="839724"/>
                  </a:lnTo>
                  <a:lnTo>
                    <a:pt x="928115" y="803147"/>
                  </a:lnTo>
                  <a:lnTo>
                    <a:pt x="917448" y="748283"/>
                  </a:lnTo>
                  <a:lnTo>
                    <a:pt x="917448" y="723900"/>
                  </a:lnTo>
                  <a:lnTo>
                    <a:pt x="931163" y="722375"/>
                  </a:lnTo>
                  <a:lnTo>
                    <a:pt x="946404" y="722375"/>
                  </a:lnTo>
                  <a:lnTo>
                    <a:pt x="996696" y="745235"/>
                  </a:lnTo>
                  <a:lnTo>
                    <a:pt x="1033271" y="775716"/>
                  </a:lnTo>
                  <a:lnTo>
                    <a:pt x="1053083" y="792479"/>
                  </a:lnTo>
                  <a:lnTo>
                    <a:pt x="1106423" y="853439"/>
                  </a:lnTo>
                  <a:lnTo>
                    <a:pt x="1136904" y="897635"/>
                  </a:lnTo>
                  <a:lnTo>
                    <a:pt x="1162812" y="941831"/>
                  </a:lnTo>
                  <a:lnTo>
                    <a:pt x="1181100" y="984504"/>
                  </a:lnTo>
                  <a:lnTo>
                    <a:pt x="1188719" y="1019556"/>
                  </a:lnTo>
                  <a:lnTo>
                    <a:pt x="1188719" y="1034795"/>
                  </a:lnTo>
                  <a:lnTo>
                    <a:pt x="1176527" y="1075943"/>
                  </a:lnTo>
                  <a:lnTo>
                    <a:pt x="1152144" y="1109472"/>
                  </a:lnTo>
                  <a:lnTo>
                    <a:pt x="1117092" y="1136904"/>
                  </a:lnTo>
                  <a:lnTo>
                    <a:pt x="1074419" y="1158239"/>
                  </a:lnTo>
                  <a:lnTo>
                    <a:pt x="1025652" y="1176527"/>
                  </a:lnTo>
                  <a:lnTo>
                    <a:pt x="922019" y="1200912"/>
                  </a:lnTo>
                  <a:lnTo>
                    <a:pt x="870204" y="1210056"/>
                  </a:lnTo>
                  <a:lnTo>
                    <a:pt x="847344" y="1213104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2" name="object 5"/>
          <p:cNvSpPr/>
          <p:nvPr/>
        </p:nvSpPr>
        <p:spPr>
          <a:xfrm>
            <a:off x="11036627" y="4546003"/>
            <a:ext cx="953247" cy="1252369"/>
          </a:xfrm>
          <a:custGeom>
            <a:avLst/>
            <a:gdLst/>
            <a:ahLst/>
            <a:cxnLst/>
            <a:rect l="l" t="t" r="r" b="b"/>
            <a:pathLst>
              <a:path w="736600" h="967739">
                <a:moveTo>
                  <a:pt x="47244" y="967740"/>
                </a:moveTo>
                <a:lnTo>
                  <a:pt x="32004" y="964692"/>
                </a:lnTo>
                <a:lnTo>
                  <a:pt x="16764" y="960120"/>
                </a:lnTo>
                <a:lnTo>
                  <a:pt x="3048" y="952500"/>
                </a:lnTo>
                <a:lnTo>
                  <a:pt x="0" y="934212"/>
                </a:lnTo>
                <a:lnTo>
                  <a:pt x="47244" y="920496"/>
                </a:lnTo>
                <a:lnTo>
                  <a:pt x="92964" y="903732"/>
                </a:lnTo>
                <a:lnTo>
                  <a:pt x="135636" y="885444"/>
                </a:lnTo>
                <a:lnTo>
                  <a:pt x="176783" y="865632"/>
                </a:lnTo>
                <a:lnTo>
                  <a:pt x="214883" y="844296"/>
                </a:lnTo>
                <a:lnTo>
                  <a:pt x="251459" y="819912"/>
                </a:lnTo>
                <a:lnTo>
                  <a:pt x="284988" y="794004"/>
                </a:lnTo>
                <a:lnTo>
                  <a:pt x="316991" y="766572"/>
                </a:lnTo>
                <a:lnTo>
                  <a:pt x="347472" y="739140"/>
                </a:lnTo>
                <a:lnTo>
                  <a:pt x="374904" y="707136"/>
                </a:lnTo>
                <a:lnTo>
                  <a:pt x="400812" y="675132"/>
                </a:lnTo>
                <a:lnTo>
                  <a:pt x="423672" y="641604"/>
                </a:lnTo>
                <a:lnTo>
                  <a:pt x="445008" y="605028"/>
                </a:lnTo>
                <a:lnTo>
                  <a:pt x="464819" y="568452"/>
                </a:lnTo>
                <a:lnTo>
                  <a:pt x="480060" y="530352"/>
                </a:lnTo>
                <a:lnTo>
                  <a:pt x="495300" y="490728"/>
                </a:lnTo>
                <a:lnTo>
                  <a:pt x="507491" y="449580"/>
                </a:lnTo>
                <a:lnTo>
                  <a:pt x="518160" y="406908"/>
                </a:lnTo>
                <a:lnTo>
                  <a:pt x="525780" y="364236"/>
                </a:lnTo>
                <a:lnTo>
                  <a:pt x="533400" y="318516"/>
                </a:lnTo>
                <a:lnTo>
                  <a:pt x="536448" y="272795"/>
                </a:lnTo>
                <a:lnTo>
                  <a:pt x="537972" y="227076"/>
                </a:lnTo>
                <a:lnTo>
                  <a:pt x="537972" y="178308"/>
                </a:lnTo>
                <a:lnTo>
                  <a:pt x="536448" y="129539"/>
                </a:lnTo>
                <a:lnTo>
                  <a:pt x="525780" y="135636"/>
                </a:lnTo>
                <a:lnTo>
                  <a:pt x="483108" y="178308"/>
                </a:lnTo>
                <a:lnTo>
                  <a:pt x="477012" y="187451"/>
                </a:lnTo>
                <a:lnTo>
                  <a:pt x="464819" y="202691"/>
                </a:lnTo>
                <a:lnTo>
                  <a:pt x="457200" y="210312"/>
                </a:lnTo>
                <a:lnTo>
                  <a:pt x="448056" y="214884"/>
                </a:lnTo>
                <a:lnTo>
                  <a:pt x="437387" y="220980"/>
                </a:lnTo>
                <a:lnTo>
                  <a:pt x="426719" y="225551"/>
                </a:lnTo>
                <a:lnTo>
                  <a:pt x="413004" y="227076"/>
                </a:lnTo>
                <a:lnTo>
                  <a:pt x="396239" y="230124"/>
                </a:lnTo>
                <a:lnTo>
                  <a:pt x="393191" y="220980"/>
                </a:lnTo>
                <a:lnTo>
                  <a:pt x="393191" y="196595"/>
                </a:lnTo>
                <a:lnTo>
                  <a:pt x="397763" y="184404"/>
                </a:lnTo>
                <a:lnTo>
                  <a:pt x="402336" y="169164"/>
                </a:lnTo>
                <a:lnTo>
                  <a:pt x="409956" y="155447"/>
                </a:lnTo>
                <a:lnTo>
                  <a:pt x="428243" y="124968"/>
                </a:lnTo>
                <a:lnTo>
                  <a:pt x="438912" y="109728"/>
                </a:lnTo>
                <a:lnTo>
                  <a:pt x="451104" y="94487"/>
                </a:lnTo>
                <a:lnTo>
                  <a:pt x="463295" y="77724"/>
                </a:lnTo>
                <a:lnTo>
                  <a:pt x="477012" y="65532"/>
                </a:lnTo>
                <a:lnTo>
                  <a:pt x="490728" y="51816"/>
                </a:lnTo>
                <a:lnTo>
                  <a:pt x="504443" y="39624"/>
                </a:lnTo>
                <a:lnTo>
                  <a:pt x="518160" y="28956"/>
                </a:lnTo>
                <a:lnTo>
                  <a:pt x="530352" y="18287"/>
                </a:lnTo>
                <a:lnTo>
                  <a:pt x="544067" y="10668"/>
                </a:lnTo>
                <a:lnTo>
                  <a:pt x="556260" y="4572"/>
                </a:lnTo>
                <a:lnTo>
                  <a:pt x="566928" y="1524"/>
                </a:lnTo>
                <a:lnTo>
                  <a:pt x="577595" y="0"/>
                </a:lnTo>
                <a:lnTo>
                  <a:pt x="592836" y="0"/>
                </a:lnTo>
                <a:lnTo>
                  <a:pt x="632460" y="18287"/>
                </a:lnTo>
                <a:lnTo>
                  <a:pt x="653795" y="42672"/>
                </a:lnTo>
                <a:lnTo>
                  <a:pt x="664464" y="54864"/>
                </a:lnTo>
                <a:lnTo>
                  <a:pt x="682752" y="88391"/>
                </a:lnTo>
                <a:lnTo>
                  <a:pt x="690372" y="105156"/>
                </a:lnTo>
                <a:lnTo>
                  <a:pt x="705612" y="141732"/>
                </a:lnTo>
                <a:lnTo>
                  <a:pt x="711708" y="160020"/>
                </a:lnTo>
                <a:lnTo>
                  <a:pt x="719327" y="179832"/>
                </a:lnTo>
                <a:lnTo>
                  <a:pt x="723900" y="198120"/>
                </a:lnTo>
                <a:lnTo>
                  <a:pt x="729995" y="216408"/>
                </a:lnTo>
                <a:lnTo>
                  <a:pt x="736091" y="233172"/>
                </a:lnTo>
                <a:lnTo>
                  <a:pt x="722375" y="234695"/>
                </a:lnTo>
                <a:lnTo>
                  <a:pt x="675131" y="216408"/>
                </a:lnTo>
                <a:lnTo>
                  <a:pt x="670560" y="210312"/>
                </a:lnTo>
                <a:lnTo>
                  <a:pt x="664464" y="202691"/>
                </a:lnTo>
                <a:lnTo>
                  <a:pt x="647700" y="178308"/>
                </a:lnTo>
                <a:lnTo>
                  <a:pt x="643127" y="170687"/>
                </a:lnTo>
                <a:lnTo>
                  <a:pt x="635508" y="163068"/>
                </a:lnTo>
                <a:lnTo>
                  <a:pt x="629412" y="158495"/>
                </a:lnTo>
                <a:lnTo>
                  <a:pt x="621791" y="152400"/>
                </a:lnTo>
                <a:lnTo>
                  <a:pt x="612647" y="239268"/>
                </a:lnTo>
                <a:lnTo>
                  <a:pt x="606552" y="281939"/>
                </a:lnTo>
                <a:lnTo>
                  <a:pt x="598932" y="324612"/>
                </a:lnTo>
                <a:lnTo>
                  <a:pt x="580643" y="406908"/>
                </a:lnTo>
                <a:lnTo>
                  <a:pt x="569976" y="448056"/>
                </a:lnTo>
                <a:lnTo>
                  <a:pt x="556260" y="489204"/>
                </a:lnTo>
                <a:lnTo>
                  <a:pt x="542543" y="527304"/>
                </a:lnTo>
                <a:lnTo>
                  <a:pt x="525780" y="565404"/>
                </a:lnTo>
                <a:lnTo>
                  <a:pt x="509015" y="601980"/>
                </a:lnTo>
                <a:lnTo>
                  <a:pt x="489204" y="640080"/>
                </a:lnTo>
                <a:lnTo>
                  <a:pt x="469391" y="675132"/>
                </a:lnTo>
                <a:lnTo>
                  <a:pt x="445008" y="707136"/>
                </a:lnTo>
                <a:lnTo>
                  <a:pt x="422148" y="740664"/>
                </a:lnTo>
                <a:lnTo>
                  <a:pt x="394715" y="771144"/>
                </a:lnTo>
                <a:lnTo>
                  <a:pt x="365760" y="801624"/>
                </a:lnTo>
                <a:lnTo>
                  <a:pt x="335280" y="829056"/>
                </a:lnTo>
                <a:lnTo>
                  <a:pt x="303276" y="854964"/>
                </a:lnTo>
                <a:lnTo>
                  <a:pt x="268224" y="880872"/>
                </a:lnTo>
                <a:lnTo>
                  <a:pt x="231648" y="903732"/>
                </a:lnTo>
                <a:lnTo>
                  <a:pt x="193548" y="923544"/>
                </a:lnTo>
                <a:lnTo>
                  <a:pt x="141732" y="947928"/>
                </a:lnTo>
                <a:lnTo>
                  <a:pt x="94488" y="963168"/>
                </a:lnTo>
                <a:lnTo>
                  <a:pt x="79248" y="966216"/>
                </a:lnTo>
                <a:lnTo>
                  <a:pt x="62484" y="966216"/>
                </a:lnTo>
                <a:lnTo>
                  <a:pt x="47244" y="96774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3" name="object 6"/>
          <p:cNvSpPr txBox="1"/>
          <p:nvPr/>
        </p:nvSpPr>
        <p:spPr>
          <a:xfrm>
            <a:off x="10959041" y="4152893"/>
            <a:ext cx="175693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13" dirty="0">
                <a:solidFill>
                  <a:srgbClr val="FF0000"/>
                </a:solidFill>
                <a:latin typeface="Comic Sans MS"/>
                <a:cs typeface="Comic Sans MS"/>
              </a:rPr>
              <a:t>Location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24" name="object 7"/>
          <p:cNvSpPr txBox="1"/>
          <p:nvPr/>
        </p:nvSpPr>
        <p:spPr>
          <a:xfrm>
            <a:off x="5934455" y="5072588"/>
            <a:ext cx="1609837" cy="1142673"/>
          </a:xfrm>
          <a:prstGeom prst="rect">
            <a:avLst/>
          </a:prstGeom>
          <a:ln w="10668">
            <a:solidFill>
              <a:srgbClr val="2F528E"/>
            </a:solidFill>
          </a:ln>
        </p:spPr>
        <p:txBody>
          <a:bodyPr vert="horz" wrap="square" lIns="0" tIns="421565" rIns="0" bIns="0" rtlCol="0">
            <a:spAutoFit/>
          </a:bodyPr>
          <a:lstStyle/>
          <a:p>
            <a:pPr marL="386224" defTabSz="1183325">
              <a:spcBef>
                <a:spcPts val="3319"/>
              </a:spcBef>
            </a:pPr>
            <a:r>
              <a:rPr sz="4659" spc="-32" dirty="0">
                <a:solidFill>
                  <a:srgbClr val="FF0000"/>
                </a:solidFill>
                <a:latin typeface="Comic Sans MS"/>
                <a:cs typeface="Comic Sans MS"/>
              </a:rPr>
              <a:t>45</a:t>
            </a:r>
            <a:endParaRPr sz="4659">
              <a:latin typeface="Comic Sans MS"/>
              <a:cs typeface="Comic Sans MS"/>
            </a:endParaRPr>
          </a:p>
        </p:txBody>
      </p:sp>
      <p:sp>
        <p:nvSpPr>
          <p:cNvPr id="25" name="object 8"/>
          <p:cNvSpPr txBox="1"/>
          <p:nvPr/>
        </p:nvSpPr>
        <p:spPr>
          <a:xfrm>
            <a:off x="7589247" y="4891726"/>
            <a:ext cx="3601795" cy="1237122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14224" marR="2106975" indent="-65740" defTabSz="1183325">
              <a:lnSpc>
                <a:spcPct val="124200"/>
              </a:lnSpc>
              <a:spcBef>
                <a:spcPts val="129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Name:</a:t>
            </a:r>
            <a:r>
              <a:rPr sz="2135" spc="453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48" baseline="5050" dirty="0">
                <a:latin typeface="Comic Sans MS"/>
                <a:cs typeface="Comic Sans MS"/>
              </a:rPr>
              <a:t>Age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Value:</a:t>
            </a:r>
            <a:r>
              <a:rPr sz="2135" spc="10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48" baseline="6734" dirty="0">
                <a:latin typeface="Comic Sans MS"/>
                <a:cs typeface="Comic Sans MS"/>
              </a:rPr>
              <a:t>45</a:t>
            </a:r>
            <a:endParaRPr sz="3203" baseline="6734">
              <a:latin typeface="Comic Sans MS"/>
              <a:cs typeface="Comic Sans MS"/>
            </a:endParaRPr>
          </a:p>
          <a:p>
            <a:pPr marL="127372" defTabSz="1183325">
              <a:spcBef>
                <a:spcPts val="647"/>
              </a:spcBef>
            </a:pPr>
            <a:r>
              <a:rPr sz="3203" baseline="3367" dirty="0">
                <a:solidFill>
                  <a:srgbClr val="FF0000"/>
                </a:solidFill>
                <a:latin typeface="Comic Sans MS"/>
                <a:cs typeface="Comic Sans MS"/>
              </a:rPr>
              <a:t>Address:</a:t>
            </a:r>
            <a:r>
              <a:rPr sz="3203" spc="-97" baseline="336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latin typeface="Comic Sans MS"/>
                <a:cs typeface="Comic Sans MS"/>
              </a:rPr>
              <a:t>0x7fff5694dc58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26" name="object 9"/>
          <p:cNvSpPr txBox="1"/>
          <p:nvPr/>
        </p:nvSpPr>
        <p:spPr>
          <a:xfrm>
            <a:off x="6050198" y="4649919"/>
            <a:ext cx="1275378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26" dirty="0">
                <a:solidFill>
                  <a:srgbClr val="FF0000"/>
                </a:solidFill>
                <a:latin typeface="Comic Sans MS"/>
                <a:cs typeface="Comic Sans MS"/>
              </a:rPr>
              <a:t>Cell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27" name="object 10"/>
          <p:cNvSpPr txBox="1"/>
          <p:nvPr/>
        </p:nvSpPr>
        <p:spPr>
          <a:xfrm>
            <a:off x="1180774" y="5235611"/>
            <a:ext cx="2630469" cy="542645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defTabSz="1183325">
              <a:spcBef>
                <a:spcPts val="116"/>
              </a:spcBef>
            </a:pPr>
            <a:r>
              <a:rPr sz="3429" dirty="0">
                <a:solidFill>
                  <a:srgbClr val="2F5497"/>
                </a:solidFill>
                <a:latin typeface="Comic Sans MS"/>
                <a:cs typeface="Comic Sans MS"/>
              </a:rPr>
              <a:t>Int</a:t>
            </a:r>
            <a:r>
              <a:rPr sz="3429" spc="-39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58" dirty="0">
                <a:latin typeface="Comic Sans MS"/>
                <a:cs typeface="Comic Sans MS"/>
              </a:rPr>
              <a:t> </a:t>
            </a:r>
            <a:r>
              <a:rPr sz="3429" spc="-32" dirty="0">
                <a:latin typeface="Comic Sans MS"/>
                <a:cs typeface="Comic Sans MS"/>
              </a:rPr>
              <a:t>45</a:t>
            </a:r>
            <a:endParaRPr sz="3429">
              <a:latin typeface="Comic Sans MS"/>
              <a:cs typeface="Comic Sans MS"/>
            </a:endParaRPr>
          </a:p>
        </p:txBody>
      </p:sp>
      <p:sp>
        <p:nvSpPr>
          <p:cNvPr id="28" name="object 11"/>
          <p:cNvSpPr/>
          <p:nvPr/>
        </p:nvSpPr>
        <p:spPr>
          <a:xfrm>
            <a:off x="1611317" y="5816122"/>
            <a:ext cx="704252" cy="1387139"/>
          </a:xfrm>
          <a:custGeom>
            <a:avLst/>
            <a:gdLst/>
            <a:ahLst/>
            <a:cxnLst/>
            <a:rect l="l" t="t" r="r" b="b"/>
            <a:pathLst>
              <a:path w="544194" h="1071879">
                <a:moveTo>
                  <a:pt x="195072" y="1071371"/>
                </a:moveTo>
                <a:lnTo>
                  <a:pt x="152400" y="1062227"/>
                </a:lnTo>
                <a:lnTo>
                  <a:pt x="112776" y="1034796"/>
                </a:lnTo>
                <a:lnTo>
                  <a:pt x="74676" y="993648"/>
                </a:lnTo>
                <a:lnTo>
                  <a:pt x="51815" y="960119"/>
                </a:lnTo>
                <a:lnTo>
                  <a:pt x="41148" y="944879"/>
                </a:lnTo>
                <a:lnTo>
                  <a:pt x="28955" y="928115"/>
                </a:lnTo>
                <a:lnTo>
                  <a:pt x="19811" y="911352"/>
                </a:lnTo>
                <a:lnTo>
                  <a:pt x="9143" y="894588"/>
                </a:lnTo>
                <a:lnTo>
                  <a:pt x="0" y="880871"/>
                </a:lnTo>
                <a:lnTo>
                  <a:pt x="13715" y="874775"/>
                </a:lnTo>
                <a:lnTo>
                  <a:pt x="35052" y="871727"/>
                </a:lnTo>
                <a:lnTo>
                  <a:pt x="45719" y="873252"/>
                </a:lnTo>
                <a:lnTo>
                  <a:pt x="99059" y="911352"/>
                </a:lnTo>
                <a:lnTo>
                  <a:pt x="105155" y="917448"/>
                </a:lnTo>
                <a:lnTo>
                  <a:pt x="112776" y="923544"/>
                </a:lnTo>
                <a:lnTo>
                  <a:pt x="131063" y="929640"/>
                </a:lnTo>
                <a:lnTo>
                  <a:pt x="123443" y="886967"/>
                </a:lnTo>
                <a:lnTo>
                  <a:pt x="117348" y="844296"/>
                </a:lnTo>
                <a:lnTo>
                  <a:pt x="112776" y="801623"/>
                </a:lnTo>
                <a:lnTo>
                  <a:pt x="109728" y="758952"/>
                </a:lnTo>
                <a:lnTo>
                  <a:pt x="108204" y="714756"/>
                </a:lnTo>
                <a:lnTo>
                  <a:pt x="108204" y="673608"/>
                </a:lnTo>
                <a:lnTo>
                  <a:pt x="111252" y="588264"/>
                </a:lnTo>
                <a:lnTo>
                  <a:pt x="115824" y="547116"/>
                </a:lnTo>
                <a:lnTo>
                  <a:pt x="121919" y="505968"/>
                </a:lnTo>
                <a:lnTo>
                  <a:pt x="129539" y="466344"/>
                </a:lnTo>
                <a:lnTo>
                  <a:pt x="140207" y="426720"/>
                </a:lnTo>
                <a:lnTo>
                  <a:pt x="152400" y="387096"/>
                </a:lnTo>
                <a:lnTo>
                  <a:pt x="166115" y="348996"/>
                </a:lnTo>
                <a:lnTo>
                  <a:pt x="181355" y="310896"/>
                </a:lnTo>
                <a:lnTo>
                  <a:pt x="199643" y="274319"/>
                </a:lnTo>
                <a:lnTo>
                  <a:pt x="220980" y="239267"/>
                </a:lnTo>
                <a:lnTo>
                  <a:pt x="243839" y="204216"/>
                </a:lnTo>
                <a:lnTo>
                  <a:pt x="268224" y="170688"/>
                </a:lnTo>
                <a:lnTo>
                  <a:pt x="297179" y="138684"/>
                </a:lnTo>
                <a:lnTo>
                  <a:pt x="326136" y="108204"/>
                </a:lnTo>
                <a:lnTo>
                  <a:pt x="359663" y="77724"/>
                </a:lnTo>
                <a:lnTo>
                  <a:pt x="391667" y="51816"/>
                </a:lnTo>
                <a:lnTo>
                  <a:pt x="402335" y="42672"/>
                </a:lnTo>
                <a:lnTo>
                  <a:pt x="431291" y="24384"/>
                </a:lnTo>
                <a:lnTo>
                  <a:pt x="445007" y="16764"/>
                </a:lnTo>
                <a:lnTo>
                  <a:pt x="460247" y="9144"/>
                </a:lnTo>
                <a:lnTo>
                  <a:pt x="490727" y="0"/>
                </a:lnTo>
                <a:lnTo>
                  <a:pt x="505967" y="0"/>
                </a:lnTo>
                <a:lnTo>
                  <a:pt x="521207" y="1524"/>
                </a:lnTo>
                <a:lnTo>
                  <a:pt x="536447" y="4572"/>
                </a:lnTo>
                <a:lnTo>
                  <a:pt x="544067" y="21336"/>
                </a:lnTo>
                <a:lnTo>
                  <a:pt x="501395" y="45720"/>
                </a:lnTo>
                <a:lnTo>
                  <a:pt x="460247" y="73152"/>
                </a:lnTo>
                <a:lnTo>
                  <a:pt x="423671" y="102108"/>
                </a:lnTo>
                <a:lnTo>
                  <a:pt x="388619" y="131064"/>
                </a:lnTo>
                <a:lnTo>
                  <a:pt x="356615" y="161544"/>
                </a:lnTo>
                <a:lnTo>
                  <a:pt x="327660" y="192024"/>
                </a:lnTo>
                <a:lnTo>
                  <a:pt x="301751" y="225552"/>
                </a:lnTo>
                <a:lnTo>
                  <a:pt x="275843" y="260604"/>
                </a:lnTo>
                <a:lnTo>
                  <a:pt x="254507" y="295655"/>
                </a:lnTo>
                <a:lnTo>
                  <a:pt x="234695" y="332231"/>
                </a:lnTo>
                <a:lnTo>
                  <a:pt x="217931" y="370331"/>
                </a:lnTo>
                <a:lnTo>
                  <a:pt x="204215" y="408431"/>
                </a:lnTo>
                <a:lnTo>
                  <a:pt x="192024" y="448055"/>
                </a:lnTo>
                <a:lnTo>
                  <a:pt x="182880" y="489203"/>
                </a:lnTo>
                <a:lnTo>
                  <a:pt x="175259" y="530351"/>
                </a:lnTo>
                <a:lnTo>
                  <a:pt x="170687" y="571499"/>
                </a:lnTo>
                <a:lnTo>
                  <a:pt x="169163" y="614172"/>
                </a:lnTo>
                <a:lnTo>
                  <a:pt x="169163" y="658367"/>
                </a:lnTo>
                <a:lnTo>
                  <a:pt x="170687" y="702563"/>
                </a:lnTo>
                <a:lnTo>
                  <a:pt x="175259" y="746760"/>
                </a:lnTo>
                <a:lnTo>
                  <a:pt x="182880" y="792479"/>
                </a:lnTo>
                <a:lnTo>
                  <a:pt x="193548" y="838200"/>
                </a:lnTo>
                <a:lnTo>
                  <a:pt x="204215" y="885444"/>
                </a:lnTo>
                <a:lnTo>
                  <a:pt x="217931" y="932688"/>
                </a:lnTo>
                <a:lnTo>
                  <a:pt x="234695" y="915923"/>
                </a:lnTo>
                <a:lnTo>
                  <a:pt x="240791" y="908304"/>
                </a:lnTo>
                <a:lnTo>
                  <a:pt x="246887" y="899160"/>
                </a:lnTo>
                <a:lnTo>
                  <a:pt x="249936" y="890015"/>
                </a:lnTo>
                <a:lnTo>
                  <a:pt x="254507" y="880871"/>
                </a:lnTo>
                <a:lnTo>
                  <a:pt x="257555" y="871727"/>
                </a:lnTo>
                <a:lnTo>
                  <a:pt x="262127" y="862584"/>
                </a:lnTo>
                <a:lnTo>
                  <a:pt x="265175" y="853440"/>
                </a:lnTo>
                <a:lnTo>
                  <a:pt x="301751" y="812292"/>
                </a:lnTo>
                <a:lnTo>
                  <a:pt x="313943" y="807719"/>
                </a:lnTo>
                <a:lnTo>
                  <a:pt x="329184" y="800100"/>
                </a:lnTo>
                <a:lnTo>
                  <a:pt x="335279" y="809244"/>
                </a:lnTo>
                <a:lnTo>
                  <a:pt x="338327" y="819911"/>
                </a:lnTo>
                <a:lnTo>
                  <a:pt x="341375" y="832104"/>
                </a:lnTo>
                <a:lnTo>
                  <a:pt x="338327" y="861060"/>
                </a:lnTo>
                <a:lnTo>
                  <a:pt x="335279" y="876300"/>
                </a:lnTo>
                <a:lnTo>
                  <a:pt x="329184" y="893063"/>
                </a:lnTo>
                <a:lnTo>
                  <a:pt x="324611" y="911352"/>
                </a:lnTo>
                <a:lnTo>
                  <a:pt x="316991" y="928115"/>
                </a:lnTo>
                <a:lnTo>
                  <a:pt x="301751" y="964692"/>
                </a:lnTo>
                <a:lnTo>
                  <a:pt x="292607" y="979931"/>
                </a:lnTo>
                <a:lnTo>
                  <a:pt x="271272" y="1011936"/>
                </a:lnTo>
                <a:lnTo>
                  <a:pt x="228600" y="1057656"/>
                </a:lnTo>
                <a:lnTo>
                  <a:pt x="210311" y="1068323"/>
                </a:lnTo>
                <a:lnTo>
                  <a:pt x="195072" y="1071371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9" name="object 12"/>
          <p:cNvSpPr/>
          <p:nvPr/>
        </p:nvSpPr>
        <p:spPr>
          <a:xfrm>
            <a:off x="3774857" y="5772732"/>
            <a:ext cx="749449" cy="1367416"/>
          </a:xfrm>
          <a:custGeom>
            <a:avLst/>
            <a:gdLst/>
            <a:ahLst/>
            <a:cxnLst/>
            <a:rect l="l" t="t" r="r" b="b"/>
            <a:pathLst>
              <a:path w="579120" h="1056639">
                <a:moveTo>
                  <a:pt x="406908" y="1056132"/>
                </a:moveTo>
                <a:lnTo>
                  <a:pt x="391667" y="1056132"/>
                </a:lnTo>
                <a:lnTo>
                  <a:pt x="377952" y="1054608"/>
                </a:lnTo>
                <a:lnTo>
                  <a:pt x="368808" y="1051560"/>
                </a:lnTo>
                <a:lnTo>
                  <a:pt x="358139" y="1045464"/>
                </a:lnTo>
                <a:lnTo>
                  <a:pt x="347472" y="1036320"/>
                </a:lnTo>
                <a:lnTo>
                  <a:pt x="335280" y="1027176"/>
                </a:lnTo>
                <a:lnTo>
                  <a:pt x="324612" y="1014984"/>
                </a:lnTo>
                <a:lnTo>
                  <a:pt x="313943" y="1001268"/>
                </a:lnTo>
                <a:lnTo>
                  <a:pt x="301752" y="986028"/>
                </a:lnTo>
                <a:lnTo>
                  <a:pt x="272795" y="937260"/>
                </a:lnTo>
                <a:lnTo>
                  <a:pt x="256031" y="902208"/>
                </a:lnTo>
                <a:lnTo>
                  <a:pt x="237743" y="838199"/>
                </a:lnTo>
                <a:lnTo>
                  <a:pt x="236219" y="824484"/>
                </a:lnTo>
                <a:lnTo>
                  <a:pt x="239268" y="812291"/>
                </a:lnTo>
                <a:lnTo>
                  <a:pt x="242316" y="801624"/>
                </a:lnTo>
                <a:lnTo>
                  <a:pt x="246888" y="792480"/>
                </a:lnTo>
                <a:lnTo>
                  <a:pt x="262128" y="798576"/>
                </a:lnTo>
                <a:lnTo>
                  <a:pt x="274319" y="803147"/>
                </a:lnTo>
                <a:lnTo>
                  <a:pt x="284988" y="809243"/>
                </a:lnTo>
                <a:lnTo>
                  <a:pt x="294131" y="818387"/>
                </a:lnTo>
                <a:lnTo>
                  <a:pt x="301752" y="824484"/>
                </a:lnTo>
                <a:lnTo>
                  <a:pt x="307848" y="833628"/>
                </a:lnTo>
                <a:lnTo>
                  <a:pt x="312419" y="842772"/>
                </a:lnTo>
                <a:lnTo>
                  <a:pt x="316991" y="850391"/>
                </a:lnTo>
                <a:lnTo>
                  <a:pt x="321563" y="859535"/>
                </a:lnTo>
                <a:lnTo>
                  <a:pt x="324612" y="870203"/>
                </a:lnTo>
                <a:lnTo>
                  <a:pt x="329184" y="877824"/>
                </a:lnTo>
                <a:lnTo>
                  <a:pt x="353567" y="911351"/>
                </a:lnTo>
                <a:lnTo>
                  <a:pt x="362712" y="918972"/>
                </a:lnTo>
                <a:lnTo>
                  <a:pt x="374904" y="871728"/>
                </a:lnTo>
                <a:lnTo>
                  <a:pt x="384048" y="824484"/>
                </a:lnTo>
                <a:lnTo>
                  <a:pt x="391667" y="778764"/>
                </a:lnTo>
                <a:lnTo>
                  <a:pt x="397763" y="733043"/>
                </a:lnTo>
                <a:lnTo>
                  <a:pt x="400812" y="687324"/>
                </a:lnTo>
                <a:lnTo>
                  <a:pt x="400812" y="643128"/>
                </a:lnTo>
                <a:lnTo>
                  <a:pt x="399287" y="598932"/>
                </a:lnTo>
                <a:lnTo>
                  <a:pt x="394715" y="556260"/>
                </a:lnTo>
                <a:lnTo>
                  <a:pt x="388619" y="515112"/>
                </a:lnTo>
                <a:lnTo>
                  <a:pt x="381000" y="475488"/>
                </a:lnTo>
                <a:lnTo>
                  <a:pt x="368808" y="434340"/>
                </a:lnTo>
                <a:lnTo>
                  <a:pt x="355091" y="394716"/>
                </a:lnTo>
                <a:lnTo>
                  <a:pt x="339852" y="358140"/>
                </a:lnTo>
                <a:lnTo>
                  <a:pt x="321563" y="320040"/>
                </a:lnTo>
                <a:lnTo>
                  <a:pt x="300228" y="284988"/>
                </a:lnTo>
                <a:lnTo>
                  <a:pt x="275843" y="249936"/>
                </a:lnTo>
                <a:lnTo>
                  <a:pt x="249936" y="217932"/>
                </a:lnTo>
                <a:lnTo>
                  <a:pt x="222504" y="184403"/>
                </a:lnTo>
                <a:lnTo>
                  <a:pt x="192024" y="153924"/>
                </a:lnTo>
                <a:lnTo>
                  <a:pt x="158495" y="124968"/>
                </a:lnTo>
                <a:lnTo>
                  <a:pt x="121920" y="97536"/>
                </a:lnTo>
                <a:lnTo>
                  <a:pt x="83820" y="71628"/>
                </a:lnTo>
                <a:lnTo>
                  <a:pt x="42672" y="45720"/>
                </a:lnTo>
                <a:lnTo>
                  <a:pt x="0" y="22860"/>
                </a:lnTo>
                <a:lnTo>
                  <a:pt x="6096" y="6096"/>
                </a:lnTo>
                <a:lnTo>
                  <a:pt x="19812" y="1524"/>
                </a:lnTo>
                <a:lnTo>
                  <a:pt x="36576" y="0"/>
                </a:lnTo>
                <a:lnTo>
                  <a:pt x="51816" y="0"/>
                </a:lnTo>
                <a:lnTo>
                  <a:pt x="97536" y="13716"/>
                </a:lnTo>
                <a:lnTo>
                  <a:pt x="141732" y="38100"/>
                </a:lnTo>
                <a:lnTo>
                  <a:pt x="153924" y="47244"/>
                </a:lnTo>
                <a:lnTo>
                  <a:pt x="164592" y="54864"/>
                </a:lnTo>
                <a:lnTo>
                  <a:pt x="220980" y="100584"/>
                </a:lnTo>
                <a:lnTo>
                  <a:pt x="251459" y="129540"/>
                </a:lnTo>
                <a:lnTo>
                  <a:pt x="280416" y="161544"/>
                </a:lnTo>
                <a:lnTo>
                  <a:pt x="306323" y="193548"/>
                </a:lnTo>
                <a:lnTo>
                  <a:pt x="330708" y="227076"/>
                </a:lnTo>
                <a:lnTo>
                  <a:pt x="353567" y="262128"/>
                </a:lnTo>
                <a:lnTo>
                  <a:pt x="373380" y="297179"/>
                </a:lnTo>
                <a:lnTo>
                  <a:pt x="390143" y="333755"/>
                </a:lnTo>
                <a:lnTo>
                  <a:pt x="406908" y="371855"/>
                </a:lnTo>
                <a:lnTo>
                  <a:pt x="419100" y="409955"/>
                </a:lnTo>
                <a:lnTo>
                  <a:pt x="431291" y="449579"/>
                </a:lnTo>
                <a:lnTo>
                  <a:pt x="440436" y="489203"/>
                </a:lnTo>
                <a:lnTo>
                  <a:pt x="449580" y="530351"/>
                </a:lnTo>
                <a:lnTo>
                  <a:pt x="455676" y="571499"/>
                </a:lnTo>
                <a:lnTo>
                  <a:pt x="461772" y="655320"/>
                </a:lnTo>
                <a:lnTo>
                  <a:pt x="464819" y="740664"/>
                </a:lnTo>
                <a:lnTo>
                  <a:pt x="463295" y="783335"/>
                </a:lnTo>
                <a:lnTo>
                  <a:pt x="460248" y="827532"/>
                </a:lnTo>
                <a:lnTo>
                  <a:pt x="451104" y="912876"/>
                </a:lnTo>
                <a:lnTo>
                  <a:pt x="460248" y="909828"/>
                </a:lnTo>
                <a:lnTo>
                  <a:pt x="475487" y="900684"/>
                </a:lnTo>
                <a:lnTo>
                  <a:pt x="502919" y="873251"/>
                </a:lnTo>
                <a:lnTo>
                  <a:pt x="510539" y="867155"/>
                </a:lnTo>
                <a:lnTo>
                  <a:pt x="516636" y="861060"/>
                </a:lnTo>
                <a:lnTo>
                  <a:pt x="525780" y="856487"/>
                </a:lnTo>
                <a:lnTo>
                  <a:pt x="533400" y="853439"/>
                </a:lnTo>
                <a:lnTo>
                  <a:pt x="544067" y="851916"/>
                </a:lnTo>
                <a:lnTo>
                  <a:pt x="554736" y="851916"/>
                </a:lnTo>
                <a:lnTo>
                  <a:pt x="565404" y="853439"/>
                </a:lnTo>
                <a:lnTo>
                  <a:pt x="579119" y="858012"/>
                </a:lnTo>
                <a:lnTo>
                  <a:pt x="569976" y="873251"/>
                </a:lnTo>
                <a:lnTo>
                  <a:pt x="551687" y="906780"/>
                </a:lnTo>
                <a:lnTo>
                  <a:pt x="541019" y="923543"/>
                </a:lnTo>
                <a:lnTo>
                  <a:pt x="531876" y="940308"/>
                </a:lnTo>
                <a:lnTo>
                  <a:pt x="510539" y="973835"/>
                </a:lnTo>
                <a:lnTo>
                  <a:pt x="498348" y="989076"/>
                </a:lnTo>
                <a:lnTo>
                  <a:pt x="473963" y="1016508"/>
                </a:lnTo>
                <a:lnTo>
                  <a:pt x="461772" y="1028699"/>
                </a:lnTo>
                <a:lnTo>
                  <a:pt x="434339" y="1046987"/>
                </a:lnTo>
                <a:lnTo>
                  <a:pt x="406908" y="1056132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0" name="object 13"/>
          <p:cNvSpPr txBox="1"/>
          <p:nvPr/>
        </p:nvSpPr>
        <p:spPr>
          <a:xfrm>
            <a:off x="906528" y="7290669"/>
            <a:ext cx="1334546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Identifier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31" name="object 14"/>
          <p:cNvSpPr txBox="1"/>
          <p:nvPr/>
        </p:nvSpPr>
        <p:spPr>
          <a:xfrm>
            <a:off x="3900390" y="7276849"/>
            <a:ext cx="715757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Value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32" name="object 15"/>
          <p:cNvSpPr/>
          <p:nvPr/>
        </p:nvSpPr>
        <p:spPr>
          <a:xfrm>
            <a:off x="986118" y="3970109"/>
            <a:ext cx="659055" cy="1394535"/>
          </a:xfrm>
          <a:custGeom>
            <a:avLst/>
            <a:gdLst/>
            <a:ahLst/>
            <a:cxnLst/>
            <a:rect l="l" t="t" r="r" b="b"/>
            <a:pathLst>
              <a:path w="509269" h="1077595">
                <a:moveTo>
                  <a:pt x="112775" y="1077468"/>
                </a:moveTo>
                <a:lnTo>
                  <a:pt x="73151" y="1053084"/>
                </a:lnTo>
                <a:lnTo>
                  <a:pt x="47243" y="1013460"/>
                </a:lnTo>
                <a:lnTo>
                  <a:pt x="28955" y="967740"/>
                </a:lnTo>
                <a:lnTo>
                  <a:pt x="18287" y="925068"/>
                </a:lnTo>
                <a:lnTo>
                  <a:pt x="15239" y="912876"/>
                </a:lnTo>
                <a:lnTo>
                  <a:pt x="6095" y="868679"/>
                </a:lnTo>
                <a:lnTo>
                  <a:pt x="1523" y="826008"/>
                </a:lnTo>
                <a:lnTo>
                  <a:pt x="0" y="783336"/>
                </a:lnTo>
                <a:lnTo>
                  <a:pt x="0" y="742187"/>
                </a:lnTo>
                <a:lnTo>
                  <a:pt x="1523" y="701039"/>
                </a:lnTo>
                <a:lnTo>
                  <a:pt x="7619" y="659891"/>
                </a:lnTo>
                <a:lnTo>
                  <a:pt x="15239" y="618743"/>
                </a:lnTo>
                <a:lnTo>
                  <a:pt x="25907" y="580643"/>
                </a:lnTo>
                <a:lnTo>
                  <a:pt x="36575" y="541020"/>
                </a:lnTo>
                <a:lnTo>
                  <a:pt x="67055" y="464820"/>
                </a:lnTo>
                <a:lnTo>
                  <a:pt x="85343" y="428243"/>
                </a:lnTo>
                <a:lnTo>
                  <a:pt x="105155" y="391668"/>
                </a:lnTo>
                <a:lnTo>
                  <a:pt x="126491" y="356616"/>
                </a:lnTo>
                <a:lnTo>
                  <a:pt x="175259" y="286512"/>
                </a:lnTo>
                <a:lnTo>
                  <a:pt x="227076" y="219456"/>
                </a:lnTo>
                <a:lnTo>
                  <a:pt x="256031" y="187452"/>
                </a:lnTo>
                <a:lnTo>
                  <a:pt x="286511" y="155448"/>
                </a:lnTo>
                <a:lnTo>
                  <a:pt x="316991" y="124968"/>
                </a:lnTo>
                <a:lnTo>
                  <a:pt x="347472" y="96012"/>
                </a:lnTo>
                <a:lnTo>
                  <a:pt x="338327" y="92964"/>
                </a:lnTo>
                <a:lnTo>
                  <a:pt x="330708" y="89916"/>
                </a:lnTo>
                <a:lnTo>
                  <a:pt x="310896" y="89916"/>
                </a:lnTo>
                <a:lnTo>
                  <a:pt x="281940" y="92964"/>
                </a:lnTo>
                <a:lnTo>
                  <a:pt x="263652" y="92964"/>
                </a:lnTo>
                <a:lnTo>
                  <a:pt x="228600" y="77723"/>
                </a:lnTo>
                <a:lnTo>
                  <a:pt x="213359" y="56387"/>
                </a:lnTo>
                <a:lnTo>
                  <a:pt x="230123" y="50291"/>
                </a:lnTo>
                <a:lnTo>
                  <a:pt x="248411" y="42672"/>
                </a:lnTo>
                <a:lnTo>
                  <a:pt x="265176" y="36575"/>
                </a:lnTo>
                <a:lnTo>
                  <a:pt x="284988" y="28956"/>
                </a:lnTo>
                <a:lnTo>
                  <a:pt x="321564" y="16764"/>
                </a:lnTo>
                <a:lnTo>
                  <a:pt x="341375" y="10668"/>
                </a:lnTo>
                <a:lnTo>
                  <a:pt x="396240" y="1523"/>
                </a:lnTo>
                <a:lnTo>
                  <a:pt x="413003" y="0"/>
                </a:lnTo>
                <a:lnTo>
                  <a:pt x="445007" y="3048"/>
                </a:lnTo>
                <a:lnTo>
                  <a:pt x="484631" y="22860"/>
                </a:lnTo>
                <a:lnTo>
                  <a:pt x="509016" y="80772"/>
                </a:lnTo>
                <a:lnTo>
                  <a:pt x="509016" y="134112"/>
                </a:lnTo>
                <a:lnTo>
                  <a:pt x="507492" y="152400"/>
                </a:lnTo>
                <a:lnTo>
                  <a:pt x="504444" y="172212"/>
                </a:lnTo>
                <a:lnTo>
                  <a:pt x="499872" y="190500"/>
                </a:lnTo>
                <a:lnTo>
                  <a:pt x="495300" y="210312"/>
                </a:lnTo>
                <a:lnTo>
                  <a:pt x="478535" y="260604"/>
                </a:lnTo>
                <a:lnTo>
                  <a:pt x="455676" y="300227"/>
                </a:lnTo>
                <a:lnTo>
                  <a:pt x="428244" y="318516"/>
                </a:lnTo>
                <a:lnTo>
                  <a:pt x="420623" y="304800"/>
                </a:lnTo>
                <a:lnTo>
                  <a:pt x="413003" y="292608"/>
                </a:lnTo>
                <a:lnTo>
                  <a:pt x="406908" y="268223"/>
                </a:lnTo>
                <a:lnTo>
                  <a:pt x="406908" y="248412"/>
                </a:lnTo>
                <a:lnTo>
                  <a:pt x="408432" y="237743"/>
                </a:lnTo>
                <a:lnTo>
                  <a:pt x="414528" y="219456"/>
                </a:lnTo>
                <a:lnTo>
                  <a:pt x="417575" y="208787"/>
                </a:lnTo>
                <a:lnTo>
                  <a:pt x="419099" y="199643"/>
                </a:lnTo>
                <a:lnTo>
                  <a:pt x="422147" y="190500"/>
                </a:lnTo>
                <a:lnTo>
                  <a:pt x="423672" y="179831"/>
                </a:lnTo>
                <a:lnTo>
                  <a:pt x="422147" y="169164"/>
                </a:lnTo>
                <a:lnTo>
                  <a:pt x="422147" y="158496"/>
                </a:lnTo>
                <a:lnTo>
                  <a:pt x="419099" y="146304"/>
                </a:lnTo>
                <a:lnTo>
                  <a:pt x="379475" y="176783"/>
                </a:lnTo>
                <a:lnTo>
                  <a:pt x="342899" y="205739"/>
                </a:lnTo>
                <a:lnTo>
                  <a:pt x="307847" y="236220"/>
                </a:lnTo>
                <a:lnTo>
                  <a:pt x="272795" y="268223"/>
                </a:lnTo>
                <a:lnTo>
                  <a:pt x="242315" y="301752"/>
                </a:lnTo>
                <a:lnTo>
                  <a:pt x="213359" y="335279"/>
                </a:lnTo>
                <a:lnTo>
                  <a:pt x="187451" y="370331"/>
                </a:lnTo>
                <a:lnTo>
                  <a:pt x="163067" y="405383"/>
                </a:lnTo>
                <a:lnTo>
                  <a:pt x="141731" y="441960"/>
                </a:lnTo>
                <a:lnTo>
                  <a:pt x="123443" y="478535"/>
                </a:lnTo>
                <a:lnTo>
                  <a:pt x="105155" y="516635"/>
                </a:lnTo>
                <a:lnTo>
                  <a:pt x="91439" y="554735"/>
                </a:lnTo>
                <a:lnTo>
                  <a:pt x="79247" y="594360"/>
                </a:lnTo>
                <a:lnTo>
                  <a:pt x="70103" y="635508"/>
                </a:lnTo>
                <a:lnTo>
                  <a:pt x="62483" y="675132"/>
                </a:lnTo>
                <a:lnTo>
                  <a:pt x="59435" y="717804"/>
                </a:lnTo>
                <a:lnTo>
                  <a:pt x="57911" y="758952"/>
                </a:lnTo>
                <a:lnTo>
                  <a:pt x="59435" y="801624"/>
                </a:lnTo>
                <a:lnTo>
                  <a:pt x="64007" y="845820"/>
                </a:lnTo>
                <a:lnTo>
                  <a:pt x="70103" y="888491"/>
                </a:lnTo>
                <a:lnTo>
                  <a:pt x="80771" y="932688"/>
                </a:lnTo>
                <a:lnTo>
                  <a:pt x="92963" y="978408"/>
                </a:lnTo>
                <a:lnTo>
                  <a:pt x="109727" y="1024128"/>
                </a:lnTo>
                <a:lnTo>
                  <a:pt x="128015" y="1069848"/>
                </a:lnTo>
                <a:lnTo>
                  <a:pt x="112775" y="1077468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3" name="object 16"/>
          <p:cNvSpPr txBox="1"/>
          <p:nvPr/>
        </p:nvSpPr>
        <p:spPr>
          <a:xfrm>
            <a:off x="1450866" y="3515784"/>
            <a:ext cx="655768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spc="-26" dirty="0">
                <a:solidFill>
                  <a:srgbClr val="FF0000"/>
                </a:solidFill>
                <a:latin typeface="Comic Sans MS"/>
                <a:cs typeface="Comic Sans MS"/>
              </a:rPr>
              <a:t>Type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34" name="object 17"/>
          <p:cNvSpPr txBox="1"/>
          <p:nvPr/>
        </p:nvSpPr>
        <p:spPr>
          <a:xfrm>
            <a:off x="6547118" y="1851229"/>
            <a:ext cx="517712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spc="-32" dirty="0">
                <a:solidFill>
                  <a:srgbClr val="FF0000"/>
                </a:solidFill>
                <a:latin typeface="Comic Sans MS"/>
                <a:cs typeface="Comic Sans MS"/>
              </a:rPr>
              <a:t>RAM</a:t>
            </a:r>
            <a:endParaRPr sz="1682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221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214D3A-D4D1-85B8-C9E6-3E27A389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DB426C1A-7BB3-8D13-631B-FA45B792558E}"/>
              </a:ext>
            </a:extLst>
          </p:cNvPr>
          <p:cNvSpPr txBox="1"/>
          <p:nvPr/>
        </p:nvSpPr>
        <p:spPr>
          <a:xfrm>
            <a:off x="381000" y="888075"/>
            <a:ext cx="12352767" cy="23719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For a single variable you always have: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🟨 Address</a:t>
            </a:r>
            <a:r>
              <a:rPr lang="en-GB" sz="2400" dirty="0">
                <a:latin typeface="Comic Sans MS" panose="030F0702030302020204" pitchFamily="66" charset="0"/>
              </a:rPr>
              <a:t> (e.g., 0x7fff...) → Location in memory (</a:t>
            </a:r>
            <a:r>
              <a:rPr lang="en-GB" sz="2400" b="1" dirty="0">
                <a:latin typeface="Comic Sans MS" panose="030F0702030302020204" pitchFamily="66" charset="0"/>
              </a:rPr>
              <a:t>hexadecimal</a:t>
            </a:r>
            <a:r>
              <a:rPr lang="en-GB" sz="2400" dirty="0">
                <a:latin typeface="Comic Sans MS" panose="030F0702030302020204" pitchFamily="66" charset="0"/>
              </a:rPr>
              <a:t>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Type</a:t>
            </a:r>
            <a:r>
              <a:rPr lang="en-GB" sz="2400" dirty="0">
                <a:latin typeface="Comic Sans MS" panose="030F0702030302020204" pitchFamily="66" charset="0"/>
              </a:rPr>
              <a:t> (e.g., Int, Float, String, Boolean)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Identifier (Name)</a:t>
            </a:r>
            <a:r>
              <a:rPr lang="en-GB" sz="2400" dirty="0">
                <a:latin typeface="Comic Sans MS" panose="030F0702030302020204" pitchFamily="66" charset="0"/>
              </a:rPr>
              <a:t> (e.g., Age)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Value</a:t>
            </a:r>
            <a:r>
              <a:rPr lang="en-GB" sz="2400" dirty="0">
                <a:latin typeface="Comic Sans MS" panose="030F0702030302020204" pitchFamily="66" charset="0"/>
              </a:rPr>
              <a:t> (e.g., 45)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🟨 Memory Cell</a:t>
            </a:r>
            <a:r>
              <a:rPr lang="en-GB" sz="2400" dirty="0">
                <a:latin typeface="Comic Sans MS" panose="030F0702030302020204" pitchFamily="66" charset="0"/>
              </a:rPr>
              <a:t> (the physical slot that holds the bits)</a:t>
            </a:r>
          </a:p>
        </p:txBody>
      </p:sp>
    </p:spTree>
    <p:extLst>
      <p:ext uri="{BB962C8B-B14F-4D97-AF65-F5344CB8AC3E}">
        <p14:creationId xmlns:p14="http://schemas.microsoft.com/office/powerpoint/2010/main" val="2325653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F15C3D-B340-4572-BBB2-9D7151F3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906AF501-492C-82C2-B750-E6963A96752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Anatomy of a Variable (RAM view)</a:t>
            </a:r>
            <a:endParaRPr lang="en-GB" sz="4000" dirty="0">
              <a:latin typeface="Comic Sans MS" panose="030F0702030302020204" pitchFamily="66" charset="0"/>
            </a:endParaRPr>
          </a:p>
        </p:txBody>
      </p:sp>
      <p:grpSp>
        <p:nvGrpSpPr>
          <p:cNvPr id="19" name="object 2">
            <a:extLst>
              <a:ext uri="{FF2B5EF4-FFF2-40B4-BE49-F238E27FC236}">
                <a16:creationId xmlns:a16="http://schemas.microsoft.com/office/drawing/2014/main" id="{2C21CB12-3055-6219-33A4-FA5396FBA7AA}"/>
              </a:ext>
            </a:extLst>
          </p:cNvPr>
          <p:cNvGrpSpPr/>
          <p:nvPr/>
        </p:nvGrpSpPr>
        <p:grpSpPr>
          <a:xfrm>
            <a:off x="3120075" y="2212849"/>
            <a:ext cx="6911041" cy="3069291"/>
            <a:chOff x="2258567" y="1709928"/>
            <a:chExt cx="5340350" cy="2371725"/>
          </a:xfrm>
        </p:grpSpPr>
        <p:pic>
          <p:nvPicPr>
            <p:cNvPr id="20" name="object 3">
              <a:extLst>
                <a:ext uri="{FF2B5EF4-FFF2-40B4-BE49-F238E27FC236}">
                  <a16:creationId xmlns:a16="http://schemas.microsoft.com/office/drawing/2014/main" id="{4B530909-D5FB-F02C-6230-05F980690E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8567" y="1709928"/>
              <a:ext cx="5340096" cy="1482851"/>
            </a:xfrm>
            <a:prstGeom prst="rect">
              <a:avLst/>
            </a:prstGeom>
          </p:spPr>
        </p:pic>
        <p:sp>
          <p:nvSpPr>
            <p:cNvPr id="21" name="object 4">
              <a:extLst>
                <a:ext uri="{FF2B5EF4-FFF2-40B4-BE49-F238E27FC236}">
                  <a16:creationId xmlns:a16="http://schemas.microsoft.com/office/drawing/2014/main" id="{E6C4AC32-E51A-905C-8426-9D2081A7A71D}"/>
                </a:ext>
              </a:extLst>
            </p:cNvPr>
            <p:cNvSpPr/>
            <p:nvPr/>
          </p:nvSpPr>
          <p:spPr>
            <a:xfrm>
              <a:off x="3195827" y="2868167"/>
              <a:ext cx="1188720" cy="1213485"/>
            </a:xfrm>
            <a:custGeom>
              <a:avLst/>
              <a:gdLst/>
              <a:ahLst/>
              <a:cxnLst/>
              <a:rect l="l" t="t" r="r" b="b"/>
              <a:pathLst>
                <a:path w="1188720" h="1213485">
                  <a:moveTo>
                    <a:pt x="847344" y="1213104"/>
                  </a:moveTo>
                  <a:lnTo>
                    <a:pt x="847344" y="1193291"/>
                  </a:lnTo>
                  <a:lnTo>
                    <a:pt x="850392" y="1176527"/>
                  </a:lnTo>
                  <a:lnTo>
                    <a:pt x="870204" y="1138427"/>
                  </a:lnTo>
                  <a:lnTo>
                    <a:pt x="902208" y="1117091"/>
                  </a:lnTo>
                  <a:lnTo>
                    <a:pt x="937260" y="1098804"/>
                  </a:lnTo>
                  <a:lnTo>
                    <a:pt x="947927" y="1092708"/>
                  </a:lnTo>
                  <a:lnTo>
                    <a:pt x="958596" y="1085087"/>
                  </a:lnTo>
                  <a:lnTo>
                    <a:pt x="967740" y="1075943"/>
                  </a:lnTo>
                  <a:lnTo>
                    <a:pt x="976883" y="1065275"/>
                  </a:lnTo>
                  <a:lnTo>
                    <a:pt x="918971" y="1050035"/>
                  </a:lnTo>
                  <a:lnTo>
                    <a:pt x="864108" y="1034795"/>
                  </a:lnTo>
                  <a:lnTo>
                    <a:pt x="807719" y="1016508"/>
                  </a:lnTo>
                  <a:lnTo>
                    <a:pt x="752856" y="996695"/>
                  </a:lnTo>
                  <a:lnTo>
                    <a:pt x="697992" y="975360"/>
                  </a:lnTo>
                  <a:lnTo>
                    <a:pt x="644651" y="952500"/>
                  </a:lnTo>
                  <a:lnTo>
                    <a:pt x="592836" y="926591"/>
                  </a:lnTo>
                  <a:lnTo>
                    <a:pt x="541020" y="899160"/>
                  </a:lnTo>
                  <a:lnTo>
                    <a:pt x="492251" y="871727"/>
                  </a:lnTo>
                  <a:lnTo>
                    <a:pt x="445007" y="839724"/>
                  </a:lnTo>
                  <a:lnTo>
                    <a:pt x="399288" y="806195"/>
                  </a:lnTo>
                  <a:lnTo>
                    <a:pt x="353568" y="771143"/>
                  </a:lnTo>
                  <a:lnTo>
                    <a:pt x="310895" y="733043"/>
                  </a:lnTo>
                  <a:lnTo>
                    <a:pt x="271271" y="691895"/>
                  </a:lnTo>
                  <a:lnTo>
                    <a:pt x="233171" y="650747"/>
                  </a:lnTo>
                  <a:lnTo>
                    <a:pt x="196595" y="605028"/>
                  </a:lnTo>
                  <a:lnTo>
                    <a:pt x="161543" y="557784"/>
                  </a:lnTo>
                  <a:lnTo>
                    <a:pt x="131063" y="507491"/>
                  </a:lnTo>
                  <a:lnTo>
                    <a:pt x="102107" y="455676"/>
                  </a:lnTo>
                  <a:lnTo>
                    <a:pt x="76199" y="399287"/>
                  </a:lnTo>
                  <a:lnTo>
                    <a:pt x="53339" y="342900"/>
                  </a:lnTo>
                  <a:lnTo>
                    <a:pt x="33527" y="280416"/>
                  </a:lnTo>
                  <a:lnTo>
                    <a:pt x="27431" y="262128"/>
                  </a:lnTo>
                  <a:lnTo>
                    <a:pt x="22859" y="243840"/>
                  </a:lnTo>
                  <a:lnTo>
                    <a:pt x="10667" y="201168"/>
                  </a:lnTo>
                  <a:lnTo>
                    <a:pt x="1523" y="153924"/>
                  </a:lnTo>
                  <a:lnTo>
                    <a:pt x="0" y="129539"/>
                  </a:lnTo>
                  <a:lnTo>
                    <a:pt x="0" y="106679"/>
                  </a:lnTo>
                  <a:lnTo>
                    <a:pt x="4571" y="59436"/>
                  </a:lnTo>
                  <a:lnTo>
                    <a:pt x="19811" y="18288"/>
                  </a:lnTo>
                  <a:lnTo>
                    <a:pt x="33527" y="0"/>
                  </a:lnTo>
                  <a:lnTo>
                    <a:pt x="56387" y="0"/>
                  </a:lnTo>
                  <a:lnTo>
                    <a:pt x="67055" y="71628"/>
                  </a:lnTo>
                  <a:lnTo>
                    <a:pt x="79247" y="140208"/>
                  </a:lnTo>
                  <a:lnTo>
                    <a:pt x="96011" y="205740"/>
                  </a:lnTo>
                  <a:lnTo>
                    <a:pt x="112775" y="269748"/>
                  </a:lnTo>
                  <a:lnTo>
                    <a:pt x="135635" y="329184"/>
                  </a:lnTo>
                  <a:lnTo>
                    <a:pt x="160019" y="387095"/>
                  </a:lnTo>
                  <a:lnTo>
                    <a:pt x="187451" y="441960"/>
                  </a:lnTo>
                  <a:lnTo>
                    <a:pt x="217931" y="493776"/>
                  </a:lnTo>
                  <a:lnTo>
                    <a:pt x="249936" y="544067"/>
                  </a:lnTo>
                  <a:lnTo>
                    <a:pt x="286512" y="589787"/>
                  </a:lnTo>
                  <a:lnTo>
                    <a:pt x="324612" y="633983"/>
                  </a:lnTo>
                  <a:lnTo>
                    <a:pt x="364236" y="675131"/>
                  </a:lnTo>
                  <a:lnTo>
                    <a:pt x="408431" y="713231"/>
                  </a:lnTo>
                  <a:lnTo>
                    <a:pt x="454151" y="749808"/>
                  </a:lnTo>
                  <a:lnTo>
                    <a:pt x="501396" y="780287"/>
                  </a:lnTo>
                  <a:lnTo>
                    <a:pt x="550164" y="810768"/>
                  </a:lnTo>
                  <a:lnTo>
                    <a:pt x="603503" y="838200"/>
                  </a:lnTo>
                  <a:lnTo>
                    <a:pt x="656844" y="861060"/>
                  </a:lnTo>
                  <a:lnTo>
                    <a:pt x="713231" y="882395"/>
                  </a:lnTo>
                  <a:lnTo>
                    <a:pt x="772667" y="902208"/>
                  </a:lnTo>
                  <a:lnTo>
                    <a:pt x="832104" y="917447"/>
                  </a:lnTo>
                  <a:lnTo>
                    <a:pt x="894588" y="929639"/>
                  </a:lnTo>
                  <a:lnTo>
                    <a:pt x="958596" y="940308"/>
                  </a:lnTo>
                  <a:lnTo>
                    <a:pt x="1024127" y="947927"/>
                  </a:lnTo>
                  <a:lnTo>
                    <a:pt x="1019556" y="931164"/>
                  </a:lnTo>
                  <a:lnTo>
                    <a:pt x="1011935" y="917447"/>
                  </a:lnTo>
                  <a:lnTo>
                    <a:pt x="1005840" y="903731"/>
                  </a:lnTo>
                  <a:lnTo>
                    <a:pt x="996696" y="891539"/>
                  </a:lnTo>
                  <a:lnTo>
                    <a:pt x="969263" y="859535"/>
                  </a:lnTo>
                  <a:lnTo>
                    <a:pt x="958596" y="850391"/>
                  </a:lnTo>
                  <a:lnTo>
                    <a:pt x="950975" y="839724"/>
                  </a:lnTo>
                  <a:lnTo>
                    <a:pt x="928115" y="803147"/>
                  </a:lnTo>
                  <a:lnTo>
                    <a:pt x="917448" y="748283"/>
                  </a:lnTo>
                  <a:lnTo>
                    <a:pt x="917448" y="723900"/>
                  </a:lnTo>
                  <a:lnTo>
                    <a:pt x="931163" y="722375"/>
                  </a:lnTo>
                  <a:lnTo>
                    <a:pt x="946404" y="722375"/>
                  </a:lnTo>
                  <a:lnTo>
                    <a:pt x="996696" y="745235"/>
                  </a:lnTo>
                  <a:lnTo>
                    <a:pt x="1033271" y="775716"/>
                  </a:lnTo>
                  <a:lnTo>
                    <a:pt x="1053083" y="792479"/>
                  </a:lnTo>
                  <a:lnTo>
                    <a:pt x="1106423" y="853439"/>
                  </a:lnTo>
                  <a:lnTo>
                    <a:pt x="1136904" y="897635"/>
                  </a:lnTo>
                  <a:lnTo>
                    <a:pt x="1162812" y="941831"/>
                  </a:lnTo>
                  <a:lnTo>
                    <a:pt x="1181100" y="984504"/>
                  </a:lnTo>
                  <a:lnTo>
                    <a:pt x="1188719" y="1019556"/>
                  </a:lnTo>
                  <a:lnTo>
                    <a:pt x="1188719" y="1034795"/>
                  </a:lnTo>
                  <a:lnTo>
                    <a:pt x="1176527" y="1075943"/>
                  </a:lnTo>
                  <a:lnTo>
                    <a:pt x="1152144" y="1109472"/>
                  </a:lnTo>
                  <a:lnTo>
                    <a:pt x="1117092" y="1136904"/>
                  </a:lnTo>
                  <a:lnTo>
                    <a:pt x="1074419" y="1158239"/>
                  </a:lnTo>
                  <a:lnTo>
                    <a:pt x="1025652" y="1176527"/>
                  </a:lnTo>
                  <a:lnTo>
                    <a:pt x="922019" y="1200912"/>
                  </a:lnTo>
                  <a:lnTo>
                    <a:pt x="870204" y="1210056"/>
                  </a:lnTo>
                  <a:lnTo>
                    <a:pt x="847344" y="1213104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6" name="object 9">
            <a:extLst>
              <a:ext uri="{FF2B5EF4-FFF2-40B4-BE49-F238E27FC236}">
                <a16:creationId xmlns:a16="http://schemas.microsoft.com/office/drawing/2014/main" id="{3D20702D-2F43-4554-B985-646DC181FD67}"/>
              </a:ext>
            </a:extLst>
          </p:cNvPr>
          <p:cNvSpPr txBox="1"/>
          <p:nvPr/>
        </p:nvSpPr>
        <p:spPr>
          <a:xfrm>
            <a:off x="6050198" y="4649919"/>
            <a:ext cx="1275378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26" dirty="0">
                <a:solidFill>
                  <a:srgbClr val="FF0000"/>
                </a:solidFill>
                <a:latin typeface="Comic Sans MS"/>
                <a:cs typeface="Comic Sans MS"/>
              </a:rPr>
              <a:t>Cell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34" name="object 17">
            <a:extLst>
              <a:ext uri="{FF2B5EF4-FFF2-40B4-BE49-F238E27FC236}">
                <a16:creationId xmlns:a16="http://schemas.microsoft.com/office/drawing/2014/main" id="{481D3B98-CFA2-8AFC-9536-FDAA375601F7}"/>
              </a:ext>
            </a:extLst>
          </p:cNvPr>
          <p:cNvSpPr txBox="1"/>
          <p:nvPr/>
        </p:nvSpPr>
        <p:spPr>
          <a:xfrm>
            <a:off x="6547118" y="1851229"/>
            <a:ext cx="517712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spc="-32" dirty="0">
                <a:solidFill>
                  <a:srgbClr val="FF0000"/>
                </a:solidFill>
                <a:latin typeface="Comic Sans MS"/>
                <a:cs typeface="Comic Sans MS"/>
              </a:rPr>
              <a:t>RAM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2118" y="4826608"/>
            <a:ext cx="3457164" cy="960104"/>
          </a:xfrm>
          <a:prstGeom prst="rect">
            <a:avLst/>
          </a:prstGeom>
        </p:spPr>
        <p:txBody>
          <a:bodyPr vert="horz" wrap="square" lIns="0" tIns="160244" rIns="0" bIns="0" rtlCol="0">
            <a:spAutoFit/>
          </a:bodyPr>
          <a:lstStyle/>
          <a:p>
            <a:pPr marL="16435" defTabSz="1183325">
              <a:spcBef>
                <a:spcPts val="1262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Name:</a:t>
            </a:r>
            <a:r>
              <a:rPr sz="2135" spc="453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48" baseline="5050" dirty="0">
                <a:latin typeface="Comic Sans MS"/>
                <a:cs typeface="Comic Sans MS"/>
              </a:rPr>
              <a:t>Age</a:t>
            </a:r>
            <a:endParaRPr sz="3203" baseline="5050">
              <a:latin typeface="Comic Sans MS"/>
              <a:cs typeface="Comic Sans MS"/>
            </a:endParaRPr>
          </a:p>
          <a:p>
            <a:pPr marL="16435" defTabSz="1183325">
              <a:spcBef>
                <a:spcPts val="1132"/>
              </a:spcBef>
            </a:pPr>
            <a:r>
              <a:rPr sz="3203" baseline="3367" dirty="0">
                <a:solidFill>
                  <a:srgbClr val="FF0000"/>
                </a:solidFill>
                <a:latin typeface="Comic Sans MS"/>
                <a:cs typeface="Comic Sans MS"/>
              </a:rPr>
              <a:t>Address:</a:t>
            </a:r>
            <a:r>
              <a:rPr sz="3203" spc="-97" baseline="336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latin typeface="Comic Sans MS"/>
                <a:cs typeface="Comic Sans MS"/>
              </a:rPr>
              <a:t>0x7fff5694dc58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0425" y="5040290"/>
            <a:ext cx="762598" cy="739396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4659" spc="-32" dirty="0">
                <a:solidFill>
                  <a:srgbClr val="FF0000"/>
                </a:solidFill>
                <a:latin typeface="Comic Sans MS"/>
                <a:cs typeface="Comic Sans MS"/>
              </a:rPr>
              <a:t>45</a:t>
            </a:r>
            <a:endParaRPr sz="4659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50198" y="4649919"/>
            <a:ext cx="1275378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26" dirty="0">
                <a:solidFill>
                  <a:srgbClr val="FF0000"/>
                </a:solidFill>
                <a:latin typeface="Comic Sans MS"/>
                <a:cs typeface="Comic Sans MS"/>
              </a:rPr>
              <a:t>Cell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6748" y="5131077"/>
            <a:ext cx="2819475" cy="2544784"/>
          </a:xfrm>
          <a:prstGeom prst="rect">
            <a:avLst/>
          </a:prstGeom>
        </p:spPr>
        <p:txBody>
          <a:bodyPr vert="horz" wrap="square" lIns="0" tIns="45197" rIns="0" bIns="0" rtlCol="0">
            <a:spAutoFit/>
          </a:bodyPr>
          <a:lstStyle/>
          <a:p>
            <a:pPr marL="16435" marR="6574" indent="3287" defTabSz="1183325">
              <a:lnSpc>
                <a:spcPct val="114199"/>
              </a:lnSpc>
              <a:spcBef>
                <a:spcPts val="356"/>
              </a:spcBef>
            </a:pPr>
            <a:r>
              <a:rPr sz="3429" dirty="0">
                <a:solidFill>
                  <a:srgbClr val="2F5497"/>
                </a:solidFill>
                <a:latin typeface="Comic Sans MS"/>
                <a:cs typeface="Comic Sans MS"/>
              </a:rPr>
              <a:t>Int</a:t>
            </a:r>
            <a:r>
              <a:rPr sz="3429" spc="-39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58" dirty="0">
                <a:latin typeface="Comic Sans MS"/>
                <a:cs typeface="Comic Sans MS"/>
              </a:rPr>
              <a:t> </a:t>
            </a:r>
            <a:r>
              <a:rPr sz="3429" spc="-32" dirty="0">
                <a:latin typeface="Comic Sans MS"/>
                <a:cs typeface="Comic Sans MS"/>
              </a:rPr>
              <a:t>45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39" dirty="0"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3429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+</a:t>
            </a:r>
            <a:r>
              <a:rPr sz="3429" spc="-52" dirty="0">
                <a:latin typeface="Comic Sans MS"/>
                <a:cs typeface="Comic Sans MS"/>
              </a:rPr>
              <a:t> </a:t>
            </a:r>
            <a:r>
              <a:rPr sz="3429" spc="-65" dirty="0">
                <a:latin typeface="Comic Sans MS"/>
                <a:cs typeface="Comic Sans MS"/>
              </a:rPr>
              <a:t>2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3429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32" dirty="0"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45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+</a:t>
            </a:r>
            <a:r>
              <a:rPr sz="3429" spc="-45" dirty="0">
                <a:latin typeface="Comic Sans MS"/>
                <a:cs typeface="Comic Sans MS"/>
              </a:rPr>
              <a:t> </a:t>
            </a:r>
            <a:r>
              <a:rPr sz="3429" spc="-65" dirty="0">
                <a:latin typeface="Comic Sans MS"/>
                <a:cs typeface="Comic Sans MS"/>
              </a:rPr>
              <a:t>2</a:t>
            </a:r>
            <a:endParaRPr sz="3429">
              <a:latin typeface="Comic Sans MS"/>
              <a:cs typeface="Comic Sans MS"/>
            </a:endParaRPr>
          </a:p>
          <a:p>
            <a:pPr marL="446212" defTabSz="1183325">
              <a:spcBef>
                <a:spcPts val="1254"/>
              </a:spcBef>
            </a:pP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39" dirty="0">
                <a:latin typeface="Comic Sans MS"/>
                <a:cs typeface="Comic Sans MS"/>
              </a:rPr>
              <a:t> </a:t>
            </a:r>
            <a:r>
              <a:rPr sz="3429" spc="-32" dirty="0">
                <a:solidFill>
                  <a:srgbClr val="FF0000"/>
                </a:solidFill>
                <a:latin typeface="Comic Sans MS"/>
                <a:cs typeface="Comic Sans MS"/>
              </a:rPr>
              <a:t>47</a:t>
            </a:r>
            <a:endParaRPr sz="3429">
              <a:latin typeface="Comic Sans MS"/>
              <a:cs typeface="Comic Sans MS"/>
            </a:endParaRPr>
          </a:p>
        </p:txBody>
      </p:sp>
      <p:sp>
        <p:nvSpPr>
          <p:cNvPr id="2" name="object 10"/>
          <p:cNvSpPr/>
          <p:nvPr/>
        </p:nvSpPr>
        <p:spPr>
          <a:xfrm>
            <a:off x="3559885" y="6557683"/>
            <a:ext cx="2201506" cy="970504"/>
          </a:xfrm>
          <a:custGeom>
            <a:avLst/>
            <a:gdLst/>
            <a:ahLst/>
            <a:cxnLst/>
            <a:rect l="l" t="t" r="r" b="b"/>
            <a:pathLst>
              <a:path w="1701164" h="749935">
                <a:moveTo>
                  <a:pt x="435863" y="749807"/>
                </a:moveTo>
                <a:lnTo>
                  <a:pt x="353567" y="748283"/>
                </a:lnTo>
                <a:lnTo>
                  <a:pt x="330708" y="746759"/>
                </a:lnTo>
                <a:lnTo>
                  <a:pt x="249936" y="742187"/>
                </a:lnTo>
                <a:lnTo>
                  <a:pt x="187452" y="734567"/>
                </a:lnTo>
                <a:lnTo>
                  <a:pt x="126492" y="720851"/>
                </a:lnTo>
                <a:lnTo>
                  <a:pt x="70104" y="702563"/>
                </a:lnTo>
                <a:lnTo>
                  <a:pt x="19812" y="676655"/>
                </a:lnTo>
                <a:lnTo>
                  <a:pt x="0" y="659891"/>
                </a:lnTo>
                <a:lnTo>
                  <a:pt x="4572" y="640079"/>
                </a:lnTo>
                <a:lnTo>
                  <a:pt x="97536" y="653795"/>
                </a:lnTo>
                <a:lnTo>
                  <a:pt x="187452" y="664463"/>
                </a:lnTo>
                <a:lnTo>
                  <a:pt x="272796" y="672083"/>
                </a:lnTo>
                <a:lnTo>
                  <a:pt x="356615" y="676655"/>
                </a:lnTo>
                <a:lnTo>
                  <a:pt x="437387" y="676655"/>
                </a:lnTo>
                <a:lnTo>
                  <a:pt x="515111" y="675131"/>
                </a:lnTo>
                <a:lnTo>
                  <a:pt x="589787" y="667511"/>
                </a:lnTo>
                <a:lnTo>
                  <a:pt x="661415" y="659891"/>
                </a:lnTo>
                <a:lnTo>
                  <a:pt x="731520" y="647699"/>
                </a:lnTo>
                <a:lnTo>
                  <a:pt x="797051" y="632459"/>
                </a:lnTo>
                <a:lnTo>
                  <a:pt x="861059" y="614171"/>
                </a:lnTo>
                <a:lnTo>
                  <a:pt x="920496" y="592835"/>
                </a:lnTo>
                <a:lnTo>
                  <a:pt x="976884" y="566927"/>
                </a:lnTo>
                <a:lnTo>
                  <a:pt x="1033272" y="539495"/>
                </a:lnTo>
                <a:lnTo>
                  <a:pt x="1082040" y="510539"/>
                </a:lnTo>
                <a:lnTo>
                  <a:pt x="1130807" y="477011"/>
                </a:lnTo>
                <a:lnTo>
                  <a:pt x="1175003" y="441959"/>
                </a:lnTo>
                <a:lnTo>
                  <a:pt x="1216151" y="403859"/>
                </a:lnTo>
                <a:lnTo>
                  <a:pt x="1255776" y="362711"/>
                </a:lnTo>
                <a:lnTo>
                  <a:pt x="1292351" y="320039"/>
                </a:lnTo>
                <a:lnTo>
                  <a:pt x="1324355" y="272795"/>
                </a:lnTo>
                <a:lnTo>
                  <a:pt x="1351788" y="225551"/>
                </a:lnTo>
                <a:lnTo>
                  <a:pt x="1379220" y="173735"/>
                </a:lnTo>
                <a:lnTo>
                  <a:pt x="1402080" y="121919"/>
                </a:lnTo>
                <a:lnTo>
                  <a:pt x="1379220" y="120395"/>
                </a:lnTo>
                <a:lnTo>
                  <a:pt x="1360931" y="121919"/>
                </a:lnTo>
                <a:lnTo>
                  <a:pt x="1342643" y="121919"/>
                </a:lnTo>
                <a:lnTo>
                  <a:pt x="1325880" y="126491"/>
                </a:lnTo>
                <a:lnTo>
                  <a:pt x="1280159" y="140207"/>
                </a:lnTo>
                <a:lnTo>
                  <a:pt x="1266443" y="146303"/>
                </a:lnTo>
                <a:lnTo>
                  <a:pt x="1251204" y="149351"/>
                </a:lnTo>
                <a:lnTo>
                  <a:pt x="1176528" y="156971"/>
                </a:lnTo>
                <a:lnTo>
                  <a:pt x="1127759" y="149351"/>
                </a:lnTo>
                <a:lnTo>
                  <a:pt x="1098803" y="141731"/>
                </a:lnTo>
                <a:lnTo>
                  <a:pt x="1098803" y="129539"/>
                </a:lnTo>
                <a:lnTo>
                  <a:pt x="1124711" y="92963"/>
                </a:lnTo>
                <a:lnTo>
                  <a:pt x="1162811" y="70103"/>
                </a:lnTo>
                <a:lnTo>
                  <a:pt x="1213103" y="48767"/>
                </a:lnTo>
                <a:lnTo>
                  <a:pt x="1269492" y="30479"/>
                </a:lnTo>
                <a:lnTo>
                  <a:pt x="1362455" y="10667"/>
                </a:lnTo>
                <a:lnTo>
                  <a:pt x="1453896" y="0"/>
                </a:lnTo>
                <a:lnTo>
                  <a:pt x="1505712" y="3048"/>
                </a:lnTo>
                <a:lnTo>
                  <a:pt x="1546859" y="10667"/>
                </a:lnTo>
                <a:lnTo>
                  <a:pt x="1595627" y="32003"/>
                </a:lnTo>
                <a:lnTo>
                  <a:pt x="1633727" y="64007"/>
                </a:lnTo>
                <a:lnTo>
                  <a:pt x="1661159" y="102107"/>
                </a:lnTo>
                <a:lnTo>
                  <a:pt x="1685543" y="167639"/>
                </a:lnTo>
                <a:lnTo>
                  <a:pt x="1694688" y="216407"/>
                </a:lnTo>
                <a:lnTo>
                  <a:pt x="1699259" y="288035"/>
                </a:lnTo>
                <a:lnTo>
                  <a:pt x="1699259" y="309371"/>
                </a:lnTo>
                <a:lnTo>
                  <a:pt x="1700784" y="332231"/>
                </a:lnTo>
                <a:lnTo>
                  <a:pt x="1700784" y="353567"/>
                </a:lnTo>
                <a:lnTo>
                  <a:pt x="1674876" y="347471"/>
                </a:lnTo>
                <a:lnTo>
                  <a:pt x="1636776" y="330707"/>
                </a:lnTo>
                <a:lnTo>
                  <a:pt x="1601723" y="300227"/>
                </a:lnTo>
                <a:lnTo>
                  <a:pt x="1574292" y="242315"/>
                </a:lnTo>
                <a:lnTo>
                  <a:pt x="1569720" y="230123"/>
                </a:lnTo>
                <a:lnTo>
                  <a:pt x="1562100" y="219455"/>
                </a:lnTo>
                <a:lnTo>
                  <a:pt x="1540763" y="198119"/>
                </a:lnTo>
                <a:lnTo>
                  <a:pt x="1510284" y="242315"/>
                </a:lnTo>
                <a:lnTo>
                  <a:pt x="1478280" y="284987"/>
                </a:lnTo>
                <a:lnTo>
                  <a:pt x="1444751" y="326135"/>
                </a:lnTo>
                <a:lnTo>
                  <a:pt x="1408176" y="365759"/>
                </a:lnTo>
                <a:lnTo>
                  <a:pt x="1368551" y="405383"/>
                </a:lnTo>
                <a:lnTo>
                  <a:pt x="1328927" y="441959"/>
                </a:lnTo>
                <a:lnTo>
                  <a:pt x="1286255" y="478535"/>
                </a:lnTo>
                <a:lnTo>
                  <a:pt x="1240535" y="513587"/>
                </a:lnTo>
                <a:lnTo>
                  <a:pt x="1194815" y="545591"/>
                </a:lnTo>
                <a:lnTo>
                  <a:pt x="1144524" y="576071"/>
                </a:lnTo>
                <a:lnTo>
                  <a:pt x="1094232" y="605027"/>
                </a:lnTo>
                <a:lnTo>
                  <a:pt x="1039367" y="630935"/>
                </a:lnTo>
                <a:lnTo>
                  <a:pt x="982980" y="655319"/>
                </a:lnTo>
                <a:lnTo>
                  <a:pt x="923544" y="676655"/>
                </a:lnTo>
                <a:lnTo>
                  <a:pt x="862584" y="694943"/>
                </a:lnTo>
                <a:lnTo>
                  <a:pt x="797051" y="711707"/>
                </a:lnTo>
                <a:lnTo>
                  <a:pt x="729996" y="725423"/>
                </a:lnTo>
                <a:lnTo>
                  <a:pt x="661415" y="736091"/>
                </a:lnTo>
                <a:lnTo>
                  <a:pt x="588263" y="743711"/>
                </a:lnTo>
                <a:lnTo>
                  <a:pt x="512063" y="748283"/>
                </a:lnTo>
                <a:lnTo>
                  <a:pt x="435863" y="749807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11" name="object 11"/>
          <p:cNvSpPr txBox="1"/>
          <p:nvPr/>
        </p:nvSpPr>
        <p:spPr>
          <a:xfrm>
            <a:off x="6456312" y="4939674"/>
            <a:ext cx="562909" cy="902864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6435" defTabSz="1183325">
              <a:spcBef>
                <a:spcPts val="129"/>
              </a:spcBef>
            </a:pPr>
            <a:r>
              <a:rPr sz="5759" spc="-65" dirty="0">
                <a:latin typeface="Comic Sans MS"/>
                <a:cs typeface="Comic Sans MS"/>
              </a:rPr>
              <a:t>X</a:t>
            </a:r>
            <a:endParaRPr sz="5759">
              <a:latin typeface="Comic Sans MS"/>
              <a:cs typeface="Comic Sans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26181" y="5742629"/>
            <a:ext cx="762598" cy="739396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4659" spc="-32" dirty="0">
                <a:solidFill>
                  <a:srgbClr val="FF0000"/>
                </a:solidFill>
                <a:latin typeface="Comic Sans MS"/>
                <a:cs typeface="Comic Sans MS"/>
              </a:rPr>
              <a:t>47</a:t>
            </a:r>
            <a:endParaRPr sz="4659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34456" y="5072589"/>
            <a:ext cx="1609837" cy="1577788"/>
          </a:xfrm>
          <a:custGeom>
            <a:avLst/>
            <a:gdLst/>
            <a:ahLst/>
            <a:cxnLst/>
            <a:rect l="l" t="t" r="r" b="b"/>
            <a:pathLst>
              <a:path w="1243964" h="1219200">
                <a:moveTo>
                  <a:pt x="0" y="0"/>
                </a:moveTo>
                <a:lnTo>
                  <a:pt x="1243583" y="0"/>
                </a:lnTo>
                <a:lnTo>
                  <a:pt x="1243583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ln w="10668">
            <a:solidFill>
              <a:srgbClr val="2F528E"/>
            </a:solidFill>
          </a:ln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</p:spTree>
    <p:extLst>
      <p:ext uri="{BB962C8B-B14F-4D97-AF65-F5344CB8AC3E}">
        <p14:creationId xmlns:p14="http://schemas.microsoft.com/office/powerpoint/2010/main" val="231984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51EB44C-B764-A16B-0BB6-F8E84A55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DA363B05-389E-7954-CD07-75BB787D7BA8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Example 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Type</a:t>
            </a:r>
            <a:r>
              <a:rPr lang="en-GB" sz="2400" dirty="0">
                <a:latin typeface="Comic Sans MS" panose="030F0702030302020204" pitchFamily="66" charset="0"/>
              </a:rPr>
              <a:t>: Int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Identifier (Name)</a:t>
            </a:r>
            <a:r>
              <a:rPr lang="en-GB" sz="2400" dirty="0">
                <a:latin typeface="Comic Sans MS" panose="030F0702030302020204" pitchFamily="66" charset="0"/>
              </a:rPr>
              <a:t>: Age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Value</a:t>
            </a:r>
            <a:r>
              <a:rPr lang="en-GB" sz="2400" dirty="0">
                <a:latin typeface="Comic Sans MS" panose="030F0702030302020204" pitchFamily="66" charset="0"/>
              </a:rPr>
              <a:t>: 45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Memory cell</a:t>
            </a:r>
            <a:r>
              <a:rPr lang="en-GB" sz="2400" dirty="0">
                <a:latin typeface="Comic Sans MS" panose="030F0702030302020204" pitchFamily="66" charset="0"/>
              </a:rPr>
              <a:t>: a slot in </a:t>
            </a:r>
            <a:r>
              <a:rPr lang="en-GB" sz="2400" b="1" dirty="0">
                <a:latin typeface="Comic Sans MS" panose="030F0702030302020204" pitchFamily="66" charset="0"/>
              </a:rPr>
              <a:t>RAM</a:t>
            </a:r>
            <a:r>
              <a:rPr lang="en-GB" sz="2400" dirty="0">
                <a:latin typeface="Comic Sans MS" panose="030F0702030302020204" pitchFamily="66" charset="0"/>
              </a:rPr>
              <a:t> that actually stores the bits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Memory address</a:t>
            </a:r>
            <a:r>
              <a:rPr lang="en-GB" sz="2400" dirty="0">
                <a:latin typeface="Comic Sans MS" panose="030F0702030302020204" pitchFamily="66" charset="0"/>
              </a:rPr>
              <a:t>: where this cell lives (shown in </a:t>
            </a:r>
            <a:r>
              <a:rPr lang="en-GB" sz="2400" b="1" dirty="0">
                <a:latin typeface="Comic Sans MS" panose="030F0702030302020204" pitchFamily="66" charset="0"/>
              </a:rPr>
              <a:t>hex</a:t>
            </a:r>
            <a:r>
              <a:rPr lang="en-GB" sz="2400" dirty="0">
                <a:latin typeface="Comic Sans MS" panose="030F0702030302020204" pitchFamily="66" charset="0"/>
              </a:rPr>
              <a:t>, e.g., 0x7fff5694dc58)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Updating a variable: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Age = Age + 2 → from 45 to 47. The </a:t>
            </a:r>
            <a:r>
              <a:rPr lang="en-GB" sz="2400" b="1" dirty="0">
                <a:latin typeface="Comic Sans MS" panose="030F0702030302020204" pitchFamily="66" charset="0"/>
              </a:rPr>
              <a:t>same cell</a:t>
            </a:r>
            <a:r>
              <a:rPr lang="en-GB" sz="2400" dirty="0">
                <a:latin typeface="Comic Sans MS" panose="030F0702030302020204" pitchFamily="66" charset="0"/>
              </a:rPr>
              <a:t> gets a </a:t>
            </a:r>
            <a:r>
              <a:rPr lang="en-GB" sz="2400" b="1" dirty="0">
                <a:latin typeface="Comic Sans MS" panose="030F0702030302020204" pitchFamily="66" charset="0"/>
              </a:rPr>
              <a:t>new value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13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0CE2F99-C245-9E90-B217-1448E2E4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3419105-28A2-71F0-BD0B-4A9BFD640047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EDF6E7B-7054-831D-051A-8DF21AE5EB6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110B85-C879-D9A5-C234-6BF58D73136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B923477-DEF1-1172-511B-0E64EB1FA11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90751B0C-6E06-3B3C-68CE-7ED0E19E4FAA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Variable Types</a:t>
            </a:r>
          </a:p>
        </p:txBody>
      </p:sp>
    </p:spTree>
    <p:extLst>
      <p:ext uri="{BB962C8B-B14F-4D97-AF65-F5344CB8AC3E}">
        <p14:creationId xmlns:p14="http://schemas.microsoft.com/office/powerpoint/2010/main" val="1036930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EC4283-C187-2807-F56D-CFF220F9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B133A427-83D9-DD55-E594-EAD3D5E23D8B}"/>
              </a:ext>
            </a:extLst>
          </p:cNvPr>
          <p:cNvSpPr txBox="1"/>
          <p:nvPr/>
        </p:nvSpPr>
        <p:spPr>
          <a:xfrm>
            <a:off x="381000" y="888075"/>
            <a:ext cx="12352767" cy="815819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Primary</a:t>
            </a:r>
            <a:r>
              <a:rPr lang="sv-SE" sz="4000" b="1" spc="45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Variable</a:t>
            </a:r>
            <a:r>
              <a:rPr lang="sv-SE" sz="4000" b="1" spc="19" dirty="0">
                <a:latin typeface="Comic Sans MS" panose="030F0702030302020204" pitchFamily="66" charset="0"/>
              </a:rPr>
              <a:t> </a:t>
            </a:r>
            <a:r>
              <a:rPr lang="sv-SE" sz="4000" b="1" spc="-13" dirty="0" err="1">
                <a:latin typeface="Comic Sans MS" panose="030F0702030302020204" pitchFamily="66" charset="0"/>
              </a:rPr>
              <a:t>Types</a:t>
            </a:r>
            <a:endParaRPr lang="sv-SE" sz="40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Integer (Int)</a:t>
            </a:r>
            <a:r>
              <a:rPr lang="en-GB" sz="2400" dirty="0">
                <a:latin typeface="Comic Sans MS" panose="030F0702030302020204" pitchFamily="66" charset="0"/>
              </a:rPr>
              <a:t>: whole numbers (e.g., 0, 45, −3)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Float/Double</a:t>
            </a:r>
            <a:r>
              <a:rPr lang="en-GB" sz="2400" dirty="0">
                <a:latin typeface="Comic Sans MS" panose="030F0702030302020204" pitchFamily="66" charset="0"/>
              </a:rPr>
              <a:t>: numbers with fractions (e.g., 3.14)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String</a:t>
            </a:r>
            <a:r>
              <a:rPr lang="en-GB" sz="2400" dirty="0">
                <a:latin typeface="Comic Sans MS" panose="030F0702030302020204" pitchFamily="66" charset="0"/>
              </a:rPr>
              <a:t>: text (e.g., “Sara")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Boolean</a:t>
            </a:r>
            <a:r>
              <a:rPr lang="en-GB" sz="2400" dirty="0">
                <a:latin typeface="Comic Sans MS" panose="030F0702030302020204" pitchFamily="66" charset="0"/>
              </a:rPr>
              <a:t>: True/False (1/0)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71" y="2611239"/>
            <a:ext cx="8109830" cy="4169304"/>
          </a:xfrm>
          <a:prstGeom prst="rect">
            <a:avLst/>
          </a:prstGeom>
        </p:spPr>
      </p:pic>
      <p:pic>
        <p:nvPicPr>
          <p:cNvPr id="8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5725" y="4686031"/>
            <a:ext cx="4133804" cy="31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30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07E05A-3E03-3C14-B5EF-00DBB69D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E9C74D0-0D02-B349-4416-3B9BD4168DB8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AE31BBC-76C7-B8EE-6D83-95573DCFDC6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B58EF9B-2493-CD2A-7362-5555B0DD9D9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26628E3-1A9F-371A-4A0B-28C7EF34FCDF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5C225469-A82C-CC57-9EB6-932FC2359E0C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Constants</a:t>
            </a:r>
          </a:p>
        </p:txBody>
      </p:sp>
    </p:spTree>
    <p:extLst>
      <p:ext uri="{BB962C8B-B14F-4D97-AF65-F5344CB8AC3E}">
        <p14:creationId xmlns:p14="http://schemas.microsoft.com/office/powerpoint/2010/main" val="249452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361E5F-5555-2B69-45F6-3299F318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6334EC48-6046-98C7-8659-A474CC28C2D0}"/>
              </a:ext>
            </a:extLst>
          </p:cNvPr>
          <p:cNvSpPr txBox="1"/>
          <p:nvPr/>
        </p:nvSpPr>
        <p:spPr>
          <a:xfrm>
            <a:off x="381000" y="888075"/>
            <a:ext cx="12352767" cy="155478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What</a:t>
            </a:r>
            <a:r>
              <a:rPr lang="sv-SE" sz="4000" b="1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  <a:cs typeface="Comic Sans MS"/>
              </a:rPr>
              <a:t>are</a:t>
            </a:r>
            <a:r>
              <a:rPr lang="sv-SE" sz="4000" b="1" spc="6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sv-SE" sz="4000" b="1" spc="-13" dirty="0" err="1">
                <a:latin typeface="Comic Sans MS" panose="030F0702030302020204" pitchFamily="66" charset="0"/>
                <a:cs typeface="Comic Sans MS"/>
              </a:rPr>
              <a:t>Constants</a:t>
            </a:r>
            <a:r>
              <a:rPr lang="sv-SE" sz="4000" b="1" spc="-13" dirty="0">
                <a:latin typeface="Comic Sans MS" panose="030F0702030302020204" pitchFamily="66" charset="0"/>
                <a:cs typeface="Comic Sans MS"/>
              </a:rPr>
              <a:t>?</a:t>
            </a:r>
            <a:endParaRPr lang="sv-SE" sz="4000" b="1" dirty="0">
              <a:latin typeface="Comic Sans MS" panose="030F0702030302020204" pitchFamily="66" charset="0"/>
              <a:cs typeface="Comic Sans MS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pPr marL="16435" defTabSz="1183325">
              <a:spcBef>
                <a:spcPts val="168"/>
              </a:spcBef>
            </a:pP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 panose="030F0702030302020204" pitchFamily="66" charset="0"/>
                <a:cs typeface="Comic Sans MS"/>
              </a:rPr>
              <a:t>Constants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b="1" dirty="0">
                <a:latin typeface="Comic Sans MS" panose="030F0702030302020204" pitchFamily="66" charset="0"/>
                <a:cs typeface="Comic Sans MS"/>
              </a:rPr>
              <a:t>containers</a:t>
            </a:r>
            <a:r>
              <a:rPr lang="en-GB" sz="2400" b="1" spc="-28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for</a:t>
            </a:r>
            <a:r>
              <a:rPr lang="en-GB" sz="2400" spc="26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storing</a:t>
            </a:r>
            <a:r>
              <a:rPr lang="en-GB" sz="2400" spc="45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data</a:t>
            </a:r>
            <a:r>
              <a:rPr lang="en-GB" sz="2400" spc="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values,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but</a:t>
            </a:r>
            <a:r>
              <a:rPr lang="en-GB" sz="2400" spc="1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they</a:t>
            </a:r>
            <a:r>
              <a:rPr lang="en-GB" sz="2400" spc="58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dirty="0">
                <a:latin typeface="Comic Sans MS" panose="030F0702030302020204" pitchFamily="66" charset="0"/>
                <a:cs typeface="Comic Sans MS"/>
              </a:rPr>
              <a:t>are</a:t>
            </a:r>
            <a:r>
              <a:rPr lang="en-GB" sz="2400" spc="39" dirty="0"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read</a:t>
            </a:r>
            <a:r>
              <a:rPr lang="en-GB" sz="2400" u="sng" spc="5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 </a:t>
            </a:r>
            <a:r>
              <a:rPr lang="en-GB" sz="2400" u="sng" spc="-1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 panose="030F0702030302020204" pitchFamily="66" charset="0"/>
                <a:cs typeface="Comic Sans MS"/>
              </a:rPr>
              <a:t>only</a:t>
            </a:r>
            <a:r>
              <a:rPr lang="en-GB" sz="2400" spc="-13" dirty="0">
                <a:latin typeface="Comic Sans MS" panose="030F0702030302020204" pitchFamily="66" charset="0"/>
                <a:cs typeface="Comic Sans MS"/>
              </a:rPr>
              <a:t>.</a:t>
            </a:r>
            <a:endParaRPr lang="en-GB" sz="2400" dirty="0"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16699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C7A466-D33A-D07C-6E89-4259A2D2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object 2"/>
          <p:cNvGrpSpPr/>
          <p:nvPr/>
        </p:nvGrpSpPr>
        <p:grpSpPr>
          <a:xfrm>
            <a:off x="3120075" y="2212849"/>
            <a:ext cx="6911041" cy="4444925"/>
            <a:chOff x="2258567" y="1709928"/>
            <a:chExt cx="5340350" cy="3434715"/>
          </a:xfrm>
        </p:grpSpPr>
        <p:pic>
          <p:nvPicPr>
            <p:cNvPr id="2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8567" y="1709928"/>
              <a:ext cx="5340096" cy="1482851"/>
            </a:xfrm>
            <a:prstGeom prst="rect">
              <a:avLst/>
            </a:prstGeom>
          </p:spPr>
        </p:pic>
        <p:sp>
          <p:nvSpPr>
            <p:cNvPr id="24" name="object 4"/>
            <p:cNvSpPr/>
            <p:nvPr/>
          </p:nvSpPr>
          <p:spPr>
            <a:xfrm>
              <a:off x="4433316" y="3919727"/>
              <a:ext cx="1243965" cy="1219200"/>
            </a:xfrm>
            <a:custGeom>
              <a:avLst/>
              <a:gdLst/>
              <a:ahLst/>
              <a:cxnLst/>
              <a:rect l="l" t="t" r="r" b="b"/>
              <a:pathLst>
                <a:path w="1243964" h="1219200">
                  <a:moveTo>
                    <a:pt x="0" y="0"/>
                  </a:moveTo>
                  <a:lnTo>
                    <a:pt x="1243583" y="0"/>
                  </a:lnTo>
                  <a:lnTo>
                    <a:pt x="1243583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25" name="object 5"/>
          <p:cNvSpPr/>
          <p:nvPr/>
        </p:nvSpPr>
        <p:spPr>
          <a:xfrm>
            <a:off x="11036627" y="4546003"/>
            <a:ext cx="953247" cy="1252369"/>
          </a:xfrm>
          <a:custGeom>
            <a:avLst/>
            <a:gdLst/>
            <a:ahLst/>
            <a:cxnLst/>
            <a:rect l="l" t="t" r="r" b="b"/>
            <a:pathLst>
              <a:path w="736600" h="967739">
                <a:moveTo>
                  <a:pt x="47244" y="967740"/>
                </a:moveTo>
                <a:lnTo>
                  <a:pt x="32004" y="964692"/>
                </a:lnTo>
                <a:lnTo>
                  <a:pt x="16764" y="960120"/>
                </a:lnTo>
                <a:lnTo>
                  <a:pt x="3048" y="952500"/>
                </a:lnTo>
                <a:lnTo>
                  <a:pt x="0" y="934212"/>
                </a:lnTo>
                <a:lnTo>
                  <a:pt x="47244" y="920496"/>
                </a:lnTo>
                <a:lnTo>
                  <a:pt x="92964" y="903732"/>
                </a:lnTo>
                <a:lnTo>
                  <a:pt x="135636" y="885444"/>
                </a:lnTo>
                <a:lnTo>
                  <a:pt x="176783" y="865632"/>
                </a:lnTo>
                <a:lnTo>
                  <a:pt x="214883" y="844296"/>
                </a:lnTo>
                <a:lnTo>
                  <a:pt x="251459" y="819912"/>
                </a:lnTo>
                <a:lnTo>
                  <a:pt x="284988" y="794004"/>
                </a:lnTo>
                <a:lnTo>
                  <a:pt x="316991" y="766572"/>
                </a:lnTo>
                <a:lnTo>
                  <a:pt x="347472" y="739140"/>
                </a:lnTo>
                <a:lnTo>
                  <a:pt x="374904" y="707136"/>
                </a:lnTo>
                <a:lnTo>
                  <a:pt x="400812" y="675132"/>
                </a:lnTo>
                <a:lnTo>
                  <a:pt x="423672" y="641604"/>
                </a:lnTo>
                <a:lnTo>
                  <a:pt x="445008" y="605028"/>
                </a:lnTo>
                <a:lnTo>
                  <a:pt x="464819" y="568452"/>
                </a:lnTo>
                <a:lnTo>
                  <a:pt x="480060" y="530352"/>
                </a:lnTo>
                <a:lnTo>
                  <a:pt x="495300" y="490728"/>
                </a:lnTo>
                <a:lnTo>
                  <a:pt x="507491" y="449580"/>
                </a:lnTo>
                <a:lnTo>
                  <a:pt x="518160" y="406908"/>
                </a:lnTo>
                <a:lnTo>
                  <a:pt x="525780" y="364236"/>
                </a:lnTo>
                <a:lnTo>
                  <a:pt x="533400" y="318516"/>
                </a:lnTo>
                <a:lnTo>
                  <a:pt x="536448" y="272795"/>
                </a:lnTo>
                <a:lnTo>
                  <a:pt x="537972" y="227076"/>
                </a:lnTo>
                <a:lnTo>
                  <a:pt x="537972" y="178308"/>
                </a:lnTo>
                <a:lnTo>
                  <a:pt x="536448" y="129539"/>
                </a:lnTo>
                <a:lnTo>
                  <a:pt x="525780" y="135636"/>
                </a:lnTo>
                <a:lnTo>
                  <a:pt x="483108" y="178308"/>
                </a:lnTo>
                <a:lnTo>
                  <a:pt x="477012" y="187451"/>
                </a:lnTo>
                <a:lnTo>
                  <a:pt x="464819" y="202691"/>
                </a:lnTo>
                <a:lnTo>
                  <a:pt x="457200" y="210312"/>
                </a:lnTo>
                <a:lnTo>
                  <a:pt x="448056" y="214884"/>
                </a:lnTo>
                <a:lnTo>
                  <a:pt x="437387" y="220980"/>
                </a:lnTo>
                <a:lnTo>
                  <a:pt x="426719" y="225551"/>
                </a:lnTo>
                <a:lnTo>
                  <a:pt x="413004" y="227076"/>
                </a:lnTo>
                <a:lnTo>
                  <a:pt x="396239" y="230124"/>
                </a:lnTo>
                <a:lnTo>
                  <a:pt x="393191" y="220980"/>
                </a:lnTo>
                <a:lnTo>
                  <a:pt x="393191" y="196595"/>
                </a:lnTo>
                <a:lnTo>
                  <a:pt x="397763" y="184404"/>
                </a:lnTo>
                <a:lnTo>
                  <a:pt x="402336" y="169164"/>
                </a:lnTo>
                <a:lnTo>
                  <a:pt x="409956" y="155447"/>
                </a:lnTo>
                <a:lnTo>
                  <a:pt x="428243" y="124968"/>
                </a:lnTo>
                <a:lnTo>
                  <a:pt x="438912" y="109728"/>
                </a:lnTo>
                <a:lnTo>
                  <a:pt x="451104" y="94487"/>
                </a:lnTo>
                <a:lnTo>
                  <a:pt x="463295" y="77724"/>
                </a:lnTo>
                <a:lnTo>
                  <a:pt x="477012" y="65532"/>
                </a:lnTo>
                <a:lnTo>
                  <a:pt x="490728" y="51816"/>
                </a:lnTo>
                <a:lnTo>
                  <a:pt x="504443" y="39624"/>
                </a:lnTo>
                <a:lnTo>
                  <a:pt x="518160" y="28956"/>
                </a:lnTo>
                <a:lnTo>
                  <a:pt x="530352" y="18287"/>
                </a:lnTo>
                <a:lnTo>
                  <a:pt x="544067" y="10668"/>
                </a:lnTo>
                <a:lnTo>
                  <a:pt x="556260" y="4572"/>
                </a:lnTo>
                <a:lnTo>
                  <a:pt x="566928" y="1524"/>
                </a:lnTo>
                <a:lnTo>
                  <a:pt x="577595" y="0"/>
                </a:lnTo>
                <a:lnTo>
                  <a:pt x="592836" y="0"/>
                </a:lnTo>
                <a:lnTo>
                  <a:pt x="632460" y="18287"/>
                </a:lnTo>
                <a:lnTo>
                  <a:pt x="653795" y="42672"/>
                </a:lnTo>
                <a:lnTo>
                  <a:pt x="664464" y="54864"/>
                </a:lnTo>
                <a:lnTo>
                  <a:pt x="682752" y="88391"/>
                </a:lnTo>
                <a:lnTo>
                  <a:pt x="690372" y="105156"/>
                </a:lnTo>
                <a:lnTo>
                  <a:pt x="705612" y="141732"/>
                </a:lnTo>
                <a:lnTo>
                  <a:pt x="711708" y="160020"/>
                </a:lnTo>
                <a:lnTo>
                  <a:pt x="719327" y="179832"/>
                </a:lnTo>
                <a:lnTo>
                  <a:pt x="723900" y="198120"/>
                </a:lnTo>
                <a:lnTo>
                  <a:pt x="729995" y="216408"/>
                </a:lnTo>
                <a:lnTo>
                  <a:pt x="736091" y="233172"/>
                </a:lnTo>
                <a:lnTo>
                  <a:pt x="722375" y="234695"/>
                </a:lnTo>
                <a:lnTo>
                  <a:pt x="675131" y="216408"/>
                </a:lnTo>
                <a:lnTo>
                  <a:pt x="670560" y="210312"/>
                </a:lnTo>
                <a:lnTo>
                  <a:pt x="664464" y="202691"/>
                </a:lnTo>
                <a:lnTo>
                  <a:pt x="647700" y="178308"/>
                </a:lnTo>
                <a:lnTo>
                  <a:pt x="643127" y="170687"/>
                </a:lnTo>
                <a:lnTo>
                  <a:pt x="635508" y="163068"/>
                </a:lnTo>
                <a:lnTo>
                  <a:pt x="629412" y="158495"/>
                </a:lnTo>
                <a:lnTo>
                  <a:pt x="621791" y="152400"/>
                </a:lnTo>
                <a:lnTo>
                  <a:pt x="612647" y="239268"/>
                </a:lnTo>
                <a:lnTo>
                  <a:pt x="606552" y="281939"/>
                </a:lnTo>
                <a:lnTo>
                  <a:pt x="598932" y="324612"/>
                </a:lnTo>
                <a:lnTo>
                  <a:pt x="580643" y="406908"/>
                </a:lnTo>
                <a:lnTo>
                  <a:pt x="569976" y="448056"/>
                </a:lnTo>
                <a:lnTo>
                  <a:pt x="556260" y="489204"/>
                </a:lnTo>
                <a:lnTo>
                  <a:pt x="542543" y="527304"/>
                </a:lnTo>
                <a:lnTo>
                  <a:pt x="525780" y="565404"/>
                </a:lnTo>
                <a:lnTo>
                  <a:pt x="509015" y="601980"/>
                </a:lnTo>
                <a:lnTo>
                  <a:pt x="489204" y="640080"/>
                </a:lnTo>
                <a:lnTo>
                  <a:pt x="469391" y="675132"/>
                </a:lnTo>
                <a:lnTo>
                  <a:pt x="445008" y="707136"/>
                </a:lnTo>
                <a:lnTo>
                  <a:pt x="422148" y="740664"/>
                </a:lnTo>
                <a:lnTo>
                  <a:pt x="394715" y="771144"/>
                </a:lnTo>
                <a:lnTo>
                  <a:pt x="365760" y="801624"/>
                </a:lnTo>
                <a:lnTo>
                  <a:pt x="335280" y="829056"/>
                </a:lnTo>
                <a:lnTo>
                  <a:pt x="303276" y="854964"/>
                </a:lnTo>
                <a:lnTo>
                  <a:pt x="268224" y="880872"/>
                </a:lnTo>
                <a:lnTo>
                  <a:pt x="231648" y="903732"/>
                </a:lnTo>
                <a:lnTo>
                  <a:pt x="193548" y="923544"/>
                </a:lnTo>
                <a:lnTo>
                  <a:pt x="141732" y="947928"/>
                </a:lnTo>
                <a:lnTo>
                  <a:pt x="94488" y="963168"/>
                </a:lnTo>
                <a:lnTo>
                  <a:pt x="79248" y="966216"/>
                </a:lnTo>
                <a:lnTo>
                  <a:pt x="62484" y="966216"/>
                </a:lnTo>
                <a:lnTo>
                  <a:pt x="47244" y="967740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26" name="object 6"/>
          <p:cNvSpPr txBox="1"/>
          <p:nvPr/>
        </p:nvSpPr>
        <p:spPr>
          <a:xfrm>
            <a:off x="10959041" y="4152893"/>
            <a:ext cx="1756933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13" dirty="0">
                <a:solidFill>
                  <a:srgbClr val="FF0000"/>
                </a:solidFill>
                <a:latin typeface="Comic Sans MS"/>
                <a:cs typeface="Comic Sans MS"/>
              </a:rPr>
              <a:t>Location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27" name="object 7"/>
          <p:cNvSpPr txBox="1"/>
          <p:nvPr/>
        </p:nvSpPr>
        <p:spPr>
          <a:xfrm>
            <a:off x="6117260" y="5401234"/>
            <a:ext cx="1180875" cy="739396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4659" spc="-26" dirty="0">
                <a:solidFill>
                  <a:srgbClr val="FF0000"/>
                </a:solidFill>
                <a:latin typeface="Comic Sans MS"/>
                <a:cs typeface="Comic Sans MS"/>
              </a:rPr>
              <a:t>3.14</a:t>
            </a:r>
            <a:endParaRPr sz="4659">
              <a:latin typeface="Comic Sans MS"/>
              <a:cs typeface="Comic Sans MS"/>
            </a:endParaRPr>
          </a:p>
        </p:txBody>
      </p:sp>
      <p:sp>
        <p:nvSpPr>
          <p:cNvPr id="28" name="object 8"/>
          <p:cNvSpPr txBox="1"/>
          <p:nvPr/>
        </p:nvSpPr>
        <p:spPr>
          <a:xfrm>
            <a:off x="7589247" y="4891726"/>
            <a:ext cx="3623982" cy="1237122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14224" marR="2114372" indent="-65740" defTabSz="1183325">
              <a:lnSpc>
                <a:spcPct val="124200"/>
              </a:lnSpc>
              <a:spcBef>
                <a:spcPts val="129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Name:</a:t>
            </a:r>
            <a:r>
              <a:rPr sz="2135" spc="453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48" baseline="5050" dirty="0">
                <a:latin typeface="Comic Sans MS"/>
                <a:cs typeface="Comic Sans MS"/>
              </a:rPr>
              <a:t>PI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Value:</a:t>
            </a:r>
            <a:r>
              <a:rPr sz="2135" spc="10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39" baseline="6734" dirty="0">
                <a:latin typeface="Comic Sans MS"/>
                <a:cs typeface="Comic Sans MS"/>
              </a:rPr>
              <a:t>3.14</a:t>
            </a:r>
            <a:endParaRPr sz="3203" baseline="6734">
              <a:latin typeface="Comic Sans MS"/>
              <a:cs typeface="Comic Sans MS"/>
            </a:endParaRPr>
          </a:p>
          <a:p>
            <a:pPr marL="127372" defTabSz="1183325">
              <a:spcBef>
                <a:spcPts val="647"/>
              </a:spcBef>
            </a:pPr>
            <a:r>
              <a:rPr sz="3203" baseline="3367" dirty="0">
                <a:solidFill>
                  <a:srgbClr val="FF0000"/>
                </a:solidFill>
                <a:latin typeface="Comic Sans MS"/>
                <a:cs typeface="Comic Sans MS"/>
              </a:rPr>
              <a:t>Address:</a:t>
            </a:r>
            <a:r>
              <a:rPr sz="3203" spc="-97" baseline="336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latin typeface="Comic Sans MS"/>
                <a:cs typeface="Comic Sans MS"/>
              </a:rPr>
              <a:t>0x7ffd5794dc58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29" name="object 9"/>
          <p:cNvSpPr txBox="1"/>
          <p:nvPr/>
        </p:nvSpPr>
        <p:spPr>
          <a:xfrm>
            <a:off x="6050198" y="4649919"/>
            <a:ext cx="1275378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26" dirty="0">
                <a:solidFill>
                  <a:srgbClr val="FF0000"/>
                </a:solidFill>
                <a:latin typeface="Comic Sans MS"/>
                <a:cs typeface="Comic Sans MS"/>
              </a:rPr>
              <a:t>Cell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30" name="object 10"/>
          <p:cNvSpPr txBox="1"/>
          <p:nvPr/>
        </p:nvSpPr>
        <p:spPr>
          <a:xfrm>
            <a:off x="279303" y="5306585"/>
            <a:ext cx="4243593" cy="542645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defTabSz="1183325">
              <a:spcBef>
                <a:spcPts val="116"/>
              </a:spcBef>
            </a:pPr>
            <a:r>
              <a:rPr sz="3429" dirty="0">
                <a:latin typeface="Comic Sans MS"/>
                <a:cs typeface="Comic Sans MS"/>
              </a:rPr>
              <a:t>Const</a:t>
            </a:r>
            <a:r>
              <a:rPr sz="3429" spc="-45" dirty="0"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2F5497"/>
                </a:solidFill>
                <a:latin typeface="Comic Sans MS"/>
                <a:cs typeface="Comic Sans MS"/>
              </a:rPr>
              <a:t>Float</a:t>
            </a:r>
            <a:r>
              <a:rPr sz="3429" spc="-52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PI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52" dirty="0">
                <a:latin typeface="Comic Sans MS"/>
                <a:cs typeface="Comic Sans MS"/>
              </a:rPr>
              <a:t> </a:t>
            </a:r>
            <a:r>
              <a:rPr sz="3429" spc="-26" dirty="0">
                <a:latin typeface="Comic Sans MS"/>
                <a:cs typeface="Comic Sans MS"/>
              </a:rPr>
              <a:t>3.14</a:t>
            </a:r>
            <a:endParaRPr sz="3429">
              <a:latin typeface="Comic Sans MS"/>
              <a:cs typeface="Comic Sans MS"/>
            </a:endParaRPr>
          </a:p>
        </p:txBody>
      </p:sp>
      <p:sp>
        <p:nvSpPr>
          <p:cNvPr id="31" name="object 11"/>
          <p:cNvSpPr/>
          <p:nvPr/>
        </p:nvSpPr>
        <p:spPr>
          <a:xfrm>
            <a:off x="4226500" y="3711746"/>
            <a:ext cx="1645173" cy="3527014"/>
          </a:xfrm>
          <a:custGeom>
            <a:avLst/>
            <a:gdLst/>
            <a:ahLst/>
            <a:cxnLst/>
            <a:rect l="l" t="t" r="r" b="b"/>
            <a:pathLst>
              <a:path w="1271270" h="2725420">
                <a:moveTo>
                  <a:pt x="579120" y="2525268"/>
                </a:moveTo>
                <a:lnTo>
                  <a:pt x="554736" y="2519172"/>
                </a:lnTo>
                <a:lnTo>
                  <a:pt x="544068" y="2519172"/>
                </a:lnTo>
                <a:lnTo>
                  <a:pt x="533400" y="2520696"/>
                </a:lnTo>
                <a:lnTo>
                  <a:pt x="525780" y="2525268"/>
                </a:lnTo>
                <a:lnTo>
                  <a:pt x="516636" y="2529852"/>
                </a:lnTo>
                <a:lnTo>
                  <a:pt x="510540" y="2534412"/>
                </a:lnTo>
                <a:lnTo>
                  <a:pt x="502920" y="2542032"/>
                </a:lnTo>
                <a:lnTo>
                  <a:pt x="481584" y="2561844"/>
                </a:lnTo>
                <a:lnTo>
                  <a:pt x="475488" y="2567952"/>
                </a:lnTo>
                <a:lnTo>
                  <a:pt x="467868" y="2574048"/>
                </a:lnTo>
                <a:lnTo>
                  <a:pt x="460248" y="2577096"/>
                </a:lnTo>
                <a:lnTo>
                  <a:pt x="451104" y="2581656"/>
                </a:lnTo>
                <a:lnTo>
                  <a:pt x="460248" y="2494800"/>
                </a:lnTo>
                <a:lnTo>
                  <a:pt x="463296" y="2452116"/>
                </a:lnTo>
                <a:lnTo>
                  <a:pt x="464820" y="2409444"/>
                </a:lnTo>
                <a:lnTo>
                  <a:pt x="463296" y="2365248"/>
                </a:lnTo>
                <a:lnTo>
                  <a:pt x="463296" y="2322576"/>
                </a:lnTo>
                <a:lnTo>
                  <a:pt x="460248" y="2281428"/>
                </a:lnTo>
                <a:lnTo>
                  <a:pt x="455676" y="2238756"/>
                </a:lnTo>
                <a:lnTo>
                  <a:pt x="449580" y="2199132"/>
                </a:lnTo>
                <a:lnTo>
                  <a:pt x="440436" y="2157984"/>
                </a:lnTo>
                <a:lnTo>
                  <a:pt x="431292" y="2118360"/>
                </a:lnTo>
                <a:lnTo>
                  <a:pt x="420624" y="2077212"/>
                </a:lnTo>
                <a:lnTo>
                  <a:pt x="406908" y="2039112"/>
                </a:lnTo>
                <a:lnTo>
                  <a:pt x="373380" y="1965960"/>
                </a:lnTo>
                <a:lnTo>
                  <a:pt x="353568" y="1929384"/>
                </a:lnTo>
                <a:lnTo>
                  <a:pt x="332232" y="1894332"/>
                </a:lnTo>
                <a:lnTo>
                  <a:pt x="307848" y="1860804"/>
                </a:lnTo>
                <a:lnTo>
                  <a:pt x="280416" y="1828800"/>
                </a:lnTo>
                <a:lnTo>
                  <a:pt x="251460" y="1796796"/>
                </a:lnTo>
                <a:lnTo>
                  <a:pt x="220980" y="1767840"/>
                </a:lnTo>
                <a:lnTo>
                  <a:pt x="176784" y="1731264"/>
                </a:lnTo>
                <a:lnTo>
                  <a:pt x="164592" y="1723644"/>
                </a:lnTo>
                <a:lnTo>
                  <a:pt x="153924" y="1714500"/>
                </a:lnTo>
                <a:lnTo>
                  <a:pt x="112776" y="1688592"/>
                </a:lnTo>
                <a:lnTo>
                  <a:pt x="68580" y="1671828"/>
                </a:lnTo>
                <a:lnTo>
                  <a:pt x="51816" y="1667256"/>
                </a:lnTo>
                <a:lnTo>
                  <a:pt x="36576" y="1667256"/>
                </a:lnTo>
                <a:lnTo>
                  <a:pt x="21336" y="1668780"/>
                </a:lnTo>
                <a:lnTo>
                  <a:pt x="6096" y="1673352"/>
                </a:lnTo>
                <a:lnTo>
                  <a:pt x="0" y="1690116"/>
                </a:lnTo>
                <a:lnTo>
                  <a:pt x="42672" y="1714500"/>
                </a:lnTo>
                <a:lnTo>
                  <a:pt x="83820" y="1738884"/>
                </a:lnTo>
                <a:lnTo>
                  <a:pt x="123444" y="1766316"/>
                </a:lnTo>
                <a:lnTo>
                  <a:pt x="158496" y="1793748"/>
                </a:lnTo>
                <a:lnTo>
                  <a:pt x="192024" y="1822704"/>
                </a:lnTo>
                <a:lnTo>
                  <a:pt x="222504" y="1853184"/>
                </a:lnTo>
                <a:lnTo>
                  <a:pt x="251460" y="1885188"/>
                </a:lnTo>
                <a:lnTo>
                  <a:pt x="277368" y="1918716"/>
                </a:lnTo>
                <a:lnTo>
                  <a:pt x="300228" y="1952244"/>
                </a:lnTo>
                <a:lnTo>
                  <a:pt x="321564" y="1988820"/>
                </a:lnTo>
                <a:lnTo>
                  <a:pt x="339852" y="2025396"/>
                </a:lnTo>
                <a:lnTo>
                  <a:pt x="356616" y="2063496"/>
                </a:lnTo>
                <a:lnTo>
                  <a:pt x="368808" y="2101596"/>
                </a:lnTo>
                <a:lnTo>
                  <a:pt x="381000" y="2142744"/>
                </a:lnTo>
                <a:lnTo>
                  <a:pt x="388620" y="2182368"/>
                </a:lnTo>
                <a:lnTo>
                  <a:pt x="394716" y="2225040"/>
                </a:lnTo>
                <a:lnTo>
                  <a:pt x="399288" y="2267712"/>
                </a:lnTo>
                <a:lnTo>
                  <a:pt x="400812" y="2310396"/>
                </a:lnTo>
                <a:lnTo>
                  <a:pt x="400812" y="2354580"/>
                </a:lnTo>
                <a:lnTo>
                  <a:pt x="397764" y="2400300"/>
                </a:lnTo>
                <a:lnTo>
                  <a:pt x="391668" y="2446020"/>
                </a:lnTo>
                <a:lnTo>
                  <a:pt x="384048" y="2491752"/>
                </a:lnTo>
                <a:lnTo>
                  <a:pt x="374904" y="2538996"/>
                </a:lnTo>
                <a:lnTo>
                  <a:pt x="362712" y="2586228"/>
                </a:lnTo>
                <a:lnTo>
                  <a:pt x="353568" y="2578608"/>
                </a:lnTo>
                <a:lnTo>
                  <a:pt x="347472" y="2571000"/>
                </a:lnTo>
                <a:lnTo>
                  <a:pt x="339852" y="2563368"/>
                </a:lnTo>
                <a:lnTo>
                  <a:pt x="333756" y="2554224"/>
                </a:lnTo>
                <a:lnTo>
                  <a:pt x="329184" y="2546604"/>
                </a:lnTo>
                <a:lnTo>
                  <a:pt x="324612" y="2537460"/>
                </a:lnTo>
                <a:lnTo>
                  <a:pt x="321564" y="2528316"/>
                </a:lnTo>
                <a:lnTo>
                  <a:pt x="307848" y="2500896"/>
                </a:lnTo>
                <a:lnTo>
                  <a:pt x="301752" y="2491752"/>
                </a:lnTo>
                <a:lnTo>
                  <a:pt x="294132" y="2485644"/>
                </a:lnTo>
                <a:lnTo>
                  <a:pt x="284988" y="2478024"/>
                </a:lnTo>
                <a:lnTo>
                  <a:pt x="275844" y="2471928"/>
                </a:lnTo>
                <a:lnTo>
                  <a:pt x="262128" y="2465844"/>
                </a:lnTo>
                <a:lnTo>
                  <a:pt x="246888" y="2459748"/>
                </a:lnTo>
                <a:lnTo>
                  <a:pt x="242316" y="2468880"/>
                </a:lnTo>
                <a:lnTo>
                  <a:pt x="239268" y="2479548"/>
                </a:lnTo>
                <a:lnTo>
                  <a:pt x="236220" y="2491752"/>
                </a:lnTo>
                <a:lnTo>
                  <a:pt x="237744" y="2505456"/>
                </a:lnTo>
                <a:lnTo>
                  <a:pt x="240792" y="2520696"/>
                </a:lnTo>
                <a:lnTo>
                  <a:pt x="245364" y="2535948"/>
                </a:lnTo>
                <a:lnTo>
                  <a:pt x="249936" y="2552700"/>
                </a:lnTo>
                <a:lnTo>
                  <a:pt x="256032" y="2569464"/>
                </a:lnTo>
                <a:lnTo>
                  <a:pt x="263652" y="2587752"/>
                </a:lnTo>
                <a:lnTo>
                  <a:pt x="272796" y="2604516"/>
                </a:lnTo>
                <a:lnTo>
                  <a:pt x="281940" y="2622804"/>
                </a:lnTo>
                <a:lnTo>
                  <a:pt x="313944" y="2668524"/>
                </a:lnTo>
                <a:lnTo>
                  <a:pt x="347472" y="2705100"/>
                </a:lnTo>
                <a:lnTo>
                  <a:pt x="393192" y="2724912"/>
                </a:lnTo>
                <a:lnTo>
                  <a:pt x="406908" y="2723400"/>
                </a:lnTo>
                <a:lnTo>
                  <a:pt x="448056" y="2706624"/>
                </a:lnTo>
                <a:lnTo>
                  <a:pt x="486156" y="2671572"/>
                </a:lnTo>
                <a:lnTo>
                  <a:pt x="510540" y="2641092"/>
                </a:lnTo>
                <a:lnTo>
                  <a:pt x="531876" y="2607564"/>
                </a:lnTo>
                <a:lnTo>
                  <a:pt x="551688" y="2574048"/>
                </a:lnTo>
                <a:lnTo>
                  <a:pt x="569976" y="2540508"/>
                </a:lnTo>
                <a:lnTo>
                  <a:pt x="579120" y="2525268"/>
                </a:lnTo>
                <a:close/>
              </a:path>
              <a:path w="1271270" h="2725420">
                <a:moveTo>
                  <a:pt x="1271003" y="1019556"/>
                </a:moveTo>
                <a:lnTo>
                  <a:pt x="1255776" y="963168"/>
                </a:lnTo>
                <a:lnTo>
                  <a:pt x="1232903" y="920496"/>
                </a:lnTo>
                <a:lnTo>
                  <a:pt x="1203947" y="874776"/>
                </a:lnTo>
                <a:lnTo>
                  <a:pt x="1152144" y="810768"/>
                </a:lnTo>
                <a:lnTo>
                  <a:pt x="1115568" y="775716"/>
                </a:lnTo>
                <a:lnTo>
                  <a:pt x="1097280" y="758952"/>
                </a:lnTo>
                <a:lnTo>
                  <a:pt x="1078992" y="745236"/>
                </a:lnTo>
                <a:lnTo>
                  <a:pt x="1060704" y="734568"/>
                </a:lnTo>
                <a:lnTo>
                  <a:pt x="1045451" y="726948"/>
                </a:lnTo>
                <a:lnTo>
                  <a:pt x="1028700" y="722376"/>
                </a:lnTo>
                <a:lnTo>
                  <a:pt x="1013447" y="722376"/>
                </a:lnTo>
                <a:lnTo>
                  <a:pt x="999744" y="723900"/>
                </a:lnTo>
                <a:lnTo>
                  <a:pt x="999744" y="748284"/>
                </a:lnTo>
                <a:lnTo>
                  <a:pt x="1010399" y="803148"/>
                </a:lnTo>
                <a:lnTo>
                  <a:pt x="1033272" y="839724"/>
                </a:lnTo>
                <a:lnTo>
                  <a:pt x="1040892" y="850392"/>
                </a:lnTo>
                <a:lnTo>
                  <a:pt x="1051547" y="859536"/>
                </a:lnTo>
                <a:lnTo>
                  <a:pt x="1078992" y="891540"/>
                </a:lnTo>
                <a:lnTo>
                  <a:pt x="1088136" y="903732"/>
                </a:lnTo>
                <a:lnTo>
                  <a:pt x="1094232" y="917448"/>
                </a:lnTo>
                <a:lnTo>
                  <a:pt x="1101852" y="931164"/>
                </a:lnTo>
                <a:lnTo>
                  <a:pt x="1106424" y="947928"/>
                </a:lnTo>
                <a:lnTo>
                  <a:pt x="1040892" y="940308"/>
                </a:lnTo>
                <a:lnTo>
                  <a:pt x="976884" y="929640"/>
                </a:lnTo>
                <a:lnTo>
                  <a:pt x="914400" y="917448"/>
                </a:lnTo>
                <a:lnTo>
                  <a:pt x="854951" y="902208"/>
                </a:lnTo>
                <a:lnTo>
                  <a:pt x="795528" y="882396"/>
                </a:lnTo>
                <a:lnTo>
                  <a:pt x="739140" y="861060"/>
                </a:lnTo>
                <a:lnTo>
                  <a:pt x="685800" y="838200"/>
                </a:lnTo>
                <a:lnTo>
                  <a:pt x="632460" y="810768"/>
                </a:lnTo>
                <a:lnTo>
                  <a:pt x="583692" y="780288"/>
                </a:lnTo>
                <a:lnTo>
                  <a:pt x="536448" y="749808"/>
                </a:lnTo>
                <a:lnTo>
                  <a:pt x="490728" y="713232"/>
                </a:lnTo>
                <a:lnTo>
                  <a:pt x="446532" y="675132"/>
                </a:lnTo>
                <a:lnTo>
                  <a:pt x="406908" y="633984"/>
                </a:lnTo>
                <a:lnTo>
                  <a:pt x="368808" y="589788"/>
                </a:lnTo>
                <a:lnTo>
                  <a:pt x="332232" y="544068"/>
                </a:lnTo>
                <a:lnTo>
                  <a:pt x="300228" y="493776"/>
                </a:lnTo>
                <a:lnTo>
                  <a:pt x="269748" y="441960"/>
                </a:lnTo>
                <a:lnTo>
                  <a:pt x="242316" y="387096"/>
                </a:lnTo>
                <a:lnTo>
                  <a:pt x="217932" y="329184"/>
                </a:lnTo>
                <a:lnTo>
                  <a:pt x="195072" y="269748"/>
                </a:lnTo>
                <a:lnTo>
                  <a:pt x="178308" y="205740"/>
                </a:lnTo>
                <a:lnTo>
                  <a:pt x="161544" y="140208"/>
                </a:lnTo>
                <a:lnTo>
                  <a:pt x="149352" y="71628"/>
                </a:lnTo>
                <a:lnTo>
                  <a:pt x="138684" y="0"/>
                </a:lnTo>
                <a:lnTo>
                  <a:pt x="115824" y="0"/>
                </a:lnTo>
                <a:lnTo>
                  <a:pt x="92964" y="38100"/>
                </a:lnTo>
                <a:lnTo>
                  <a:pt x="83820" y="83820"/>
                </a:lnTo>
                <a:lnTo>
                  <a:pt x="82296" y="106680"/>
                </a:lnTo>
                <a:lnTo>
                  <a:pt x="82296" y="129540"/>
                </a:lnTo>
                <a:lnTo>
                  <a:pt x="83820" y="153924"/>
                </a:lnTo>
                <a:lnTo>
                  <a:pt x="92964" y="201168"/>
                </a:lnTo>
                <a:lnTo>
                  <a:pt x="105156" y="243840"/>
                </a:lnTo>
                <a:lnTo>
                  <a:pt x="109728" y="262128"/>
                </a:lnTo>
                <a:lnTo>
                  <a:pt x="115824" y="280416"/>
                </a:lnTo>
                <a:lnTo>
                  <a:pt x="135636" y="342900"/>
                </a:lnTo>
                <a:lnTo>
                  <a:pt x="158496" y="399288"/>
                </a:lnTo>
                <a:lnTo>
                  <a:pt x="184404" y="455676"/>
                </a:lnTo>
                <a:lnTo>
                  <a:pt x="213360" y="507492"/>
                </a:lnTo>
                <a:lnTo>
                  <a:pt x="243840" y="557784"/>
                </a:lnTo>
                <a:lnTo>
                  <a:pt x="278892" y="605028"/>
                </a:lnTo>
                <a:lnTo>
                  <a:pt x="315468" y="650748"/>
                </a:lnTo>
                <a:lnTo>
                  <a:pt x="353568" y="691896"/>
                </a:lnTo>
                <a:lnTo>
                  <a:pt x="393192" y="733044"/>
                </a:lnTo>
                <a:lnTo>
                  <a:pt x="435864" y="771144"/>
                </a:lnTo>
                <a:lnTo>
                  <a:pt x="481584" y="806196"/>
                </a:lnTo>
                <a:lnTo>
                  <a:pt x="527304" y="839724"/>
                </a:lnTo>
                <a:lnTo>
                  <a:pt x="574548" y="871728"/>
                </a:lnTo>
                <a:lnTo>
                  <a:pt x="623316" y="899160"/>
                </a:lnTo>
                <a:lnTo>
                  <a:pt x="675132" y="926592"/>
                </a:lnTo>
                <a:lnTo>
                  <a:pt x="726948" y="952500"/>
                </a:lnTo>
                <a:lnTo>
                  <a:pt x="780288" y="975360"/>
                </a:lnTo>
                <a:lnTo>
                  <a:pt x="835152" y="996696"/>
                </a:lnTo>
                <a:lnTo>
                  <a:pt x="890003" y="1016508"/>
                </a:lnTo>
                <a:lnTo>
                  <a:pt x="946404" y="1034796"/>
                </a:lnTo>
                <a:lnTo>
                  <a:pt x="1001268" y="1050036"/>
                </a:lnTo>
                <a:lnTo>
                  <a:pt x="1059180" y="1065276"/>
                </a:lnTo>
                <a:lnTo>
                  <a:pt x="1050036" y="1075944"/>
                </a:lnTo>
                <a:lnTo>
                  <a:pt x="1019556" y="1098804"/>
                </a:lnTo>
                <a:lnTo>
                  <a:pt x="984504" y="1117092"/>
                </a:lnTo>
                <a:lnTo>
                  <a:pt x="972299" y="1123188"/>
                </a:lnTo>
                <a:lnTo>
                  <a:pt x="963168" y="1129284"/>
                </a:lnTo>
                <a:lnTo>
                  <a:pt x="937247" y="1161288"/>
                </a:lnTo>
                <a:lnTo>
                  <a:pt x="929640" y="1193292"/>
                </a:lnTo>
                <a:lnTo>
                  <a:pt x="929640" y="1213104"/>
                </a:lnTo>
                <a:lnTo>
                  <a:pt x="1004303" y="1200912"/>
                </a:lnTo>
                <a:lnTo>
                  <a:pt x="1107948" y="1176528"/>
                </a:lnTo>
                <a:lnTo>
                  <a:pt x="1156703" y="1158240"/>
                </a:lnTo>
                <a:lnTo>
                  <a:pt x="1199388" y="1136904"/>
                </a:lnTo>
                <a:lnTo>
                  <a:pt x="1234440" y="1109472"/>
                </a:lnTo>
                <a:lnTo>
                  <a:pt x="1258824" y="1075944"/>
                </a:lnTo>
                <a:lnTo>
                  <a:pt x="1271003" y="1034796"/>
                </a:lnTo>
                <a:lnTo>
                  <a:pt x="1271003" y="1019556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2" name="object 12"/>
          <p:cNvSpPr/>
          <p:nvPr/>
        </p:nvSpPr>
        <p:spPr>
          <a:xfrm>
            <a:off x="2062958" y="5912761"/>
            <a:ext cx="704252" cy="1387139"/>
          </a:xfrm>
          <a:custGeom>
            <a:avLst/>
            <a:gdLst/>
            <a:ahLst/>
            <a:cxnLst/>
            <a:rect l="l" t="t" r="r" b="b"/>
            <a:pathLst>
              <a:path w="544194" h="1071879">
                <a:moveTo>
                  <a:pt x="195072" y="1071371"/>
                </a:moveTo>
                <a:lnTo>
                  <a:pt x="181355" y="1071371"/>
                </a:lnTo>
                <a:lnTo>
                  <a:pt x="166115" y="1068323"/>
                </a:lnTo>
                <a:lnTo>
                  <a:pt x="124967" y="1045463"/>
                </a:lnTo>
                <a:lnTo>
                  <a:pt x="74676" y="993648"/>
                </a:lnTo>
                <a:lnTo>
                  <a:pt x="51815" y="961644"/>
                </a:lnTo>
                <a:lnTo>
                  <a:pt x="41148" y="944879"/>
                </a:lnTo>
                <a:lnTo>
                  <a:pt x="28955" y="928115"/>
                </a:lnTo>
                <a:lnTo>
                  <a:pt x="19811" y="911352"/>
                </a:lnTo>
                <a:lnTo>
                  <a:pt x="9143" y="896111"/>
                </a:lnTo>
                <a:lnTo>
                  <a:pt x="0" y="880871"/>
                </a:lnTo>
                <a:lnTo>
                  <a:pt x="13715" y="876300"/>
                </a:lnTo>
                <a:lnTo>
                  <a:pt x="24383" y="873252"/>
                </a:lnTo>
                <a:lnTo>
                  <a:pt x="35052" y="873252"/>
                </a:lnTo>
                <a:lnTo>
                  <a:pt x="77724" y="893063"/>
                </a:lnTo>
                <a:lnTo>
                  <a:pt x="105155" y="918971"/>
                </a:lnTo>
                <a:lnTo>
                  <a:pt x="112776" y="923544"/>
                </a:lnTo>
                <a:lnTo>
                  <a:pt x="121919" y="928115"/>
                </a:lnTo>
                <a:lnTo>
                  <a:pt x="131063" y="931163"/>
                </a:lnTo>
                <a:lnTo>
                  <a:pt x="123443" y="886967"/>
                </a:lnTo>
                <a:lnTo>
                  <a:pt x="117348" y="845819"/>
                </a:lnTo>
                <a:lnTo>
                  <a:pt x="112776" y="801623"/>
                </a:lnTo>
                <a:lnTo>
                  <a:pt x="109728" y="758952"/>
                </a:lnTo>
                <a:lnTo>
                  <a:pt x="109728" y="716279"/>
                </a:lnTo>
                <a:lnTo>
                  <a:pt x="108204" y="673608"/>
                </a:lnTo>
                <a:lnTo>
                  <a:pt x="109728" y="630936"/>
                </a:lnTo>
                <a:lnTo>
                  <a:pt x="115824" y="548640"/>
                </a:lnTo>
                <a:lnTo>
                  <a:pt x="121919" y="507492"/>
                </a:lnTo>
                <a:lnTo>
                  <a:pt x="131063" y="466344"/>
                </a:lnTo>
                <a:lnTo>
                  <a:pt x="140207" y="426720"/>
                </a:lnTo>
                <a:lnTo>
                  <a:pt x="152400" y="387096"/>
                </a:lnTo>
                <a:lnTo>
                  <a:pt x="166115" y="348996"/>
                </a:lnTo>
                <a:lnTo>
                  <a:pt x="182880" y="312419"/>
                </a:lnTo>
                <a:lnTo>
                  <a:pt x="201167" y="275843"/>
                </a:lnTo>
                <a:lnTo>
                  <a:pt x="220980" y="239267"/>
                </a:lnTo>
                <a:lnTo>
                  <a:pt x="243839" y="205740"/>
                </a:lnTo>
                <a:lnTo>
                  <a:pt x="268224" y="172212"/>
                </a:lnTo>
                <a:lnTo>
                  <a:pt x="297179" y="138684"/>
                </a:lnTo>
                <a:lnTo>
                  <a:pt x="326136" y="108204"/>
                </a:lnTo>
                <a:lnTo>
                  <a:pt x="359663" y="79248"/>
                </a:lnTo>
                <a:lnTo>
                  <a:pt x="368807" y="70104"/>
                </a:lnTo>
                <a:lnTo>
                  <a:pt x="379475" y="60960"/>
                </a:lnTo>
                <a:lnTo>
                  <a:pt x="391667" y="51816"/>
                </a:lnTo>
                <a:lnTo>
                  <a:pt x="402335" y="42672"/>
                </a:lnTo>
                <a:lnTo>
                  <a:pt x="445007" y="16764"/>
                </a:lnTo>
                <a:lnTo>
                  <a:pt x="490727" y="1524"/>
                </a:lnTo>
                <a:lnTo>
                  <a:pt x="505967" y="0"/>
                </a:lnTo>
                <a:lnTo>
                  <a:pt x="521207" y="1524"/>
                </a:lnTo>
                <a:lnTo>
                  <a:pt x="536447" y="4572"/>
                </a:lnTo>
                <a:lnTo>
                  <a:pt x="544067" y="21336"/>
                </a:lnTo>
                <a:lnTo>
                  <a:pt x="501395" y="47244"/>
                </a:lnTo>
                <a:lnTo>
                  <a:pt x="461771" y="73152"/>
                </a:lnTo>
                <a:lnTo>
                  <a:pt x="423671" y="102108"/>
                </a:lnTo>
                <a:lnTo>
                  <a:pt x="388619" y="131064"/>
                </a:lnTo>
                <a:lnTo>
                  <a:pt x="356615" y="161544"/>
                </a:lnTo>
                <a:lnTo>
                  <a:pt x="327660" y="193548"/>
                </a:lnTo>
                <a:lnTo>
                  <a:pt x="301751" y="227076"/>
                </a:lnTo>
                <a:lnTo>
                  <a:pt x="277367" y="260604"/>
                </a:lnTo>
                <a:lnTo>
                  <a:pt x="254507" y="295655"/>
                </a:lnTo>
                <a:lnTo>
                  <a:pt x="234695" y="332231"/>
                </a:lnTo>
                <a:lnTo>
                  <a:pt x="217931" y="370331"/>
                </a:lnTo>
                <a:lnTo>
                  <a:pt x="204215" y="408431"/>
                </a:lnTo>
                <a:lnTo>
                  <a:pt x="192024" y="448055"/>
                </a:lnTo>
                <a:lnTo>
                  <a:pt x="182880" y="489203"/>
                </a:lnTo>
                <a:lnTo>
                  <a:pt x="175259" y="530351"/>
                </a:lnTo>
                <a:lnTo>
                  <a:pt x="170687" y="571499"/>
                </a:lnTo>
                <a:lnTo>
                  <a:pt x="169163" y="615696"/>
                </a:lnTo>
                <a:lnTo>
                  <a:pt x="169163" y="658367"/>
                </a:lnTo>
                <a:lnTo>
                  <a:pt x="175259" y="748284"/>
                </a:lnTo>
                <a:lnTo>
                  <a:pt x="184404" y="794004"/>
                </a:lnTo>
                <a:lnTo>
                  <a:pt x="193548" y="838200"/>
                </a:lnTo>
                <a:lnTo>
                  <a:pt x="217931" y="932688"/>
                </a:lnTo>
                <a:lnTo>
                  <a:pt x="228600" y="925067"/>
                </a:lnTo>
                <a:lnTo>
                  <a:pt x="234695" y="915923"/>
                </a:lnTo>
                <a:lnTo>
                  <a:pt x="240791" y="908304"/>
                </a:lnTo>
                <a:lnTo>
                  <a:pt x="246887" y="899160"/>
                </a:lnTo>
                <a:lnTo>
                  <a:pt x="249936" y="890015"/>
                </a:lnTo>
                <a:lnTo>
                  <a:pt x="254507" y="880871"/>
                </a:lnTo>
                <a:lnTo>
                  <a:pt x="257555" y="871727"/>
                </a:lnTo>
                <a:lnTo>
                  <a:pt x="262127" y="862584"/>
                </a:lnTo>
                <a:lnTo>
                  <a:pt x="265175" y="853440"/>
                </a:lnTo>
                <a:lnTo>
                  <a:pt x="269748" y="844296"/>
                </a:lnTo>
                <a:lnTo>
                  <a:pt x="275843" y="835152"/>
                </a:lnTo>
                <a:lnTo>
                  <a:pt x="283463" y="829056"/>
                </a:lnTo>
                <a:lnTo>
                  <a:pt x="292607" y="819911"/>
                </a:lnTo>
                <a:lnTo>
                  <a:pt x="301751" y="813815"/>
                </a:lnTo>
                <a:lnTo>
                  <a:pt x="313943" y="807719"/>
                </a:lnTo>
                <a:lnTo>
                  <a:pt x="329184" y="801623"/>
                </a:lnTo>
                <a:lnTo>
                  <a:pt x="335279" y="809244"/>
                </a:lnTo>
                <a:lnTo>
                  <a:pt x="338327" y="819911"/>
                </a:lnTo>
                <a:lnTo>
                  <a:pt x="341375" y="832104"/>
                </a:lnTo>
                <a:lnTo>
                  <a:pt x="338327" y="861060"/>
                </a:lnTo>
                <a:lnTo>
                  <a:pt x="335279" y="877823"/>
                </a:lnTo>
                <a:lnTo>
                  <a:pt x="330707" y="894588"/>
                </a:lnTo>
                <a:lnTo>
                  <a:pt x="324611" y="911352"/>
                </a:lnTo>
                <a:lnTo>
                  <a:pt x="316991" y="928115"/>
                </a:lnTo>
                <a:lnTo>
                  <a:pt x="301751" y="964692"/>
                </a:lnTo>
                <a:lnTo>
                  <a:pt x="292607" y="981456"/>
                </a:lnTo>
                <a:lnTo>
                  <a:pt x="271272" y="1011936"/>
                </a:lnTo>
                <a:lnTo>
                  <a:pt x="262127" y="1025652"/>
                </a:lnTo>
                <a:lnTo>
                  <a:pt x="228600" y="1057656"/>
                </a:lnTo>
                <a:lnTo>
                  <a:pt x="210311" y="1068323"/>
                </a:lnTo>
                <a:lnTo>
                  <a:pt x="195072" y="1071371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3" name="object 13"/>
          <p:cNvSpPr txBox="1"/>
          <p:nvPr/>
        </p:nvSpPr>
        <p:spPr>
          <a:xfrm>
            <a:off x="1358239" y="7389278"/>
            <a:ext cx="1334546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Identifier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34" name="object 14"/>
          <p:cNvSpPr txBox="1"/>
          <p:nvPr/>
        </p:nvSpPr>
        <p:spPr>
          <a:xfrm>
            <a:off x="4352100" y="7373596"/>
            <a:ext cx="715757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spc="-13" dirty="0">
                <a:solidFill>
                  <a:srgbClr val="FF0000"/>
                </a:solidFill>
                <a:latin typeface="Comic Sans MS"/>
                <a:cs typeface="Comic Sans MS"/>
              </a:rPr>
              <a:t>Value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35" name="object 15"/>
          <p:cNvSpPr/>
          <p:nvPr/>
        </p:nvSpPr>
        <p:spPr>
          <a:xfrm>
            <a:off x="1729649" y="3952359"/>
            <a:ext cx="660699" cy="1394535"/>
          </a:xfrm>
          <a:custGeom>
            <a:avLst/>
            <a:gdLst/>
            <a:ahLst/>
            <a:cxnLst/>
            <a:rect l="l" t="t" r="r" b="b"/>
            <a:pathLst>
              <a:path w="510539" h="1077595">
                <a:moveTo>
                  <a:pt x="112775" y="1077468"/>
                </a:moveTo>
                <a:lnTo>
                  <a:pt x="99059" y="1071372"/>
                </a:lnTo>
                <a:lnTo>
                  <a:pt x="85343" y="1063752"/>
                </a:lnTo>
                <a:lnTo>
                  <a:pt x="73151" y="1053084"/>
                </a:lnTo>
                <a:lnTo>
                  <a:pt x="64007" y="1039368"/>
                </a:lnTo>
                <a:lnTo>
                  <a:pt x="54863" y="1027176"/>
                </a:lnTo>
                <a:lnTo>
                  <a:pt x="47243" y="1011936"/>
                </a:lnTo>
                <a:lnTo>
                  <a:pt x="39623" y="998220"/>
                </a:lnTo>
                <a:lnTo>
                  <a:pt x="28955" y="966216"/>
                </a:lnTo>
                <a:lnTo>
                  <a:pt x="24383" y="950976"/>
                </a:lnTo>
                <a:lnTo>
                  <a:pt x="18287" y="923544"/>
                </a:lnTo>
                <a:lnTo>
                  <a:pt x="15239" y="911352"/>
                </a:lnTo>
                <a:lnTo>
                  <a:pt x="7619" y="868680"/>
                </a:lnTo>
                <a:lnTo>
                  <a:pt x="3047" y="826008"/>
                </a:lnTo>
                <a:lnTo>
                  <a:pt x="0" y="781812"/>
                </a:lnTo>
                <a:lnTo>
                  <a:pt x="0" y="740664"/>
                </a:lnTo>
                <a:lnTo>
                  <a:pt x="3047" y="699516"/>
                </a:lnTo>
                <a:lnTo>
                  <a:pt x="7619" y="658368"/>
                </a:lnTo>
                <a:lnTo>
                  <a:pt x="15239" y="618744"/>
                </a:lnTo>
                <a:lnTo>
                  <a:pt x="36575" y="539496"/>
                </a:lnTo>
                <a:lnTo>
                  <a:pt x="51815" y="502920"/>
                </a:lnTo>
                <a:lnTo>
                  <a:pt x="67055" y="463296"/>
                </a:lnTo>
                <a:lnTo>
                  <a:pt x="85343" y="426720"/>
                </a:lnTo>
                <a:lnTo>
                  <a:pt x="105155" y="390144"/>
                </a:lnTo>
                <a:lnTo>
                  <a:pt x="126491" y="355092"/>
                </a:lnTo>
                <a:lnTo>
                  <a:pt x="150876" y="320040"/>
                </a:lnTo>
                <a:lnTo>
                  <a:pt x="175259" y="286512"/>
                </a:lnTo>
                <a:lnTo>
                  <a:pt x="201167" y="252984"/>
                </a:lnTo>
                <a:lnTo>
                  <a:pt x="256031" y="185928"/>
                </a:lnTo>
                <a:lnTo>
                  <a:pt x="347472" y="94488"/>
                </a:lnTo>
                <a:lnTo>
                  <a:pt x="339852" y="91440"/>
                </a:lnTo>
                <a:lnTo>
                  <a:pt x="330708" y="89916"/>
                </a:lnTo>
                <a:lnTo>
                  <a:pt x="320040" y="88392"/>
                </a:lnTo>
                <a:lnTo>
                  <a:pt x="312420" y="89916"/>
                </a:lnTo>
                <a:lnTo>
                  <a:pt x="283464" y="91440"/>
                </a:lnTo>
                <a:lnTo>
                  <a:pt x="272795" y="92964"/>
                </a:lnTo>
                <a:lnTo>
                  <a:pt x="263652" y="92964"/>
                </a:lnTo>
                <a:lnTo>
                  <a:pt x="228600" y="76200"/>
                </a:lnTo>
                <a:lnTo>
                  <a:pt x="213359" y="54864"/>
                </a:lnTo>
                <a:lnTo>
                  <a:pt x="230123" y="48768"/>
                </a:lnTo>
                <a:lnTo>
                  <a:pt x="248411" y="42672"/>
                </a:lnTo>
                <a:lnTo>
                  <a:pt x="266700" y="35052"/>
                </a:lnTo>
                <a:lnTo>
                  <a:pt x="321564" y="16764"/>
                </a:lnTo>
                <a:lnTo>
                  <a:pt x="341375" y="10668"/>
                </a:lnTo>
                <a:lnTo>
                  <a:pt x="359664" y="6096"/>
                </a:lnTo>
                <a:lnTo>
                  <a:pt x="396240" y="0"/>
                </a:lnTo>
                <a:lnTo>
                  <a:pt x="429767" y="0"/>
                </a:lnTo>
                <a:lnTo>
                  <a:pt x="484631" y="21336"/>
                </a:lnTo>
                <a:lnTo>
                  <a:pt x="507492" y="65532"/>
                </a:lnTo>
                <a:lnTo>
                  <a:pt x="510539" y="97536"/>
                </a:lnTo>
                <a:lnTo>
                  <a:pt x="510539" y="114300"/>
                </a:lnTo>
                <a:lnTo>
                  <a:pt x="507492" y="152400"/>
                </a:lnTo>
                <a:lnTo>
                  <a:pt x="499872" y="190500"/>
                </a:lnTo>
                <a:lnTo>
                  <a:pt x="478535" y="260604"/>
                </a:lnTo>
                <a:lnTo>
                  <a:pt x="457200" y="298704"/>
                </a:lnTo>
                <a:lnTo>
                  <a:pt x="428244" y="318516"/>
                </a:lnTo>
                <a:lnTo>
                  <a:pt x="420623" y="303276"/>
                </a:lnTo>
                <a:lnTo>
                  <a:pt x="413003" y="291084"/>
                </a:lnTo>
                <a:lnTo>
                  <a:pt x="409956" y="280416"/>
                </a:lnTo>
                <a:lnTo>
                  <a:pt x="408432" y="268224"/>
                </a:lnTo>
                <a:lnTo>
                  <a:pt x="406908" y="257556"/>
                </a:lnTo>
                <a:lnTo>
                  <a:pt x="406908" y="246888"/>
                </a:lnTo>
                <a:lnTo>
                  <a:pt x="409956" y="237744"/>
                </a:lnTo>
                <a:lnTo>
                  <a:pt x="411480" y="228600"/>
                </a:lnTo>
                <a:lnTo>
                  <a:pt x="414528" y="217932"/>
                </a:lnTo>
                <a:lnTo>
                  <a:pt x="417575" y="208788"/>
                </a:lnTo>
                <a:lnTo>
                  <a:pt x="419099" y="199644"/>
                </a:lnTo>
                <a:lnTo>
                  <a:pt x="422147" y="188976"/>
                </a:lnTo>
                <a:lnTo>
                  <a:pt x="423672" y="178308"/>
                </a:lnTo>
                <a:lnTo>
                  <a:pt x="422147" y="169164"/>
                </a:lnTo>
                <a:lnTo>
                  <a:pt x="422147" y="158496"/>
                </a:lnTo>
                <a:lnTo>
                  <a:pt x="379475" y="175260"/>
                </a:lnTo>
                <a:lnTo>
                  <a:pt x="342899" y="205740"/>
                </a:lnTo>
                <a:lnTo>
                  <a:pt x="307847" y="236220"/>
                </a:lnTo>
                <a:lnTo>
                  <a:pt x="274320" y="266700"/>
                </a:lnTo>
                <a:lnTo>
                  <a:pt x="242315" y="300228"/>
                </a:lnTo>
                <a:lnTo>
                  <a:pt x="214883" y="335280"/>
                </a:lnTo>
                <a:lnTo>
                  <a:pt x="187451" y="368808"/>
                </a:lnTo>
                <a:lnTo>
                  <a:pt x="163067" y="405384"/>
                </a:lnTo>
                <a:lnTo>
                  <a:pt x="141731" y="440436"/>
                </a:lnTo>
                <a:lnTo>
                  <a:pt x="123443" y="477012"/>
                </a:lnTo>
                <a:lnTo>
                  <a:pt x="106679" y="516636"/>
                </a:lnTo>
                <a:lnTo>
                  <a:pt x="91439" y="554736"/>
                </a:lnTo>
                <a:lnTo>
                  <a:pt x="79247" y="594360"/>
                </a:lnTo>
                <a:lnTo>
                  <a:pt x="70103" y="633984"/>
                </a:lnTo>
                <a:lnTo>
                  <a:pt x="64007" y="675132"/>
                </a:lnTo>
                <a:lnTo>
                  <a:pt x="59435" y="716280"/>
                </a:lnTo>
                <a:lnTo>
                  <a:pt x="59435" y="801624"/>
                </a:lnTo>
                <a:lnTo>
                  <a:pt x="64007" y="844296"/>
                </a:lnTo>
                <a:lnTo>
                  <a:pt x="71627" y="888492"/>
                </a:lnTo>
                <a:lnTo>
                  <a:pt x="80771" y="932688"/>
                </a:lnTo>
                <a:lnTo>
                  <a:pt x="92963" y="976884"/>
                </a:lnTo>
                <a:lnTo>
                  <a:pt x="109727" y="1022604"/>
                </a:lnTo>
                <a:lnTo>
                  <a:pt x="128015" y="1068324"/>
                </a:lnTo>
                <a:lnTo>
                  <a:pt x="112775" y="1077468"/>
                </a:lnTo>
                <a:close/>
              </a:path>
            </a:pathLst>
          </a:custGeom>
          <a:solidFill>
            <a:srgbClr val="2F5497"/>
          </a:solidFill>
        </p:spPr>
        <p:txBody>
          <a:bodyPr wrap="square" lIns="0" tIns="0" rIns="0" bIns="0" rtlCol="0"/>
          <a:lstStyle/>
          <a:p>
            <a:pPr defTabSz="1183325"/>
            <a:endParaRPr sz="2329"/>
          </a:p>
        </p:txBody>
      </p:sp>
      <p:sp>
        <p:nvSpPr>
          <p:cNvPr id="36" name="object 16"/>
          <p:cNvSpPr txBox="1"/>
          <p:nvPr/>
        </p:nvSpPr>
        <p:spPr>
          <a:xfrm>
            <a:off x="2194415" y="3496116"/>
            <a:ext cx="655768" cy="345977"/>
          </a:xfrm>
          <a:prstGeom prst="rect">
            <a:avLst/>
          </a:prstGeom>
        </p:spPr>
        <p:txBody>
          <a:bodyPr vert="horz" wrap="square" lIns="0" tIns="17257" rIns="0" bIns="0" rtlCol="0">
            <a:spAutoFit/>
          </a:bodyPr>
          <a:lstStyle/>
          <a:p>
            <a:pPr marL="16435" defTabSz="1183325">
              <a:spcBef>
                <a:spcPts val="136"/>
              </a:spcBef>
            </a:pPr>
            <a:r>
              <a:rPr sz="2135" spc="-26" dirty="0">
                <a:solidFill>
                  <a:srgbClr val="FF0000"/>
                </a:solidFill>
                <a:latin typeface="Comic Sans MS"/>
                <a:cs typeface="Comic Sans MS"/>
              </a:rPr>
              <a:t>Type</a:t>
            </a:r>
            <a:endParaRPr sz="2135">
              <a:latin typeface="Comic Sans MS"/>
              <a:cs typeface="Comic Sans MS"/>
            </a:endParaRPr>
          </a:p>
        </p:txBody>
      </p:sp>
      <p:pic>
        <p:nvPicPr>
          <p:cNvPr id="3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9875" y="5983761"/>
            <a:ext cx="1005839" cy="100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65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81E7E5-0FD5-40F4-E9B4-06CD87AA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20075" y="2212849"/>
            <a:ext cx="6911041" cy="4444925"/>
            <a:chOff x="2258567" y="1709928"/>
            <a:chExt cx="5340350" cy="3434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8567" y="1709928"/>
              <a:ext cx="5340096" cy="148285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33316" y="3919727"/>
              <a:ext cx="1243965" cy="1219200"/>
            </a:xfrm>
            <a:custGeom>
              <a:avLst/>
              <a:gdLst/>
              <a:ahLst/>
              <a:cxnLst/>
              <a:rect l="l" t="t" r="r" b="b"/>
              <a:pathLst>
                <a:path w="1243964" h="1219200">
                  <a:moveTo>
                    <a:pt x="0" y="0"/>
                  </a:moveTo>
                  <a:lnTo>
                    <a:pt x="1243583" y="0"/>
                  </a:lnTo>
                  <a:lnTo>
                    <a:pt x="1243583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17260" y="5401234"/>
            <a:ext cx="1180875" cy="739396"/>
          </a:xfrm>
          <a:prstGeom prst="rect">
            <a:avLst/>
          </a:prstGeom>
        </p:spPr>
        <p:txBody>
          <a:bodyPr vert="horz" wrap="square" lIns="0" tIns="22188" rIns="0" bIns="0" rtlCol="0">
            <a:spAutoFit/>
          </a:bodyPr>
          <a:lstStyle/>
          <a:p>
            <a:pPr marL="16435" defTabSz="1183325">
              <a:spcBef>
                <a:spcPts val="175"/>
              </a:spcBef>
            </a:pPr>
            <a:r>
              <a:rPr sz="4659" spc="-26" dirty="0">
                <a:solidFill>
                  <a:srgbClr val="FF0000"/>
                </a:solidFill>
                <a:latin typeface="Comic Sans MS"/>
                <a:cs typeface="Comic Sans MS"/>
              </a:rPr>
              <a:t>3.14</a:t>
            </a:r>
            <a:endParaRPr sz="4659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9247" y="4891726"/>
            <a:ext cx="3623982" cy="1237122"/>
          </a:xfrm>
          <a:prstGeom prst="rect">
            <a:avLst/>
          </a:prstGeom>
        </p:spPr>
        <p:txBody>
          <a:bodyPr vert="horz" wrap="square" lIns="0" tIns="16435" rIns="0" bIns="0" rtlCol="0">
            <a:spAutoFit/>
          </a:bodyPr>
          <a:lstStyle/>
          <a:p>
            <a:pPr marL="114224" marR="2114372" indent="-65740" defTabSz="1183325">
              <a:lnSpc>
                <a:spcPct val="124200"/>
              </a:lnSpc>
              <a:spcBef>
                <a:spcPts val="129"/>
              </a:spcBef>
            </a:pP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Name:</a:t>
            </a:r>
            <a:r>
              <a:rPr sz="2135" spc="453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48" baseline="5050" dirty="0">
                <a:latin typeface="Comic Sans MS"/>
                <a:cs typeface="Comic Sans MS"/>
              </a:rPr>
              <a:t>PI </a:t>
            </a:r>
            <a:r>
              <a:rPr sz="2135" dirty="0">
                <a:solidFill>
                  <a:srgbClr val="FF0000"/>
                </a:solidFill>
                <a:latin typeface="Comic Sans MS"/>
                <a:cs typeface="Comic Sans MS"/>
              </a:rPr>
              <a:t>Value:</a:t>
            </a:r>
            <a:r>
              <a:rPr sz="2135" spc="104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203" spc="-39" baseline="6734" dirty="0">
                <a:latin typeface="Comic Sans MS"/>
                <a:cs typeface="Comic Sans MS"/>
              </a:rPr>
              <a:t>3.14</a:t>
            </a:r>
            <a:endParaRPr sz="3203" baseline="6734">
              <a:latin typeface="Comic Sans MS"/>
              <a:cs typeface="Comic Sans MS"/>
            </a:endParaRPr>
          </a:p>
          <a:p>
            <a:pPr marL="127372" defTabSz="1183325">
              <a:spcBef>
                <a:spcPts val="647"/>
              </a:spcBef>
            </a:pPr>
            <a:r>
              <a:rPr sz="3203" baseline="3367" dirty="0">
                <a:solidFill>
                  <a:srgbClr val="FF0000"/>
                </a:solidFill>
                <a:latin typeface="Comic Sans MS"/>
                <a:cs typeface="Comic Sans MS"/>
              </a:rPr>
              <a:t>Address:</a:t>
            </a:r>
            <a:r>
              <a:rPr sz="3203" spc="-97" baseline="336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135" spc="-13" dirty="0">
                <a:latin typeface="Comic Sans MS"/>
                <a:cs typeface="Comic Sans MS"/>
              </a:rPr>
              <a:t>0x7ffd5794dc58</a:t>
            </a:r>
            <a:endParaRPr sz="2135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50198" y="4649919"/>
            <a:ext cx="1275378" cy="278768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16435" defTabSz="1183325">
              <a:spcBef>
                <a:spcPts val="155"/>
              </a:spcBef>
            </a:pPr>
            <a:r>
              <a:rPr sz="1682" dirty="0">
                <a:solidFill>
                  <a:srgbClr val="FF0000"/>
                </a:solidFill>
                <a:latin typeface="Comic Sans MS"/>
                <a:cs typeface="Comic Sans MS"/>
              </a:rPr>
              <a:t>Memory</a:t>
            </a:r>
            <a:r>
              <a:rPr sz="1682" spc="3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1682" spc="-26" dirty="0">
                <a:solidFill>
                  <a:srgbClr val="FF0000"/>
                </a:solidFill>
                <a:latin typeface="Comic Sans MS"/>
                <a:cs typeface="Comic Sans MS"/>
              </a:rPr>
              <a:t>Cell</a:t>
            </a:r>
            <a:endParaRPr sz="1682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03" y="5306585"/>
            <a:ext cx="4243593" cy="542645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defTabSz="1183325">
              <a:spcBef>
                <a:spcPts val="116"/>
              </a:spcBef>
            </a:pPr>
            <a:r>
              <a:rPr sz="3429" dirty="0">
                <a:latin typeface="Comic Sans MS"/>
                <a:cs typeface="Comic Sans MS"/>
              </a:rPr>
              <a:t>Const</a:t>
            </a:r>
            <a:r>
              <a:rPr sz="3429" spc="-45" dirty="0"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2F5497"/>
                </a:solidFill>
                <a:latin typeface="Comic Sans MS"/>
                <a:cs typeface="Comic Sans MS"/>
              </a:rPr>
              <a:t>Float</a:t>
            </a:r>
            <a:r>
              <a:rPr sz="3429" spc="-52" dirty="0">
                <a:solidFill>
                  <a:srgbClr val="2F5497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PI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52" dirty="0">
                <a:latin typeface="Comic Sans MS"/>
                <a:cs typeface="Comic Sans MS"/>
              </a:rPr>
              <a:t> </a:t>
            </a:r>
            <a:r>
              <a:rPr sz="3429" spc="-26" dirty="0">
                <a:latin typeface="Comic Sans MS"/>
                <a:cs typeface="Comic Sans MS"/>
              </a:rPr>
              <a:t>3.14</a:t>
            </a:r>
            <a:endParaRPr sz="3429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80047" y="3711746"/>
            <a:ext cx="4246879" cy="3697941"/>
            <a:chOff x="2150363" y="2868167"/>
            <a:chExt cx="3281679" cy="2857500"/>
          </a:xfrm>
        </p:grpSpPr>
        <p:sp>
          <p:nvSpPr>
            <p:cNvPr id="10" name="object 10"/>
            <p:cNvSpPr/>
            <p:nvPr/>
          </p:nvSpPr>
          <p:spPr>
            <a:xfrm>
              <a:off x="3195828" y="2868167"/>
              <a:ext cx="1188720" cy="1213485"/>
            </a:xfrm>
            <a:custGeom>
              <a:avLst/>
              <a:gdLst/>
              <a:ahLst/>
              <a:cxnLst/>
              <a:rect l="l" t="t" r="r" b="b"/>
              <a:pathLst>
                <a:path w="1188720" h="1213485">
                  <a:moveTo>
                    <a:pt x="847344" y="1213104"/>
                  </a:moveTo>
                  <a:lnTo>
                    <a:pt x="847344" y="1193291"/>
                  </a:lnTo>
                  <a:lnTo>
                    <a:pt x="850392" y="1176527"/>
                  </a:lnTo>
                  <a:lnTo>
                    <a:pt x="870204" y="1138427"/>
                  </a:lnTo>
                  <a:lnTo>
                    <a:pt x="902208" y="1117091"/>
                  </a:lnTo>
                  <a:lnTo>
                    <a:pt x="937260" y="1098804"/>
                  </a:lnTo>
                  <a:lnTo>
                    <a:pt x="947927" y="1092708"/>
                  </a:lnTo>
                  <a:lnTo>
                    <a:pt x="958596" y="1085087"/>
                  </a:lnTo>
                  <a:lnTo>
                    <a:pt x="967740" y="1075943"/>
                  </a:lnTo>
                  <a:lnTo>
                    <a:pt x="976883" y="1065275"/>
                  </a:lnTo>
                  <a:lnTo>
                    <a:pt x="918971" y="1050035"/>
                  </a:lnTo>
                  <a:lnTo>
                    <a:pt x="864108" y="1034795"/>
                  </a:lnTo>
                  <a:lnTo>
                    <a:pt x="807719" y="1016508"/>
                  </a:lnTo>
                  <a:lnTo>
                    <a:pt x="752856" y="996695"/>
                  </a:lnTo>
                  <a:lnTo>
                    <a:pt x="697992" y="975360"/>
                  </a:lnTo>
                  <a:lnTo>
                    <a:pt x="644651" y="952500"/>
                  </a:lnTo>
                  <a:lnTo>
                    <a:pt x="592836" y="926591"/>
                  </a:lnTo>
                  <a:lnTo>
                    <a:pt x="541020" y="899160"/>
                  </a:lnTo>
                  <a:lnTo>
                    <a:pt x="492251" y="871727"/>
                  </a:lnTo>
                  <a:lnTo>
                    <a:pt x="445007" y="839724"/>
                  </a:lnTo>
                  <a:lnTo>
                    <a:pt x="399288" y="806195"/>
                  </a:lnTo>
                  <a:lnTo>
                    <a:pt x="353568" y="771143"/>
                  </a:lnTo>
                  <a:lnTo>
                    <a:pt x="310895" y="733043"/>
                  </a:lnTo>
                  <a:lnTo>
                    <a:pt x="271271" y="691895"/>
                  </a:lnTo>
                  <a:lnTo>
                    <a:pt x="233171" y="650747"/>
                  </a:lnTo>
                  <a:lnTo>
                    <a:pt x="196595" y="605028"/>
                  </a:lnTo>
                  <a:lnTo>
                    <a:pt x="161543" y="557784"/>
                  </a:lnTo>
                  <a:lnTo>
                    <a:pt x="131063" y="507491"/>
                  </a:lnTo>
                  <a:lnTo>
                    <a:pt x="102107" y="455676"/>
                  </a:lnTo>
                  <a:lnTo>
                    <a:pt x="76199" y="399287"/>
                  </a:lnTo>
                  <a:lnTo>
                    <a:pt x="53339" y="342900"/>
                  </a:lnTo>
                  <a:lnTo>
                    <a:pt x="33527" y="280416"/>
                  </a:lnTo>
                  <a:lnTo>
                    <a:pt x="27431" y="262128"/>
                  </a:lnTo>
                  <a:lnTo>
                    <a:pt x="22859" y="243840"/>
                  </a:lnTo>
                  <a:lnTo>
                    <a:pt x="10667" y="201168"/>
                  </a:lnTo>
                  <a:lnTo>
                    <a:pt x="1523" y="153924"/>
                  </a:lnTo>
                  <a:lnTo>
                    <a:pt x="0" y="129539"/>
                  </a:lnTo>
                  <a:lnTo>
                    <a:pt x="0" y="106679"/>
                  </a:lnTo>
                  <a:lnTo>
                    <a:pt x="4571" y="59436"/>
                  </a:lnTo>
                  <a:lnTo>
                    <a:pt x="19811" y="18288"/>
                  </a:lnTo>
                  <a:lnTo>
                    <a:pt x="33527" y="0"/>
                  </a:lnTo>
                  <a:lnTo>
                    <a:pt x="56387" y="0"/>
                  </a:lnTo>
                  <a:lnTo>
                    <a:pt x="67055" y="71628"/>
                  </a:lnTo>
                  <a:lnTo>
                    <a:pt x="79247" y="140208"/>
                  </a:lnTo>
                  <a:lnTo>
                    <a:pt x="96011" y="205740"/>
                  </a:lnTo>
                  <a:lnTo>
                    <a:pt x="112775" y="269748"/>
                  </a:lnTo>
                  <a:lnTo>
                    <a:pt x="135635" y="329184"/>
                  </a:lnTo>
                  <a:lnTo>
                    <a:pt x="160019" y="387095"/>
                  </a:lnTo>
                  <a:lnTo>
                    <a:pt x="187451" y="441960"/>
                  </a:lnTo>
                  <a:lnTo>
                    <a:pt x="217931" y="493776"/>
                  </a:lnTo>
                  <a:lnTo>
                    <a:pt x="249936" y="544067"/>
                  </a:lnTo>
                  <a:lnTo>
                    <a:pt x="286512" y="589787"/>
                  </a:lnTo>
                  <a:lnTo>
                    <a:pt x="324612" y="633983"/>
                  </a:lnTo>
                  <a:lnTo>
                    <a:pt x="364236" y="675131"/>
                  </a:lnTo>
                  <a:lnTo>
                    <a:pt x="408431" y="713231"/>
                  </a:lnTo>
                  <a:lnTo>
                    <a:pt x="454151" y="749808"/>
                  </a:lnTo>
                  <a:lnTo>
                    <a:pt x="501396" y="780287"/>
                  </a:lnTo>
                  <a:lnTo>
                    <a:pt x="550164" y="810768"/>
                  </a:lnTo>
                  <a:lnTo>
                    <a:pt x="603503" y="838200"/>
                  </a:lnTo>
                  <a:lnTo>
                    <a:pt x="656844" y="861060"/>
                  </a:lnTo>
                  <a:lnTo>
                    <a:pt x="713231" y="882395"/>
                  </a:lnTo>
                  <a:lnTo>
                    <a:pt x="772667" y="902208"/>
                  </a:lnTo>
                  <a:lnTo>
                    <a:pt x="832104" y="917447"/>
                  </a:lnTo>
                  <a:lnTo>
                    <a:pt x="894588" y="929639"/>
                  </a:lnTo>
                  <a:lnTo>
                    <a:pt x="958596" y="940308"/>
                  </a:lnTo>
                  <a:lnTo>
                    <a:pt x="1024127" y="947927"/>
                  </a:lnTo>
                  <a:lnTo>
                    <a:pt x="1019556" y="931164"/>
                  </a:lnTo>
                  <a:lnTo>
                    <a:pt x="1011935" y="917447"/>
                  </a:lnTo>
                  <a:lnTo>
                    <a:pt x="1005840" y="903731"/>
                  </a:lnTo>
                  <a:lnTo>
                    <a:pt x="996696" y="891539"/>
                  </a:lnTo>
                  <a:lnTo>
                    <a:pt x="969263" y="859535"/>
                  </a:lnTo>
                  <a:lnTo>
                    <a:pt x="958596" y="850391"/>
                  </a:lnTo>
                  <a:lnTo>
                    <a:pt x="950975" y="839724"/>
                  </a:lnTo>
                  <a:lnTo>
                    <a:pt x="928115" y="803147"/>
                  </a:lnTo>
                  <a:lnTo>
                    <a:pt x="917448" y="748283"/>
                  </a:lnTo>
                  <a:lnTo>
                    <a:pt x="917448" y="723900"/>
                  </a:lnTo>
                  <a:lnTo>
                    <a:pt x="931163" y="722375"/>
                  </a:lnTo>
                  <a:lnTo>
                    <a:pt x="946404" y="722375"/>
                  </a:lnTo>
                  <a:lnTo>
                    <a:pt x="996696" y="745235"/>
                  </a:lnTo>
                  <a:lnTo>
                    <a:pt x="1033271" y="775716"/>
                  </a:lnTo>
                  <a:lnTo>
                    <a:pt x="1053083" y="792479"/>
                  </a:lnTo>
                  <a:lnTo>
                    <a:pt x="1106423" y="853439"/>
                  </a:lnTo>
                  <a:lnTo>
                    <a:pt x="1136904" y="897635"/>
                  </a:lnTo>
                  <a:lnTo>
                    <a:pt x="1162812" y="941831"/>
                  </a:lnTo>
                  <a:lnTo>
                    <a:pt x="1181100" y="984504"/>
                  </a:lnTo>
                  <a:lnTo>
                    <a:pt x="1188719" y="1019556"/>
                  </a:lnTo>
                  <a:lnTo>
                    <a:pt x="1188719" y="1034795"/>
                  </a:lnTo>
                  <a:lnTo>
                    <a:pt x="1176527" y="1075943"/>
                  </a:lnTo>
                  <a:lnTo>
                    <a:pt x="1152144" y="1109472"/>
                  </a:lnTo>
                  <a:lnTo>
                    <a:pt x="1117092" y="1136904"/>
                  </a:lnTo>
                  <a:lnTo>
                    <a:pt x="1074419" y="1158239"/>
                  </a:lnTo>
                  <a:lnTo>
                    <a:pt x="1025652" y="1176527"/>
                  </a:lnTo>
                  <a:lnTo>
                    <a:pt x="922019" y="1200912"/>
                  </a:lnTo>
                  <a:lnTo>
                    <a:pt x="870204" y="1210056"/>
                  </a:lnTo>
                  <a:lnTo>
                    <a:pt x="847344" y="1213104"/>
                  </a:lnTo>
                  <a:close/>
                </a:path>
              </a:pathLst>
            </a:custGeom>
            <a:solidFill>
              <a:srgbClr val="2F5497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7344" y="4617719"/>
              <a:ext cx="774191" cy="7772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50363" y="4782312"/>
              <a:ext cx="788035" cy="943610"/>
            </a:xfrm>
            <a:custGeom>
              <a:avLst/>
              <a:gdLst/>
              <a:ahLst/>
              <a:cxnLst/>
              <a:rect l="l" t="t" r="r" b="b"/>
              <a:pathLst>
                <a:path w="788035" h="943610">
                  <a:moveTo>
                    <a:pt x="60579" y="935736"/>
                  </a:moveTo>
                  <a:lnTo>
                    <a:pt x="48043" y="934521"/>
                  </a:lnTo>
                  <a:lnTo>
                    <a:pt x="48656" y="934521"/>
                  </a:lnTo>
                  <a:lnTo>
                    <a:pt x="38004" y="931211"/>
                  </a:lnTo>
                  <a:lnTo>
                    <a:pt x="4571" y="897707"/>
                  </a:lnTo>
                  <a:lnTo>
                    <a:pt x="0" y="874585"/>
                  </a:lnTo>
                  <a:lnTo>
                    <a:pt x="961" y="864155"/>
                  </a:lnTo>
                  <a:lnTo>
                    <a:pt x="3833" y="854011"/>
                  </a:lnTo>
                  <a:lnTo>
                    <a:pt x="8599" y="844153"/>
                  </a:lnTo>
                  <a:lnTo>
                    <a:pt x="15239" y="834580"/>
                  </a:lnTo>
                  <a:lnTo>
                    <a:pt x="121253" y="716280"/>
                  </a:lnTo>
                  <a:lnTo>
                    <a:pt x="342138" y="460248"/>
                  </a:lnTo>
                  <a:lnTo>
                    <a:pt x="309258" y="417029"/>
                  </a:lnTo>
                  <a:lnTo>
                    <a:pt x="275343" y="373677"/>
                  </a:lnTo>
                  <a:lnTo>
                    <a:pt x="240393" y="330200"/>
                  </a:lnTo>
                  <a:lnTo>
                    <a:pt x="204406" y="286607"/>
                  </a:lnTo>
                  <a:lnTo>
                    <a:pt x="136207" y="194214"/>
                  </a:lnTo>
                  <a:lnTo>
                    <a:pt x="116005" y="168245"/>
                  </a:lnTo>
                  <a:lnTo>
                    <a:pt x="96535" y="145482"/>
                  </a:lnTo>
                  <a:lnTo>
                    <a:pt x="77780" y="125916"/>
                  </a:lnTo>
                  <a:lnTo>
                    <a:pt x="59721" y="109537"/>
                  </a:lnTo>
                  <a:lnTo>
                    <a:pt x="48955" y="98839"/>
                  </a:lnTo>
                  <a:lnTo>
                    <a:pt x="41243" y="87320"/>
                  </a:lnTo>
                  <a:lnTo>
                    <a:pt x="36602" y="74979"/>
                  </a:lnTo>
                  <a:lnTo>
                    <a:pt x="35052" y="61817"/>
                  </a:lnTo>
                  <a:lnTo>
                    <a:pt x="36122" y="50137"/>
                  </a:lnTo>
                  <a:lnTo>
                    <a:pt x="61175" y="10702"/>
                  </a:lnTo>
                  <a:lnTo>
                    <a:pt x="82475" y="1196"/>
                  </a:lnTo>
                  <a:lnTo>
                    <a:pt x="82725" y="1196"/>
                  </a:lnTo>
                  <a:lnTo>
                    <a:pt x="94487" y="0"/>
                  </a:lnTo>
                  <a:lnTo>
                    <a:pt x="151411" y="26717"/>
                  </a:lnTo>
                  <a:lnTo>
                    <a:pt x="185048" y="60007"/>
                  </a:lnTo>
                  <a:lnTo>
                    <a:pt x="222123" y="106584"/>
                  </a:lnTo>
                  <a:lnTo>
                    <a:pt x="235769" y="126459"/>
                  </a:lnTo>
                  <a:lnTo>
                    <a:pt x="252567" y="150066"/>
                  </a:lnTo>
                  <a:lnTo>
                    <a:pt x="272526" y="177388"/>
                  </a:lnTo>
                  <a:lnTo>
                    <a:pt x="295656" y="208407"/>
                  </a:lnTo>
                  <a:lnTo>
                    <a:pt x="328820" y="248501"/>
                  </a:lnTo>
                  <a:lnTo>
                    <a:pt x="361164" y="288631"/>
                  </a:lnTo>
                  <a:lnTo>
                    <a:pt x="392685" y="328797"/>
                  </a:lnTo>
                  <a:lnTo>
                    <a:pt x="423386" y="368998"/>
                  </a:lnTo>
                  <a:lnTo>
                    <a:pt x="575188" y="368998"/>
                  </a:lnTo>
                  <a:lnTo>
                    <a:pt x="555654" y="396128"/>
                  </a:lnTo>
                  <a:lnTo>
                    <a:pt x="535126" y="423088"/>
                  </a:lnTo>
                  <a:lnTo>
                    <a:pt x="515259" y="447602"/>
                  </a:lnTo>
                  <a:lnTo>
                    <a:pt x="496062" y="469677"/>
                  </a:lnTo>
                  <a:lnTo>
                    <a:pt x="558612" y="560927"/>
                  </a:lnTo>
                  <a:lnTo>
                    <a:pt x="414528" y="560927"/>
                  </a:lnTo>
                  <a:lnTo>
                    <a:pt x="211931" y="795147"/>
                  </a:lnTo>
                  <a:lnTo>
                    <a:pt x="103631" y="916305"/>
                  </a:lnTo>
                  <a:lnTo>
                    <a:pt x="93663" y="924806"/>
                  </a:lnTo>
                  <a:lnTo>
                    <a:pt x="83177" y="930878"/>
                  </a:lnTo>
                  <a:lnTo>
                    <a:pt x="72154" y="934521"/>
                  </a:lnTo>
                  <a:lnTo>
                    <a:pt x="60579" y="935736"/>
                  </a:lnTo>
                  <a:close/>
                </a:path>
                <a:path w="788035" h="943610">
                  <a:moveTo>
                    <a:pt x="575188" y="368998"/>
                  </a:moveTo>
                  <a:lnTo>
                    <a:pt x="423386" y="368998"/>
                  </a:lnTo>
                  <a:lnTo>
                    <a:pt x="557593" y="181927"/>
                  </a:lnTo>
                  <a:lnTo>
                    <a:pt x="606252" y="116491"/>
                  </a:lnTo>
                  <a:lnTo>
                    <a:pt x="647536" y="65576"/>
                  </a:lnTo>
                  <a:lnTo>
                    <a:pt x="681455" y="29186"/>
                  </a:lnTo>
                  <a:lnTo>
                    <a:pt x="727233" y="0"/>
                  </a:lnTo>
                  <a:lnTo>
                    <a:pt x="738933" y="1196"/>
                  </a:lnTo>
                  <a:lnTo>
                    <a:pt x="777621" y="27839"/>
                  </a:lnTo>
                  <a:lnTo>
                    <a:pt x="787852" y="61817"/>
                  </a:lnTo>
                  <a:lnTo>
                    <a:pt x="786907" y="71514"/>
                  </a:lnTo>
                  <a:lnTo>
                    <a:pt x="783907" y="81605"/>
                  </a:lnTo>
                  <a:lnTo>
                    <a:pt x="778906" y="91517"/>
                  </a:lnTo>
                  <a:lnTo>
                    <a:pt x="771906" y="101250"/>
                  </a:lnTo>
                  <a:lnTo>
                    <a:pt x="734740" y="146863"/>
                  </a:lnTo>
                  <a:lnTo>
                    <a:pt x="702111" y="188261"/>
                  </a:lnTo>
                  <a:lnTo>
                    <a:pt x="674018" y="225444"/>
                  </a:lnTo>
                  <a:lnTo>
                    <a:pt x="650462" y="258413"/>
                  </a:lnTo>
                  <a:lnTo>
                    <a:pt x="576834" y="366712"/>
                  </a:lnTo>
                  <a:lnTo>
                    <a:pt x="575188" y="368998"/>
                  </a:lnTo>
                  <a:close/>
                </a:path>
                <a:path w="788035" h="943610">
                  <a:moveTo>
                    <a:pt x="718089" y="943356"/>
                  </a:moveTo>
                  <a:lnTo>
                    <a:pt x="676370" y="925163"/>
                  </a:lnTo>
                  <a:lnTo>
                    <a:pt x="632007" y="876835"/>
                  </a:lnTo>
                  <a:lnTo>
                    <a:pt x="585787" y="813720"/>
                  </a:lnTo>
                  <a:lnTo>
                    <a:pt x="506920" y="692848"/>
                  </a:lnTo>
                  <a:lnTo>
                    <a:pt x="414528" y="560927"/>
                  </a:lnTo>
                  <a:lnTo>
                    <a:pt x="558612" y="560927"/>
                  </a:lnTo>
                  <a:lnTo>
                    <a:pt x="625602" y="658653"/>
                  </a:lnTo>
                  <a:lnTo>
                    <a:pt x="655787" y="701916"/>
                  </a:lnTo>
                  <a:lnTo>
                    <a:pt x="684614" y="741864"/>
                  </a:lnTo>
                  <a:lnTo>
                    <a:pt x="712074" y="778497"/>
                  </a:lnTo>
                  <a:lnTo>
                    <a:pt x="738158" y="811815"/>
                  </a:lnTo>
                  <a:lnTo>
                    <a:pt x="762857" y="841819"/>
                  </a:lnTo>
                  <a:lnTo>
                    <a:pt x="769843" y="851694"/>
                  </a:lnTo>
                  <a:lnTo>
                    <a:pt x="774811" y="861738"/>
                  </a:lnTo>
                  <a:lnTo>
                    <a:pt x="777778" y="871943"/>
                  </a:lnTo>
                  <a:lnTo>
                    <a:pt x="778764" y="882300"/>
                  </a:lnTo>
                  <a:lnTo>
                    <a:pt x="777653" y="894248"/>
                  </a:lnTo>
                  <a:lnTo>
                    <a:pt x="751442" y="933149"/>
                  </a:lnTo>
                  <a:lnTo>
                    <a:pt x="730076" y="942227"/>
                  </a:lnTo>
                  <a:lnTo>
                    <a:pt x="718089" y="943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183325"/>
              <a:endParaRPr sz="2329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18264" y="6468221"/>
            <a:ext cx="2867137" cy="1583315"/>
          </a:xfrm>
          <a:prstGeom prst="rect">
            <a:avLst/>
          </a:prstGeom>
        </p:spPr>
        <p:txBody>
          <a:bodyPr vert="horz" wrap="square" lIns="0" tIns="14792" rIns="0" bIns="0" rtlCol="0">
            <a:spAutoFit/>
          </a:bodyPr>
          <a:lstStyle/>
          <a:p>
            <a:pPr marL="16435" defTabSz="1183325">
              <a:spcBef>
                <a:spcPts val="116"/>
              </a:spcBef>
            </a:pP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PI</a:t>
            </a:r>
            <a:r>
              <a:rPr sz="3429" spc="-3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latin typeface="Comic Sans MS"/>
                <a:cs typeface="Comic Sans MS"/>
              </a:rPr>
              <a:t>=</a:t>
            </a:r>
            <a:r>
              <a:rPr sz="3429" spc="-26" dirty="0"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PI</a:t>
            </a:r>
            <a:r>
              <a:rPr sz="3429" spc="-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429" dirty="0">
                <a:solidFill>
                  <a:srgbClr val="FF0000"/>
                </a:solidFill>
                <a:latin typeface="Comic Sans MS"/>
                <a:cs typeface="Comic Sans MS"/>
              </a:rPr>
              <a:t>+ </a:t>
            </a:r>
            <a:r>
              <a:rPr sz="3429" spc="-65" dirty="0">
                <a:solidFill>
                  <a:srgbClr val="FF0000"/>
                </a:solidFill>
                <a:latin typeface="Comic Sans MS"/>
                <a:cs typeface="Comic Sans MS"/>
              </a:rPr>
              <a:t>2</a:t>
            </a:r>
            <a:endParaRPr sz="3429">
              <a:latin typeface="Comic Sans MS"/>
              <a:cs typeface="Comic Sans MS"/>
            </a:endParaRPr>
          </a:p>
          <a:p>
            <a:pPr marL="1725682" defTabSz="1183325">
              <a:spcBef>
                <a:spcPts val="4038"/>
              </a:spcBef>
            </a:pPr>
            <a:r>
              <a:rPr sz="3429" spc="-13" dirty="0">
                <a:solidFill>
                  <a:srgbClr val="FF0000"/>
                </a:solidFill>
                <a:latin typeface="Comic Sans MS"/>
                <a:cs typeface="Comic Sans MS"/>
              </a:rPr>
              <a:t>Error</a:t>
            </a:r>
            <a:endParaRPr sz="3429">
              <a:latin typeface="Comic Sans MS"/>
              <a:cs typeface="Comic Sans MS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866DDD28-056E-E6FF-E6B5-7B94453AF219}"/>
              </a:ext>
            </a:extLst>
          </p:cNvPr>
          <p:cNvSpPr txBox="1"/>
          <p:nvPr/>
        </p:nvSpPr>
        <p:spPr>
          <a:xfrm>
            <a:off x="381000" y="8044072"/>
            <a:ext cx="12352767" cy="163332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dirty="0">
                <a:latin typeface="Comic Sans MS" panose="030F0702030302020204" pitchFamily="66" charset="0"/>
              </a:rPr>
              <a:t>🔹 A </a:t>
            </a:r>
            <a:r>
              <a:rPr lang="en-GB" sz="2400" b="1" dirty="0">
                <a:latin typeface="Comic Sans MS" panose="030F0702030302020204" pitchFamily="66" charset="0"/>
              </a:rPr>
              <a:t>constant</a:t>
            </a:r>
            <a:r>
              <a:rPr lang="en-GB" sz="2400" dirty="0">
                <a:latin typeface="Comic Sans MS" panose="030F0702030302020204" pitchFamily="66" charset="0"/>
              </a:rPr>
              <a:t> is also a </a:t>
            </a:r>
            <a:r>
              <a:rPr lang="en-GB" sz="2400" b="1" dirty="0">
                <a:latin typeface="Comic Sans MS" panose="030F0702030302020204" pitchFamily="66" charset="0"/>
              </a:rPr>
              <a:t>container for storing data</a:t>
            </a:r>
            <a:r>
              <a:rPr lang="en-GB" sz="2400" dirty="0">
                <a:latin typeface="Comic Sans MS" panose="030F0702030302020204" pitchFamily="66" charset="0"/>
              </a:rPr>
              <a:t>, </a:t>
            </a:r>
            <a:r>
              <a:rPr lang="en-GB" sz="2400" b="1" dirty="0">
                <a:latin typeface="Comic Sans MS" panose="030F0702030302020204" pitchFamily="66" charset="0"/>
              </a:rPr>
              <a:t>but read-only</a:t>
            </a:r>
            <a:r>
              <a:rPr lang="en-GB" sz="2400" dirty="0">
                <a:latin typeface="Comic Sans MS" panose="030F0702030302020204" pitchFamily="66" charset="0"/>
              </a:rPr>
              <a:t> after initialization.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If you try to assign a new value → </a:t>
            </a:r>
            <a:r>
              <a:rPr lang="en-GB" sz="2400" b="1" dirty="0">
                <a:latin typeface="Comic Sans MS" panose="030F0702030302020204" pitchFamily="66" charset="0"/>
              </a:rPr>
              <a:t>Error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Example:</a:t>
            </a:r>
            <a:r>
              <a:rPr lang="en-GB" sz="2400" dirty="0">
                <a:latin typeface="Comic Sans MS" panose="030F0702030302020204" pitchFamily="66" charset="0"/>
              </a:rPr>
              <a:t> </a:t>
            </a:r>
            <a:r>
              <a:rPr lang="en-GB" sz="2400" dirty="0" err="1">
                <a:latin typeface="Comic Sans MS" panose="030F0702030302020204" pitchFamily="66" charset="0"/>
              </a:rPr>
              <a:t>Const</a:t>
            </a:r>
            <a:r>
              <a:rPr lang="en-GB" sz="2400" dirty="0">
                <a:latin typeface="Comic Sans MS" panose="030F0702030302020204" pitchFamily="66" charset="0"/>
              </a:rPr>
              <a:t> Float PI = 3.14 → PI = PI + 2 ❌ (not allowed).</a:t>
            </a:r>
          </a:p>
        </p:txBody>
      </p:sp>
    </p:spTree>
    <p:extLst>
      <p:ext uri="{BB962C8B-B14F-4D97-AF65-F5344CB8AC3E}">
        <p14:creationId xmlns:p14="http://schemas.microsoft.com/office/powerpoint/2010/main" val="591038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EBD7BD-90A1-EF70-B14C-52E0D214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FA30E34-832D-D0A2-D04C-359C6BFD5F9F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151E333-7925-0914-D0D7-1330F147DE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606281-13AB-9B20-9648-8916B91821BD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1EF80D9-9A8D-5E8A-E84E-0165D049157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8DED31E2-12C7-0F5A-14DD-4FB491D68A12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Performance Tips</a:t>
            </a:r>
          </a:p>
        </p:txBody>
      </p:sp>
    </p:spTree>
    <p:extLst>
      <p:ext uri="{BB962C8B-B14F-4D97-AF65-F5344CB8AC3E}">
        <p14:creationId xmlns:p14="http://schemas.microsoft.com/office/powerpoint/2010/main" val="2491542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DD4C27-C308-65EB-C07C-188117D0C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74061D97-BE3A-CE31-E089-4DDDE9721B18}"/>
              </a:ext>
            </a:extLst>
          </p:cNvPr>
          <p:cNvSpPr txBox="1"/>
          <p:nvPr/>
        </p:nvSpPr>
        <p:spPr>
          <a:xfrm>
            <a:off x="381000" y="888075"/>
            <a:ext cx="12352767" cy="193341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/>
              <a:t>If</a:t>
            </a:r>
            <a:r>
              <a:rPr lang="en-GB" sz="4000" spc="13" dirty="0"/>
              <a:t> </a:t>
            </a:r>
            <a:r>
              <a:rPr lang="en-GB" sz="4000" dirty="0"/>
              <a:t>you</a:t>
            </a:r>
            <a:r>
              <a:rPr lang="en-GB" sz="4000" spc="6" dirty="0"/>
              <a:t> </a:t>
            </a:r>
            <a:r>
              <a:rPr lang="en-GB" sz="4000" dirty="0"/>
              <a:t>want</a:t>
            </a:r>
            <a:r>
              <a:rPr lang="en-GB" sz="4000" spc="52" dirty="0"/>
              <a:t> </a:t>
            </a:r>
            <a:r>
              <a:rPr lang="en-GB" sz="4000" dirty="0"/>
              <a:t>to</a:t>
            </a:r>
            <a:r>
              <a:rPr lang="en-GB" sz="4000" spc="26" dirty="0"/>
              <a:t> </a:t>
            </a:r>
            <a:r>
              <a:rPr lang="en-GB" sz="4000" dirty="0"/>
              <a:t>drink</a:t>
            </a:r>
            <a:r>
              <a:rPr lang="en-GB" sz="4000" spc="13" dirty="0"/>
              <a:t> </a:t>
            </a:r>
            <a:r>
              <a:rPr lang="en-GB" sz="4000" dirty="0"/>
              <a:t>coffee,</a:t>
            </a:r>
            <a:r>
              <a:rPr lang="en-GB" sz="4000" spc="71" dirty="0"/>
              <a:t> </a:t>
            </a:r>
            <a:r>
              <a:rPr lang="en-GB" sz="4000" spc="-13" dirty="0"/>
              <a:t>then..</a:t>
            </a:r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endParaRPr lang="sv-SE" sz="2400" b="1" spc="-13" dirty="0">
              <a:latin typeface="Comic Sans MS" panose="030F0702030302020204" pitchFamily="66" charset="0"/>
            </a:endParaRPr>
          </a:p>
          <a:p>
            <a:pPr marL="16435" marR="6574" defTabSz="1183325">
              <a:lnSpc>
                <a:spcPts val="2769"/>
              </a:lnSpc>
              <a:spcBef>
                <a:spcPts val="472"/>
              </a:spcBef>
            </a:pPr>
            <a:r>
              <a:rPr lang="en-GB" sz="2400" b="1" dirty="0">
                <a:latin typeface="Comic Sans MS"/>
                <a:cs typeface="Comic Sans MS"/>
              </a:rPr>
              <a:t>It</a:t>
            </a:r>
            <a:r>
              <a:rPr lang="en-GB" sz="2400" b="1" spc="13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is</a:t>
            </a:r>
            <a:r>
              <a:rPr lang="en-GB" sz="2400" b="1" spc="32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ok</a:t>
            </a:r>
            <a:r>
              <a:rPr lang="en-GB" sz="2400" b="1" spc="19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to</a:t>
            </a:r>
            <a:r>
              <a:rPr lang="en-GB" sz="2400" b="1" spc="32" dirty="0">
                <a:latin typeface="Comic Sans MS"/>
                <a:cs typeface="Comic Sans MS"/>
              </a:rPr>
              <a:t> </a:t>
            </a:r>
            <a:r>
              <a:rPr lang="en-GB" sz="2400" b="1" spc="-13" dirty="0">
                <a:latin typeface="Comic Sans MS"/>
                <a:cs typeface="Comic Sans MS"/>
              </a:rPr>
              <a:t>Drink </a:t>
            </a:r>
            <a:r>
              <a:rPr lang="en-GB" sz="2400" b="1" dirty="0">
                <a:latin typeface="Comic Sans MS"/>
                <a:cs typeface="Comic Sans MS"/>
              </a:rPr>
              <a:t>Coffee</a:t>
            </a:r>
            <a:r>
              <a:rPr lang="en-GB" sz="2400" b="1" spc="6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like</a:t>
            </a:r>
            <a:r>
              <a:rPr lang="en-GB" sz="2400" b="1" spc="39" dirty="0">
                <a:latin typeface="Comic Sans MS"/>
                <a:cs typeface="Comic Sans MS"/>
              </a:rPr>
              <a:t> </a:t>
            </a:r>
            <a:r>
              <a:rPr lang="en-GB" sz="2400" b="1" spc="-26" dirty="0">
                <a:latin typeface="Comic Sans MS"/>
                <a:cs typeface="Comic Sans MS"/>
              </a:rPr>
              <a:t>this.		</a:t>
            </a:r>
            <a:r>
              <a:rPr lang="en-GB" sz="2400" b="1" dirty="0">
                <a:latin typeface="Comic Sans MS"/>
                <a:cs typeface="Comic Sans MS"/>
              </a:rPr>
              <a:t>It</a:t>
            </a:r>
            <a:r>
              <a:rPr lang="en-GB" sz="2400" b="1" spc="19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is</a:t>
            </a:r>
            <a:r>
              <a:rPr lang="en-GB" sz="2400" b="1" spc="32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not</a:t>
            </a:r>
            <a:r>
              <a:rPr lang="en-GB" sz="2400" b="1" spc="19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ok</a:t>
            </a:r>
            <a:r>
              <a:rPr lang="en-GB" sz="2400" b="1" spc="26" dirty="0">
                <a:latin typeface="Comic Sans MS"/>
                <a:cs typeface="Comic Sans MS"/>
              </a:rPr>
              <a:t> </a:t>
            </a:r>
            <a:r>
              <a:rPr lang="en-GB" sz="2400" b="1" spc="-32" dirty="0">
                <a:latin typeface="Comic Sans MS"/>
                <a:cs typeface="Comic Sans MS"/>
              </a:rPr>
              <a:t>to </a:t>
            </a:r>
            <a:r>
              <a:rPr lang="en-GB" sz="2400" b="1" dirty="0">
                <a:latin typeface="Comic Sans MS"/>
                <a:cs typeface="Comic Sans MS"/>
              </a:rPr>
              <a:t>drink</a:t>
            </a:r>
            <a:r>
              <a:rPr lang="en-GB" sz="2400" b="1" spc="39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it</a:t>
            </a:r>
            <a:r>
              <a:rPr lang="en-GB" sz="2400" b="1" spc="13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like</a:t>
            </a:r>
            <a:r>
              <a:rPr lang="en-GB" sz="2400" b="1" spc="39" dirty="0">
                <a:latin typeface="Comic Sans MS"/>
                <a:cs typeface="Comic Sans MS"/>
              </a:rPr>
              <a:t> </a:t>
            </a:r>
            <a:r>
              <a:rPr lang="en-GB" sz="2400" b="1" spc="-13" dirty="0">
                <a:latin typeface="Comic Sans MS"/>
                <a:cs typeface="Comic Sans MS"/>
              </a:rPr>
              <a:t>this.</a:t>
            </a:r>
            <a:endParaRPr lang="en-GB" sz="2400" dirty="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2743" y="4871421"/>
            <a:ext cx="4577557" cy="22779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2871" y="4691948"/>
            <a:ext cx="3991803" cy="299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62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99179E-8A59-700D-EDCC-95578D9E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4013BB-3B91-0859-FF06-8981FDAFB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513"/>
            <a:ext cx="13411200" cy="744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361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429D72-54F3-EC88-636B-FFF1A95D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D1E4A14F-4612-D348-33E2-7C5BD6A08EF2}"/>
              </a:ext>
            </a:extLst>
          </p:cNvPr>
          <p:cNvSpPr txBox="1"/>
          <p:nvPr/>
        </p:nvSpPr>
        <p:spPr>
          <a:xfrm>
            <a:off x="381000" y="888075"/>
            <a:ext cx="12352767" cy="620381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16435" defTabSz="1183325">
              <a:spcBef>
                <a:spcPts val="3235"/>
              </a:spcBef>
            </a:pPr>
            <a:r>
              <a:rPr lang="en-GB" sz="4000" dirty="0">
                <a:latin typeface="Comic Sans MS"/>
                <a:cs typeface="Comic Sans MS"/>
              </a:rPr>
              <a:t>Don’t</a:t>
            </a:r>
            <a:r>
              <a:rPr lang="en-GB" sz="4000" spc="-13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waste</a:t>
            </a:r>
            <a:r>
              <a:rPr lang="en-GB" sz="4000" spc="13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memory</a:t>
            </a:r>
            <a:r>
              <a:rPr lang="en-GB" sz="4000" spc="52" dirty="0">
                <a:latin typeface="Comic Sans MS"/>
                <a:cs typeface="Comic Sans MS"/>
              </a:rPr>
              <a:t> </a:t>
            </a:r>
            <a:r>
              <a:rPr lang="en-GB" sz="4000" spc="-13" dirty="0">
                <a:latin typeface="Comic Sans MS"/>
                <a:cs typeface="Comic Sans MS"/>
              </a:rPr>
              <a:t>!!!!!</a:t>
            </a:r>
            <a:endParaRPr lang="en-GB" sz="4000" dirty="0">
              <a:latin typeface="Comic Sans MS"/>
              <a:cs typeface="Comic Sans MS"/>
            </a:endParaRPr>
          </a:p>
          <a:p>
            <a:pPr marR="172568" algn="ctr" defTabSz="1183325">
              <a:spcBef>
                <a:spcPts val="3352"/>
              </a:spcBef>
            </a:pPr>
            <a:r>
              <a:rPr lang="en-GB" sz="4000" spc="-32" dirty="0">
                <a:solidFill>
                  <a:srgbClr val="FF0000"/>
                </a:solidFill>
                <a:latin typeface="Comic Sans MS"/>
                <a:cs typeface="Comic Sans MS"/>
              </a:rPr>
              <a:t>Age</a:t>
            </a:r>
            <a:endParaRPr lang="en-GB" sz="4000" dirty="0">
              <a:latin typeface="Comic Sans MS"/>
              <a:cs typeface="Comic Sans MS"/>
            </a:endParaRPr>
          </a:p>
          <a:p>
            <a:pPr marL="784775" marR="6574" indent="780666" defTabSz="1183325">
              <a:lnSpc>
                <a:spcPct val="109600"/>
              </a:lnSpc>
              <a:spcBef>
                <a:spcPts val="996"/>
              </a:spcBef>
            </a:pPr>
            <a:r>
              <a:rPr lang="en-GB" sz="4000" dirty="0">
                <a:latin typeface="Comic Sans MS"/>
                <a:cs typeface="Comic Sans MS"/>
              </a:rPr>
              <a:t>Human</a:t>
            </a:r>
            <a:r>
              <a:rPr lang="en-GB" sz="4000" spc="-19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lives</a:t>
            </a:r>
            <a:r>
              <a:rPr lang="en-GB" sz="4000" spc="58" dirty="0">
                <a:latin typeface="Comic Sans MS"/>
                <a:cs typeface="Comic Sans MS"/>
              </a:rPr>
              <a:t> </a:t>
            </a:r>
            <a:r>
              <a:rPr lang="en-GB" sz="4000" spc="-32" dirty="0">
                <a:solidFill>
                  <a:srgbClr val="FF0000"/>
                </a:solidFill>
                <a:latin typeface="Comic Sans MS"/>
                <a:cs typeface="Comic Sans MS"/>
              </a:rPr>
              <a:t>100-</a:t>
            </a:r>
            <a:r>
              <a:rPr lang="en-GB" sz="4000" dirty="0">
                <a:solidFill>
                  <a:srgbClr val="FF0000"/>
                </a:solidFill>
                <a:latin typeface="Comic Sans MS"/>
                <a:cs typeface="Comic Sans MS"/>
              </a:rPr>
              <a:t>150</a:t>
            </a:r>
            <a:r>
              <a:rPr lang="en-GB" sz="4000" spc="-26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4000" spc="-13" dirty="0">
                <a:latin typeface="Comic Sans MS"/>
                <a:cs typeface="Comic Sans MS"/>
              </a:rPr>
              <a:t>years </a:t>
            </a:r>
            <a:r>
              <a:rPr lang="en-GB" sz="4000" dirty="0">
                <a:latin typeface="Comic Sans MS"/>
                <a:cs typeface="Comic Sans MS"/>
              </a:rPr>
              <a:t>Maximum</a:t>
            </a:r>
            <a:r>
              <a:rPr lang="en-GB" sz="4000" spc="-6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number</a:t>
            </a:r>
            <a:r>
              <a:rPr lang="en-GB" sz="4000" spc="-13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you</a:t>
            </a:r>
            <a:r>
              <a:rPr lang="en-GB" sz="4000" spc="-13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need</a:t>
            </a:r>
            <a:r>
              <a:rPr lang="en-GB" sz="4000" spc="-52" dirty="0">
                <a:latin typeface="Comic Sans MS"/>
                <a:cs typeface="Comic Sans MS"/>
              </a:rPr>
              <a:t> </a:t>
            </a:r>
            <a:r>
              <a:rPr lang="en-GB" sz="4000" dirty="0">
                <a:latin typeface="Comic Sans MS"/>
                <a:cs typeface="Comic Sans MS"/>
              </a:rPr>
              <a:t>is</a:t>
            </a:r>
            <a:r>
              <a:rPr lang="en-GB" sz="4000" spc="32" dirty="0">
                <a:latin typeface="Comic Sans MS"/>
                <a:cs typeface="Comic Sans MS"/>
              </a:rPr>
              <a:t> </a:t>
            </a:r>
            <a:r>
              <a:rPr lang="en-GB" sz="4000" spc="-32" dirty="0">
                <a:solidFill>
                  <a:srgbClr val="FF0000"/>
                </a:solidFill>
                <a:latin typeface="Comic Sans MS"/>
                <a:cs typeface="Comic Sans MS"/>
              </a:rPr>
              <a:t>150</a:t>
            </a:r>
            <a:endParaRPr lang="en-GB" sz="4000" dirty="0">
              <a:latin typeface="Comic Sans MS"/>
              <a:cs typeface="Comic Sans MS"/>
            </a:endParaRPr>
          </a:p>
          <a:p>
            <a:pPr marL="73136" algn="ctr" defTabSz="1183325">
              <a:spcBef>
                <a:spcPts val="3352"/>
              </a:spcBef>
            </a:pPr>
            <a:r>
              <a:rPr lang="en-GB" sz="4000" spc="-13" dirty="0">
                <a:solidFill>
                  <a:srgbClr val="FF0000"/>
                </a:solidFill>
                <a:latin typeface="Comic Sans MS"/>
                <a:cs typeface="Comic Sans MS"/>
              </a:rPr>
              <a:t>4,294,967,295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Choose the </a:t>
            </a:r>
            <a:r>
              <a:rPr lang="en-GB" sz="2400" b="1" dirty="0">
                <a:latin typeface="Comic Sans MS" panose="030F0702030302020204" pitchFamily="66" charset="0"/>
              </a:rPr>
              <a:t>smallest sensible type</a:t>
            </a:r>
            <a:r>
              <a:rPr lang="en-GB" sz="2400" dirty="0">
                <a:latin typeface="Comic Sans MS" panose="030F0702030302020204" pitchFamily="66" charset="0"/>
              </a:rPr>
              <a:t> for the real-world range.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Example : human </a:t>
            </a:r>
            <a:r>
              <a:rPr lang="en-GB" sz="2400" b="1" dirty="0">
                <a:latin typeface="Comic Sans MS" panose="030F0702030302020204" pitchFamily="66" charset="0"/>
              </a:rPr>
              <a:t>Age</a:t>
            </a:r>
            <a:r>
              <a:rPr lang="en-GB" sz="2400" dirty="0">
                <a:latin typeface="Comic Sans MS" panose="030F0702030302020204" pitchFamily="66" charset="0"/>
              </a:rPr>
              <a:t> will never be </a:t>
            </a:r>
            <a:r>
              <a:rPr lang="en-GB" sz="2400" b="1" dirty="0">
                <a:latin typeface="Comic Sans MS" panose="030F0702030302020204" pitchFamily="66" charset="0"/>
              </a:rPr>
              <a:t>4,294,967,295</a:t>
            </a:r>
            <a:r>
              <a:rPr lang="en-GB" sz="2400" dirty="0">
                <a:latin typeface="Comic Sans MS" panose="030F0702030302020204" pitchFamily="66" charset="0"/>
              </a:rPr>
              <a:t>; typical max ~</a:t>
            </a:r>
            <a:r>
              <a:rPr lang="en-GB" sz="2400" b="1" dirty="0">
                <a:latin typeface="Comic Sans MS" panose="030F0702030302020204" pitchFamily="66" charset="0"/>
              </a:rPr>
              <a:t>150</a:t>
            </a:r>
            <a:r>
              <a:rPr lang="en-GB" sz="2400" dirty="0">
                <a:latin typeface="Comic Sans MS" panose="030F0702030302020204" pitchFamily="66" charset="0"/>
              </a:rPr>
              <a:t> → don’t 	reserve a huge type unnecessarily.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Fewer/lighter variables → </a:t>
            </a:r>
            <a:r>
              <a:rPr lang="en-GB" sz="2400" b="1" dirty="0">
                <a:latin typeface="Comic Sans MS" panose="030F0702030302020204" pitchFamily="66" charset="0"/>
              </a:rPr>
              <a:t>fewer memory space </a:t>
            </a:r>
            <a:r>
              <a:rPr lang="en-GB" sz="2400" dirty="0">
                <a:latin typeface="Comic Sans MS" panose="030F0702030302020204" pitchFamily="66" charset="0"/>
              </a:rPr>
              <a:t>→ better </a:t>
            </a:r>
            <a:r>
              <a:rPr lang="en-GB" sz="2400" b="1" dirty="0">
                <a:latin typeface="Comic Sans MS" panose="030F0702030302020204" pitchFamily="66" charset="0"/>
              </a:rPr>
              <a:t>performance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5023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FBEC47-3A48-39A1-38B3-AE9CB3B2C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24" y="1368731"/>
            <a:ext cx="13016753" cy="732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93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9A346E-ADD0-2715-B795-19A0AE9A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17871ACE-B93A-043A-4068-0ED84D0BD0D6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🧬 </a:t>
            </a:r>
            <a:r>
              <a:rPr lang="en-GB" sz="4000" b="1" dirty="0">
                <a:latin typeface="Comic Sans MS" panose="030F0702030302020204" pitchFamily="66" charset="0"/>
              </a:rPr>
              <a:t>Characteristics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Variable</a:t>
            </a:r>
            <a:r>
              <a:rPr lang="en-GB" sz="2400" dirty="0"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latin typeface="Comic Sans MS" panose="030F0702030302020204" pitchFamily="66" charset="0"/>
              </a:rPr>
              <a:t>mutable</a:t>
            </a:r>
            <a:r>
              <a:rPr lang="en-GB" sz="2400" dirty="0">
                <a:latin typeface="Comic Sans MS" panose="030F0702030302020204" pitchFamily="66" charset="0"/>
              </a:rPr>
              <a:t> (can be changed) value in a memory cell.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Constant</a:t>
            </a:r>
            <a:r>
              <a:rPr lang="en-GB" sz="2400" dirty="0">
                <a:latin typeface="Comic Sans MS" panose="030F0702030302020204" pitchFamily="66" charset="0"/>
              </a:rPr>
              <a:t> → </a:t>
            </a:r>
            <a:r>
              <a:rPr lang="en-GB" sz="2400" b="1" dirty="0">
                <a:latin typeface="Comic Sans MS" panose="030F0702030302020204" pitchFamily="66" charset="0"/>
              </a:rPr>
              <a:t>immutable </a:t>
            </a:r>
            <a:r>
              <a:rPr lang="en-GB" sz="2400" dirty="0">
                <a:latin typeface="Comic Sans MS" panose="030F0702030302020204" pitchFamily="66" charset="0"/>
              </a:rPr>
              <a:t>(cannot be changed) value; compile/runtime prevents 	changes.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 </a:t>
            </a:r>
            <a:r>
              <a:rPr lang="en-GB" sz="2400" b="1" dirty="0">
                <a:latin typeface="Comic Sans MS" panose="030F0702030302020204" pitchFamily="66" charset="0"/>
              </a:rPr>
              <a:t>Identifier</a:t>
            </a:r>
            <a:r>
              <a:rPr lang="en-GB" sz="2400" dirty="0">
                <a:latin typeface="Comic Sans MS" panose="030F0702030302020204" pitchFamily="66" charset="0"/>
              </a:rPr>
              <a:t> → human-friendly name bound to a memory location.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 </a:t>
            </a:r>
            <a:r>
              <a:rPr lang="en-GB" sz="2400" b="1" dirty="0">
                <a:latin typeface="Comic Sans MS" panose="030F0702030302020204" pitchFamily="66" charset="0"/>
              </a:rPr>
              <a:t>Address</a:t>
            </a:r>
            <a:r>
              <a:rPr lang="en-GB" sz="2400" dirty="0">
                <a:latin typeface="Comic Sans MS" panose="030F0702030302020204" pitchFamily="66" charset="0"/>
              </a:rPr>
              <a:t> → precise location in RAM (shown in </a:t>
            </a:r>
            <a:r>
              <a:rPr lang="en-GB" sz="2400" b="1" dirty="0">
                <a:latin typeface="Comic Sans MS" panose="030F0702030302020204" pitchFamily="66" charset="0"/>
              </a:rPr>
              <a:t>hexadecimal</a:t>
            </a:r>
            <a:r>
              <a:rPr lang="en-GB" sz="2400" dirty="0">
                <a:latin typeface="Comic Sans MS" panose="030F0702030302020204" pitchFamily="66" charset="0"/>
              </a:rPr>
              <a:t>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 </a:t>
            </a:r>
            <a:r>
              <a:rPr lang="en-GB" sz="2400" b="1" dirty="0">
                <a:latin typeface="Comic Sans MS" panose="030F0702030302020204" pitchFamily="66" charset="0"/>
              </a:rPr>
              <a:t>Type</a:t>
            </a:r>
            <a:r>
              <a:rPr lang="en-GB" sz="2400" dirty="0">
                <a:latin typeface="Comic Sans MS" panose="030F0702030302020204" pitchFamily="66" charset="0"/>
              </a:rPr>
              <a:t> → defines </a:t>
            </a:r>
            <a:r>
              <a:rPr lang="en-GB" sz="2400" b="1" dirty="0">
                <a:latin typeface="Comic Sans MS" panose="030F0702030302020204" pitchFamily="66" charset="0"/>
              </a:rPr>
              <a:t>what kind of data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how much memory</a:t>
            </a:r>
            <a:r>
              <a:rPr lang="en-GB" sz="2400" dirty="0">
                <a:latin typeface="Comic Sans MS" panose="030F0702030302020204" pitchFamily="66" charset="0"/>
              </a:rPr>
              <a:t> to use.</a:t>
            </a:r>
          </a:p>
        </p:txBody>
      </p:sp>
    </p:spTree>
    <p:extLst>
      <p:ext uri="{BB962C8B-B14F-4D97-AF65-F5344CB8AC3E}">
        <p14:creationId xmlns:p14="http://schemas.microsoft.com/office/powerpoint/2010/main" val="1306915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A5DD01-D972-6882-97DA-538BF5D60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04ECF65F-2DF9-B295-CE21-B6F84B5AE2ED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dirty="0">
                <a:latin typeface="Comic Sans MS" panose="030F0702030302020204" pitchFamily="66" charset="0"/>
              </a:rPr>
              <a:t>🧬 </a:t>
            </a:r>
            <a:r>
              <a:rPr lang="en-GB" sz="4000" b="1" dirty="0">
                <a:latin typeface="Comic Sans MS" panose="030F0702030302020204" pitchFamily="66" charset="0"/>
              </a:rPr>
              <a:t>Characteristics</a:t>
            </a:r>
            <a:endParaRPr lang="en-GB" sz="4000" dirty="0">
              <a:latin typeface="Comic Sans MS" panose="030F0702030302020204" pitchFamily="66" charset="0"/>
            </a:endParaRP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 </a:t>
            </a:r>
            <a:r>
              <a:rPr lang="en-GB" sz="2400" b="1" dirty="0">
                <a:latin typeface="Comic Sans MS" panose="030F0702030302020204" pitchFamily="66" charset="0"/>
              </a:rPr>
              <a:t>Type</a:t>
            </a:r>
            <a:r>
              <a:rPr lang="en-GB" sz="2400" dirty="0">
                <a:latin typeface="Comic Sans MS" panose="030F0702030302020204" pitchFamily="66" charset="0"/>
              </a:rPr>
              <a:t> decides size/format → impacts </a:t>
            </a:r>
            <a:r>
              <a:rPr lang="en-GB" sz="2400" b="1" dirty="0">
                <a:latin typeface="Comic Sans MS" panose="030F0702030302020204" pitchFamily="66" charset="0"/>
              </a:rPr>
              <a:t>performance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limits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🔹Identifier ↔ Address</a:t>
            </a:r>
            <a:r>
              <a:rPr lang="en-GB" sz="2400" dirty="0">
                <a:latin typeface="Comic Sans MS" panose="030F0702030302020204" pitchFamily="66" charset="0"/>
              </a:rPr>
              <a:t>: name you use vs where it lives in </a:t>
            </a:r>
            <a:r>
              <a:rPr lang="en-GB" sz="2400" b="1" dirty="0">
                <a:latin typeface="Comic Sans MS" panose="030F0702030302020204" pitchFamily="66" charset="0"/>
              </a:rPr>
              <a:t>RAM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🔹Variable vs Constant</a:t>
            </a:r>
            <a:r>
              <a:rPr lang="en-GB" sz="2400" dirty="0">
                <a:latin typeface="Comic Sans MS" panose="030F0702030302020204" pitchFamily="66" charset="0"/>
              </a:rPr>
              <a:t>: mutable vs read-only; both are containers but with different rules.</a:t>
            </a:r>
            <a:br>
              <a:rPr lang="en-GB" sz="2400" dirty="0">
                <a:latin typeface="Comic Sans MS" panose="030F0702030302020204" pitchFamily="66" charset="0"/>
              </a:rPr>
            </a:b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By carefully choosing </a:t>
            </a:r>
            <a:r>
              <a:rPr lang="en-GB" sz="2400" b="1" dirty="0">
                <a:latin typeface="Comic Sans MS" panose="030F0702030302020204" pitchFamily="66" charset="0"/>
              </a:rPr>
              <a:t>names, types, and mutability</a:t>
            </a:r>
            <a:r>
              <a:rPr lang="en-GB" sz="2400" dirty="0">
                <a:latin typeface="Comic Sans MS" panose="030F0702030302020204" pitchFamily="66" charset="0"/>
              </a:rPr>
              <a:t>, you write code that’s </a:t>
            </a:r>
            <a:r>
              <a:rPr lang="en-GB" sz="2400" b="1" dirty="0">
                <a:latin typeface="Comic Sans MS" panose="030F0702030302020204" pitchFamily="66" charset="0"/>
              </a:rPr>
              <a:t>clear, safe, and fast</a:t>
            </a:r>
            <a:r>
              <a:rPr lang="en-GB" sz="2400" dirty="0">
                <a:latin typeface="Comic Sans MS" panose="030F0702030302020204" pitchFamily="66" charset="0"/>
              </a:rPr>
              <a:t>. 🚀</a:t>
            </a:r>
          </a:p>
        </p:txBody>
      </p:sp>
    </p:spTree>
    <p:extLst>
      <p:ext uri="{BB962C8B-B14F-4D97-AF65-F5344CB8AC3E}">
        <p14:creationId xmlns:p14="http://schemas.microsoft.com/office/powerpoint/2010/main" val="2781638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F24F78-448E-2676-A6C0-4AFF138F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A459010-756A-4CD6-6C91-C23A3F615ECF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  <a:endParaRPr lang="en-GB" sz="2400" dirty="0">
              <a:latin typeface="Comic Sans MS" panose="030F0702030302020204" pitchFamily="66" charset="0"/>
            </a:endParaRP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Write your answers clearly and concisely.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 What is a </a:t>
            </a:r>
            <a:r>
              <a:rPr lang="en-GB" sz="2400" b="1" dirty="0">
                <a:latin typeface="Comic Sans MS" panose="030F0702030302020204" pitchFamily="66" charset="0"/>
              </a:rPr>
              <a:t>Variable</a:t>
            </a:r>
            <a:r>
              <a:rPr lang="en-GB" sz="2400" dirty="0">
                <a:latin typeface="Comic Sans MS" panose="030F0702030302020204" pitchFamily="66" charset="0"/>
              </a:rPr>
              <a:t>, and why do we need it?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What is a </a:t>
            </a:r>
            <a:r>
              <a:rPr lang="en-GB" sz="2400" b="1" dirty="0">
                <a:latin typeface="Comic Sans MS" panose="030F0702030302020204" pitchFamily="66" charset="0"/>
              </a:rPr>
              <a:t>Constant</a:t>
            </a:r>
            <a:r>
              <a:rPr lang="en-GB" sz="2400" dirty="0">
                <a:latin typeface="Comic Sans MS" panose="030F0702030302020204" pitchFamily="66" charset="0"/>
              </a:rPr>
              <a:t>, and why do we need it?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What is a </a:t>
            </a:r>
            <a:r>
              <a:rPr lang="en-GB" sz="2400" b="1" dirty="0">
                <a:latin typeface="Comic Sans MS" panose="030F0702030302020204" pitchFamily="66" charset="0"/>
              </a:rPr>
              <a:t>Memory Cell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What is an </a:t>
            </a:r>
            <a:r>
              <a:rPr lang="en-GB" sz="2400" b="1" dirty="0">
                <a:latin typeface="Comic Sans MS" panose="030F0702030302020204" pitchFamily="66" charset="0"/>
              </a:rPr>
              <a:t>Identifier</a:t>
            </a:r>
            <a:r>
              <a:rPr lang="en-GB" sz="2400" dirty="0">
                <a:latin typeface="Comic Sans MS" panose="030F0702030302020204" pitchFamily="66" charset="0"/>
              </a:rPr>
              <a:t>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What is a </a:t>
            </a:r>
            <a:r>
              <a:rPr lang="en-GB" sz="2400" b="1" dirty="0">
                <a:latin typeface="Comic Sans MS" panose="030F0702030302020204" pitchFamily="66" charset="0"/>
              </a:rPr>
              <a:t>Memory Address</a:t>
            </a:r>
            <a:r>
              <a:rPr lang="en-GB" sz="2400" dirty="0">
                <a:latin typeface="Comic Sans MS" panose="030F0702030302020204" pitchFamily="66" charset="0"/>
              </a:rPr>
              <a:t>, and what is its relation to </a:t>
            </a:r>
            <a:r>
              <a:rPr lang="en-GB" sz="2400" b="1" dirty="0">
                <a:latin typeface="Comic Sans MS" panose="030F0702030302020204" pitchFamily="66" charset="0"/>
              </a:rPr>
              <a:t>location</a:t>
            </a:r>
            <a:r>
              <a:rPr lang="en-GB" sz="2400" dirty="0">
                <a:latin typeface="Comic Sans MS" panose="030F0702030302020204" pitchFamily="66" charset="0"/>
              </a:rPr>
              <a:t> in memory?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Which </a:t>
            </a:r>
            <a:r>
              <a:rPr lang="en-GB" sz="2400" b="1" dirty="0">
                <a:latin typeface="Comic Sans MS" panose="030F0702030302020204" pitchFamily="66" charset="0"/>
              </a:rPr>
              <a:t>numbering system</a:t>
            </a:r>
            <a:r>
              <a:rPr lang="en-GB" sz="2400" dirty="0">
                <a:latin typeface="Comic Sans MS" panose="030F0702030302020204" pitchFamily="66" charset="0"/>
              </a:rPr>
              <a:t> is used to represent memory addresses?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Mention the </a:t>
            </a:r>
            <a:r>
              <a:rPr lang="en-GB" sz="2400" b="1" dirty="0">
                <a:latin typeface="Comic Sans MS" panose="030F0702030302020204" pitchFamily="66" charset="0"/>
              </a:rPr>
              <a:t>primary types of variables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What are the </a:t>
            </a:r>
            <a:r>
              <a:rPr lang="en-GB" sz="2400" b="1" dirty="0">
                <a:latin typeface="Comic Sans MS" panose="030F0702030302020204" pitchFamily="66" charset="0"/>
              </a:rPr>
              <a:t>number types</a:t>
            </a:r>
            <a:r>
              <a:rPr lang="en-GB" sz="2400" dirty="0">
                <a:latin typeface="Comic Sans MS" panose="030F0702030302020204" pitchFamily="66" charset="0"/>
              </a:rPr>
              <a:t>, and give examples for each.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 What is a </a:t>
            </a:r>
            <a:r>
              <a:rPr lang="en-GB" sz="2400" b="1" dirty="0">
                <a:latin typeface="Comic Sans MS" panose="030F0702030302020204" pitchFamily="66" charset="0"/>
              </a:rPr>
              <a:t>String</a:t>
            </a:r>
            <a:r>
              <a:rPr lang="en-GB" sz="2400" dirty="0">
                <a:latin typeface="Comic Sans MS" panose="030F0702030302020204" pitchFamily="66" charset="0"/>
              </a:rPr>
              <a:t>, and give an example of it.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🔟 What is a </a:t>
            </a:r>
            <a:r>
              <a:rPr lang="en-GB" sz="2400" b="1" dirty="0">
                <a:latin typeface="Comic Sans MS" panose="030F0702030302020204" pitchFamily="66" charset="0"/>
              </a:rPr>
              <a:t>Boolean</a:t>
            </a:r>
            <a:r>
              <a:rPr lang="en-GB" sz="2400" dirty="0">
                <a:latin typeface="Comic Sans MS" panose="030F0702030302020204" pitchFamily="66" charset="0"/>
              </a:rPr>
              <a:t>, and give an example of it.</a:t>
            </a:r>
          </a:p>
        </p:txBody>
      </p:sp>
    </p:spTree>
    <p:extLst>
      <p:ext uri="{BB962C8B-B14F-4D97-AF65-F5344CB8AC3E}">
        <p14:creationId xmlns:p14="http://schemas.microsoft.com/office/powerpoint/2010/main" val="3538147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92661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1️⃣ What is a Variable, and why do we need it?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variable</a:t>
            </a:r>
            <a:r>
              <a:rPr lang="en-GB" sz="2400" dirty="0">
                <a:latin typeface="Comic Sans MS" panose="030F0702030302020204" pitchFamily="66" charset="0"/>
              </a:rPr>
              <a:t> is a </a:t>
            </a:r>
            <a:r>
              <a:rPr lang="en-GB" sz="2400" b="1" dirty="0">
                <a:latin typeface="Comic Sans MS" panose="030F0702030302020204" pitchFamily="66" charset="0"/>
              </a:rPr>
              <a:t>container in memory</a:t>
            </a:r>
            <a:r>
              <a:rPr lang="en-GB" sz="2400" dirty="0">
                <a:latin typeface="Comic Sans MS" panose="030F0702030302020204" pitchFamily="66" charset="0"/>
              </a:rPr>
              <a:t> that stores data temporarily while the 	program runs.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We need it to </a:t>
            </a:r>
            <a:r>
              <a:rPr lang="en-GB" sz="2400" b="1" dirty="0">
                <a:latin typeface="Comic Sans MS" panose="030F0702030302020204" pitchFamily="66" charset="0"/>
              </a:rPr>
              <a:t>hold, update, and reuse information</a:t>
            </a:r>
            <a:r>
              <a:rPr lang="en-GB" sz="2400" dirty="0">
                <a:latin typeface="Comic Sans MS" panose="030F0702030302020204" pitchFamily="66" charset="0"/>
              </a:rPr>
              <a:t> such as names, numbers, or 	results.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2️⃣ What is a Constant, and why do we need it?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constant</a:t>
            </a:r>
            <a:r>
              <a:rPr lang="en-GB" sz="2400" dirty="0">
                <a:latin typeface="Comic Sans MS" panose="030F0702030302020204" pitchFamily="66" charset="0"/>
              </a:rPr>
              <a:t> is a </a:t>
            </a:r>
            <a:r>
              <a:rPr lang="en-GB" sz="2400" b="1" dirty="0">
                <a:latin typeface="Comic Sans MS" panose="030F0702030302020204" pitchFamily="66" charset="0"/>
              </a:rPr>
              <a:t>read-only container</a:t>
            </a:r>
            <a:r>
              <a:rPr lang="en-GB" sz="2400" dirty="0">
                <a:latin typeface="Comic Sans MS" panose="030F0702030302020204" pitchFamily="66" charset="0"/>
              </a:rPr>
              <a:t> whose value </a:t>
            </a:r>
            <a:r>
              <a:rPr lang="en-GB" sz="2400" b="1" dirty="0">
                <a:latin typeface="Comic Sans MS" panose="030F0702030302020204" pitchFamily="66" charset="0"/>
              </a:rPr>
              <a:t>cannot change</a:t>
            </a:r>
            <a:r>
              <a:rPr lang="en-GB" sz="2400" dirty="0">
                <a:latin typeface="Comic Sans MS" panose="030F0702030302020204" pitchFamily="66" charset="0"/>
              </a:rPr>
              <a:t> once assigned.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We need it to </a:t>
            </a:r>
            <a:r>
              <a:rPr lang="en-GB" sz="2400" b="1" dirty="0">
                <a:latin typeface="Comic Sans MS" panose="030F0702030302020204" pitchFamily="66" charset="0"/>
              </a:rPr>
              <a:t>protect fixed values</a:t>
            </a:r>
            <a:r>
              <a:rPr lang="en-GB" sz="2400" dirty="0">
                <a:latin typeface="Comic Sans MS" panose="030F0702030302020204" pitchFamily="66" charset="0"/>
              </a:rPr>
              <a:t> (like π = 3.14) from being modified 	accidentally.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3️⃣ What is a Memory Cell?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memory cell</a:t>
            </a:r>
            <a:r>
              <a:rPr lang="en-GB" sz="2400" dirty="0">
                <a:latin typeface="Comic Sans MS" panose="030F0702030302020204" pitchFamily="66" charset="0"/>
              </a:rPr>
              <a:t> is a small </a:t>
            </a:r>
            <a:r>
              <a:rPr lang="en-GB" sz="2400" b="1" dirty="0">
                <a:latin typeface="Comic Sans MS" panose="030F0702030302020204" pitchFamily="66" charset="0"/>
              </a:rPr>
              <a:t>storage unit in RAM</a:t>
            </a:r>
            <a:r>
              <a:rPr lang="en-GB" sz="2400" dirty="0">
                <a:latin typeface="Comic Sans MS" panose="030F0702030302020204" pitchFamily="66" charset="0"/>
              </a:rPr>
              <a:t> that holds the </a:t>
            </a:r>
            <a:r>
              <a:rPr lang="en-GB" sz="2400" b="1" dirty="0">
                <a:latin typeface="Comic Sans MS" panose="030F0702030302020204" pitchFamily="66" charset="0"/>
              </a:rPr>
              <a:t>binary bits</a:t>
            </a:r>
            <a:r>
              <a:rPr lang="en-GB" sz="2400" dirty="0">
                <a:latin typeface="Comic Sans MS" panose="030F0702030302020204" pitchFamily="66" charset="0"/>
              </a:rPr>
              <a:t> of a 	variable’s value.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4️⃣ What is an Identifier?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An </a:t>
            </a:r>
            <a:r>
              <a:rPr lang="en-GB" sz="2400" b="1" dirty="0">
                <a:latin typeface="Comic Sans MS" panose="030F0702030302020204" pitchFamily="66" charset="0"/>
              </a:rPr>
              <a:t>identifier</a:t>
            </a:r>
            <a:r>
              <a:rPr lang="en-GB" sz="2400" dirty="0">
                <a:latin typeface="Comic Sans MS" panose="030F0702030302020204" pitchFamily="66" charset="0"/>
              </a:rPr>
              <a:t> is the </a:t>
            </a:r>
            <a:r>
              <a:rPr lang="en-GB" sz="2400" b="1" dirty="0">
                <a:latin typeface="Comic Sans MS" panose="030F0702030302020204" pitchFamily="66" charset="0"/>
              </a:rPr>
              <a:t>name</a:t>
            </a:r>
            <a:r>
              <a:rPr lang="en-GB" sz="2400" dirty="0">
                <a:latin typeface="Comic Sans MS" panose="030F0702030302020204" pitchFamily="66" charset="0"/>
              </a:rPr>
              <a:t> given to a variable or constant so the programmer can 	refer to it easily (e.g., Age, PI).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5️⃣ What is a Memory Address, and what is its relation to location in memory?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memory address</a:t>
            </a:r>
            <a:r>
              <a:rPr lang="en-GB" sz="2400" dirty="0">
                <a:latin typeface="Comic Sans MS" panose="030F0702030302020204" pitchFamily="66" charset="0"/>
              </a:rPr>
              <a:t> is the </a:t>
            </a:r>
            <a:r>
              <a:rPr lang="en-GB" sz="2400" b="1" dirty="0">
                <a:latin typeface="Comic Sans MS" panose="030F0702030302020204" pitchFamily="66" charset="0"/>
              </a:rPr>
              <a:t>exact location</a:t>
            </a:r>
            <a:r>
              <a:rPr lang="en-GB" sz="2400" dirty="0">
                <a:latin typeface="Comic Sans MS" panose="030F0702030302020204" pitchFamily="66" charset="0"/>
              </a:rPr>
              <a:t> of a memory cell inside the computer’s 	RAM.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Each variable is stored at a </a:t>
            </a:r>
            <a:r>
              <a:rPr lang="en-GB" sz="2400" b="1" dirty="0">
                <a:latin typeface="Comic Sans MS" panose="030F0702030302020204" pitchFamily="66" charset="0"/>
              </a:rPr>
              <a:t>unique address</a:t>
            </a:r>
            <a:r>
              <a:rPr lang="en-GB" sz="2400" dirty="0">
                <a:latin typeface="Comic Sans MS" panose="030F0702030302020204" pitchFamily="66" charset="0"/>
              </a:rPr>
              <a:t> — just like houses have unique 	addresses.</a:t>
            </a: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AEE7CB-092E-58E2-2110-F8477EEB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91A5682-7D39-6C4F-5C49-AD8B23A103C1}"/>
              </a:ext>
            </a:extLst>
          </p:cNvPr>
          <p:cNvSpPr txBox="1"/>
          <p:nvPr/>
        </p:nvSpPr>
        <p:spPr>
          <a:xfrm>
            <a:off x="381000" y="888075"/>
            <a:ext cx="12352767" cy="64346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6️⃣ Which numbering system is used to represent memory addresses?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Memory addresses are represented in </a:t>
            </a:r>
            <a:r>
              <a:rPr lang="en-GB" sz="2400" b="1" dirty="0">
                <a:latin typeface="Comic Sans MS" panose="030F0702030302020204" pitchFamily="66" charset="0"/>
              </a:rPr>
              <a:t>hexadecimal (base 16)</a:t>
            </a:r>
            <a:r>
              <a:rPr lang="en-GB" sz="2400" dirty="0">
                <a:latin typeface="Comic Sans MS" panose="030F0702030302020204" pitchFamily="66" charset="0"/>
              </a:rPr>
              <a:t> form, 	e.g., 0x7FFF89A2.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7️⃣ Mention the primary types of variables.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Integer (Int)</a:t>
            </a:r>
            <a:r>
              <a:rPr lang="en-GB" sz="2400" dirty="0">
                <a:latin typeface="Comic Sans MS" panose="030F0702030302020204" pitchFamily="66" charset="0"/>
              </a:rPr>
              <a:t> → whole numbers (e.g., 25)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Float/Double</a:t>
            </a:r>
            <a:r>
              <a:rPr lang="en-GB" sz="2400" dirty="0">
                <a:latin typeface="Comic Sans MS" panose="030F0702030302020204" pitchFamily="66" charset="0"/>
              </a:rPr>
              <a:t> → decimal numbers (e.g., 3.14)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String</a:t>
            </a:r>
            <a:r>
              <a:rPr lang="en-GB" sz="2400" dirty="0">
                <a:latin typeface="Comic Sans MS" panose="030F0702030302020204" pitchFamily="66" charset="0"/>
              </a:rPr>
              <a:t> → text (e.g., "Omar")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Boolean</a:t>
            </a:r>
            <a:r>
              <a:rPr lang="en-GB" sz="2400" dirty="0">
                <a:latin typeface="Comic Sans MS" panose="030F0702030302020204" pitchFamily="66" charset="0"/>
              </a:rPr>
              <a:t> → True/False (e.g., True)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8️⃣ What are the number types, and give examples for each.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	Integer (Int):</a:t>
            </a:r>
            <a:r>
              <a:rPr lang="en-GB" sz="2400" dirty="0">
                <a:latin typeface="Comic Sans MS" panose="030F0702030302020204" pitchFamily="66" charset="0"/>
              </a:rPr>
              <a:t> Whole numbers (e.g., −10, 0, 150)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	Float (Decimal):</a:t>
            </a:r>
            <a:r>
              <a:rPr lang="en-GB" sz="2400" dirty="0">
                <a:latin typeface="Comic Sans MS" panose="030F0702030302020204" pitchFamily="66" charset="0"/>
              </a:rPr>
              <a:t> Numbers with fractions (e.g., 3.5, 7.25)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9️⃣ What is a String, and give an example of it.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String</a:t>
            </a:r>
            <a:r>
              <a:rPr lang="en-GB" sz="2400" dirty="0">
                <a:latin typeface="Comic Sans MS" panose="030F0702030302020204" pitchFamily="66" charset="0"/>
              </a:rPr>
              <a:t> stores </a:t>
            </a:r>
            <a:r>
              <a:rPr lang="en-GB" sz="2400" b="1" dirty="0">
                <a:latin typeface="Comic Sans MS" panose="030F0702030302020204" pitchFamily="66" charset="0"/>
              </a:rPr>
              <a:t>text or characters</a:t>
            </a:r>
            <a:r>
              <a:rPr lang="en-GB" sz="2400" dirty="0">
                <a:latin typeface="Comic Sans MS" panose="030F0702030302020204" pitchFamily="66" charset="0"/>
              </a:rPr>
              <a:t>, written between quotation marks.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	Example: "Hello World" or "Mohammed".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🔟 What is a Boolean, and give an example of it.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 </a:t>
            </a:r>
            <a:r>
              <a:rPr lang="en-GB" sz="2400" b="1" dirty="0">
                <a:latin typeface="Comic Sans MS" panose="030F0702030302020204" pitchFamily="66" charset="0"/>
              </a:rPr>
              <a:t>Boolean</a:t>
            </a:r>
            <a:r>
              <a:rPr lang="en-GB" sz="2400" dirty="0">
                <a:latin typeface="Comic Sans MS" panose="030F0702030302020204" pitchFamily="66" charset="0"/>
              </a:rPr>
              <a:t> represents </a:t>
            </a:r>
            <a:r>
              <a:rPr lang="en-GB" sz="2400" b="1" dirty="0">
                <a:latin typeface="Comic Sans MS" panose="030F0702030302020204" pitchFamily="66" charset="0"/>
              </a:rPr>
              <a:t>True or False</a:t>
            </a:r>
            <a:r>
              <a:rPr lang="en-GB" sz="2400" dirty="0">
                <a:latin typeface="Comic Sans MS" panose="030F0702030302020204" pitchFamily="66" charset="0"/>
              </a:rPr>
              <a:t> values used in decisions.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Example: </a:t>
            </a:r>
            <a:r>
              <a:rPr lang="en-GB" sz="2400" dirty="0" err="1">
                <a:latin typeface="Comic Sans MS" panose="030F0702030302020204" pitchFamily="66" charset="0"/>
              </a:rPr>
              <a:t>IsStudent</a:t>
            </a:r>
            <a:r>
              <a:rPr lang="en-GB" sz="2400" dirty="0">
                <a:latin typeface="Comic Sans MS" panose="030F0702030302020204" pitchFamily="66" charset="0"/>
              </a:rPr>
              <a:t> = True or </a:t>
            </a:r>
            <a:r>
              <a:rPr lang="en-GB" sz="2400" dirty="0" err="1">
                <a:latin typeface="Comic Sans MS" panose="030F0702030302020204" pitchFamily="66" charset="0"/>
              </a:rPr>
              <a:t>HasLicense</a:t>
            </a:r>
            <a:r>
              <a:rPr lang="en-GB" sz="2400" dirty="0">
                <a:latin typeface="Comic Sans MS" panose="030F0702030302020204" pitchFamily="66" charset="0"/>
              </a:rPr>
              <a:t> = False.</a:t>
            </a:r>
          </a:p>
        </p:txBody>
      </p:sp>
    </p:spTree>
    <p:extLst>
      <p:ext uri="{BB962C8B-B14F-4D97-AF65-F5344CB8AC3E}">
        <p14:creationId xmlns:p14="http://schemas.microsoft.com/office/powerpoint/2010/main" val="981784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variable</a:t>
            </a:r>
            <a:r>
              <a:rPr lang="en-GB" sz="2400" dirty="0">
                <a:latin typeface="Comic Sans MS" panose="030F0702030302020204" pitchFamily="66" charset="0"/>
              </a:rPr>
              <a:t> is a named </a:t>
            </a:r>
            <a:r>
              <a:rPr lang="en-GB" sz="2400" b="1" dirty="0">
                <a:latin typeface="Comic Sans MS" panose="030F0702030302020204" pitchFamily="66" charset="0"/>
              </a:rPr>
              <a:t>memory cell</a:t>
            </a:r>
            <a:r>
              <a:rPr lang="en-GB" sz="2400" dirty="0">
                <a:latin typeface="Comic Sans MS" panose="030F0702030302020204" pitchFamily="66" charset="0"/>
              </a:rPr>
              <a:t> at an </a:t>
            </a:r>
            <a:r>
              <a:rPr lang="en-GB" sz="2400" b="1" dirty="0">
                <a:latin typeface="Comic Sans MS" panose="030F0702030302020204" pitchFamily="66" charset="0"/>
              </a:rPr>
              <a:t>address</a:t>
            </a:r>
            <a:r>
              <a:rPr lang="en-GB" sz="2400" dirty="0">
                <a:latin typeface="Comic Sans MS" panose="030F0702030302020204" pitchFamily="66" charset="0"/>
              </a:rPr>
              <a:t> that holds a </a:t>
            </a:r>
            <a:r>
              <a:rPr lang="en-GB" sz="2400" b="1" dirty="0">
                <a:latin typeface="Comic Sans MS" panose="030F0702030302020204" pitchFamily="66" charset="0"/>
              </a:rPr>
              <a:t>typed</a:t>
            </a:r>
            <a:r>
              <a:rPr lang="en-GB" sz="2400" dirty="0">
                <a:latin typeface="Comic Sans MS" panose="030F0702030302020204" pitchFamily="66" charset="0"/>
              </a:rPr>
              <a:t> value you can 	change.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 </a:t>
            </a:r>
            <a:r>
              <a:rPr lang="en-GB" sz="2400" b="1" dirty="0">
                <a:latin typeface="Comic Sans MS" panose="030F0702030302020204" pitchFamily="66" charset="0"/>
              </a:rPr>
              <a:t>constant</a:t>
            </a:r>
            <a:r>
              <a:rPr lang="en-GB" sz="2400" dirty="0">
                <a:latin typeface="Comic Sans MS" panose="030F0702030302020204" pitchFamily="66" charset="0"/>
              </a:rPr>
              <a:t> is the same concept but </a:t>
            </a:r>
            <a:r>
              <a:rPr lang="en-GB" sz="2400" b="1" dirty="0">
                <a:latin typeface="Comic Sans MS" panose="030F0702030302020204" pitchFamily="66" charset="0"/>
              </a:rPr>
              <a:t>immutable</a:t>
            </a:r>
            <a:r>
              <a:rPr lang="en-GB" sz="2400" dirty="0">
                <a:latin typeface="Comic Sans MS" panose="030F0702030302020204" pitchFamily="66" charset="0"/>
              </a:rPr>
              <a:t>—great for </a:t>
            </a:r>
            <a:r>
              <a:rPr lang="en-GB" sz="2400" b="1" dirty="0">
                <a:latin typeface="Comic Sans MS" panose="030F0702030302020204" pitchFamily="66" charset="0"/>
              </a:rPr>
              <a:t>safety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Always pick the </a:t>
            </a:r>
            <a:r>
              <a:rPr lang="en-GB" sz="2400" b="1" dirty="0">
                <a:latin typeface="Comic Sans MS" panose="030F0702030302020204" pitchFamily="66" charset="0"/>
              </a:rPr>
              <a:t>right type</a:t>
            </a:r>
            <a:r>
              <a:rPr lang="en-GB" sz="2400" dirty="0">
                <a:latin typeface="Comic Sans MS" panose="030F0702030302020204" pitchFamily="66" charset="0"/>
              </a:rPr>
              <a:t> and avoid </a:t>
            </a:r>
            <a:r>
              <a:rPr lang="en-GB" sz="2400" b="1" dirty="0">
                <a:latin typeface="Comic Sans MS" panose="030F0702030302020204" pitchFamily="66" charset="0"/>
              </a:rPr>
              <a:t>wasting memory</a:t>
            </a:r>
            <a:r>
              <a:rPr lang="en-GB" sz="2400" dirty="0">
                <a:latin typeface="Comic Sans MS" panose="030F0702030302020204" pitchFamily="66" charset="0"/>
              </a:rPr>
              <a:t>; it keeps programs </a:t>
            </a:r>
            <a:r>
              <a:rPr lang="en-GB" sz="2400" b="1" dirty="0">
                <a:latin typeface="Comic Sans MS" panose="030F0702030302020204" pitchFamily="66" charset="0"/>
              </a:rPr>
              <a:t>efficient 	and reliable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4052</TotalTime>
  <Words>1475</Words>
  <Application>Microsoft Office PowerPoint</Application>
  <PresentationFormat>Custom</PresentationFormat>
  <Paragraphs>200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427</cp:revision>
  <dcterms:created xsi:type="dcterms:W3CDTF">2025-12-09T17:44:59Z</dcterms:created>
  <dcterms:modified xsi:type="dcterms:W3CDTF">2026-01-16T18:15:14Z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