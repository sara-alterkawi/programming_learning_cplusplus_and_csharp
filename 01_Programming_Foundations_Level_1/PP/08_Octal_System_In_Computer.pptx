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532" r:id="rId3"/>
    <p:sldId id="257" r:id="rId4"/>
    <p:sldId id="533" r:id="rId5"/>
    <p:sldId id="490" r:id="rId6"/>
    <p:sldId id="503" r:id="rId7"/>
    <p:sldId id="333" r:id="rId8"/>
    <p:sldId id="504" r:id="rId9"/>
    <p:sldId id="262" r:id="rId10"/>
    <p:sldId id="497" r:id="rId11"/>
    <p:sldId id="530" r:id="rId12"/>
    <p:sldId id="528" r:id="rId13"/>
    <p:sldId id="496" r:id="rId14"/>
    <p:sldId id="498" r:id="rId15"/>
    <p:sldId id="508" r:id="rId16"/>
    <p:sldId id="511" r:id="rId17"/>
    <p:sldId id="512" r:id="rId18"/>
    <p:sldId id="513" r:id="rId19"/>
    <p:sldId id="514" r:id="rId20"/>
    <p:sldId id="529" r:id="rId21"/>
    <p:sldId id="516" r:id="rId22"/>
    <p:sldId id="518" r:id="rId23"/>
    <p:sldId id="517" r:id="rId24"/>
    <p:sldId id="520" r:id="rId25"/>
    <p:sldId id="519" r:id="rId26"/>
    <p:sldId id="521" r:id="rId27"/>
    <p:sldId id="524" r:id="rId28"/>
    <p:sldId id="522" r:id="rId29"/>
    <p:sldId id="525" r:id="rId30"/>
    <p:sldId id="526" r:id="rId31"/>
    <p:sldId id="527" r:id="rId32"/>
    <p:sldId id="477" r:id="rId33"/>
    <p:sldId id="531" r:id="rId34"/>
    <p:sldId id="349" r:id="rId35"/>
    <p:sldId id="438" r:id="rId36"/>
    <p:sldId id="425" r:id="rId3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93007" y="2405497"/>
            <a:ext cx="8625184" cy="5875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18" b="1" i="0">
                <a:solidFill>
                  <a:srgbClr val="FFCD54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4"/>
            <a:ext cx="9387840" cy="3882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23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41" b="1" i="0">
                <a:solidFill>
                  <a:srgbClr val="0070BA"/>
                </a:solidFill>
                <a:latin typeface="Comic Sans MS"/>
                <a:cs typeface="Comic Sans MS"/>
              </a:defRPr>
            </a:lvl1pPr>
          </a:lstStyle>
          <a:p>
            <a:pPr marL="211191" marR="6574" indent="-195577">
              <a:lnSpc>
                <a:spcPct val="101600"/>
              </a:lnSpc>
              <a:spcBef>
                <a:spcPts val="214"/>
              </a:spcBef>
            </a:pPr>
            <a:r>
              <a:rPr lang="sv-SE" spc="-13"/>
              <a:t>ProgrammingAdvices.com </a:t>
            </a:r>
            <a:r>
              <a:rPr lang="sv-SE"/>
              <a:t>Copyright©</a:t>
            </a:r>
            <a:r>
              <a:rPr lang="sv-SE" spc="13"/>
              <a:t> </a:t>
            </a:r>
            <a:r>
              <a:rPr lang="sv-SE" spc="-26"/>
              <a:t>2022</a:t>
            </a:r>
            <a:endParaRPr lang="sv-SE" spc="-26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109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054" y="1605858"/>
            <a:ext cx="12697092" cy="587533"/>
          </a:xfrm>
        </p:spPr>
        <p:txBody>
          <a:bodyPr lIns="0" tIns="0" rIns="0" bIns="0"/>
          <a:lstStyle>
            <a:lvl1pPr>
              <a:defRPr sz="3818" b="1" i="0">
                <a:solidFill>
                  <a:srgbClr val="FFCD54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3594" y="3101659"/>
            <a:ext cx="11012593" cy="388248"/>
          </a:xfrm>
        </p:spPr>
        <p:txBody>
          <a:bodyPr lIns="0" tIns="0" rIns="0" bIns="0"/>
          <a:lstStyle>
            <a:lvl1pPr>
              <a:defRPr sz="2523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41" b="1" i="0">
                <a:solidFill>
                  <a:srgbClr val="0070BA"/>
                </a:solidFill>
                <a:latin typeface="Comic Sans MS"/>
                <a:cs typeface="Comic Sans MS"/>
              </a:defRPr>
            </a:lvl1pPr>
          </a:lstStyle>
          <a:p>
            <a:pPr marL="211191" marR="6574" indent="-195577">
              <a:lnSpc>
                <a:spcPct val="101600"/>
              </a:lnSpc>
              <a:spcBef>
                <a:spcPts val="214"/>
              </a:spcBef>
            </a:pPr>
            <a:r>
              <a:rPr lang="sv-SE" spc="-13"/>
              <a:t>ProgrammingAdvices.com </a:t>
            </a:r>
            <a:r>
              <a:rPr lang="sv-SE"/>
              <a:t>Copyright©</a:t>
            </a:r>
            <a:r>
              <a:rPr lang="sv-SE" spc="13"/>
              <a:t> </a:t>
            </a:r>
            <a:r>
              <a:rPr lang="sv-SE" spc="-26"/>
              <a:t>2022</a:t>
            </a:r>
            <a:endParaRPr lang="sv-SE" spc="-26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422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054" y="1605858"/>
            <a:ext cx="12697092" cy="587533"/>
          </a:xfrm>
        </p:spPr>
        <p:txBody>
          <a:bodyPr lIns="0" tIns="0" rIns="0" bIns="0"/>
          <a:lstStyle>
            <a:lvl1pPr>
              <a:defRPr sz="3818" b="1" i="0">
                <a:solidFill>
                  <a:srgbClr val="FFCD54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2"/>
            <a:ext cx="5833872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2"/>
            <a:ext cx="5833872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41" b="1" i="0">
                <a:solidFill>
                  <a:srgbClr val="0070BA"/>
                </a:solidFill>
                <a:latin typeface="Comic Sans MS"/>
                <a:cs typeface="Comic Sans MS"/>
              </a:defRPr>
            </a:lvl1pPr>
          </a:lstStyle>
          <a:p>
            <a:pPr marL="211191" marR="6574" indent="-195577">
              <a:lnSpc>
                <a:spcPct val="101600"/>
              </a:lnSpc>
              <a:spcBef>
                <a:spcPts val="214"/>
              </a:spcBef>
            </a:pPr>
            <a:r>
              <a:rPr lang="sv-SE" spc="-13"/>
              <a:t>ProgrammingAdvices.com </a:t>
            </a:r>
            <a:r>
              <a:rPr lang="sv-SE"/>
              <a:t>Copyright©</a:t>
            </a:r>
            <a:r>
              <a:rPr lang="sv-SE" spc="13"/>
              <a:t> </a:t>
            </a:r>
            <a:r>
              <a:rPr lang="sv-SE" spc="-26"/>
              <a:t>2022</a:t>
            </a:r>
            <a:endParaRPr lang="sv-SE" spc="-26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525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054" y="1605858"/>
            <a:ext cx="12697092" cy="587533"/>
          </a:xfrm>
        </p:spPr>
        <p:txBody>
          <a:bodyPr lIns="0" tIns="0" rIns="0" bIns="0"/>
          <a:lstStyle>
            <a:lvl1pPr>
              <a:defRPr sz="3818" b="1" i="0">
                <a:solidFill>
                  <a:srgbClr val="FFCD54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41" b="1" i="0">
                <a:solidFill>
                  <a:srgbClr val="0070BA"/>
                </a:solidFill>
                <a:latin typeface="Comic Sans MS"/>
                <a:cs typeface="Comic Sans MS"/>
              </a:defRPr>
            </a:lvl1pPr>
          </a:lstStyle>
          <a:p>
            <a:pPr marL="211191" marR="6574" indent="-195577">
              <a:lnSpc>
                <a:spcPct val="101600"/>
              </a:lnSpc>
              <a:spcBef>
                <a:spcPts val="214"/>
              </a:spcBef>
            </a:pPr>
            <a:r>
              <a:rPr lang="sv-SE" spc="-13"/>
              <a:t>ProgrammingAdvices.com </a:t>
            </a:r>
            <a:r>
              <a:rPr lang="sv-SE"/>
              <a:t>Copyright©</a:t>
            </a:r>
            <a:r>
              <a:rPr lang="sv-SE" spc="13"/>
              <a:t> </a:t>
            </a:r>
            <a:r>
              <a:rPr lang="sv-SE" spc="-26"/>
              <a:t>2022</a:t>
            </a:r>
            <a:endParaRPr lang="sv-SE" spc="-26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940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41" b="1" i="0">
                <a:solidFill>
                  <a:srgbClr val="0070BA"/>
                </a:solidFill>
                <a:latin typeface="Comic Sans MS"/>
                <a:cs typeface="Comic Sans MS"/>
              </a:defRPr>
            </a:lvl1pPr>
          </a:lstStyle>
          <a:p>
            <a:pPr marL="211191" marR="6574" indent="-195577">
              <a:lnSpc>
                <a:spcPct val="101600"/>
              </a:lnSpc>
              <a:spcBef>
                <a:spcPts val="214"/>
              </a:spcBef>
            </a:pPr>
            <a:r>
              <a:rPr lang="sv-SE" spc="-13"/>
              <a:t>ProgrammingAdvices.com </a:t>
            </a:r>
            <a:r>
              <a:rPr lang="sv-SE"/>
              <a:t>Copyright©</a:t>
            </a:r>
            <a:r>
              <a:rPr lang="sv-SE" spc="13"/>
              <a:t> </a:t>
            </a:r>
            <a:r>
              <a:rPr lang="sv-SE" spc="-26"/>
              <a:t>2022</a:t>
            </a:r>
            <a:endParaRPr lang="sv-SE" spc="-26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409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9457" y="8130345"/>
            <a:ext cx="2023871" cy="45061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054" y="1605858"/>
            <a:ext cx="12697092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FFCD54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3594" y="3101659"/>
            <a:ext cx="1101259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24325" y="8259980"/>
            <a:ext cx="1360593" cy="258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1" b="1" i="0">
                <a:solidFill>
                  <a:srgbClr val="0070BA"/>
                </a:solidFill>
                <a:latin typeface="Comic Sans MS"/>
                <a:cs typeface="Comic Sans MS"/>
              </a:defRPr>
            </a:lvl1pPr>
          </a:lstStyle>
          <a:p>
            <a:pPr marL="211191" marR="6574" indent="-195577">
              <a:lnSpc>
                <a:spcPct val="101600"/>
              </a:lnSpc>
              <a:spcBef>
                <a:spcPts val="214"/>
              </a:spcBef>
            </a:pPr>
            <a:r>
              <a:rPr lang="sv-SE" spc="-13"/>
              <a:t>ProgrammingAdvices.com </a:t>
            </a:r>
            <a:r>
              <a:rPr lang="sv-SE"/>
              <a:t>Copyright©</a:t>
            </a:r>
            <a:r>
              <a:rPr lang="sv-SE" spc="13"/>
              <a:t> </a:t>
            </a:r>
            <a:r>
              <a:rPr lang="sv-SE" spc="-26"/>
              <a:t>2022</a:t>
            </a:r>
            <a:endParaRPr lang="sv-SE" spc="-26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2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2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07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91663">
        <a:defRPr>
          <a:latin typeface="+mn-lt"/>
          <a:ea typeface="+mn-ea"/>
          <a:cs typeface="+mn-cs"/>
        </a:defRPr>
      </a:lvl2pPr>
      <a:lvl3pPr marL="1183325">
        <a:defRPr>
          <a:latin typeface="+mn-lt"/>
          <a:ea typeface="+mn-ea"/>
          <a:cs typeface="+mn-cs"/>
        </a:defRPr>
      </a:lvl3pPr>
      <a:lvl4pPr marL="1774988">
        <a:defRPr>
          <a:latin typeface="+mn-lt"/>
          <a:ea typeface="+mn-ea"/>
          <a:cs typeface="+mn-cs"/>
        </a:defRPr>
      </a:lvl4pPr>
      <a:lvl5pPr marL="2366650">
        <a:defRPr>
          <a:latin typeface="+mn-lt"/>
          <a:ea typeface="+mn-ea"/>
          <a:cs typeface="+mn-cs"/>
        </a:defRPr>
      </a:lvl5pPr>
      <a:lvl6pPr marL="2958313">
        <a:defRPr>
          <a:latin typeface="+mn-lt"/>
          <a:ea typeface="+mn-ea"/>
          <a:cs typeface="+mn-cs"/>
        </a:defRPr>
      </a:lvl6pPr>
      <a:lvl7pPr marL="3549975">
        <a:defRPr>
          <a:latin typeface="+mn-lt"/>
          <a:ea typeface="+mn-ea"/>
          <a:cs typeface="+mn-cs"/>
        </a:defRPr>
      </a:lvl7pPr>
      <a:lvl8pPr marL="4141638">
        <a:defRPr>
          <a:latin typeface="+mn-lt"/>
          <a:ea typeface="+mn-ea"/>
          <a:cs typeface="+mn-cs"/>
        </a:defRPr>
      </a:lvl8pPr>
      <a:lvl9pPr marL="47333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91663">
        <a:defRPr>
          <a:latin typeface="+mn-lt"/>
          <a:ea typeface="+mn-ea"/>
          <a:cs typeface="+mn-cs"/>
        </a:defRPr>
      </a:lvl2pPr>
      <a:lvl3pPr marL="1183325">
        <a:defRPr>
          <a:latin typeface="+mn-lt"/>
          <a:ea typeface="+mn-ea"/>
          <a:cs typeface="+mn-cs"/>
        </a:defRPr>
      </a:lvl3pPr>
      <a:lvl4pPr marL="1774988">
        <a:defRPr>
          <a:latin typeface="+mn-lt"/>
          <a:ea typeface="+mn-ea"/>
          <a:cs typeface="+mn-cs"/>
        </a:defRPr>
      </a:lvl4pPr>
      <a:lvl5pPr marL="2366650">
        <a:defRPr>
          <a:latin typeface="+mn-lt"/>
          <a:ea typeface="+mn-ea"/>
          <a:cs typeface="+mn-cs"/>
        </a:defRPr>
      </a:lvl5pPr>
      <a:lvl6pPr marL="2958313">
        <a:defRPr>
          <a:latin typeface="+mn-lt"/>
          <a:ea typeface="+mn-ea"/>
          <a:cs typeface="+mn-cs"/>
        </a:defRPr>
      </a:lvl6pPr>
      <a:lvl7pPr marL="3549975">
        <a:defRPr>
          <a:latin typeface="+mn-lt"/>
          <a:ea typeface="+mn-ea"/>
          <a:cs typeface="+mn-cs"/>
        </a:defRPr>
      </a:lvl7pPr>
      <a:lvl8pPr marL="4141638">
        <a:defRPr>
          <a:latin typeface="+mn-lt"/>
          <a:ea typeface="+mn-ea"/>
          <a:cs typeface="+mn-cs"/>
        </a:defRPr>
      </a:lvl8pPr>
      <a:lvl9pPr marL="47333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08802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Octal System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FF17F3-FDB7-A200-1A8A-F69E0267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1201F5D-3BF9-8472-00B7-E772910A0624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C66C42D-ECA5-14AE-9589-97C81082CE9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635D979-5737-0D67-CD4A-0AEA5D9F48B5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514B02D-59E8-2DEE-E8A7-C3495D76378A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9C369BA-174D-08C5-5576-A04F3DEB9A9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Octal System?</a:t>
            </a:r>
          </a:p>
        </p:txBody>
      </p:sp>
    </p:spTree>
    <p:extLst>
      <p:ext uri="{BB962C8B-B14F-4D97-AF65-F5344CB8AC3E}">
        <p14:creationId xmlns:p14="http://schemas.microsoft.com/office/powerpoint/2010/main" val="184455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9F29B5-C88C-FE94-D245-2B863E93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585CD5-A392-1B7F-FC82-A7F92D5F9517}"/>
              </a:ext>
            </a:extLst>
          </p:cNvPr>
          <p:cNvSpPr txBox="1"/>
          <p:nvPr/>
        </p:nvSpPr>
        <p:spPr>
          <a:xfrm>
            <a:off x="381000" y="888075"/>
            <a:ext cx="12352767" cy="39724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Octal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Number</a:t>
            </a:r>
            <a:r>
              <a:rPr lang="sv-SE" sz="4000" b="1" dirty="0">
                <a:latin typeface="Comic Sans MS" panose="030F0702030302020204" pitchFamily="66" charset="0"/>
              </a:rPr>
              <a:t> System (Base-8): </a:t>
            </a:r>
            <a:r>
              <a:rPr lang="sv-SE" sz="4000" b="1" dirty="0" err="1">
                <a:latin typeface="Comic Sans MS" panose="030F0702030302020204" pitchFamily="66" charset="0"/>
              </a:rPr>
              <a:t>Concepts</a:t>
            </a:r>
            <a:r>
              <a:rPr lang="sv-SE" sz="4000" b="1" dirty="0">
                <a:latin typeface="Comic Sans MS" panose="030F0702030302020204" pitchFamily="66" charset="0"/>
              </a:rPr>
              <a:t> &amp; </a:t>
            </a:r>
            <a:r>
              <a:rPr lang="sv-SE" sz="4000" b="1" dirty="0" err="1">
                <a:latin typeface="Comic Sans MS" panose="030F0702030302020204" pitchFamily="66" charset="0"/>
              </a:rPr>
              <a:t>Conversions</a:t>
            </a:r>
            <a:endParaRPr lang="sv-SE" sz="2400" b="1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 </a:t>
            </a:r>
            <a:r>
              <a:rPr lang="en-GB" sz="2400" b="1" dirty="0">
                <a:latin typeface="Comic Sans MS" panose="030F0702030302020204" pitchFamily="66" charset="0"/>
              </a:rPr>
              <a:t>Octal System (base-8)</a:t>
            </a:r>
            <a:r>
              <a:rPr lang="en-GB" sz="2400" dirty="0">
                <a:latin typeface="Comic Sans MS" panose="030F0702030302020204" pitchFamily="66" charset="0"/>
              </a:rPr>
              <a:t> uses digits </a:t>
            </a:r>
            <a:r>
              <a:rPr lang="en-GB" sz="2400" b="1" dirty="0">
                <a:latin typeface="Comic Sans MS" panose="030F0702030302020204" pitchFamily="66" charset="0"/>
              </a:rPr>
              <a:t>0–7</a:t>
            </a:r>
            <a:r>
              <a:rPr lang="en-GB" sz="2400" dirty="0">
                <a:latin typeface="Comic Sans MS" panose="030F0702030302020204" pitchFamily="66" charset="0"/>
              </a:rPr>
              <a:t>. Like hexadecimal, octal provides a </a:t>
            </a:r>
            <a:r>
              <a:rPr lang="en-GB" sz="2400" b="1" dirty="0">
                <a:latin typeface="Comic Sans MS" panose="030F0702030302020204" pitchFamily="66" charset="0"/>
              </a:rPr>
              <a:t>human-friendly view</a:t>
            </a:r>
            <a:r>
              <a:rPr lang="en-GB" sz="2400" dirty="0">
                <a:latin typeface="Comic Sans MS" panose="030F0702030302020204" pitchFamily="66" charset="0"/>
              </a:rPr>
              <a:t> of binary: each </a:t>
            </a:r>
            <a:r>
              <a:rPr lang="en-GB" sz="2400" b="1" dirty="0">
                <a:latin typeface="Comic Sans MS" panose="030F0702030302020204" pitchFamily="66" charset="0"/>
              </a:rPr>
              <a:t>octal digit = 3 bits</a:t>
            </a:r>
            <a:r>
              <a:rPr lang="en-GB" sz="2400" dirty="0">
                <a:latin typeface="Comic Sans MS" panose="030F0702030302020204" pitchFamily="66" charset="0"/>
              </a:rPr>
              <a:t>, so long binary strings become shorter and easier to read (e.g., 11010100 → octal </a:t>
            </a:r>
            <a:r>
              <a:rPr lang="en-GB" sz="2400" b="1" dirty="0">
                <a:latin typeface="Comic Sans MS" panose="030F0702030302020204" pitchFamily="66" charset="0"/>
              </a:rPr>
              <a:t>212</a:t>
            </a:r>
            <a:r>
              <a:rPr lang="en-GB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Historically, octal was popular when machines used </a:t>
            </a:r>
            <a:r>
              <a:rPr lang="en-GB" sz="2400" b="1" dirty="0">
                <a:latin typeface="Comic Sans MS" panose="030F0702030302020204" pitchFamily="66" charset="0"/>
              </a:rPr>
              <a:t>word sizes in multiples of 3 bits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6-bit bytes</a:t>
            </a:r>
            <a:r>
              <a:rPr lang="en-GB" sz="2400" dirty="0">
                <a:latin typeface="Comic Sans MS" panose="030F0702030302020204" pitchFamily="66" charset="0"/>
              </a:rPr>
              <a:t>; modern systems use </a:t>
            </a:r>
            <a:r>
              <a:rPr lang="en-GB" sz="2400" b="1" dirty="0">
                <a:latin typeface="Comic Sans MS" panose="030F0702030302020204" pitchFamily="66" charset="0"/>
              </a:rPr>
              <a:t>nibbles (4 bits)</a:t>
            </a:r>
            <a:r>
              <a:rPr lang="en-GB" sz="2400" dirty="0">
                <a:latin typeface="Comic Sans MS" panose="030F0702030302020204" pitchFamily="66" charset="0"/>
              </a:rPr>
              <a:t>, so hexadecimal is more common today.</a:t>
            </a:r>
          </a:p>
        </p:txBody>
      </p:sp>
    </p:spTree>
    <p:extLst>
      <p:ext uri="{BB962C8B-B14F-4D97-AF65-F5344CB8AC3E}">
        <p14:creationId xmlns:p14="http://schemas.microsoft.com/office/powerpoint/2010/main" val="4092513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66AE84-458F-ABBF-63B0-C871707F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6BB0319-DB60-89D8-BB73-CD1755D43976}"/>
              </a:ext>
            </a:extLst>
          </p:cNvPr>
          <p:cNvSpPr txBox="1"/>
          <p:nvPr/>
        </p:nvSpPr>
        <p:spPr>
          <a:xfrm>
            <a:off x="381000" y="888075"/>
            <a:ext cx="12352767" cy="21257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Counting Systems (Context)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4000" b="1" dirty="0"/>
          </a:p>
          <a:p>
            <a:r>
              <a:rPr lang="en-GB" sz="2400" b="1" dirty="0">
                <a:latin typeface="Comic Sans MS" panose="030F0702030302020204" pitchFamily="66" charset="0"/>
              </a:rPr>
              <a:t>Decimal (base-10)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Binary (base-2)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Hexadecimal (base-16)</a:t>
            </a:r>
            <a:r>
              <a:rPr lang="en-GB" sz="2400" dirty="0">
                <a:latin typeface="Comic Sans MS" panose="030F0702030302020204" pitchFamily="66" charset="0"/>
              </a:rPr>
              <a:t>, and </a:t>
            </a:r>
            <a:r>
              <a:rPr lang="en-GB" sz="2400" b="1" dirty="0">
                <a:latin typeface="Comic Sans MS" panose="030F0702030302020204" pitchFamily="66" charset="0"/>
              </a:rPr>
              <a:t>Octal (base-8)</a:t>
            </a:r>
            <a:r>
              <a:rPr lang="en-GB" sz="2400" dirty="0">
                <a:latin typeface="Comic Sans MS" panose="030F0702030302020204" pitchFamily="66" charset="0"/>
              </a:rPr>
              <a:t> appear together in computing foundations.</a:t>
            </a:r>
          </a:p>
        </p:txBody>
      </p:sp>
    </p:spTree>
    <p:extLst>
      <p:ext uri="{BB962C8B-B14F-4D97-AF65-F5344CB8AC3E}">
        <p14:creationId xmlns:p14="http://schemas.microsoft.com/office/powerpoint/2010/main" val="4195996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solidFill>
                  <a:srgbClr val="000000"/>
                </a:solidFill>
                <a:latin typeface="Comic Sans MS"/>
                <a:cs typeface="Comic Sans MS"/>
              </a:rPr>
              <a:t>Counting</a:t>
            </a:r>
            <a:r>
              <a:rPr lang="sv-SE" sz="4000" b="1" spc="-1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sv-SE" sz="4000" b="1" spc="-10" dirty="0">
                <a:solidFill>
                  <a:srgbClr val="000000"/>
                </a:solidFill>
                <a:latin typeface="Comic Sans MS"/>
                <a:cs typeface="Comic Sans MS"/>
              </a:rPr>
              <a:t>Systems?</a:t>
            </a:r>
            <a:endParaRPr lang="en-GB" sz="2400" b="1" dirty="0">
              <a:latin typeface="Comic Sans MS" panose="030F0702030302020204" pitchFamily="66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79260B-8E72-BE7C-78EA-19D8ED52F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1" y="2286000"/>
            <a:ext cx="13301618" cy="672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27202B-3F52-A8DC-929F-E87C42E7E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84E51C-A0EA-A3B9-057E-90540A246082}"/>
              </a:ext>
            </a:extLst>
          </p:cNvPr>
          <p:cNvSpPr txBox="1"/>
          <p:nvPr/>
        </p:nvSpPr>
        <p:spPr>
          <a:xfrm>
            <a:off x="381000" y="888075"/>
            <a:ext cx="12352767" cy="51871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/>
              <a:t>What Is Octal?</a:t>
            </a:r>
            <a:endParaRPr lang="en-GB" sz="4000" dirty="0"/>
          </a:p>
          <a:p>
            <a:endParaRPr lang="en-GB" sz="4000" b="1" dirty="0"/>
          </a:p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The</a:t>
            </a:r>
            <a:r>
              <a:rPr lang="en-GB" sz="2400" spc="40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413F42"/>
                </a:solidFill>
                <a:latin typeface="Comic Sans MS"/>
                <a:cs typeface="Comic Sans MS"/>
              </a:rPr>
              <a:t>Octal</a:t>
            </a:r>
            <a:r>
              <a:rPr lang="en-GB" sz="2400" b="1" spc="75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413F42"/>
                </a:solidFill>
                <a:latin typeface="Comic Sans MS"/>
                <a:cs typeface="Comic Sans MS"/>
              </a:rPr>
              <a:t>Numbering</a:t>
            </a:r>
            <a:r>
              <a:rPr lang="en-GB" sz="2400" b="1" spc="30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413F42"/>
                </a:solidFill>
                <a:latin typeface="Comic Sans MS"/>
                <a:cs typeface="Comic Sans MS"/>
              </a:rPr>
              <a:t>System</a:t>
            </a:r>
            <a:r>
              <a:rPr lang="en-GB" sz="2400" b="1" spc="-114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is</a:t>
            </a:r>
            <a:r>
              <a:rPr lang="en-GB" sz="2400" spc="50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very</a:t>
            </a:r>
            <a:r>
              <a:rPr lang="en-GB" sz="2400" spc="60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similar</a:t>
            </a:r>
            <a:r>
              <a:rPr lang="en-GB" sz="2400" spc="40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in</a:t>
            </a:r>
            <a:r>
              <a:rPr lang="en-GB" sz="2400" spc="40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principle</a:t>
            </a:r>
            <a:r>
              <a:rPr lang="en-GB" sz="2400" spc="15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to</a:t>
            </a:r>
            <a:r>
              <a:rPr lang="en-GB" sz="2400" spc="65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413F42"/>
                </a:solidFill>
                <a:latin typeface="Comic Sans MS"/>
                <a:cs typeface="Comic Sans MS"/>
              </a:rPr>
              <a:t>previous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hexadecimal</a:t>
            </a:r>
            <a:r>
              <a:rPr lang="en-GB" sz="2400" spc="65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numbering</a:t>
            </a:r>
            <a:r>
              <a:rPr lang="en-GB" sz="2400" spc="25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413F42"/>
                </a:solidFill>
                <a:latin typeface="Comic Sans MS"/>
                <a:cs typeface="Comic Sans MS"/>
              </a:rPr>
              <a:t>system</a:t>
            </a:r>
            <a:r>
              <a:rPr lang="en-GB" sz="2400" spc="85" dirty="0">
                <a:solidFill>
                  <a:srgbClr val="413F42"/>
                </a:solid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413F42"/>
                </a:solidFill>
                <a:uFill>
                  <a:solidFill>
                    <a:srgbClr val="413F42"/>
                  </a:solidFill>
                </a:uFill>
                <a:latin typeface="Comic Sans MS"/>
                <a:cs typeface="Comic Sans MS"/>
              </a:rPr>
              <a:t>except</a:t>
            </a:r>
            <a:r>
              <a:rPr lang="en-GB" sz="2400" u="sng" spc="75" dirty="0">
                <a:solidFill>
                  <a:srgbClr val="413F42"/>
                </a:solidFill>
                <a:uFill>
                  <a:solidFill>
                    <a:srgbClr val="413F42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413F42"/>
                </a:solidFill>
                <a:uFill>
                  <a:solidFill>
                    <a:srgbClr val="413F42"/>
                  </a:solidFill>
                </a:uFill>
                <a:latin typeface="Comic Sans MS"/>
                <a:cs typeface="Comic Sans MS"/>
              </a:rPr>
              <a:t>that</a:t>
            </a:r>
            <a:r>
              <a:rPr lang="en-GB" sz="2400" u="sng" spc="90" dirty="0">
                <a:solidFill>
                  <a:srgbClr val="413F42"/>
                </a:solidFill>
                <a:uFill>
                  <a:solidFill>
                    <a:srgbClr val="413F42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413F42"/>
                </a:solidFill>
                <a:uFill>
                  <a:solidFill>
                    <a:srgbClr val="413F42"/>
                  </a:solidFill>
                </a:uFill>
                <a:latin typeface="Comic Sans MS"/>
                <a:cs typeface="Comic Sans MS"/>
              </a:rPr>
              <a:t>in</a:t>
            </a:r>
            <a:r>
              <a:rPr lang="en-GB" sz="2400" u="sng" spc="35" dirty="0">
                <a:solidFill>
                  <a:srgbClr val="413F42"/>
                </a:solidFill>
                <a:uFill>
                  <a:solidFill>
                    <a:srgbClr val="413F42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0" dirty="0">
                <a:solidFill>
                  <a:srgbClr val="413F42"/>
                </a:solidFill>
                <a:uFill>
                  <a:solidFill>
                    <a:srgbClr val="413F42"/>
                  </a:solidFill>
                </a:uFill>
                <a:latin typeface="Comic Sans MS"/>
                <a:cs typeface="Comic Sans MS"/>
              </a:rPr>
              <a:t>Octal</a:t>
            </a:r>
            <a:r>
              <a:rPr lang="en-GB" sz="2400" spc="-10" dirty="0">
                <a:solidFill>
                  <a:srgbClr val="413F42"/>
                </a:solidFill>
                <a:latin typeface="Comic Sans MS"/>
                <a:cs typeface="Comic Sans MS"/>
              </a:rPr>
              <a:t>,</a:t>
            </a:r>
          </a:p>
          <a:p>
            <a:pPr marL="12700" marR="5080">
              <a:lnSpc>
                <a:spcPct val="102800"/>
              </a:lnSpc>
              <a:spcBef>
                <a:spcPts val="90"/>
              </a:spcBef>
            </a:pPr>
            <a:endParaRPr lang="en-GB" sz="2400" spc="-10" dirty="0">
              <a:solidFill>
                <a:srgbClr val="413F42"/>
              </a:solidFill>
              <a:latin typeface="Comic Sans MS"/>
              <a:cs typeface="Comic Sans MS"/>
            </a:endParaRPr>
          </a:p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Each</a:t>
            </a:r>
            <a:r>
              <a:rPr lang="en-GB" sz="24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octal</a:t>
            </a:r>
            <a:r>
              <a:rPr lang="en-GB" sz="24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digit</a:t>
            </a:r>
            <a:r>
              <a:rPr lang="en-GB" sz="24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represents</a:t>
            </a:r>
            <a:r>
              <a:rPr lang="en-GB" sz="2400" spc="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3</a:t>
            </a:r>
            <a:r>
              <a:rPr lang="en-GB" sz="240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bits,</a:t>
            </a:r>
            <a:r>
              <a:rPr lang="en-GB" sz="2400" spc="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so</a:t>
            </a:r>
            <a:r>
              <a:rPr lang="en-GB" sz="2400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6-bit</a:t>
            </a:r>
            <a:r>
              <a:rPr lang="en-GB" sz="2400" spc="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byte</a:t>
            </a:r>
            <a:r>
              <a:rPr lang="en-GB" sz="24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  <a:r>
              <a:rPr lang="en-GB" sz="24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two</a:t>
            </a:r>
            <a:r>
              <a:rPr lang="en-GB" sz="240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octal</a:t>
            </a:r>
            <a:r>
              <a:rPr lang="en-GB" sz="2400" spc="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digits</a:t>
            </a:r>
          </a:p>
          <a:p>
            <a:pPr marL="12700" marR="5080">
              <a:lnSpc>
                <a:spcPct val="102800"/>
              </a:lnSpc>
              <a:spcBef>
                <a:spcPts val="90"/>
              </a:spcBef>
            </a:pPr>
            <a:endParaRPr lang="en-GB" sz="2400" spc="-10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Digits:</a:t>
            </a:r>
            <a:r>
              <a:rPr lang="en-GB" sz="2400" dirty="0">
                <a:latin typeface="Comic Sans MS" panose="030F0702030302020204" pitchFamily="66" charset="0"/>
              </a:rPr>
              <a:t> 0, 1, 2, 3, 4, 5, 6, 7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Place values (powers of 8):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8^0=1, 8^1=8, 8^2=64, 8^3 = 512 ...etc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Binary pairing: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b="1" dirty="0">
                <a:latin typeface="Comic Sans MS" panose="030F0702030302020204" pitchFamily="66" charset="0"/>
              </a:rPr>
              <a:t>1 octal digit ↔ 3 bits</a:t>
            </a:r>
            <a:r>
              <a:rPr lang="en-GB" sz="2400" dirty="0">
                <a:latin typeface="Comic Sans MS" panose="030F0702030302020204" pitchFamily="66" charset="0"/>
              </a:rPr>
              <a:t> (e.g., 7 ↔ 111).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6-bit</a:t>
            </a:r>
            <a:r>
              <a:rPr lang="en-GB" sz="2400" dirty="0">
                <a:latin typeface="Comic Sans MS" panose="030F0702030302020204" pitchFamily="66" charset="0"/>
              </a:rPr>
              <a:t> value is exactly </a:t>
            </a:r>
            <a:r>
              <a:rPr lang="en-GB" sz="2400" b="1" dirty="0">
                <a:latin typeface="Comic Sans MS" panose="030F0702030302020204" pitchFamily="66" charset="0"/>
              </a:rPr>
              <a:t>two octal digits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320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0797" y="8199178"/>
            <a:ext cx="6968565" cy="388157"/>
          </a:xfrm>
          <a:prstGeom prst="rect">
            <a:avLst/>
          </a:prstGeom>
        </p:spPr>
        <p:txBody>
          <a:bodyPr vert="horz" wrap="square" lIns="0" tIns="89572" rIns="0" bIns="0" rtlCol="0">
            <a:spAutoFit/>
          </a:bodyPr>
          <a:lstStyle/>
          <a:p>
            <a:pPr defTabSz="1183325">
              <a:lnSpc>
                <a:spcPts val="738"/>
              </a:lnSpc>
              <a:spcBef>
                <a:spcPts val="705"/>
              </a:spcBef>
              <a:tabLst>
                <a:tab pos="5160612" algn="l"/>
              </a:tabLst>
            </a:pPr>
            <a:r>
              <a:rPr sz="841" b="1" spc="-13" dirty="0">
                <a:solidFill>
                  <a:srgbClr val="0070BA"/>
                </a:solidFill>
                <a:latin typeface="Comic Sans MS"/>
                <a:cs typeface="Comic Sans MS"/>
              </a:rPr>
              <a:t>ProgrammingAdvices.com</a:t>
            </a:r>
            <a:r>
              <a:rPr sz="841" b="1" dirty="0">
                <a:solidFill>
                  <a:srgbClr val="0070BA"/>
                </a:solidFill>
                <a:latin typeface="Comic Sans MS"/>
                <a:cs typeface="Comic Sans MS"/>
              </a:rPr>
              <a:t>	</a:t>
            </a:r>
            <a:r>
              <a:rPr sz="1262" baseline="42735" dirty="0">
                <a:solidFill>
                  <a:srgbClr val="0070BA"/>
                </a:solidFill>
                <a:latin typeface="Verdana"/>
                <a:cs typeface="Verdana"/>
              </a:rPr>
              <a:t>Mohammed</a:t>
            </a:r>
            <a:r>
              <a:rPr sz="1262" spc="378" baseline="42735" dirty="0">
                <a:solidFill>
                  <a:srgbClr val="0070BA"/>
                </a:solidFill>
                <a:latin typeface="Verdana"/>
                <a:cs typeface="Verdana"/>
              </a:rPr>
              <a:t> </a:t>
            </a:r>
            <a:r>
              <a:rPr sz="1262" spc="-19" baseline="42735" dirty="0">
                <a:solidFill>
                  <a:srgbClr val="0070BA"/>
                </a:solidFill>
                <a:latin typeface="Verdana"/>
                <a:cs typeface="Verdana"/>
              </a:rPr>
              <a:t>Abu-Hadhoud</a:t>
            </a:r>
            <a:endParaRPr sz="1262" baseline="42735">
              <a:latin typeface="Verdana"/>
              <a:cs typeface="Verdana"/>
            </a:endParaRPr>
          </a:p>
          <a:p>
            <a:pPr marL="194756" defTabSz="1183325">
              <a:lnSpc>
                <a:spcPts val="738"/>
              </a:lnSpc>
              <a:tabLst>
                <a:tab pos="4809722" algn="l"/>
              </a:tabLst>
            </a:pPr>
            <a:r>
              <a:rPr sz="1262" b="1" baseline="-38461" dirty="0">
                <a:solidFill>
                  <a:srgbClr val="0070BA"/>
                </a:solidFill>
                <a:latin typeface="Comic Sans MS"/>
                <a:cs typeface="Comic Sans MS"/>
              </a:rPr>
              <a:t>Copyright©</a:t>
            </a:r>
            <a:r>
              <a:rPr sz="1262" b="1" spc="19" baseline="-38461" dirty="0">
                <a:solidFill>
                  <a:srgbClr val="0070BA"/>
                </a:solidFill>
                <a:latin typeface="Comic Sans MS"/>
                <a:cs typeface="Comic Sans MS"/>
              </a:rPr>
              <a:t> </a:t>
            </a:r>
            <a:r>
              <a:rPr sz="1262" b="1" spc="-39" baseline="-38461" dirty="0">
                <a:solidFill>
                  <a:srgbClr val="0070BA"/>
                </a:solidFill>
                <a:latin typeface="Comic Sans MS"/>
                <a:cs typeface="Comic Sans MS"/>
              </a:rPr>
              <a:t>2022</a:t>
            </a:r>
            <a:r>
              <a:rPr sz="1262" b="1" baseline="-38461" dirty="0">
                <a:solidFill>
                  <a:srgbClr val="0070BA"/>
                </a:solidFill>
                <a:latin typeface="Comic Sans MS"/>
                <a:cs typeface="Comic Sans MS"/>
              </a:rPr>
              <a:t>	</a:t>
            </a:r>
            <a:r>
              <a:rPr sz="518" dirty="0">
                <a:solidFill>
                  <a:srgbClr val="0070BA"/>
                </a:solidFill>
                <a:latin typeface="Verdana"/>
                <a:cs typeface="Verdana"/>
              </a:rPr>
              <a:t>MBA,</a:t>
            </a:r>
            <a:r>
              <a:rPr sz="518" spc="-6" dirty="0">
                <a:solidFill>
                  <a:srgbClr val="0070BA"/>
                </a:solidFill>
                <a:latin typeface="Verdana"/>
                <a:cs typeface="Verdana"/>
              </a:rPr>
              <a:t> </a:t>
            </a:r>
            <a:r>
              <a:rPr sz="518" dirty="0">
                <a:solidFill>
                  <a:srgbClr val="0070BA"/>
                </a:solidFill>
                <a:latin typeface="Verdana"/>
                <a:cs typeface="Verdana"/>
              </a:rPr>
              <a:t>PMOC, PgMP®,</a:t>
            </a:r>
            <a:r>
              <a:rPr sz="518" spc="13" dirty="0">
                <a:solidFill>
                  <a:srgbClr val="0070BA"/>
                </a:solidFill>
                <a:latin typeface="Verdana"/>
                <a:cs typeface="Verdana"/>
              </a:rPr>
              <a:t> </a:t>
            </a:r>
            <a:r>
              <a:rPr sz="518" spc="-13" dirty="0">
                <a:solidFill>
                  <a:srgbClr val="0070BA"/>
                </a:solidFill>
                <a:latin typeface="Verdana"/>
                <a:cs typeface="Verdana"/>
              </a:rPr>
              <a:t>PMP®,</a:t>
            </a:r>
            <a:r>
              <a:rPr sz="518" spc="-6" dirty="0">
                <a:solidFill>
                  <a:srgbClr val="0070BA"/>
                </a:solidFill>
                <a:latin typeface="Verdana"/>
                <a:cs typeface="Verdana"/>
              </a:rPr>
              <a:t> </a:t>
            </a:r>
            <a:r>
              <a:rPr sz="518" spc="-13" dirty="0">
                <a:solidFill>
                  <a:srgbClr val="0070BA"/>
                </a:solidFill>
                <a:latin typeface="Verdana"/>
                <a:cs typeface="Verdana"/>
              </a:rPr>
              <a:t>PMI-RMP®,</a:t>
            </a:r>
            <a:r>
              <a:rPr sz="518" spc="39" dirty="0">
                <a:solidFill>
                  <a:srgbClr val="0070BA"/>
                </a:solidFill>
                <a:latin typeface="Verdana"/>
                <a:cs typeface="Verdana"/>
              </a:rPr>
              <a:t> </a:t>
            </a:r>
            <a:r>
              <a:rPr sz="518" dirty="0">
                <a:solidFill>
                  <a:srgbClr val="0070BA"/>
                </a:solidFill>
                <a:latin typeface="Verdana"/>
                <a:cs typeface="Verdana"/>
              </a:rPr>
              <a:t>CM, </a:t>
            </a:r>
            <a:r>
              <a:rPr sz="518" spc="-26" dirty="0">
                <a:solidFill>
                  <a:srgbClr val="0070BA"/>
                </a:solidFill>
                <a:latin typeface="Verdana"/>
                <a:cs typeface="Verdana"/>
              </a:rPr>
              <a:t>ITILF,</a:t>
            </a:r>
            <a:r>
              <a:rPr sz="518" dirty="0">
                <a:solidFill>
                  <a:srgbClr val="0070BA"/>
                </a:solidFill>
                <a:latin typeface="Verdana"/>
                <a:cs typeface="Verdana"/>
              </a:rPr>
              <a:t> MCPD,</a:t>
            </a:r>
            <a:r>
              <a:rPr sz="518" spc="-6" dirty="0">
                <a:solidFill>
                  <a:srgbClr val="0070BA"/>
                </a:solidFill>
                <a:latin typeface="Verdana"/>
                <a:cs typeface="Verdana"/>
              </a:rPr>
              <a:t> </a:t>
            </a:r>
            <a:r>
              <a:rPr sz="518" spc="-26" dirty="0">
                <a:solidFill>
                  <a:srgbClr val="0070BA"/>
                </a:solidFill>
                <a:latin typeface="Verdana"/>
                <a:cs typeface="Verdana"/>
              </a:rPr>
              <a:t>MCSD</a:t>
            </a:r>
            <a:endParaRPr sz="518">
              <a:latin typeface="Verdana"/>
              <a:cs typeface="Verdana"/>
            </a:endParaRPr>
          </a:p>
          <a:p>
            <a:pPr marR="659868" algn="r" defTabSz="1183325">
              <a:spcBef>
                <a:spcPts val="278"/>
              </a:spcBef>
            </a:pPr>
            <a:r>
              <a:rPr sz="518" spc="-58" dirty="0">
                <a:solidFill>
                  <a:srgbClr val="0070BA"/>
                </a:solidFill>
                <a:latin typeface="Verdana"/>
                <a:cs typeface="Verdana"/>
              </a:rPr>
              <a:t>26+</a:t>
            </a:r>
            <a:r>
              <a:rPr sz="518" dirty="0">
                <a:solidFill>
                  <a:srgbClr val="0070BA"/>
                </a:solidFill>
                <a:latin typeface="Verdana"/>
                <a:cs typeface="Verdana"/>
              </a:rPr>
              <a:t> years</a:t>
            </a:r>
            <a:r>
              <a:rPr sz="518" spc="6" dirty="0">
                <a:solidFill>
                  <a:srgbClr val="0070BA"/>
                </a:solidFill>
                <a:latin typeface="Verdana"/>
                <a:cs typeface="Verdana"/>
              </a:rPr>
              <a:t> </a:t>
            </a:r>
            <a:r>
              <a:rPr sz="518" dirty="0">
                <a:solidFill>
                  <a:srgbClr val="0070BA"/>
                </a:solidFill>
                <a:latin typeface="Verdana"/>
                <a:cs typeface="Verdana"/>
              </a:rPr>
              <a:t>of </a:t>
            </a:r>
            <a:r>
              <a:rPr sz="518" spc="-13" dirty="0">
                <a:solidFill>
                  <a:srgbClr val="0070BA"/>
                </a:solidFill>
                <a:latin typeface="Verdana"/>
                <a:cs typeface="Verdana"/>
              </a:rPr>
              <a:t>experience</a:t>
            </a:r>
            <a:endParaRPr sz="518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7224" y="1368730"/>
            <a:ext cx="13016753" cy="7323567"/>
            <a:chOff x="0" y="1057655"/>
            <a:chExt cx="10058400" cy="5659120"/>
          </a:xfrm>
        </p:grpSpPr>
        <p:sp>
          <p:nvSpPr>
            <p:cNvPr id="4" name="object 4"/>
            <p:cNvSpPr/>
            <p:nvPr/>
          </p:nvSpPr>
          <p:spPr>
            <a:xfrm>
              <a:off x="0" y="1057655"/>
              <a:ext cx="10058400" cy="5659120"/>
            </a:xfrm>
            <a:custGeom>
              <a:avLst/>
              <a:gdLst/>
              <a:ahLst/>
              <a:cxnLst/>
              <a:rect l="l" t="t" r="r" b="b"/>
              <a:pathLst>
                <a:path w="10058400" h="5659120">
                  <a:moveTo>
                    <a:pt x="10058400" y="5658611"/>
                  </a:moveTo>
                  <a:lnTo>
                    <a:pt x="0" y="5658611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56586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6"/>
              <a:ext cx="1380744" cy="1295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7535" y="1057655"/>
              <a:ext cx="2340863" cy="12283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7583" y="6099048"/>
              <a:ext cx="1237487" cy="6172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7383" y="1589532"/>
              <a:ext cx="7725155" cy="459638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69735" y="6379464"/>
              <a:ext cx="679703" cy="3368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64336" y="6050279"/>
              <a:ext cx="7725409" cy="167640"/>
            </a:xfrm>
            <a:custGeom>
              <a:avLst/>
              <a:gdLst/>
              <a:ahLst/>
              <a:cxnLst/>
              <a:rect l="l" t="t" r="r" b="b"/>
              <a:pathLst>
                <a:path w="7725409" h="167639">
                  <a:moveTo>
                    <a:pt x="7725156" y="167639"/>
                  </a:moveTo>
                  <a:lnTo>
                    <a:pt x="0" y="167639"/>
                  </a:lnTo>
                  <a:lnTo>
                    <a:pt x="0" y="0"/>
                  </a:lnTo>
                  <a:lnTo>
                    <a:pt x="7725156" y="0"/>
                  </a:lnTo>
                  <a:lnTo>
                    <a:pt x="7725156" y="167639"/>
                  </a:lnTo>
                  <a:close/>
                </a:path>
              </a:pathLst>
            </a:custGeom>
            <a:solidFill>
              <a:srgbClr val="FFEBB1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64336" y="6050279"/>
              <a:ext cx="7725409" cy="167640"/>
            </a:xfrm>
            <a:custGeom>
              <a:avLst/>
              <a:gdLst/>
              <a:ahLst/>
              <a:cxnLst/>
              <a:rect l="l" t="t" r="r" b="b"/>
              <a:pathLst>
                <a:path w="7725409" h="167639">
                  <a:moveTo>
                    <a:pt x="0" y="0"/>
                  </a:moveTo>
                  <a:lnTo>
                    <a:pt x="7725156" y="0"/>
                  </a:lnTo>
                  <a:lnTo>
                    <a:pt x="7725156" y="167639"/>
                  </a:lnTo>
                  <a:lnTo>
                    <a:pt x="0" y="167639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2" name="object 12"/>
            <p:cNvSpPr/>
            <p:nvPr/>
          </p:nvSpPr>
          <p:spPr>
            <a:xfrm>
              <a:off x="5134355" y="1854707"/>
              <a:ext cx="1774189" cy="134620"/>
            </a:xfrm>
            <a:custGeom>
              <a:avLst/>
              <a:gdLst/>
              <a:ahLst/>
              <a:cxnLst/>
              <a:rect l="l" t="t" r="r" b="b"/>
              <a:pathLst>
                <a:path w="1774190" h="134619">
                  <a:moveTo>
                    <a:pt x="0" y="0"/>
                  </a:moveTo>
                  <a:lnTo>
                    <a:pt x="1773936" y="0"/>
                  </a:lnTo>
                  <a:lnTo>
                    <a:pt x="1773936" y="134112"/>
                  </a:lnTo>
                  <a:lnTo>
                    <a:pt x="0" y="134112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04935" y="1529773"/>
            <a:ext cx="1991958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2F5497"/>
                </a:solidFill>
                <a:latin typeface="Comic Sans MS"/>
                <a:cs typeface="Comic Sans MS"/>
              </a:rPr>
              <a:t>ASCII</a:t>
            </a:r>
            <a:r>
              <a:rPr sz="2523" spc="78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sz="2523" spc="-26" dirty="0">
                <a:solidFill>
                  <a:srgbClr val="2F5497"/>
                </a:solidFill>
                <a:latin typeface="Comic Sans MS"/>
                <a:cs typeface="Comic Sans MS"/>
              </a:rPr>
              <a:t>Table</a:t>
            </a:r>
            <a:endParaRPr sz="2523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01FB49-E764-1AE4-93F5-CB121439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78BA9E2-B154-210D-C912-7B2D17480CE2}"/>
              </a:ext>
            </a:extLst>
          </p:cNvPr>
          <p:cNvSpPr txBox="1"/>
          <p:nvPr/>
        </p:nvSpPr>
        <p:spPr>
          <a:xfrm>
            <a:off x="381000" y="888075"/>
            <a:ext cx="12352767" cy="45879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Why Octal (then &amp; now)?</a:t>
            </a:r>
          </a:p>
          <a:p>
            <a:endParaRPr lang="en-GB" sz="2400" dirty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algn="ctr"/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Both</a:t>
            </a:r>
            <a:r>
              <a:rPr lang="en-GB" sz="4000" spc="-4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Hexadecimal</a:t>
            </a:r>
            <a:r>
              <a:rPr lang="en-GB" sz="4000" spc="-6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and</a:t>
            </a:r>
            <a:r>
              <a:rPr lang="en-GB" sz="4000" spc="-84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Octal</a:t>
            </a:r>
            <a:r>
              <a:rPr lang="en-GB" sz="4000" spc="-6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spc="-13" dirty="0">
                <a:solidFill>
                  <a:srgbClr val="000000"/>
                </a:solidFill>
                <a:latin typeface="Comic Sans MS"/>
                <a:cs typeface="Comic Sans MS"/>
              </a:rPr>
              <a:t>Systems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Provides</a:t>
            </a:r>
            <a:r>
              <a:rPr lang="en-GB" sz="4000" spc="-4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a</a:t>
            </a:r>
            <a:r>
              <a:rPr lang="en-GB" sz="4000" spc="-4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human-</a:t>
            </a:r>
            <a:r>
              <a:rPr lang="en-GB" sz="4000" dirty="0">
                <a:solidFill>
                  <a:srgbClr val="FF0000"/>
                </a:solidFill>
                <a:latin typeface="Comic Sans MS"/>
                <a:cs typeface="Comic Sans MS"/>
              </a:rPr>
              <a:t>friendly</a:t>
            </a:r>
            <a:r>
              <a:rPr lang="en-GB" sz="4000" spc="-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representation</a:t>
            </a:r>
            <a:br>
              <a:rPr lang="en-GB" sz="4000" spc="-13" dirty="0">
                <a:latin typeface="Comic Sans MS"/>
                <a:cs typeface="Comic Sans MS"/>
              </a:rPr>
            </a:br>
            <a:br>
              <a:rPr lang="en-GB" sz="4000" spc="-13" dirty="0">
                <a:latin typeface="Comic Sans MS"/>
                <a:cs typeface="Comic Sans MS"/>
              </a:rPr>
            </a:br>
            <a:r>
              <a:rPr lang="en-GB" sz="4000" dirty="0">
                <a:solidFill>
                  <a:srgbClr val="262626"/>
                </a:solidFill>
                <a:latin typeface="Comic Sans MS"/>
                <a:cs typeface="Comic Sans MS"/>
              </a:rPr>
              <a:t>11010100</a:t>
            </a:r>
            <a:r>
              <a:rPr lang="en-GB" sz="4000" spc="-32" dirty="0">
                <a:solidFill>
                  <a:srgbClr val="262626"/>
                </a:solidFill>
                <a:latin typeface="Wingdings"/>
                <a:cs typeface="Wingdings"/>
              </a:rPr>
              <a:t></a:t>
            </a:r>
            <a:r>
              <a:rPr lang="en-GB" sz="4000" spc="-32" dirty="0">
                <a:solidFill>
                  <a:srgbClr val="262626"/>
                </a:solidFill>
                <a:latin typeface="Comic Sans MS"/>
                <a:cs typeface="Comic Sans MS"/>
              </a:rPr>
              <a:t>D4  </a:t>
            </a:r>
            <a:r>
              <a:rPr lang="en-GB" sz="2400" spc="-26" dirty="0">
                <a:solidFill>
                  <a:srgbClr val="FF0000"/>
                </a:solidFill>
                <a:latin typeface="Comic Sans MS"/>
                <a:cs typeface="Comic Sans MS"/>
              </a:rPr>
              <a:t>Hexa</a:t>
            </a:r>
            <a:br>
              <a:rPr lang="en-GB" sz="4000" spc="-26" dirty="0">
                <a:latin typeface="Comic Sans MS"/>
                <a:cs typeface="Comic Sans MS"/>
              </a:rPr>
            </a:br>
            <a:r>
              <a:rPr lang="en-GB" sz="4000" dirty="0">
                <a:solidFill>
                  <a:srgbClr val="262626"/>
                </a:solidFill>
                <a:latin typeface="Comic Sans MS" panose="030F0702030302020204" pitchFamily="66" charset="0"/>
                <a:cs typeface="Comic Sans MS"/>
              </a:rPr>
              <a:t>11010100</a:t>
            </a:r>
            <a:r>
              <a:rPr lang="en-GB" sz="4000" spc="-32" dirty="0">
                <a:solidFill>
                  <a:srgbClr val="262626"/>
                </a:solidFill>
                <a:latin typeface="Wingdings"/>
                <a:cs typeface="Wingdings"/>
              </a:rPr>
              <a:t></a:t>
            </a:r>
            <a:r>
              <a:rPr lang="en-GB" sz="4000" dirty="0">
                <a:solidFill>
                  <a:srgbClr val="262626"/>
                </a:solidFill>
                <a:latin typeface="Comic Sans MS" panose="030F0702030302020204" pitchFamily="66" charset="0"/>
                <a:cs typeface="Comic Sans MS"/>
              </a:rPr>
              <a:t>212</a:t>
            </a:r>
            <a:r>
              <a:rPr lang="en-GB" sz="4000" spc="162" dirty="0">
                <a:solidFill>
                  <a:srgbClr val="262626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6" dirty="0">
                <a:solidFill>
                  <a:srgbClr val="FF0000"/>
                </a:solidFill>
                <a:latin typeface="Comic Sans MS"/>
              </a:rPr>
              <a:t>Octal</a:t>
            </a:r>
            <a:endParaRPr lang="en-GB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32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00A184-D9FE-B7E0-8D4B-0184AACA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BA5D567-1722-9D73-6C33-37F9D8659E92}"/>
              </a:ext>
            </a:extLst>
          </p:cNvPr>
          <p:cNvSpPr txBox="1"/>
          <p:nvPr/>
        </p:nvSpPr>
        <p:spPr>
          <a:xfrm>
            <a:off x="381000" y="888075"/>
            <a:ext cx="12352767" cy="36646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It’s</a:t>
            </a:r>
            <a:r>
              <a:rPr lang="en-GB" sz="4000" spc="32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hard</a:t>
            </a:r>
            <a:r>
              <a:rPr lang="en-GB" sz="4000" spc="26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for</a:t>
            </a:r>
            <a:r>
              <a:rPr lang="en-GB" sz="4000" spc="58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human</a:t>
            </a:r>
            <a:r>
              <a:rPr lang="en-GB" sz="4000" spc="4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to</a:t>
            </a:r>
            <a:r>
              <a:rPr lang="en-GB" sz="4000" spc="32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solidFill>
                  <a:srgbClr val="000000"/>
                </a:solidFill>
                <a:latin typeface="Comic Sans MS"/>
                <a:cs typeface="Comic Sans MS"/>
              </a:rPr>
              <a:t>read</a:t>
            </a:r>
            <a:r>
              <a:rPr lang="en-GB" sz="4000" spc="26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4000" spc="-13" dirty="0">
                <a:solidFill>
                  <a:srgbClr val="000000"/>
                </a:solidFill>
                <a:latin typeface="Comic Sans MS"/>
                <a:cs typeface="Comic Sans MS"/>
              </a:rPr>
              <a:t>binary!</a:t>
            </a:r>
            <a:br>
              <a:rPr lang="en-GB" sz="4000" spc="-13" dirty="0">
                <a:solidFill>
                  <a:srgbClr val="000000"/>
                </a:solidFill>
                <a:latin typeface="Comic Sans MS"/>
                <a:cs typeface="Comic Sans MS"/>
              </a:rPr>
            </a:br>
            <a:r>
              <a:rPr lang="en-GB" sz="4400" dirty="0">
                <a:latin typeface="Comic Sans MS"/>
                <a:cs typeface="Comic Sans MS"/>
              </a:rPr>
              <a:t>What</a:t>
            </a:r>
            <a:r>
              <a:rPr lang="en-GB" sz="4400" spc="-65" dirty="0">
                <a:latin typeface="Comic Sans MS"/>
                <a:cs typeface="Comic Sans MS"/>
              </a:rPr>
              <a:t> </a:t>
            </a:r>
            <a:r>
              <a:rPr lang="en-GB" sz="4400" dirty="0">
                <a:latin typeface="Comic Sans MS"/>
                <a:cs typeface="Comic Sans MS"/>
              </a:rPr>
              <a:t>does</a:t>
            </a:r>
            <a:r>
              <a:rPr lang="en-GB" sz="4400" spc="-78" dirty="0">
                <a:latin typeface="Comic Sans MS"/>
                <a:cs typeface="Comic Sans MS"/>
              </a:rPr>
              <a:t> </a:t>
            </a:r>
            <a:r>
              <a:rPr lang="en-GB" sz="4400" dirty="0">
                <a:latin typeface="Comic Sans MS"/>
                <a:cs typeface="Comic Sans MS"/>
              </a:rPr>
              <a:t>this</a:t>
            </a:r>
            <a:r>
              <a:rPr lang="en-GB" sz="4400" spc="-45" dirty="0">
                <a:latin typeface="Comic Sans MS"/>
                <a:cs typeface="Comic Sans MS"/>
              </a:rPr>
              <a:t> </a:t>
            </a:r>
            <a:r>
              <a:rPr lang="en-GB" sz="4400" spc="-13" dirty="0">
                <a:latin typeface="Comic Sans MS"/>
                <a:cs typeface="Comic Sans MS"/>
              </a:rPr>
              <a:t>mean?</a:t>
            </a:r>
            <a:br>
              <a:rPr lang="en-GB" sz="4400" dirty="0">
                <a:latin typeface="Comic Sans MS"/>
                <a:cs typeface="Comic Sans MS"/>
              </a:rPr>
            </a:b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01001001</a:t>
            </a:r>
            <a:r>
              <a:rPr lang="en-GB" sz="4000" spc="-58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00100000</a:t>
            </a:r>
            <a:r>
              <a:rPr lang="en-GB" sz="4000" spc="-45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01001100</a:t>
            </a:r>
            <a:r>
              <a:rPr lang="en-GB" sz="4000" spc="-45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01101111</a:t>
            </a:r>
            <a:r>
              <a:rPr lang="en-GB" sz="4000" spc="-45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01110110</a:t>
            </a:r>
            <a:r>
              <a:rPr lang="en-GB" sz="4000" spc="-45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spc="-13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01100101</a:t>
            </a:r>
            <a:br>
              <a:rPr lang="en-GB" sz="4000" dirty="0">
                <a:latin typeface="Comic Sans MS"/>
                <a:cs typeface="Comic Sans MS"/>
              </a:rPr>
            </a:b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00100000</a:t>
            </a:r>
            <a:r>
              <a:rPr lang="en-GB" sz="4000" spc="-58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01011001</a:t>
            </a:r>
            <a:r>
              <a:rPr lang="en-GB" sz="4000" spc="-58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01101111</a:t>
            </a:r>
            <a:r>
              <a:rPr lang="en-GB" sz="4000" spc="-39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01110101</a:t>
            </a:r>
            <a:r>
              <a:rPr lang="en-GB" sz="4000" spc="-39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lang="en-GB" sz="4000" u="sng" spc="-13" dirty="0">
                <a:solidFill>
                  <a:srgbClr val="2F5497"/>
                </a:solidFill>
                <a:uFill>
                  <a:solidFill>
                    <a:srgbClr val="2F5497"/>
                  </a:solidFill>
                </a:uFill>
                <a:latin typeface="Comic Sans MS"/>
                <a:cs typeface="Comic Sans MS"/>
              </a:rPr>
              <a:t>00100001</a:t>
            </a:r>
            <a:endParaRPr lang="en-GB" sz="2400" dirty="0">
              <a:solidFill>
                <a:srgbClr val="000000"/>
              </a:solidFill>
              <a:latin typeface="Comic Sans MS"/>
              <a:cs typeface="Comic Sans MS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206" y="4386251"/>
            <a:ext cx="9190615" cy="42107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88347" y="5716891"/>
            <a:ext cx="4311799" cy="1016530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16435">
              <a:spcBef>
                <a:spcPts val="162"/>
              </a:spcBef>
            </a:pPr>
            <a:r>
              <a:rPr sz="6471" dirty="0">
                <a:solidFill>
                  <a:srgbClr val="FF0000"/>
                </a:solidFill>
                <a:latin typeface="Comic Sans MS"/>
                <a:cs typeface="Comic Sans MS"/>
              </a:rPr>
              <a:t>I</a:t>
            </a:r>
            <a:r>
              <a:rPr sz="6471" spc="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6471" dirty="0">
                <a:solidFill>
                  <a:srgbClr val="FF0000"/>
                </a:solidFill>
                <a:latin typeface="Comic Sans MS"/>
                <a:cs typeface="Comic Sans MS"/>
              </a:rPr>
              <a:t>Love</a:t>
            </a:r>
            <a:r>
              <a:rPr sz="6471" spc="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6471" spc="-26" dirty="0">
                <a:solidFill>
                  <a:srgbClr val="FF0000"/>
                </a:solidFill>
                <a:latin typeface="Comic Sans MS"/>
                <a:cs typeface="Comic Sans MS"/>
              </a:rPr>
              <a:t>You!</a:t>
            </a:r>
            <a:endParaRPr sz="6471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76145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11C06F-59CA-620A-E00C-EAA4978F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21B579F-A670-E331-B0D0-A20D943A32AB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Why Octal (then &amp; now)?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Then:</a:t>
            </a:r>
            <a:r>
              <a:rPr lang="en-GB" sz="2400" dirty="0">
                <a:latin typeface="Comic Sans MS" panose="030F0702030302020204" pitchFamily="66" charset="0"/>
              </a:rPr>
              <a:t> Early computers often used </a:t>
            </a:r>
            <a:r>
              <a:rPr lang="en-GB" sz="2400" b="1" dirty="0">
                <a:latin typeface="Comic Sans MS" panose="030F0702030302020204" pitchFamily="66" charset="0"/>
              </a:rPr>
              <a:t>multiples of 3 bits</a:t>
            </a:r>
            <a:r>
              <a:rPr lang="en-GB" sz="2400" dirty="0">
                <a:latin typeface="Comic Sans MS" panose="030F0702030302020204" pitchFamily="66" charset="0"/>
              </a:rPr>
              <a:t> (e.g., </a:t>
            </a:r>
            <a:r>
              <a:rPr lang="en-GB" sz="2400" b="1" dirty="0">
                <a:latin typeface="Comic Sans MS" panose="030F0702030302020204" pitchFamily="66" charset="0"/>
              </a:rPr>
              <a:t>6-bit bytes</a:t>
            </a:r>
            <a:r>
              <a:rPr lang="en-GB" sz="2400" dirty="0">
                <a:latin typeface="Comic Sans MS" panose="030F0702030302020204" pitchFamily="66" charset="0"/>
              </a:rPr>
              <a:t>) → octal 	fit perfectly.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Now:</a:t>
            </a:r>
            <a:r>
              <a:rPr lang="en-GB" sz="2400" dirty="0">
                <a:latin typeface="Comic Sans MS" panose="030F0702030302020204" pitchFamily="66" charset="0"/>
              </a:rPr>
              <a:t> Most modern machines use </a:t>
            </a:r>
            <a:r>
              <a:rPr lang="en-GB" sz="2400" b="1" dirty="0">
                <a:latin typeface="Comic Sans MS" panose="030F0702030302020204" pitchFamily="66" charset="0"/>
              </a:rPr>
              <a:t>nibbles (4 bits)</a:t>
            </a:r>
            <a:r>
              <a:rPr lang="en-GB" sz="2400" dirty="0">
                <a:latin typeface="Comic Sans MS" panose="030F0702030302020204" pitchFamily="66" charset="0"/>
              </a:rPr>
              <a:t> → </a:t>
            </a:r>
            <a:r>
              <a:rPr lang="en-GB" sz="2400" b="1" dirty="0">
                <a:latin typeface="Comic Sans MS" panose="030F0702030302020204" pitchFamily="66" charset="0"/>
              </a:rPr>
              <a:t>hexadecimal</a:t>
            </a:r>
            <a:r>
              <a:rPr lang="en-GB" sz="2400" dirty="0">
                <a:latin typeface="Comic Sans MS" panose="030F0702030302020204" pitchFamily="66" charset="0"/>
              </a:rPr>
              <a:t> aligns better, so 	octal use has </a:t>
            </a:r>
            <a:r>
              <a:rPr lang="en-GB" sz="2400" b="1" dirty="0">
                <a:latin typeface="Comic Sans MS" panose="030F0702030302020204" pitchFamily="66" charset="0"/>
              </a:rPr>
              <a:t>declined</a:t>
            </a:r>
            <a:r>
              <a:rPr lang="en-GB" sz="2400" dirty="0">
                <a:latin typeface="Comic Sans MS" panose="030F0702030302020204" pitchFamily="66" charset="0"/>
              </a:rPr>
              <a:t>. Still, octal remains helpful for compact binary reading.</a:t>
            </a:r>
          </a:p>
        </p:txBody>
      </p:sp>
    </p:spTree>
    <p:extLst>
      <p:ext uri="{BB962C8B-B14F-4D97-AF65-F5344CB8AC3E}">
        <p14:creationId xmlns:p14="http://schemas.microsoft.com/office/powerpoint/2010/main" val="3162401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A66BD1-A2C3-A8D1-DF58-3B10A29C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B3492E6-0AC4-C65E-B5C7-A07B626A743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ACDA0D3-E32D-77D1-8F25-84BF0CF275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E49038B-A546-F951-2A96-5009E8BFC604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D6C78DB-57BE-8E41-B519-CB060515591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A12697F-3C97-06FB-234C-C835E3A690DC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Octal Prefix</a:t>
            </a:r>
          </a:p>
        </p:txBody>
      </p:sp>
    </p:spTree>
    <p:extLst>
      <p:ext uri="{BB962C8B-B14F-4D97-AF65-F5344CB8AC3E}">
        <p14:creationId xmlns:p14="http://schemas.microsoft.com/office/powerpoint/2010/main" val="3699842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7D0E85-A2E6-1BD5-2945-38CEA678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707C730-DD56-411D-F048-D2E470C1A3AB}"/>
              </a:ext>
            </a:extLst>
          </p:cNvPr>
          <p:cNvSpPr txBox="1"/>
          <p:nvPr/>
        </p:nvSpPr>
        <p:spPr>
          <a:xfrm>
            <a:off x="381000" y="888075"/>
            <a:ext cx="12352767" cy="781707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0" dirty="0">
                <a:latin typeface="Comic Sans MS" panose="030F0702030302020204" pitchFamily="66" charset="0"/>
              </a:rPr>
              <a:t>Prefix:</a:t>
            </a:r>
            <a:endParaRPr lang="sv-SE" sz="6000" b="1" spc="-10" dirty="0">
              <a:latin typeface="Comic Sans MS"/>
            </a:endParaRPr>
          </a:p>
          <a:p>
            <a:r>
              <a:rPr lang="sv-SE" sz="4000" dirty="0" err="1">
                <a:solidFill>
                  <a:srgbClr val="FF0000"/>
                </a:solidFill>
                <a:latin typeface="Comic Sans MS"/>
                <a:cs typeface="Comic Sans MS"/>
              </a:rPr>
              <a:t>Hexa</a:t>
            </a:r>
            <a:r>
              <a:rPr lang="sv-SE" sz="4000" spc="-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sv-SE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Prefix:</a:t>
            </a:r>
          </a:p>
          <a:p>
            <a:endParaRPr lang="sv-SE" sz="2400" b="1" spc="-13" dirty="0">
              <a:solidFill>
                <a:srgbClr val="FF0000"/>
              </a:solidFill>
              <a:latin typeface="Comic Sans MS"/>
            </a:endParaRPr>
          </a:p>
          <a:p>
            <a:endParaRPr lang="sv-SE" sz="2400" b="1" spc="-13" dirty="0">
              <a:solidFill>
                <a:srgbClr val="FF0000"/>
              </a:solidFill>
              <a:latin typeface="Comic Sans MS"/>
            </a:endParaRPr>
          </a:p>
          <a:p>
            <a:endParaRPr lang="sv-SE" sz="2400" b="1" spc="-13" dirty="0">
              <a:solidFill>
                <a:srgbClr val="FF0000"/>
              </a:solidFill>
              <a:latin typeface="Comic Sans MS"/>
            </a:endParaRPr>
          </a:p>
          <a:p>
            <a:endParaRPr lang="sv-SE" sz="2400" b="1" spc="-13" dirty="0">
              <a:solidFill>
                <a:srgbClr val="FF0000"/>
              </a:solidFill>
              <a:latin typeface="Comic Sans MS"/>
            </a:endParaRPr>
          </a:p>
          <a:p>
            <a:endParaRPr lang="sv-SE" sz="2400" b="1" spc="-13" dirty="0">
              <a:solidFill>
                <a:srgbClr val="FF0000"/>
              </a:solidFill>
              <a:latin typeface="Comic Sans MS"/>
            </a:endParaRPr>
          </a:p>
          <a:p>
            <a:endParaRPr lang="sv-SE" sz="2400" b="1" spc="-13" dirty="0">
              <a:solidFill>
                <a:srgbClr val="FF0000"/>
              </a:solidFill>
              <a:latin typeface="Comic Sans MS"/>
            </a:endParaRPr>
          </a:p>
          <a:p>
            <a:endParaRPr lang="sv-SE" sz="2400" b="1" spc="-13" dirty="0">
              <a:solidFill>
                <a:srgbClr val="FF0000"/>
              </a:solidFill>
              <a:latin typeface="Comic Sans MS"/>
            </a:endParaRPr>
          </a:p>
          <a:p>
            <a:pPr marL="49305">
              <a:spcBef>
                <a:spcPts val="1055"/>
              </a:spcBef>
            </a:pPr>
            <a:r>
              <a:rPr lang="sv-SE" sz="4000" dirty="0" err="1">
                <a:solidFill>
                  <a:srgbClr val="FF0000"/>
                </a:solidFill>
                <a:latin typeface="Comic Sans MS"/>
                <a:cs typeface="Comic Sans MS"/>
              </a:rPr>
              <a:t>Octal</a:t>
            </a:r>
            <a:r>
              <a:rPr lang="sv-SE" sz="4000" spc="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sv-SE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Prefix:</a:t>
            </a:r>
            <a:endParaRPr lang="sv-SE" sz="4000" dirty="0">
              <a:latin typeface="Comic Sans MS"/>
              <a:cs typeface="Comic Sans MS"/>
            </a:endParaRPr>
          </a:p>
          <a:p>
            <a:pPr marL="1715821" algn="ctr">
              <a:spcBef>
                <a:spcPts val="1961"/>
              </a:spcBef>
              <a:tabLst>
                <a:tab pos="5997157" algn="l"/>
              </a:tabLst>
            </a:pPr>
            <a:r>
              <a:rPr lang="sv-SE" sz="5400" dirty="0">
                <a:solidFill>
                  <a:srgbClr val="FF0000"/>
                </a:solidFill>
                <a:latin typeface="Comic Sans MS"/>
                <a:cs typeface="Comic Sans MS"/>
              </a:rPr>
              <a:t>0o</a:t>
            </a:r>
            <a:r>
              <a:rPr lang="sv-SE" sz="5400" dirty="0">
                <a:solidFill>
                  <a:srgbClr val="1F2123"/>
                </a:solidFill>
                <a:latin typeface="Comic Sans MS"/>
                <a:cs typeface="Comic Sans MS"/>
              </a:rPr>
              <a:t>Code</a:t>
            </a:r>
            <a:r>
              <a:rPr lang="sv-SE" sz="5400" spc="-45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sv-SE" sz="9600" spc="-97" baseline="-7295" dirty="0">
                <a:solidFill>
                  <a:srgbClr val="FF0000"/>
                </a:solidFill>
                <a:latin typeface="Wingdings"/>
                <a:cs typeface="Wingdings"/>
              </a:rPr>
              <a:t></a:t>
            </a:r>
            <a:r>
              <a:rPr lang="sv-SE" sz="9600" baseline="-7295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lang="sv-SE" sz="5400" spc="-13" dirty="0">
                <a:solidFill>
                  <a:srgbClr val="FF0000"/>
                </a:solidFill>
                <a:latin typeface="Comic Sans MS"/>
                <a:cs typeface="Comic Sans MS"/>
              </a:rPr>
              <a:t>0o</a:t>
            </a:r>
            <a:r>
              <a:rPr lang="sv-SE" sz="5400" spc="-13" dirty="0">
                <a:solidFill>
                  <a:srgbClr val="1F2123"/>
                </a:solidFill>
                <a:latin typeface="Comic Sans MS"/>
                <a:cs typeface="Comic Sans MS"/>
              </a:rPr>
              <a:t>725</a:t>
            </a:r>
            <a:endParaRPr lang="sv-SE" sz="2400" spc="-13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examples</a:t>
            </a:r>
            <a:r>
              <a:rPr lang="sv-SE" sz="2400" b="1" dirty="0">
                <a:latin typeface="Comic Sans MS" panose="030F0702030302020204" pitchFamily="66" charset="0"/>
              </a:rPr>
              <a:t> (for </a:t>
            </a:r>
            <a:r>
              <a:rPr lang="sv-SE" sz="2400" b="1" dirty="0" err="1">
                <a:latin typeface="Comic Sans MS" panose="030F0702030302020204" pitchFamily="66" charset="0"/>
              </a:rPr>
              <a:t>contrast</a:t>
            </a:r>
            <a:r>
              <a:rPr lang="sv-SE" sz="2400" b="1" dirty="0">
                <a:latin typeface="Comic Sans MS" panose="030F0702030302020204" pitchFamily="66" charset="0"/>
              </a:rPr>
              <a:t>):</a:t>
            </a:r>
            <a:r>
              <a:rPr lang="sv-SE" sz="2400" dirty="0">
                <a:latin typeface="Comic Sans MS" panose="030F0702030302020204" pitchFamily="66" charset="0"/>
              </a:rPr>
              <a:t> #FFFFFF, 0x725, &amp;#C2A4, U+C2A4.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 prefix (</a:t>
            </a:r>
            <a:r>
              <a:rPr lang="sv-SE" sz="2400" b="1" dirty="0" err="1">
                <a:latin typeface="Comic Sans MS" panose="030F0702030302020204" pitchFamily="66" charset="0"/>
              </a:rPr>
              <a:t>programming</a:t>
            </a:r>
            <a:r>
              <a:rPr lang="sv-SE" sz="2400" b="1" dirty="0">
                <a:latin typeface="Comic Sans MS" panose="030F0702030302020204" pitchFamily="66" charset="0"/>
              </a:rPr>
              <a:t>):</a:t>
            </a:r>
            <a:r>
              <a:rPr lang="sv-SE" sz="2400" dirty="0">
                <a:latin typeface="Comic Sans MS" panose="030F0702030302020204" pitchFamily="66" charset="0"/>
              </a:rPr>
              <a:t> 0o (letter </a:t>
            </a:r>
            <a:r>
              <a:rPr lang="sv-SE" sz="2400" b="1" dirty="0">
                <a:latin typeface="Comic Sans MS" panose="030F0702030302020204" pitchFamily="66" charset="0"/>
              </a:rPr>
              <a:t>o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  <a:p>
            <a:pPr lvl="1"/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sv-SE" sz="2400" dirty="0" err="1">
                <a:latin typeface="Comic Sans MS" panose="030F0702030302020204" pitchFamily="66" charset="0"/>
              </a:rPr>
              <a:t>Example</a:t>
            </a:r>
            <a:r>
              <a:rPr lang="sv-SE" sz="2400" dirty="0">
                <a:latin typeface="Comic Sans MS" panose="030F0702030302020204" pitchFamily="66" charset="0"/>
              </a:rPr>
              <a:t>: </a:t>
            </a:r>
            <a:r>
              <a:rPr lang="sv-SE" sz="2400" b="1" dirty="0">
                <a:latin typeface="Comic Sans MS" panose="030F0702030302020204" pitchFamily="66" charset="0"/>
              </a:rPr>
              <a:t>0o725</a:t>
            </a:r>
            <a:r>
              <a:rPr lang="sv-SE" sz="2400" dirty="0">
                <a:latin typeface="Comic Sans MS" panose="030F0702030302020204" pitchFamily="66" charset="0"/>
              </a:rPr>
              <a:t> is </a:t>
            </a:r>
            <a:r>
              <a:rPr lang="sv-SE" sz="2400" dirty="0" err="1">
                <a:latin typeface="Comic Sans MS" panose="030F0702030302020204" pitchFamily="66" charset="0"/>
              </a:rPr>
              <a:t>octal</a:t>
            </a:r>
            <a:r>
              <a:rPr lang="sv-SE" sz="2400" dirty="0">
                <a:latin typeface="Comic Sans MS" panose="030F0702030302020204" pitchFamily="66" charset="0"/>
              </a:rPr>
              <a:t> 725. </a:t>
            </a:r>
          </a:p>
        </p:txBody>
      </p:sp>
      <p:graphicFrame>
        <p:nvGraphicFramePr>
          <p:cNvPr id="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54857"/>
              </p:ext>
            </p:extLst>
          </p:nvPr>
        </p:nvGraphicFramePr>
        <p:xfrm>
          <a:off x="2507016" y="2362200"/>
          <a:ext cx="6964455" cy="192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15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900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Technology/Language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31227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900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Prefix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31227" marB="0"/>
                </a:tc>
                <a:tc>
                  <a:txBody>
                    <a:bodyPr/>
                    <a:lstStyle/>
                    <a:p>
                      <a:pPr marL="7613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900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Example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31227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HTML</a:t>
                      </a:r>
                      <a:r>
                        <a:rPr sz="1900" spc="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&amp;</a:t>
                      </a:r>
                      <a:r>
                        <a:rPr sz="19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5" dirty="0">
                          <a:latin typeface="Comic Sans MS"/>
                          <a:cs typeface="Comic Sans MS"/>
                        </a:rPr>
                        <a:t>CSS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9166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#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Code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9166" marB="0"/>
                </a:tc>
                <a:tc>
                  <a:txBody>
                    <a:bodyPr/>
                    <a:lstStyle/>
                    <a:p>
                      <a:pPr marL="7620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#FFFFFF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9166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C,C++,Java..etc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8345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9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0x</a:t>
                      </a:r>
                      <a:r>
                        <a:rPr sz="1900" spc="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8345" marB="0"/>
                </a:tc>
                <a:tc>
                  <a:txBody>
                    <a:bodyPr/>
                    <a:lstStyle/>
                    <a:p>
                      <a:pPr marL="7607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0x725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83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6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900" spc="-25" dirty="0">
                          <a:latin typeface="Comic Sans MS"/>
                          <a:cs typeface="Comic Sans MS"/>
                        </a:rPr>
                        <a:t>XML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9166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&amp;#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Code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9166" marB="0"/>
                </a:tc>
                <a:tc>
                  <a:txBody>
                    <a:bodyPr/>
                    <a:lstStyle/>
                    <a:p>
                      <a:pPr marL="76073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&amp;#C2A4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9166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32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Unicode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7524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U+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Code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57524" marB="0"/>
                </a:tc>
                <a:tc>
                  <a:txBody>
                    <a:bodyPr/>
                    <a:lstStyle/>
                    <a:p>
                      <a:pPr marL="7600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U+C2A4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5752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647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00A400-4680-36CB-2801-489C41E5E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D71DE3C-37C6-5F0D-A5A9-32AA2F86646A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4A91F03-4804-2ED6-EEB9-670DE08492F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8D4CE47-D605-41F5-A0AE-B62305317D94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EC52435A-AFE9-60FC-249E-C9EAD3DCA651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B859602-2CEF-A8D0-939D-179AB2CE0A21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How Octal works?</a:t>
            </a:r>
          </a:p>
        </p:txBody>
      </p:sp>
    </p:spTree>
    <p:extLst>
      <p:ext uri="{BB962C8B-B14F-4D97-AF65-F5344CB8AC3E}">
        <p14:creationId xmlns:p14="http://schemas.microsoft.com/office/powerpoint/2010/main" val="1443476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E62737-FF23-CB66-6481-FCC598969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5F13237-81DB-8E1B-9FF6-4017CF3C561B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Remember that binary</a:t>
            </a:r>
            <a:r>
              <a:rPr lang="en-GB" sz="4000" b="1" spc="5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was</a:t>
            </a:r>
            <a:r>
              <a:rPr lang="en-GB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base</a:t>
            </a:r>
            <a:r>
              <a:rPr lang="en-GB" sz="4000" b="1" spc="1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32" dirty="0">
                <a:solidFill>
                  <a:srgbClr val="000000"/>
                </a:solidFill>
                <a:latin typeface="Comic Sans MS" panose="030F0702030302020204" pitchFamily="66" charset="0"/>
              </a:rPr>
              <a:t>2.</a:t>
            </a:r>
            <a:endParaRPr lang="en-GB" sz="4000" b="1" dirty="0">
              <a:latin typeface="Comic Sans MS" panose="030F0702030302020204" pitchFamily="66" charset="0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217FF8D-31C0-5A38-60A0-B986C5607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40" y="4358817"/>
            <a:ext cx="1041392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65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EBBE86-31A1-EA57-8DE7-BB4666DB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D6A0B76-C921-0C93-30A2-7A59A5A9E559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Hexadecimal is</a:t>
            </a:r>
            <a:r>
              <a:rPr lang="sv-SE" sz="4000" b="1" spc="4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base</a:t>
            </a:r>
            <a:r>
              <a:rPr lang="sv-SE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32" dirty="0">
                <a:solidFill>
                  <a:srgbClr val="000000"/>
                </a:solidFill>
                <a:latin typeface="Comic Sans MS" panose="030F0702030302020204" pitchFamily="66" charset="0"/>
              </a:rPr>
              <a:t>16.</a:t>
            </a:r>
            <a:endParaRPr lang="en-GB" sz="4000" b="1" dirty="0">
              <a:latin typeface="Comic Sans MS" panose="030F0702030302020204" pitchFamily="66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DC4B3B-2EB7-39BC-74E6-0B67F27999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4584" y="4358817"/>
            <a:ext cx="5802032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446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141808-5230-F618-23DB-E84E6EE0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C72BDFA-5913-4716-E2F5-B85545700D2F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Octal</a:t>
            </a:r>
            <a:r>
              <a:rPr lang="en-GB" sz="4000" b="1" spc="-1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System</a:t>
            </a:r>
            <a:r>
              <a:rPr lang="en-GB" sz="4000" b="1" spc="1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is</a:t>
            </a:r>
            <a:r>
              <a:rPr lang="en-GB" sz="4000" b="1" spc="1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base</a:t>
            </a:r>
            <a:r>
              <a:rPr lang="en-GB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32" dirty="0">
                <a:solidFill>
                  <a:srgbClr val="FF0000"/>
                </a:solidFill>
                <a:latin typeface="Comic Sans MS" panose="030F0702030302020204" pitchFamily="66" charset="0"/>
              </a:rPr>
              <a:t>8</a:t>
            </a:r>
            <a:endParaRPr lang="en-GB" sz="4000" b="1" dirty="0">
              <a:latin typeface="Comic Sans MS" panose="030F0702030302020204" pitchFamily="66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31338E-72F2-46A4-BD18-3FD803E96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81116" y="4358817"/>
            <a:ext cx="5848968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10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CBD181-03BC-D174-670B-DA31E435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5325682-F207-A93B-89B4-9D9DCC49E84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4D4C2D8-69BA-C2D7-1474-31CF32D8B3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7429E3A-376C-6203-736D-02CF185B54A4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E868DE5-DEBD-FC86-4EED-298D07802D12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49A7BF2-3245-9788-0823-843138162681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Decimal to Octal</a:t>
            </a:r>
          </a:p>
        </p:txBody>
      </p:sp>
    </p:spTree>
    <p:extLst>
      <p:ext uri="{BB962C8B-B14F-4D97-AF65-F5344CB8AC3E}">
        <p14:creationId xmlns:p14="http://schemas.microsoft.com/office/powerpoint/2010/main" val="281083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72297E-94F7-F9FA-6A8F-8AD0B019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6D6378E-E8F9-5E4A-E3B8-8691A04D0C29}"/>
              </a:ext>
            </a:extLst>
          </p:cNvPr>
          <p:cNvSpPr txBox="1"/>
          <p:nvPr/>
        </p:nvSpPr>
        <p:spPr>
          <a:xfrm>
            <a:off x="381000" y="888075"/>
            <a:ext cx="12352767" cy="38493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/>
              <a:t>🔢 </a:t>
            </a:r>
            <a:r>
              <a:rPr lang="sv-SE" sz="4000" b="1" dirty="0" err="1"/>
              <a:t>Conversions</a:t>
            </a:r>
            <a:endParaRPr lang="sv-SE" sz="4000" b="1" dirty="0"/>
          </a:p>
          <a:p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4000" b="1" dirty="0">
              <a:latin typeface="Comic Sans MS" panose="030F0702030302020204" pitchFamily="66" charset="0"/>
            </a:endParaRPr>
          </a:p>
          <a:p>
            <a:pPr algn="ctr"/>
            <a:r>
              <a:rPr lang="en-GB" sz="4000" b="0" dirty="0">
                <a:solidFill>
                  <a:srgbClr val="000000"/>
                </a:solidFill>
                <a:latin typeface="Comic Sans MS"/>
                <a:cs typeface="Comic Sans MS"/>
              </a:rPr>
              <a:t>conversion</a:t>
            </a:r>
            <a:r>
              <a:rPr lang="en-GB" sz="4000" b="0" spc="-6" dirty="0">
                <a:solidFill>
                  <a:srgbClr val="000000"/>
                </a:solidFill>
              </a:rPr>
              <a:t> </a:t>
            </a:r>
            <a:r>
              <a:rPr lang="en-GB" sz="4000" b="0" dirty="0">
                <a:solidFill>
                  <a:srgbClr val="000000"/>
                </a:solidFill>
                <a:latin typeface="Comic Sans MS"/>
                <a:cs typeface="Comic Sans MS"/>
              </a:rPr>
              <a:t>from</a:t>
            </a:r>
            <a:r>
              <a:rPr lang="en-GB" sz="4000" b="0" spc="26" dirty="0">
                <a:solidFill>
                  <a:srgbClr val="000000"/>
                </a:solidFill>
              </a:rPr>
              <a:t> </a:t>
            </a:r>
            <a:r>
              <a:rPr lang="en-GB" sz="4000" b="0" dirty="0">
                <a:solidFill>
                  <a:srgbClr val="000000"/>
                </a:solidFill>
                <a:latin typeface="Comic Sans MS"/>
                <a:cs typeface="Comic Sans MS"/>
              </a:rPr>
              <a:t>decimal</a:t>
            </a:r>
            <a:r>
              <a:rPr lang="en-GB" sz="4000" b="0" spc="-13" dirty="0">
                <a:solidFill>
                  <a:srgbClr val="000000"/>
                </a:solidFill>
              </a:rPr>
              <a:t> </a:t>
            </a:r>
            <a:r>
              <a:rPr lang="en-GB" sz="4000" b="0" dirty="0">
                <a:solidFill>
                  <a:srgbClr val="000000"/>
                </a:solidFill>
                <a:latin typeface="Comic Sans MS"/>
                <a:cs typeface="Comic Sans MS"/>
              </a:rPr>
              <a:t>to</a:t>
            </a:r>
            <a:r>
              <a:rPr lang="en-GB" sz="4000" b="0" spc="26" dirty="0">
                <a:solidFill>
                  <a:srgbClr val="000000"/>
                </a:solidFill>
              </a:rPr>
              <a:t> </a:t>
            </a:r>
            <a:r>
              <a:rPr lang="en-GB" sz="4000" b="0" dirty="0">
                <a:solidFill>
                  <a:srgbClr val="000000"/>
                </a:solidFill>
                <a:latin typeface="Comic Sans MS"/>
                <a:cs typeface="Comic Sans MS"/>
              </a:rPr>
              <a:t>octal</a:t>
            </a:r>
            <a:r>
              <a:rPr lang="en-GB" sz="4000" b="0" spc="26" dirty="0">
                <a:solidFill>
                  <a:srgbClr val="000000"/>
                </a:solidFill>
              </a:rPr>
              <a:t> </a:t>
            </a:r>
            <a:r>
              <a:rPr lang="en-GB" sz="4000" b="0" spc="-32" dirty="0">
                <a:solidFill>
                  <a:srgbClr val="000000"/>
                </a:solidFill>
              </a:rPr>
              <a:t>and </a:t>
            </a:r>
            <a:r>
              <a:rPr lang="en-GB" sz="4000" b="0" dirty="0">
                <a:solidFill>
                  <a:srgbClr val="000000"/>
                </a:solidFill>
                <a:latin typeface="Comic Sans MS"/>
                <a:cs typeface="Comic Sans MS"/>
              </a:rPr>
              <a:t>binary</a:t>
            </a:r>
            <a:r>
              <a:rPr lang="en-GB" sz="4000" b="0" spc="-19" dirty="0">
                <a:solidFill>
                  <a:srgbClr val="000000"/>
                </a:solidFill>
              </a:rPr>
              <a:t> </a:t>
            </a:r>
            <a:r>
              <a:rPr lang="en-GB" sz="4000" b="0" dirty="0">
                <a:solidFill>
                  <a:srgbClr val="000000"/>
                </a:solidFill>
                <a:latin typeface="Comic Sans MS"/>
                <a:cs typeface="Comic Sans MS"/>
              </a:rPr>
              <a:t>to</a:t>
            </a:r>
            <a:r>
              <a:rPr lang="en-GB" sz="4000" b="0" spc="39" dirty="0">
                <a:solidFill>
                  <a:srgbClr val="000000"/>
                </a:solidFill>
              </a:rPr>
              <a:t> </a:t>
            </a:r>
            <a:r>
              <a:rPr lang="en-GB" sz="4000" b="0" spc="-13" dirty="0">
                <a:solidFill>
                  <a:srgbClr val="000000"/>
                </a:solidFill>
              </a:rPr>
              <a:t>octal</a:t>
            </a:r>
          </a:p>
          <a:p>
            <a:pPr algn="ctr"/>
            <a:r>
              <a:rPr lang="en-GB" sz="4000" dirty="0">
                <a:latin typeface="Comic Sans MS"/>
                <a:cs typeface="Comic Sans MS"/>
              </a:rPr>
              <a:t>Follows</a:t>
            </a:r>
            <a:r>
              <a:rPr lang="en-GB" sz="4000" spc="26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the</a:t>
            </a:r>
            <a:r>
              <a:rPr lang="en-GB" sz="4000" spc="39" dirty="0"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same</a:t>
            </a:r>
            <a:r>
              <a:rPr lang="en-GB" sz="4000" u="sng" spc="1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pattern</a:t>
            </a:r>
            <a:r>
              <a:rPr lang="en-GB" sz="40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as</a:t>
            </a:r>
            <a:r>
              <a:rPr lang="en-GB" sz="4000" u="sng" spc="3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we</a:t>
            </a:r>
            <a:r>
              <a:rPr lang="en-GB" sz="4000" spc="19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have</a:t>
            </a:r>
            <a:r>
              <a:rPr lang="en-GB" sz="4000" spc="13" dirty="0">
                <a:latin typeface="Comic Sans MS"/>
                <a:cs typeface="Comic Sans MS"/>
              </a:rPr>
              <a:t> </a:t>
            </a:r>
            <a:r>
              <a:rPr lang="en-GB" sz="4000" spc="-26" dirty="0">
                <a:latin typeface="Comic Sans MS"/>
                <a:cs typeface="Comic Sans MS"/>
              </a:rPr>
              <a:t>seen </a:t>
            </a:r>
            <a:r>
              <a:rPr lang="en-GB" sz="4000" dirty="0">
                <a:latin typeface="Comic Sans MS"/>
                <a:cs typeface="Comic Sans MS"/>
              </a:rPr>
              <a:t>previously</a:t>
            </a:r>
            <a:r>
              <a:rPr lang="en-GB" sz="4000" spc="-39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for</a:t>
            </a:r>
            <a:r>
              <a:rPr lang="en-GB" sz="4000" spc="26" dirty="0">
                <a:latin typeface="Comic Sans MS"/>
                <a:cs typeface="Comic Sans MS"/>
              </a:rPr>
              <a:t> </a:t>
            </a:r>
            <a:r>
              <a:rPr lang="en-GB" sz="40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hexadecimal</a:t>
            </a:r>
            <a:endParaRPr lang="en-GB" sz="40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04086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8D7BE7-D49A-BEE5-C8F2-B149DF10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EDCEAEF-92CD-DA6C-8D88-49DCD5DFC0B1}"/>
              </a:ext>
            </a:extLst>
          </p:cNvPr>
          <p:cNvSpPr txBox="1"/>
          <p:nvPr/>
        </p:nvSpPr>
        <p:spPr>
          <a:xfrm>
            <a:off x="381000" y="888075"/>
            <a:ext cx="12352767" cy="2002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A) Decimal → Octal (long division by 8)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sv-SE" sz="40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Convert</a:t>
            </a:r>
            <a:r>
              <a:rPr lang="sv-SE" sz="4000" b="1" spc="-1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469</a:t>
            </a:r>
            <a:r>
              <a:rPr lang="sv-SE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sv-SE" sz="4000" b="1" spc="13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3" dirty="0" err="1">
                <a:solidFill>
                  <a:srgbClr val="000000"/>
                </a:solidFill>
                <a:latin typeface="Comic Sans MS" panose="030F0702030302020204" pitchFamily="66" charset="0"/>
              </a:rPr>
              <a:t>Octal</a:t>
            </a:r>
            <a:endParaRPr lang="en-GB" sz="4000" b="1" dirty="0">
              <a:latin typeface="Comic Sans MS" panose="030F0702030302020204" pitchFamily="66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51114F-913E-683B-A5F9-4CCF89593E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6825" y="3416611"/>
            <a:ext cx="12597549" cy="455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05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0B1142-B44F-B0A9-413A-25B5D37CA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60D9600-4ACD-8AE7-F2DC-B87323BC3D4C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663F030-B423-4062-07ED-DF6F74CE4F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1307BD9-6AEE-0471-196C-CF559B6C5F9E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96C43A1-A69F-DE03-FED0-F9309333BDD5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54E848F-5B59-928A-96A7-B01A6FE7018C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Octal to Decimal</a:t>
            </a:r>
          </a:p>
        </p:txBody>
      </p:sp>
    </p:spTree>
    <p:extLst>
      <p:ext uri="{BB962C8B-B14F-4D97-AF65-F5344CB8AC3E}">
        <p14:creationId xmlns:p14="http://schemas.microsoft.com/office/powerpoint/2010/main" val="3678041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049E14-56CC-9866-8173-0C967B1B3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473CBF1-1850-982D-E5EA-DDCD613660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2902" y="3416611"/>
            <a:ext cx="5605394" cy="4553857"/>
          </a:xfrm>
          <a:prstGeom prst="rect">
            <a:avLst/>
          </a:prstGeom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C09E3DBE-77B3-BEF5-8175-52AC13353E5D}"/>
              </a:ext>
            </a:extLst>
          </p:cNvPr>
          <p:cNvSpPr txBox="1"/>
          <p:nvPr/>
        </p:nvSpPr>
        <p:spPr>
          <a:xfrm>
            <a:off x="381000" y="888075"/>
            <a:ext cx="12352767" cy="2002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B) Octal →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Decimal</a:t>
            </a:r>
            <a:r>
              <a:rPr lang="en-GB" sz="4000" b="1" dirty="0">
                <a:latin typeface="Comic Sans MS" panose="030F0702030302020204" pitchFamily="66" charset="0"/>
              </a:rPr>
              <a:t> (expand by power of 8)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sv-SE" sz="40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Convert</a:t>
            </a:r>
            <a:r>
              <a:rPr lang="sv-SE" sz="4000" b="1" spc="-1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Octal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725</a:t>
            </a:r>
            <a:r>
              <a:rPr lang="sv-SE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sv-SE" sz="4000" b="1" spc="13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Decimal</a:t>
            </a:r>
            <a:endParaRPr lang="en-GB" sz="40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228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AD9DAC-4F8C-D166-4343-50714BF4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FEAFC1F-DDA2-F1AB-9426-F8F0BC130BF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AA1EFBE-F0F3-7EE5-75A5-1803ABB349D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9F6D9CE-74D0-7559-5AF5-62D8876953E4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CE06835-90BC-7745-6CEE-BF17630CC1E1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D799C13F-D6CC-B7A6-DC9C-BC29662C4C6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Octal to Binary</a:t>
            </a:r>
          </a:p>
        </p:txBody>
      </p:sp>
    </p:spTree>
    <p:extLst>
      <p:ext uri="{BB962C8B-B14F-4D97-AF65-F5344CB8AC3E}">
        <p14:creationId xmlns:p14="http://schemas.microsoft.com/office/powerpoint/2010/main" val="1569514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B6E3B1-7586-67D1-F789-2A94ADD0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ABBD0C7-5A6F-F97F-4F1D-35F214DF2860}"/>
              </a:ext>
            </a:extLst>
          </p:cNvPr>
          <p:cNvSpPr txBox="1"/>
          <p:nvPr/>
        </p:nvSpPr>
        <p:spPr>
          <a:xfrm>
            <a:off x="381000" y="888075"/>
            <a:ext cx="12352767" cy="41647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C) Octal → </a:t>
            </a:r>
            <a:r>
              <a:rPr lang="en-GB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Binary</a:t>
            </a:r>
            <a:endParaRPr lang="en-GB" sz="40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How</a:t>
            </a:r>
            <a:r>
              <a:rPr lang="en-GB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Convert Octal</a:t>
            </a:r>
            <a:r>
              <a:rPr lang="en-GB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3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Binary?</a:t>
            </a:r>
          </a:p>
          <a:p>
            <a:endParaRPr lang="en-GB" sz="2400" b="1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Way 1:</a:t>
            </a:r>
          </a:p>
          <a:p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	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Two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steps:</a:t>
            </a:r>
          </a:p>
          <a:p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		1.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Convert</a:t>
            </a:r>
            <a:r>
              <a:rPr lang="en-GB" sz="2400" spc="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octal</a:t>
            </a:r>
            <a:r>
              <a:rPr lang="en-GB" sz="2400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decimal.</a:t>
            </a:r>
          </a:p>
          <a:p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		2.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Convert</a:t>
            </a:r>
            <a:r>
              <a:rPr lang="en-GB" sz="2400" spc="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decimal</a:t>
            </a:r>
            <a:r>
              <a:rPr lang="en-GB" sz="2400" spc="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binary.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defTabSz="1183325">
              <a:spcBef>
                <a:spcPts val="1482"/>
              </a:spcBef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/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That’s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it.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772191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1CFD84-21B4-7767-44EF-CDA59777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1077DDFA-7867-BD10-D35F-480479B8FFDE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How</a:t>
            </a:r>
            <a:r>
              <a:rPr lang="en-GB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Convert Octal</a:t>
            </a:r>
            <a:r>
              <a:rPr lang="en-GB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3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Binary?</a:t>
            </a:r>
          </a:p>
          <a:p>
            <a:endParaRPr lang="en-GB" sz="2400" b="1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Way 2:</a:t>
            </a:r>
          </a:p>
          <a:p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	</a:t>
            </a:r>
            <a:r>
              <a:rPr lang="sv-SE" sz="2400" dirty="0" err="1">
                <a:solidFill>
                  <a:srgbClr val="FF0000"/>
                </a:solidFill>
                <a:latin typeface="Comic Sans MS"/>
                <a:cs typeface="Comic Sans MS"/>
              </a:rPr>
              <a:t>Direct</a:t>
            </a:r>
            <a:r>
              <a:rPr lang="sv-SE" sz="24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sv-SE" sz="2400" spc="-10" dirty="0" err="1">
                <a:solidFill>
                  <a:srgbClr val="FF0000"/>
                </a:solidFill>
                <a:latin typeface="Comic Sans MS"/>
                <a:cs typeface="Comic Sans MS"/>
              </a:rPr>
              <a:t>Conversion</a:t>
            </a:r>
            <a:r>
              <a:rPr lang="sv-SE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.</a:t>
            </a:r>
            <a:endParaRPr lang="sv-SE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522394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5C8842-0734-688F-D34A-FCD93B483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220A131A-E7CC-5E60-D3E6-2E6CF68AA56C}"/>
              </a:ext>
            </a:extLst>
          </p:cNvPr>
          <p:cNvSpPr txBox="1"/>
          <p:nvPr/>
        </p:nvSpPr>
        <p:spPr>
          <a:xfrm>
            <a:off x="381000" y="888075"/>
            <a:ext cx="12352767" cy="76657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dirty="0" err="1">
                <a:solidFill>
                  <a:srgbClr val="FF0000"/>
                </a:solidFill>
                <a:latin typeface="Comic Sans MS"/>
                <a:cs typeface="Comic Sans MS"/>
              </a:rPr>
              <a:t>Direct</a:t>
            </a:r>
            <a:r>
              <a:rPr lang="sv-SE" sz="4000" spc="-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sv-SE" sz="4000" spc="-13" dirty="0" err="1">
                <a:solidFill>
                  <a:srgbClr val="FF0000"/>
                </a:solidFill>
                <a:latin typeface="Comic Sans MS"/>
                <a:cs typeface="Comic Sans MS"/>
              </a:rPr>
              <a:t>Conversion</a:t>
            </a:r>
            <a:r>
              <a:rPr lang="sv-SE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:</a:t>
            </a:r>
            <a:endParaRPr lang="sv-SE" sz="4000" dirty="0">
              <a:latin typeface="Comic Sans MS"/>
              <a:cs typeface="Comic Sans MS"/>
            </a:endParaRPr>
          </a:p>
          <a:p>
            <a:r>
              <a:rPr lang="en-GB" sz="4000" b="0" dirty="0">
                <a:solidFill>
                  <a:srgbClr val="000000"/>
                </a:solidFill>
                <a:latin typeface="Comic Sans MS" panose="030F0702030302020204" pitchFamily="66" charset="0"/>
              </a:rPr>
              <a:t>Convert</a:t>
            </a:r>
            <a:r>
              <a:rPr lang="en-GB" sz="4000" b="0" spc="-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0" dirty="0">
                <a:solidFill>
                  <a:srgbClr val="000000"/>
                </a:solidFill>
                <a:latin typeface="Comic Sans MS" panose="030F0702030302020204" pitchFamily="66" charset="0"/>
              </a:rPr>
              <a:t>Octal</a:t>
            </a:r>
            <a:r>
              <a:rPr lang="en-GB" sz="4000" b="0" spc="13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0" dirty="0">
                <a:solidFill>
                  <a:srgbClr val="FF0000"/>
                </a:solidFill>
                <a:latin typeface="Comic Sans MS" panose="030F0702030302020204" pitchFamily="66" charset="0"/>
              </a:rPr>
              <a:t>725</a:t>
            </a:r>
            <a:r>
              <a:rPr lang="en-GB" sz="4000" b="0" spc="19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0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0" spc="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0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Binary</a:t>
            </a: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7 | 2 | 5 → 111 | 010 | 101 → </a:t>
            </a:r>
            <a:r>
              <a:rPr lang="en-GB" sz="2400" b="1" dirty="0">
                <a:latin typeface="Comic Sans MS" panose="030F0702030302020204" pitchFamily="66" charset="0"/>
              </a:rPr>
              <a:t>111010101</a:t>
            </a:r>
            <a:r>
              <a:rPr lang="en-GB" sz="2400" dirty="0">
                <a:latin typeface="Comic Sans MS" panose="030F0702030302020204" pitchFamily="66" charset="0"/>
              </a:rPr>
              <a:t> (group as 3-bit blocks).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(You may pad left with zeros for alignment.)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491BAB-249D-6576-BA25-7E79609645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2400" y="2438572"/>
            <a:ext cx="7450898" cy="518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22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51049A-33AB-8AFE-2397-DF1A7294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C799EF8-4193-9F54-282B-F2C2D85EA728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843BB3A-BF53-1ED7-E5CF-2CE59FFACDD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B58C94-74C6-A205-4CE8-9097C129E77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12C73A0-13C9-E6BB-72AB-D23E8EDA183E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4A178CE6-BBCD-63DA-3862-D891D279E646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Binary to Octal</a:t>
            </a:r>
          </a:p>
        </p:txBody>
      </p:sp>
    </p:spTree>
    <p:extLst>
      <p:ext uri="{BB962C8B-B14F-4D97-AF65-F5344CB8AC3E}">
        <p14:creationId xmlns:p14="http://schemas.microsoft.com/office/powerpoint/2010/main" val="322951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2A37D7-DFB3-DD92-C572-FA78EF57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943A99B-5450-2563-DBBD-6426788235F9}"/>
              </a:ext>
            </a:extLst>
          </p:cNvPr>
          <p:cNvSpPr txBox="1"/>
          <p:nvPr/>
        </p:nvSpPr>
        <p:spPr>
          <a:xfrm>
            <a:off x="381000" y="888075"/>
            <a:ext cx="12352767" cy="354923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How</a:t>
            </a:r>
            <a:r>
              <a:rPr lang="en-GB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Convert Binary</a:t>
            </a:r>
            <a:r>
              <a:rPr lang="en-GB" sz="4000" b="1" spc="13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78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Octal?</a:t>
            </a:r>
            <a:endParaRPr lang="en-GB" sz="2400" b="1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2400" b="1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Way 1:</a:t>
            </a:r>
          </a:p>
          <a:p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	</a:t>
            </a:r>
            <a:r>
              <a:rPr lang="en-GB" sz="2400" dirty="0">
                <a:latin typeface="Comic Sans MS"/>
                <a:cs typeface="Comic Sans MS"/>
              </a:rPr>
              <a:t>Two</a:t>
            </a:r>
            <a:r>
              <a:rPr lang="en-GB" sz="2400" spc="-26" dirty="0">
                <a:latin typeface="Comic Sans MS"/>
                <a:cs typeface="Comic Sans MS"/>
              </a:rPr>
              <a:t> </a:t>
            </a:r>
            <a:r>
              <a:rPr lang="en-GB" sz="2400" spc="-13" dirty="0">
                <a:latin typeface="Comic Sans MS"/>
                <a:cs typeface="Comic Sans MS"/>
              </a:rPr>
              <a:t>steps:</a:t>
            </a:r>
          </a:p>
          <a:p>
            <a:r>
              <a:rPr lang="en-GB" sz="2400" spc="-13" dirty="0">
                <a:latin typeface="Comic Sans MS"/>
                <a:cs typeface="Comic Sans MS"/>
              </a:rPr>
              <a:t>		1. </a:t>
            </a:r>
            <a:r>
              <a:rPr lang="en-GB" sz="2400" dirty="0">
                <a:latin typeface="Comic Sans MS"/>
                <a:cs typeface="Comic Sans MS"/>
              </a:rPr>
              <a:t>Convert</a:t>
            </a:r>
            <a:r>
              <a:rPr lang="en-GB" sz="2400" spc="5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Binary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-6" dirty="0">
                <a:latin typeface="Comic Sans MS"/>
                <a:cs typeface="Comic Sans MS"/>
              </a:rPr>
              <a:t> </a:t>
            </a:r>
            <a:r>
              <a:rPr lang="en-GB" sz="2400" spc="-13" dirty="0">
                <a:latin typeface="Comic Sans MS"/>
                <a:cs typeface="Comic Sans MS"/>
              </a:rPr>
              <a:t>Decimal.</a:t>
            </a:r>
          </a:p>
          <a:p>
            <a:r>
              <a:rPr lang="en-GB" sz="2400" spc="-13" dirty="0">
                <a:latin typeface="Comic Sans MS"/>
                <a:cs typeface="Comic Sans MS"/>
              </a:rPr>
              <a:t>		2.</a:t>
            </a:r>
            <a:r>
              <a:rPr lang="en-GB" sz="2400" dirty="0">
                <a:latin typeface="Comic Sans MS"/>
                <a:cs typeface="Comic Sans MS"/>
              </a:rPr>
              <a:t>Convert</a:t>
            </a:r>
            <a:r>
              <a:rPr lang="en-GB" sz="2400" spc="6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Decimal</a:t>
            </a:r>
            <a:r>
              <a:rPr lang="en-GB" sz="2400" spc="5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26" dirty="0">
                <a:latin typeface="Comic Sans MS"/>
                <a:cs typeface="Comic Sans MS"/>
              </a:rPr>
              <a:t> </a:t>
            </a:r>
            <a:r>
              <a:rPr lang="en-GB" sz="2400" spc="-13" dirty="0">
                <a:latin typeface="Comic Sans MS"/>
                <a:cs typeface="Comic Sans MS"/>
              </a:rPr>
              <a:t>Octal.</a:t>
            </a:r>
            <a:endParaRPr lang="en-GB" sz="2400" dirty="0">
              <a:latin typeface="Comic Sans MS"/>
              <a:cs typeface="Comic Sans MS"/>
            </a:endParaRPr>
          </a:p>
          <a:p>
            <a:pPr defTabSz="1183325">
              <a:spcBef>
                <a:spcPts val="1482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L="16435" defTabSz="1183325"/>
            <a:r>
              <a:rPr lang="en-GB" sz="2400" dirty="0">
                <a:latin typeface="Comic Sans MS"/>
                <a:cs typeface="Comic Sans MS"/>
              </a:rPr>
              <a:t>That’s</a:t>
            </a:r>
            <a:r>
              <a:rPr lang="en-GB" sz="2400" spc="-32" dirty="0">
                <a:latin typeface="Comic Sans MS"/>
                <a:cs typeface="Comic Sans MS"/>
              </a:rPr>
              <a:t> it.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666502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42CC9E-7EA9-5423-3D0D-7EDEFE1F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5B8DF81F-F9DF-F4D8-BE73-825D5574194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How</a:t>
            </a:r>
            <a:r>
              <a:rPr lang="en-GB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Convert Binary</a:t>
            </a:r>
            <a:r>
              <a:rPr lang="en-GB" sz="4000" b="1" spc="13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en-GB" sz="4000" b="1" spc="78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Octal?</a:t>
            </a:r>
            <a:endParaRPr lang="en-GB" sz="2400" b="1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2400" b="1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Way 2:</a:t>
            </a:r>
          </a:p>
          <a:p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	</a:t>
            </a:r>
            <a:r>
              <a:rPr lang="sv-SE" sz="2400" dirty="0" err="1">
                <a:solidFill>
                  <a:srgbClr val="FF0000"/>
                </a:solidFill>
                <a:latin typeface="Comic Sans MS"/>
                <a:cs typeface="Comic Sans MS"/>
              </a:rPr>
              <a:t>Direct</a:t>
            </a:r>
            <a:r>
              <a:rPr lang="sv-SE" sz="24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sv-SE" sz="2400" spc="-10" dirty="0" err="1">
                <a:solidFill>
                  <a:srgbClr val="FF0000"/>
                </a:solidFill>
                <a:latin typeface="Comic Sans MS"/>
                <a:cs typeface="Comic Sans MS"/>
              </a:rPr>
              <a:t>Conversion</a:t>
            </a:r>
            <a:r>
              <a:rPr lang="sv-SE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.</a:t>
            </a:r>
            <a:endParaRPr lang="sv-SE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907187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29767E-A40A-7CAB-2029-7CB058D8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00ABF01E-D8FB-50F2-25F5-86737B90DF74}"/>
              </a:ext>
            </a:extLst>
          </p:cNvPr>
          <p:cNvSpPr txBox="1"/>
          <p:nvPr/>
        </p:nvSpPr>
        <p:spPr>
          <a:xfrm>
            <a:off x="381000" y="888075"/>
            <a:ext cx="12352767" cy="80350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dirty="0" err="1">
                <a:solidFill>
                  <a:srgbClr val="FF0000"/>
                </a:solidFill>
                <a:latin typeface="Comic Sans MS"/>
                <a:cs typeface="Comic Sans MS"/>
              </a:rPr>
              <a:t>Direct</a:t>
            </a:r>
            <a:r>
              <a:rPr lang="sv-SE" sz="4000" spc="-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sv-SE" sz="4000" spc="-13" dirty="0" err="1">
                <a:solidFill>
                  <a:srgbClr val="FF0000"/>
                </a:solidFill>
                <a:latin typeface="Comic Sans MS"/>
                <a:cs typeface="Comic Sans MS"/>
              </a:rPr>
              <a:t>Conversion</a:t>
            </a:r>
            <a:r>
              <a:rPr lang="sv-SE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:</a:t>
            </a:r>
            <a:endParaRPr lang="sv-SE" sz="4000" dirty="0">
              <a:latin typeface="Comic Sans MS"/>
              <a:cs typeface="Comic Sans MS"/>
            </a:endParaRPr>
          </a:p>
          <a:p>
            <a:r>
              <a:rPr lang="sv-SE" sz="4000" b="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Convert</a:t>
            </a:r>
            <a:r>
              <a:rPr lang="sv-SE" sz="4000" b="0" spc="78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0" dirty="0">
                <a:solidFill>
                  <a:srgbClr val="FF0000"/>
                </a:solidFill>
                <a:latin typeface="Comic Sans MS" panose="030F0702030302020204" pitchFamily="66" charset="0"/>
              </a:rPr>
              <a:t>000111010101 </a:t>
            </a:r>
            <a:r>
              <a:rPr lang="sv-SE" sz="4000" b="0" dirty="0">
                <a:solidFill>
                  <a:srgbClr val="000000"/>
                </a:solidFill>
                <a:latin typeface="Comic Sans MS" panose="030F0702030302020204" pitchFamily="66" charset="0"/>
              </a:rPr>
              <a:t>to</a:t>
            </a:r>
            <a:r>
              <a:rPr lang="sv-SE" sz="4000" b="0" spc="5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0" spc="-13" dirty="0" err="1">
                <a:solidFill>
                  <a:srgbClr val="000000"/>
                </a:solidFill>
                <a:latin typeface="Comic Sans MS" panose="030F0702030302020204" pitchFamily="66" charset="0"/>
              </a:rPr>
              <a:t>Octal</a:t>
            </a:r>
            <a:endParaRPr lang="sv-SE" sz="40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0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GB" sz="2400" b="0" dirty="0">
                <a:effectLst/>
                <a:latin typeface="Comic Sans MS" panose="030F0702030302020204" pitchFamily="66" charset="0"/>
              </a:rPr>
              <a:t>Group by 3 from right: </a:t>
            </a:r>
            <a:r>
              <a:rPr lang="en-GB" sz="2400" dirty="0">
                <a:latin typeface="Comic Sans MS" panose="030F0702030302020204" pitchFamily="66" charset="0"/>
              </a:rPr>
              <a:t>000 | 111 | 010 | 101</a:t>
            </a:r>
            <a:r>
              <a:rPr lang="en-GB" sz="2400" b="0" dirty="0">
                <a:effectLst/>
                <a:latin typeface="Comic Sans MS" panose="030F0702030302020204" pitchFamily="66" charset="0"/>
              </a:rPr>
              <a:t> → </a:t>
            </a:r>
            <a:r>
              <a:rPr lang="en-GB" sz="2400" b="1" dirty="0">
                <a:effectLst/>
                <a:latin typeface="Comic Sans MS" panose="030F0702030302020204" pitchFamily="66" charset="0"/>
              </a:rPr>
              <a:t>0 7 2 5</a:t>
            </a:r>
            <a:r>
              <a:rPr lang="en-GB" sz="2400" b="0" dirty="0">
                <a:effectLst/>
                <a:latin typeface="Comic Sans MS" panose="030F0702030302020204" pitchFamily="66" charset="0"/>
              </a:rPr>
              <a:t> → </a:t>
            </a:r>
            <a:r>
              <a:rPr lang="en-GB" sz="2400" b="1" dirty="0">
                <a:effectLst/>
                <a:latin typeface="Comic Sans MS" panose="030F0702030302020204" pitchFamily="66" charset="0"/>
              </a:rPr>
              <a:t>725</a:t>
            </a:r>
            <a:r>
              <a:rPr lang="en-GB" sz="2400" b="0" dirty="0">
                <a:effectLst/>
                <a:latin typeface="Comic Sans MS" panose="030F0702030302020204" pitchFamily="66" charset="0"/>
              </a:rPr>
              <a:t> (drop leading 0). 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9D9E00-353F-A593-4DE9-15E30EC5E029}"/>
              </a:ext>
            </a:extLst>
          </p:cNvPr>
          <p:cNvGrpSpPr/>
          <p:nvPr/>
        </p:nvGrpSpPr>
        <p:grpSpPr>
          <a:xfrm>
            <a:off x="3897136" y="3051047"/>
            <a:ext cx="5167120" cy="5222155"/>
            <a:chOff x="3897136" y="3051047"/>
            <a:chExt cx="5167120" cy="5222155"/>
          </a:xfrm>
        </p:grpSpPr>
        <p:sp>
          <p:nvSpPr>
            <p:cNvPr id="7" name="object 3"/>
            <p:cNvSpPr txBox="1"/>
            <p:nvPr/>
          </p:nvSpPr>
          <p:spPr>
            <a:xfrm>
              <a:off x="6042360" y="7730492"/>
              <a:ext cx="891615" cy="542710"/>
            </a:xfrm>
            <a:prstGeom prst="rect">
              <a:avLst/>
            </a:prstGeom>
          </p:spPr>
          <p:txBody>
            <a:bodyPr vert="horz" wrap="square" lIns="0" tIns="14792" rIns="0" bIns="0" rtlCol="0">
              <a:spAutoFit/>
            </a:bodyPr>
            <a:lstStyle/>
            <a:p>
              <a:pPr marL="16435" defTabSz="1183325">
                <a:spcBef>
                  <a:spcPts val="116"/>
                </a:spcBef>
              </a:pPr>
              <a:r>
                <a:rPr sz="3429" spc="110" dirty="0">
                  <a:solidFill>
                    <a:srgbClr val="6EAA46"/>
                  </a:solidFill>
                  <a:latin typeface="Comic Sans MS"/>
                  <a:cs typeface="Comic Sans MS"/>
                </a:rPr>
                <a:t>72</a:t>
              </a:r>
              <a:r>
                <a:rPr sz="5144" spc="164" baseline="1048" dirty="0">
                  <a:solidFill>
                    <a:srgbClr val="6EAA46"/>
                  </a:solidFill>
                  <a:latin typeface="Comic Sans MS"/>
                  <a:cs typeface="Comic Sans MS"/>
                </a:rPr>
                <a:t>5</a:t>
              </a:r>
              <a:endParaRPr sz="5144" baseline="1048">
                <a:latin typeface="Comic Sans MS"/>
                <a:cs typeface="Comic Sans MS"/>
              </a:endParaRPr>
            </a:p>
          </p:txBody>
        </p:sp>
        <p:sp>
          <p:nvSpPr>
            <p:cNvPr id="21" name="object 4"/>
            <p:cNvSpPr/>
            <p:nvPr/>
          </p:nvSpPr>
          <p:spPr>
            <a:xfrm>
              <a:off x="7344604" y="3613135"/>
              <a:ext cx="1304139" cy="1120887"/>
            </a:xfrm>
            <a:custGeom>
              <a:avLst/>
              <a:gdLst/>
              <a:ahLst/>
              <a:cxnLst/>
              <a:rect l="l" t="t" r="r" b="b"/>
              <a:pathLst>
                <a:path w="1007745" h="866139">
                  <a:moveTo>
                    <a:pt x="993647" y="865632"/>
                  </a:moveTo>
                  <a:lnTo>
                    <a:pt x="978407" y="865632"/>
                  </a:lnTo>
                  <a:lnTo>
                    <a:pt x="960120" y="861059"/>
                  </a:lnTo>
                  <a:lnTo>
                    <a:pt x="937259" y="853440"/>
                  </a:lnTo>
                  <a:lnTo>
                    <a:pt x="885444" y="827532"/>
                  </a:lnTo>
                  <a:lnTo>
                    <a:pt x="859536" y="815340"/>
                  </a:lnTo>
                  <a:lnTo>
                    <a:pt x="830580" y="800099"/>
                  </a:lnTo>
                  <a:lnTo>
                    <a:pt x="806196" y="790955"/>
                  </a:lnTo>
                  <a:lnTo>
                    <a:pt x="775715" y="780288"/>
                  </a:lnTo>
                  <a:lnTo>
                    <a:pt x="749807" y="775715"/>
                  </a:lnTo>
                  <a:lnTo>
                    <a:pt x="725424" y="768095"/>
                  </a:lnTo>
                  <a:lnTo>
                    <a:pt x="702563" y="761999"/>
                  </a:lnTo>
                  <a:lnTo>
                    <a:pt x="681228" y="751332"/>
                  </a:lnTo>
                  <a:lnTo>
                    <a:pt x="658367" y="734568"/>
                  </a:lnTo>
                  <a:lnTo>
                    <a:pt x="646176" y="725424"/>
                  </a:lnTo>
                  <a:lnTo>
                    <a:pt x="646176" y="720851"/>
                  </a:lnTo>
                  <a:lnTo>
                    <a:pt x="647699" y="719328"/>
                  </a:lnTo>
                  <a:lnTo>
                    <a:pt x="661415" y="714755"/>
                  </a:lnTo>
                  <a:lnTo>
                    <a:pt x="662940" y="713232"/>
                  </a:lnTo>
                  <a:lnTo>
                    <a:pt x="656844" y="704088"/>
                  </a:lnTo>
                  <a:lnTo>
                    <a:pt x="644651" y="693420"/>
                  </a:lnTo>
                  <a:lnTo>
                    <a:pt x="638555" y="688847"/>
                  </a:lnTo>
                  <a:lnTo>
                    <a:pt x="632459" y="685799"/>
                  </a:lnTo>
                  <a:lnTo>
                    <a:pt x="623315" y="688847"/>
                  </a:lnTo>
                  <a:lnTo>
                    <a:pt x="618744" y="688847"/>
                  </a:lnTo>
                  <a:lnTo>
                    <a:pt x="609600" y="682751"/>
                  </a:lnTo>
                  <a:lnTo>
                    <a:pt x="600456" y="673607"/>
                  </a:lnTo>
                  <a:lnTo>
                    <a:pt x="598932" y="656844"/>
                  </a:lnTo>
                  <a:lnTo>
                    <a:pt x="600456" y="637032"/>
                  </a:lnTo>
                  <a:lnTo>
                    <a:pt x="612648" y="623315"/>
                  </a:lnTo>
                  <a:lnTo>
                    <a:pt x="638555" y="635507"/>
                  </a:lnTo>
                  <a:lnTo>
                    <a:pt x="661415" y="649224"/>
                  </a:lnTo>
                  <a:lnTo>
                    <a:pt x="687324" y="661415"/>
                  </a:lnTo>
                  <a:lnTo>
                    <a:pt x="711707" y="672084"/>
                  </a:lnTo>
                  <a:lnTo>
                    <a:pt x="733044" y="679703"/>
                  </a:lnTo>
                  <a:lnTo>
                    <a:pt x="635507" y="591311"/>
                  </a:lnTo>
                  <a:lnTo>
                    <a:pt x="536448" y="504444"/>
                  </a:lnTo>
                  <a:lnTo>
                    <a:pt x="248412" y="256032"/>
                  </a:lnTo>
                  <a:lnTo>
                    <a:pt x="158496" y="175260"/>
                  </a:lnTo>
                  <a:lnTo>
                    <a:pt x="76200" y="97536"/>
                  </a:lnTo>
                  <a:lnTo>
                    <a:pt x="0" y="18288"/>
                  </a:lnTo>
                  <a:lnTo>
                    <a:pt x="4572" y="7620"/>
                  </a:lnTo>
                  <a:lnTo>
                    <a:pt x="15240" y="3048"/>
                  </a:lnTo>
                  <a:lnTo>
                    <a:pt x="24384" y="0"/>
                  </a:lnTo>
                  <a:lnTo>
                    <a:pt x="50292" y="4572"/>
                  </a:lnTo>
                  <a:lnTo>
                    <a:pt x="64008" y="7620"/>
                  </a:lnTo>
                  <a:lnTo>
                    <a:pt x="149352" y="85344"/>
                  </a:lnTo>
                  <a:lnTo>
                    <a:pt x="234696" y="164592"/>
                  </a:lnTo>
                  <a:lnTo>
                    <a:pt x="419100" y="330707"/>
                  </a:lnTo>
                  <a:lnTo>
                    <a:pt x="507491" y="409956"/>
                  </a:lnTo>
                  <a:lnTo>
                    <a:pt x="598932" y="486156"/>
                  </a:lnTo>
                  <a:lnTo>
                    <a:pt x="687324" y="556259"/>
                  </a:lnTo>
                  <a:lnTo>
                    <a:pt x="612648" y="445007"/>
                  </a:lnTo>
                  <a:lnTo>
                    <a:pt x="632459" y="440435"/>
                  </a:lnTo>
                  <a:lnTo>
                    <a:pt x="670559" y="449580"/>
                  </a:lnTo>
                  <a:lnTo>
                    <a:pt x="713232" y="478535"/>
                  </a:lnTo>
                  <a:lnTo>
                    <a:pt x="757428" y="524256"/>
                  </a:lnTo>
                  <a:lnTo>
                    <a:pt x="826007" y="612648"/>
                  </a:lnTo>
                  <a:lnTo>
                    <a:pt x="848867" y="644651"/>
                  </a:lnTo>
                  <a:lnTo>
                    <a:pt x="873251" y="675132"/>
                  </a:lnTo>
                  <a:lnTo>
                    <a:pt x="899159" y="708659"/>
                  </a:lnTo>
                  <a:lnTo>
                    <a:pt x="923544" y="739140"/>
                  </a:lnTo>
                  <a:lnTo>
                    <a:pt x="949451" y="769620"/>
                  </a:lnTo>
                  <a:lnTo>
                    <a:pt x="1001267" y="822959"/>
                  </a:lnTo>
                  <a:lnTo>
                    <a:pt x="1007363" y="847344"/>
                  </a:lnTo>
                  <a:lnTo>
                    <a:pt x="1002792" y="859536"/>
                  </a:lnTo>
                  <a:lnTo>
                    <a:pt x="993647" y="865632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2" name="object 5"/>
            <p:cNvSpPr/>
            <p:nvPr/>
          </p:nvSpPr>
          <p:spPr>
            <a:xfrm>
              <a:off x="6319042" y="3624967"/>
              <a:ext cx="298299" cy="1132392"/>
            </a:xfrm>
            <a:custGeom>
              <a:avLst/>
              <a:gdLst/>
              <a:ahLst/>
              <a:cxnLst/>
              <a:rect l="l" t="t" r="r" b="b"/>
              <a:pathLst>
                <a:path w="230504" h="875029">
                  <a:moveTo>
                    <a:pt x="131063" y="874775"/>
                  </a:moveTo>
                  <a:lnTo>
                    <a:pt x="92963" y="838200"/>
                  </a:lnTo>
                  <a:lnTo>
                    <a:pt x="79247" y="801624"/>
                  </a:lnTo>
                  <a:lnTo>
                    <a:pt x="70103" y="783335"/>
                  </a:lnTo>
                  <a:lnTo>
                    <a:pt x="64007" y="762000"/>
                  </a:lnTo>
                  <a:lnTo>
                    <a:pt x="54863" y="745235"/>
                  </a:lnTo>
                  <a:lnTo>
                    <a:pt x="42671" y="725424"/>
                  </a:lnTo>
                  <a:lnTo>
                    <a:pt x="30479" y="710183"/>
                  </a:lnTo>
                  <a:lnTo>
                    <a:pt x="9143" y="679704"/>
                  </a:lnTo>
                  <a:lnTo>
                    <a:pt x="3047" y="665987"/>
                  </a:lnTo>
                  <a:lnTo>
                    <a:pt x="0" y="646175"/>
                  </a:lnTo>
                  <a:lnTo>
                    <a:pt x="0" y="637031"/>
                  </a:lnTo>
                  <a:lnTo>
                    <a:pt x="3047" y="633983"/>
                  </a:lnTo>
                  <a:lnTo>
                    <a:pt x="6095" y="633983"/>
                  </a:lnTo>
                  <a:lnTo>
                    <a:pt x="18287" y="638556"/>
                  </a:lnTo>
                  <a:lnTo>
                    <a:pt x="19811" y="638556"/>
                  </a:lnTo>
                  <a:lnTo>
                    <a:pt x="22859" y="632460"/>
                  </a:lnTo>
                  <a:lnTo>
                    <a:pt x="24383" y="621791"/>
                  </a:lnTo>
                  <a:lnTo>
                    <a:pt x="22859" y="615695"/>
                  </a:lnTo>
                  <a:lnTo>
                    <a:pt x="19811" y="612647"/>
                  </a:lnTo>
                  <a:lnTo>
                    <a:pt x="12191" y="609600"/>
                  </a:lnTo>
                  <a:lnTo>
                    <a:pt x="9143" y="606552"/>
                  </a:lnTo>
                  <a:lnTo>
                    <a:pt x="7619" y="600456"/>
                  </a:lnTo>
                  <a:lnTo>
                    <a:pt x="9143" y="589787"/>
                  </a:lnTo>
                  <a:lnTo>
                    <a:pt x="21335" y="582167"/>
                  </a:lnTo>
                  <a:lnTo>
                    <a:pt x="36575" y="574548"/>
                  </a:lnTo>
                  <a:lnTo>
                    <a:pt x="54863" y="574548"/>
                  </a:lnTo>
                  <a:lnTo>
                    <a:pt x="62483" y="592836"/>
                  </a:lnTo>
                  <a:lnTo>
                    <a:pt x="74675" y="629412"/>
                  </a:lnTo>
                  <a:lnTo>
                    <a:pt x="82295" y="646175"/>
                  </a:lnTo>
                  <a:lnTo>
                    <a:pt x="91439" y="659891"/>
                  </a:lnTo>
                  <a:lnTo>
                    <a:pt x="94487" y="573024"/>
                  </a:lnTo>
                  <a:lnTo>
                    <a:pt x="96011" y="484632"/>
                  </a:lnTo>
                  <a:lnTo>
                    <a:pt x="96011" y="231648"/>
                  </a:lnTo>
                  <a:lnTo>
                    <a:pt x="99059" y="150876"/>
                  </a:lnTo>
                  <a:lnTo>
                    <a:pt x="103631" y="74676"/>
                  </a:lnTo>
                  <a:lnTo>
                    <a:pt x="112775" y="3048"/>
                  </a:lnTo>
                  <a:lnTo>
                    <a:pt x="124967" y="0"/>
                  </a:lnTo>
                  <a:lnTo>
                    <a:pt x="135635" y="3048"/>
                  </a:lnTo>
                  <a:lnTo>
                    <a:pt x="143255" y="7620"/>
                  </a:lnTo>
                  <a:lnTo>
                    <a:pt x="156971" y="21336"/>
                  </a:lnTo>
                  <a:lnTo>
                    <a:pt x="163067" y="30480"/>
                  </a:lnTo>
                  <a:lnTo>
                    <a:pt x="156971" y="184404"/>
                  </a:lnTo>
                  <a:lnTo>
                    <a:pt x="153923" y="266700"/>
                  </a:lnTo>
                  <a:lnTo>
                    <a:pt x="149351" y="350519"/>
                  </a:lnTo>
                  <a:lnTo>
                    <a:pt x="149351" y="507491"/>
                  </a:lnTo>
                  <a:lnTo>
                    <a:pt x="153923" y="583691"/>
                  </a:lnTo>
                  <a:lnTo>
                    <a:pt x="190499" y="496823"/>
                  </a:lnTo>
                  <a:lnTo>
                    <a:pt x="205739" y="505967"/>
                  </a:lnTo>
                  <a:lnTo>
                    <a:pt x="217931" y="515112"/>
                  </a:lnTo>
                  <a:lnTo>
                    <a:pt x="225551" y="528828"/>
                  </a:lnTo>
                  <a:lnTo>
                    <a:pt x="230123" y="544067"/>
                  </a:lnTo>
                  <a:lnTo>
                    <a:pt x="230123" y="562356"/>
                  </a:lnTo>
                  <a:lnTo>
                    <a:pt x="224027" y="605028"/>
                  </a:lnTo>
                  <a:lnTo>
                    <a:pt x="202691" y="678179"/>
                  </a:lnTo>
                  <a:lnTo>
                    <a:pt x="193547" y="704087"/>
                  </a:lnTo>
                  <a:lnTo>
                    <a:pt x="185927" y="729995"/>
                  </a:lnTo>
                  <a:lnTo>
                    <a:pt x="176783" y="757427"/>
                  </a:lnTo>
                  <a:lnTo>
                    <a:pt x="164591" y="809243"/>
                  </a:lnTo>
                  <a:lnTo>
                    <a:pt x="160019" y="833627"/>
                  </a:lnTo>
                  <a:lnTo>
                    <a:pt x="158495" y="858012"/>
                  </a:lnTo>
                  <a:lnTo>
                    <a:pt x="143255" y="871727"/>
                  </a:lnTo>
                  <a:lnTo>
                    <a:pt x="131063" y="874775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3" name="object 6"/>
            <p:cNvSpPr txBox="1"/>
            <p:nvPr/>
          </p:nvSpPr>
          <p:spPr>
            <a:xfrm>
              <a:off x="3951710" y="5959540"/>
              <a:ext cx="298299" cy="542645"/>
            </a:xfrm>
            <a:prstGeom prst="rect">
              <a:avLst/>
            </a:prstGeom>
          </p:spPr>
          <p:txBody>
            <a:bodyPr vert="horz" wrap="square" lIns="0" tIns="14792" rIns="0" bIns="0" rtlCol="0">
              <a:spAutoFit/>
            </a:bodyPr>
            <a:lstStyle/>
            <a:p>
              <a:pPr marL="16435" defTabSz="1183325">
                <a:spcBef>
                  <a:spcPts val="116"/>
                </a:spcBef>
              </a:pPr>
              <a:r>
                <a:rPr sz="3429" spc="-65" dirty="0">
                  <a:solidFill>
                    <a:srgbClr val="FF0000"/>
                  </a:solidFill>
                  <a:latin typeface="Comic Sans MS"/>
                  <a:cs typeface="Comic Sans MS"/>
                </a:rPr>
                <a:t>7</a:t>
              </a:r>
              <a:endParaRPr sz="3429">
                <a:latin typeface="Comic Sans MS"/>
                <a:cs typeface="Comic Sans MS"/>
              </a:endParaRPr>
            </a:p>
          </p:txBody>
        </p:sp>
        <p:sp>
          <p:nvSpPr>
            <p:cNvPr id="24" name="object 7"/>
            <p:cNvSpPr txBox="1"/>
            <p:nvPr/>
          </p:nvSpPr>
          <p:spPr>
            <a:xfrm>
              <a:off x="6251254" y="5906151"/>
              <a:ext cx="298299" cy="542645"/>
            </a:xfrm>
            <a:prstGeom prst="rect">
              <a:avLst/>
            </a:prstGeom>
          </p:spPr>
          <p:txBody>
            <a:bodyPr vert="horz" wrap="square" lIns="0" tIns="14792" rIns="0" bIns="0" rtlCol="0">
              <a:spAutoFit/>
            </a:bodyPr>
            <a:lstStyle/>
            <a:p>
              <a:pPr marL="16435" defTabSz="1183325">
                <a:spcBef>
                  <a:spcPts val="116"/>
                </a:spcBef>
              </a:pPr>
              <a:r>
                <a:rPr sz="3429" spc="-65" dirty="0">
                  <a:solidFill>
                    <a:srgbClr val="FF0000"/>
                  </a:solidFill>
                  <a:latin typeface="Comic Sans MS"/>
                  <a:cs typeface="Comic Sans MS"/>
                </a:rPr>
                <a:t>2</a:t>
              </a:r>
              <a:endParaRPr sz="3429">
                <a:latin typeface="Comic Sans MS"/>
                <a:cs typeface="Comic Sans MS"/>
              </a:endParaRPr>
            </a:p>
          </p:txBody>
        </p:sp>
        <p:sp>
          <p:nvSpPr>
            <p:cNvPr id="25" name="object 8"/>
            <p:cNvSpPr txBox="1"/>
            <p:nvPr/>
          </p:nvSpPr>
          <p:spPr>
            <a:xfrm>
              <a:off x="8746135" y="5945558"/>
              <a:ext cx="298299" cy="542645"/>
            </a:xfrm>
            <a:prstGeom prst="rect">
              <a:avLst/>
            </a:prstGeom>
          </p:spPr>
          <p:txBody>
            <a:bodyPr vert="horz" wrap="square" lIns="0" tIns="14792" rIns="0" bIns="0" rtlCol="0">
              <a:spAutoFit/>
            </a:bodyPr>
            <a:lstStyle/>
            <a:p>
              <a:pPr marL="16435" defTabSz="1183325">
                <a:spcBef>
                  <a:spcPts val="116"/>
                </a:spcBef>
              </a:pPr>
              <a:r>
                <a:rPr sz="3429" spc="-65" dirty="0">
                  <a:solidFill>
                    <a:srgbClr val="FF0000"/>
                  </a:solidFill>
                  <a:latin typeface="Comic Sans MS"/>
                  <a:cs typeface="Comic Sans MS"/>
                </a:rPr>
                <a:t>5</a:t>
              </a:r>
              <a:endParaRPr sz="3429">
                <a:latin typeface="Comic Sans MS"/>
                <a:cs typeface="Comic Sans MS"/>
              </a:endParaRPr>
            </a:p>
          </p:txBody>
        </p:sp>
        <p:sp>
          <p:nvSpPr>
            <p:cNvPr id="26" name="object 9"/>
            <p:cNvSpPr/>
            <p:nvPr/>
          </p:nvSpPr>
          <p:spPr>
            <a:xfrm>
              <a:off x="4309334" y="3587495"/>
              <a:ext cx="1300030" cy="1106916"/>
            </a:xfrm>
            <a:custGeom>
              <a:avLst/>
              <a:gdLst/>
              <a:ahLst/>
              <a:cxnLst/>
              <a:rect l="l" t="t" r="r" b="b"/>
              <a:pathLst>
                <a:path w="1004570" h="855345">
                  <a:moveTo>
                    <a:pt x="16764" y="854963"/>
                  </a:moveTo>
                  <a:lnTo>
                    <a:pt x="4571" y="848868"/>
                  </a:lnTo>
                  <a:lnTo>
                    <a:pt x="0" y="838199"/>
                  </a:lnTo>
                  <a:lnTo>
                    <a:pt x="3047" y="822959"/>
                  </a:lnTo>
                  <a:lnTo>
                    <a:pt x="9143" y="806195"/>
                  </a:lnTo>
                  <a:lnTo>
                    <a:pt x="36575" y="761999"/>
                  </a:lnTo>
                  <a:lnTo>
                    <a:pt x="54864" y="739140"/>
                  </a:lnTo>
                  <a:lnTo>
                    <a:pt x="71627" y="714755"/>
                  </a:lnTo>
                  <a:lnTo>
                    <a:pt x="89916" y="690372"/>
                  </a:lnTo>
                  <a:lnTo>
                    <a:pt x="103631" y="667511"/>
                  </a:lnTo>
                  <a:lnTo>
                    <a:pt x="118871" y="638555"/>
                  </a:lnTo>
                  <a:lnTo>
                    <a:pt x="128016" y="614172"/>
                  </a:lnTo>
                  <a:lnTo>
                    <a:pt x="138683" y="591311"/>
                  </a:lnTo>
                  <a:lnTo>
                    <a:pt x="161543" y="550163"/>
                  </a:lnTo>
                  <a:lnTo>
                    <a:pt x="192023" y="521207"/>
                  </a:lnTo>
                  <a:lnTo>
                    <a:pt x="198119" y="519683"/>
                  </a:lnTo>
                  <a:lnTo>
                    <a:pt x="199643" y="522732"/>
                  </a:lnTo>
                  <a:lnTo>
                    <a:pt x="201168" y="536448"/>
                  </a:lnTo>
                  <a:lnTo>
                    <a:pt x="202691" y="537972"/>
                  </a:lnTo>
                  <a:lnTo>
                    <a:pt x="211835" y="533400"/>
                  </a:lnTo>
                  <a:lnTo>
                    <a:pt x="225551" y="524256"/>
                  </a:lnTo>
                  <a:lnTo>
                    <a:pt x="230123" y="518159"/>
                  </a:lnTo>
                  <a:lnTo>
                    <a:pt x="233171" y="512063"/>
                  </a:lnTo>
                  <a:lnTo>
                    <a:pt x="231647" y="504444"/>
                  </a:lnTo>
                  <a:lnTo>
                    <a:pt x="233171" y="498348"/>
                  </a:lnTo>
                  <a:lnTo>
                    <a:pt x="239268" y="490728"/>
                  </a:lnTo>
                  <a:lnTo>
                    <a:pt x="251460" y="483107"/>
                  </a:lnTo>
                  <a:lnTo>
                    <a:pt x="268223" y="484632"/>
                  </a:lnTo>
                  <a:lnTo>
                    <a:pt x="286512" y="489204"/>
                  </a:lnTo>
                  <a:lnTo>
                    <a:pt x="298704" y="504444"/>
                  </a:lnTo>
                  <a:lnTo>
                    <a:pt x="283464" y="527304"/>
                  </a:lnTo>
                  <a:lnTo>
                    <a:pt x="266700" y="547115"/>
                  </a:lnTo>
                  <a:lnTo>
                    <a:pt x="248412" y="571500"/>
                  </a:lnTo>
                  <a:lnTo>
                    <a:pt x="234695" y="592835"/>
                  </a:lnTo>
                  <a:lnTo>
                    <a:pt x="224027" y="612648"/>
                  </a:lnTo>
                  <a:lnTo>
                    <a:pt x="327660" y="531876"/>
                  </a:lnTo>
                  <a:lnTo>
                    <a:pt x="428243" y="449580"/>
                  </a:lnTo>
                  <a:lnTo>
                    <a:pt x="717803" y="205739"/>
                  </a:lnTo>
                  <a:lnTo>
                    <a:pt x="810767" y="131064"/>
                  </a:lnTo>
                  <a:lnTo>
                    <a:pt x="900683" y="62484"/>
                  </a:lnTo>
                  <a:lnTo>
                    <a:pt x="989075" y="0"/>
                  </a:lnTo>
                  <a:lnTo>
                    <a:pt x="999743" y="7620"/>
                  </a:lnTo>
                  <a:lnTo>
                    <a:pt x="1002791" y="16764"/>
                  </a:lnTo>
                  <a:lnTo>
                    <a:pt x="1004315" y="27432"/>
                  </a:lnTo>
                  <a:lnTo>
                    <a:pt x="990599" y="64008"/>
                  </a:lnTo>
                  <a:lnTo>
                    <a:pt x="900683" y="135636"/>
                  </a:lnTo>
                  <a:lnTo>
                    <a:pt x="809243" y="207263"/>
                  </a:lnTo>
                  <a:lnTo>
                    <a:pt x="714755" y="283463"/>
                  </a:lnTo>
                  <a:lnTo>
                    <a:pt x="617219" y="361187"/>
                  </a:lnTo>
                  <a:lnTo>
                    <a:pt x="525780" y="435863"/>
                  </a:lnTo>
                  <a:lnTo>
                    <a:pt x="435863" y="512063"/>
                  </a:lnTo>
                  <a:lnTo>
                    <a:pt x="352043" y="588263"/>
                  </a:lnTo>
                  <a:lnTo>
                    <a:pt x="473963" y="533400"/>
                  </a:lnTo>
                  <a:lnTo>
                    <a:pt x="473963" y="553211"/>
                  </a:lnTo>
                  <a:lnTo>
                    <a:pt x="460247" y="589787"/>
                  </a:lnTo>
                  <a:lnTo>
                    <a:pt x="425195" y="626363"/>
                  </a:lnTo>
                  <a:lnTo>
                    <a:pt x="371856" y="662940"/>
                  </a:lnTo>
                  <a:lnTo>
                    <a:pt x="205739" y="751332"/>
                  </a:lnTo>
                  <a:lnTo>
                    <a:pt x="169164" y="771144"/>
                  </a:lnTo>
                  <a:lnTo>
                    <a:pt x="102108" y="810768"/>
                  </a:lnTo>
                  <a:lnTo>
                    <a:pt x="41147" y="853440"/>
                  </a:lnTo>
                  <a:lnTo>
                    <a:pt x="16764" y="854963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8" name="object 10"/>
            <p:cNvSpPr txBox="1"/>
            <p:nvPr/>
          </p:nvSpPr>
          <p:spPr>
            <a:xfrm>
              <a:off x="8539148" y="4908200"/>
              <a:ext cx="525108" cy="409822"/>
            </a:xfrm>
            <a:prstGeom prst="rect">
              <a:avLst/>
            </a:prstGeom>
          </p:spPr>
          <p:txBody>
            <a:bodyPr vert="horz" wrap="square" lIns="0" tIns="21366" rIns="0" bIns="0" rtlCol="0">
              <a:spAutoFit/>
            </a:bodyPr>
            <a:lstStyle/>
            <a:p>
              <a:pPr marL="16435" defTabSz="1183325">
                <a:spcBef>
                  <a:spcPts val="168"/>
                </a:spcBef>
              </a:pPr>
              <a:r>
                <a:rPr sz="2523" spc="-32" dirty="0">
                  <a:solidFill>
                    <a:srgbClr val="FF0000"/>
                  </a:solidFill>
                  <a:latin typeface="Comic Sans MS"/>
                  <a:cs typeface="Comic Sans MS"/>
                </a:rPr>
                <a:t>101</a:t>
              </a:r>
              <a:endParaRPr sz="2523">
                <a:latin typeface="Comic Sans MS"/>
                <a:cs typeface="Comic Sans MS"/>
              </a:endParaRPr>
            </a:p>
          </p:txBody>
        </p:sp>
        <p:sp>
          <p:nvSpPr>
            <p:cNvPr id="29" name="object 11"/>
            <p:cNvSpPr txBox="1"/>
            <p:nvPr/>
          </p:nvSpPr>
          <p:spPr>
            <a:xfrm>
              <a:off x="6170498" y="4898349"/>
              <a:ext cx="576879" cy="409822"/>
            </a:xfrm>
            <a:prstGeom prst="rect">
              <a:avLst/>
            </a:prstGeom>
          </p:spPr>
          <p:txBody>
            <a:bodyPr vert="horz" wrap="square" lIns="0" tIns="21366" rIns="0" bIns="0" rtlCol="0">
              <a:spAutoFit/>
            </a:bodyPr>
            <a:lstStyle/>
            <a:p>
              <a:pPr marL="16435" defTabSz="1183325">
                <a:spcBef>
                  <a:spcPts val="168"/>
                </a:spcBef>
              </a:pPr>
              <a:r>
                <a:rPr sz="2523" spc="-32" dirty="0">
                  <a:solidFill>
                    <a:srgbClr val="FF0000"/>
                  </a:solidFill>
                  <a:latin typeface="Comic Sans MS"/>
                  <a:cs typeface="Comic Sans MS"/>
                </a:rPr>
                <a:t>010</a:t>
              </a:r>
              <a:endParaRPr sz="2523">
                <a:latin typeface="Comic Sans MS"/>
                <a:cs typeface="Comic Sans MS"/>
              </a:endParaRPr>
            </a:p>
          </p:txBody>
        </p:sp>
        <p:sp>
          <p:nvSpPr>
            <p:cNvPr id="30" name="object 12"/>
            <p:cNvSpPr txBox="1"/>
            <p:nvPr/>
          </p:nvSpPr>
          <p:spPr>
            <a:xfrm>
              <a:off x="3969483" y="4853064"/>
              <a:ext cx="472515" cy="409822"/>
            </a:xfrm>
            <a:prstGeom prst="rect">
              <a:avLst/>
            </a:prstGeom>
          </p:spPr>
          <p:txBody>
            <a:bodyPr vert="horz" wrap="square" lIns="0" tIns="21366" rIns="0" bIns="0" rtlCol="0">
              <a:spAutoFit/>
            </a:bodyPr>
            <a:lstStyle/>
            <a:p>
              <a:pPr marL="16435" defTabSz="1183325">
                <a:spcBef>
                  <a:spcPts val="168"/>
                </a:spcBef>
              </a:pPr>
              <a:r>
                <a:rPr sz="2523" spc="-32" dirty="0">
                  <a:solidFill>
                    <a:srgbClr val="FF0000"/>
                  </a:solidFill>
                  <a:latin typeface="Comic Sans MS"/>
                  <a:cs typeface="Comic Sans MS"/>
                </a:rPr>
                <a:t>111</a:t>
              </a:r>
              <a:endParaRPr sz="2523">
                <a:latin typeface="Comic Sans MS"/>
                <a:cs typeface="Comic Sans MS"/>
              </a:endParaRPr>
            </a:p>
          </p:txBody>
        </p:sp>
        <p:sp>
          <p:nvSpPr>
            <p:cNvPr id="31" name="object 13"/>
            <p:cNvSpPr/>
            <p:nvPr/>
          </p:nvSpPr>
          <p:spPr>
            <a:xfrm>
              <a:off x="4230444" y="6534014"/>
              <a:ext cx="885862" cy="816834"/>
            </a:xfrm>
            <a:custGeom>
              <a:avLst/>
              <a:gdLst/>
              <a:ahLst/>
              <a:cxnLst/>
              <a:rect l="l" t="t" r="r" b="b"/>
              <a:pathLst>
                <a:path w="684529" h="631189">
                  <a:moveTo>
                    <a:pt x="670560" y="630936"/>
                  </a:moveTo>
                  <a:lnTo>
                    <a:pt x="643127" y="630936"/>
                  </a:lnTo>
                  <a:lnTo>
                    <a:pt x="626364" y="624840"/>
                  </a:lnTo>
                  <a:lnTo>
                    <a:pt x="606552" y="618744"/>
                  </a:lnTo>
                  <a:lnTo>
                    <a:pt x="588263" y="609600"/>
                  </a:lnTo>
                  <a:lnTo>
                    <a:pt x="568452" y="601980"/>
                  </a:lnTo>
                  <a:lnTo>
                    <a:pt x="547115" y="592835"/>
                  </a:lnTo>
                  <a:lnTo>
                    <a:pt x="504443" y="582168"/>
                  </a:lnTo>
                  <a:lnTo>
                    <a:pt x="484632" y="580644"/>
                  </a:lnTo>
                  <a:lnTo>
                    <a:pt x="466343" y="577596"/>
                  </a:lnTo>
                  <a:lnTo>
                    <a:pt x="448056" y="576072"/>
                  </a:lnTo>
                  <a:lnTo>
                    <a:pt x="432815" y="568452"/>
                  </a:lnTo>
                  <a:lnTo>
                    <a:pt x="416052" y="557783"/>
                  </a:lnTo>
                  <a:lnTo>
                    <a:pt x="408432" y="550163"/>
                  </a:lnTo>
                  <a:lnTo>
                    <a:pt x="408432" y="547115"/>
                  </a:lnTo>
                  <a:lnTo>
                    <a:pt x="409956" y="545592"/>
                  </a:lnTo>
                  <a:lnTo>
                    <a:pt x="422147" y="539496"/>
                  </a:lnTo>
                  <a:lnTo>
                    <a:pt x="423671" y="537972"/>
                  </a:lnTo>
                  <a:lnTo>
                    <a:pt x="420623" y="531876"/>
                  </a:lnTo>
                  <a:lnTo>
                    <a:pt x="413004" y="522732"/>
                  </a:lnTo>
                  <a:lnTo>
                    <a:pt x="408432" y="519683"/>
                  </a:lnTo>
                  <a:lnTo>
                    <a:pt x="402335" y="518159"/>
                  </a:lnTo>
                  <a:lnTo>
                    <a:pt x="394715" y="522732"/>
                  </a:lnTo>
                  <a:lnTo>
                    <a:pt x="391667" y="522732"/>
                  </a:lnTo>
                  <a:lnTo>
                    <a:pt x="385571" y="519683"/>
                  </a:lnTo>
                  <a:lnTo>
                    <a:pt x="377952" y="512063"/>
                  </a:lnTo>
                  <a:lnTo>
                    <a:pt x="381000" y="496824"/>
                  </a:lnTo>
                  <a:lnTo>
                    <a:pt x="385571" y="480059"/>
                  </a:lnTo>
                  <a:lnTo>
                    <a:pt x="397763" y="466344"/>
                  </a:lnTo>
                  <a:lnTo>
                    <a:pt x="417576" y="473963"/>
                  </a:lnTo>
                  <a:lnTo>
                    <a:pt x="434339" y="483107"/>
                  </a:lnTo>
                  <a:lnTo>
                    <a:pt x="454152" y="490728"/>
                  </a:lnTo>
                  <a:lnTo>
                    <a:pt x="470915" y="496824"/>
                  </a:lnTo>
                  <a:lnTo>
                    <a:pt x="487680" y="501396"/>
                  </a:lnTo>
                  <a:lnTo>
                    <a:pt x="423671" y="435863"/>
                  </a:lnTo>
                  <a:lnTo>
                    <a:pt x="356615" y="373380"/>
                  </a:lnTo>
                  <a:lnTo>
                    <a:pt x="163067" y="193548"/>
                  </a:lnTo>
                  <a:lnTo>
                    <a:pt x="102107" y="134112"/>
                  </a:lnTo>
                  <a:lnTo>
                    <a:pt x="48767" y="77724"/>
                  </a:lnTo>
                  <a:lnTo>
                    <a:pt x="0" y="19812"/>
                  </a:lnTo>
                  <a:lnTo>
                    <a:pt x="6095" y="7620"/>
                  </a:lnTo>
                  <a:lnTo>
                    <a:pt x="13715" y="3048"/>
                  </a:lnTo>
                  <a:lnTo>
                    <a:pt x="22859" y="0"/>
                  </a:lnTo>
                  <a:lnTo>
                    <a:pt x="44195" y="0"/>
                  </a:lnTo>
                  <a:lnTo>
                    <a:pt x="53339" y="1524"/>
                  </a:lnTo>
                  <a:lnTo>
                    <a:pt x="111251" y="57912"/>
                  </a:lnTo>
                  <a:lnTo>
                    <a:pt x="167639" y="115824"/>
                  </a:lnTo>
                  <a:lnTo>
                    <a:pt x="289559" y="237744"/>
                  </a:lnTo>
                  <a:lnTo>
                    <a:pt x="411480" y="350520"/>
                  </a:lnTo>
                  <a:lnTo>
                    <a:pt x="472439" y="399287"/>
                  </a:lnTo>
                  <a:lnTo>
                    <a:pt x="429767" y="312420"/>
                  </a:lnTo>
                  <a:lnTo>
                    <a:pt x="446532" y="306324"/>
                  </a:lnTo>
                  <a:lnTo>
                    <a:pt x="492252" y="316992"/>
                  </a:lnTo>
                  <a:lnTo>
                    <a:pt x="522732" y="345948"/>
                  </a:lnTo>
                  <a:lnTo>
                    <a:pt x="550163" y="385572"/>
                  </a:lnTo>
                  <a:lnTo>
                    <a:pt x="576071" y="431292"/>
                  </a:lnTo>
                  <a:lnTo>
                    <a:pt x="591311" y="455676"/>
                  </a:lnTo>
                  <a:lnTo>
                    <a:pt x="605028" y="480059"/>
                  </a:lnTo>
                  <a:lnTo>
                    <a:pt x="620268" y="505968"/>
                  </a:lnTo>
                  <a:lnTo>
                    <a:pt x="650747" y="551687"/>
                  </a:lnTo>
                  <a:lnTo>
                    <a:pt x="684275" y="591311"/>
                  </a:lnTo>
                  <a:lnTo>
                    <a:pt x="684275" y="612648"/>
                  </a:lnTo>
                  <a:lnTo>
                    <a:pt x="678179" y="623315"/>
                  </a:lnTo>
                  <a:lnTo>
                    <a:pt x="670560" y="630936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2" name="object 14"/>
            <p:cNvSpPr/>
            <p:nvPr/>
          </p:nvSpPr>
          <p:spPr>
            <a:xfrm>
              <a:off x="6332848" y="6697710"/>
              <a:ext cx="298299" cy="895724"/>
            </a:xfrm>
            <a:custGeom>
              <a:avLst/>
              <a:gdLst/>
              <a:ahLst/>
              <a:cxnLst/>
              <a:rect l="l" t="t" r="r" b="b"/>
              <a:pathLst>
                <a:path w="230504" h="692150">
                  <a:moveTo>
                    <a:pt x="131063" y="691895"/>
                  </a:moveTo>
                  <a:lnTo>
                    <a:pt x="94487" y="662939"/>
                  </a:lnTo>
                  <a:lnTo>
                    <a:pt x="71627" y="618743"/>
                  </a:lnTo>
                  <a:lnTo>
                    <a:pt x="64007" y="601980"/>
                  </a:lnTo>
                  <a:lnTo>
                    <a:pt x="54863" y="589787"/>
                  </a:lnTo>
                  <a:lnTo>
                    <a:pt x="42671" y="573024"/>
                  </a:lnTo>
                  <a:lnTo>
                    <a:pt x="30479" y="562356"/>
                  </a:lnTo>
                  <a:lnTo>
                    <a:pt x="9143" y="537972"/>
                  </a:lnTo>
                  <a:lnTo>
                    <a:pt x="4571" y="525780"/>
                  </a:lnTo>
                  <a:lnTo>
                    <a:pt x="0" y="510539"/>
                  </a:lnTo>
                  <a:lnTo>
                    <a:pt x="0" y="502919"/>
                  </a:lnTo>
                  <a:lnTo>
                    <a:pt x="3047" y="501395"/>
                  </a:lnTo>
                  <a:lnTo>
                    <a:pt x="6095" y="501395"/>
                  </a:lnTo>
                  <a:lnTo>
                    <a:pt x="18287" y="505967"/>
                  </a:lnTo>
                  <a:lnTo>
                    <a:pt x="21335" y="505967"/>
                  </a:lnTo>
                  <a:lnTo>
                    <a:pt x="22859" y="499872"/>
                  </a:lnTo>
                  <a:lnTo>
                    <a:pt x="24383" y="490728"/>
                  </a:lnTo>
                  <a:lnTo>
                    <a:pt x="22859" y="487680"/>
                  </a:lnTo>
                  <a:lnTo>
                    <a:pt x="21335" y="483108"/>
                  </a:lnTo>
                  <a:lnTo>
                    <a:pt x="12191" y="481584"/>
                  </a:lnTo>
                  <a:lnTo>
                    <a:pt x="9143" y="480060"/>
                  </a:lnTo>
                  <a:lnTo>
                    <a:pt x="9143" y="466343"/>
                  </a:lnTo>
                  <a:lnTo>
                    <a:pt x="21335" y="460248"/>
                  </a:lnTo>
                  <a:lnTo>
                    <a:pt x="36575" y="454152"/>
                  </a:lnTo>
                  <a:lnTo>
                    <a:pt x="54863" y="454152"/>
                  </a:lnTo>
                  <a:lnTo>
                    <a:pt x="64007" y="469391"/>
                  </a:lnTo>
                  <a:lnTo>
                    <a:pt x="68579" y="483108"/>
                  </a:lnTo>
                  <a:lnTo>
                    <a:pt x="82295" y="510539"/>
                  </a:lnTo>
                  <a:lnTo>
                    <a:pt x="91439" y="521208"/>
                  </a:lnTo>
                  <a:lnTo>
                    <a:pt x="96011" y="452628"/>
                  </a:lnTo>
                  <a:lnTo>
                    <a:pt x="96011" y="181356"/>
                  </a:lnTo>
                  <a:lnTo>
                    <a:pt x="99059" y="118872"/>
                  </a:lnTo>
                  <a:lnTo>
                    <a:pt x="105155" y="59436"/>
                  </a:lnTo>
                  <a:lnTo>
                    <a:pt x="114299" y="1524"/>
                  </a:lnTo>
                  <a:lnTo>
                    <a:pt x="126491" y="0"/>
                  </a:lnTo>
                  <a:lnTo>
                    <a:pt x="135635" y="1524"/>
                  </a:lnTo>
                  <a:lnTo>
                    <a:pt x="143255" y="4572"/>
                  </a:lnTo>
                  <a:lnTo>
                    <a:pt x="156971" y="16764"/>
                  </a:lnTo>
                  <a:lnTo>
                    <a:pt x="163067" y="22859"/>
                  </a:lnTo>
                  <a:lnTo>
                    <a:pt x="161543" y="83820"/>
                  </a:lnTo>
                  <a:lnTo>
                    <a:pt x="156971" y="144779"/>
                  </a:lnTo>
                  <a:lnTo>
                    <a:pt x="150875" y="275843"/>
                  </a:lnTo>
                  <a:lnTo>
                    <a:pt x="149351" y="338328"/>
                  </a:lnTo>
                  <a:lnTo>
                    <a:pt x="150875" y="402336"/>
                  </a:lnTo>
                  <a:lnTo>
                    <a:pt x="155447" y="461772"/>
                  </a:lnTo>
                  <a:lnTo>
                    <a:pt x="190499" y="393191"/>
                  </a:lnTo>
                  <a:lnTo>
                    <a:pt x="205739" y="399287"/>
                  </a:lnTo>
                  <a:lnTo>
                    <a:pt x="217931" y="406908"/>
                  </a:lnTo>
                  <a:lnTo>
                    <a:pt x="225551" y="417576"/>
                  </a:lnTo>
                  <a:lnTo>
                    <a:pt x="230123" y="429767"/>
                  </a:lnTo>
                  <a:lnTo>
                    <a:pt x="230123" y="445008"/>
                  </a:lnTo>
                  <a:lnTo>
                    <a:pt x="217931" y="496823"/>
                  </a:lnTo>
                  <a:lnTo>
                    <a:pt x="202691" y="536448"/>
                  </a:lnTo>
                  <a:lnTo>
                    <a:pt x="193547" y="556260"/>
                  </a:lnTo>
                  <a:lnTo>
                    <a:pt x="185927" y="576072"/>
                  </a:lnTo>
                  <a:lnTo>
                    <a:pt x="178307" y="598932"/>
                  </a:lnTo>
                  <a:lnTo>
                    <a:pt x="170687" y="618743"/>
                  </a:lnTo>
                  <a:lnTo>
                    <a:pt x="164591" y="640079"/>
                  </a:lnTo>
                  <a:lnTo>
                    <a:pt x="161543" y="658368"/>
                  </a:lnTo>
                  <a:lnTo>
                    <a:pt x="158495" y="678179"/>
                  </a:lnTo>
                  <a:lnTo>
                    <a:pt x="143255" y="688847"/>
                  </a:lnTo>
                  <a:lnTo>
                    <a:pt x="131063" y="691895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3" name="object 15"/>
            <p:cNvSpPr/>
            <p:nvPr/>
          </p:nvSpPr>
          <p:spPr>
            <a:xfrm>
              <a:off x="7808080" y="6486681"/>
              <a:ext cx="842309" cy="864496"/>
            </a:xfrm>
            <a:custGeom>
              <a:avLst/>
              <a:gdLst/>
              <a:ahLst/>
              <a:cxnLst/>
              <a:rect l="l" t="t" r="r" b="b"/>
              <a:pathLst>
                <a:path w="650875" h="668020">
                  <a:moveTo>
                    <a:pt x="39623" y="667512"/>
                  </a:moveTo>
                  <a:lnTo>
                    <a:pt x="18287" y="667512"/>
                  </a:lnTo>
                  <a:lnTo>
                    <a:pt x="7619" y="659891"/>
                  </a:lnTo>
                  <a:lnTo>
                    <a:pt x="1523" y="652271"/>
                  </a:lnTo>
                  <a:lnTo>
                    <a:pt x="0" y="638556"/>
                  </a:lnTo>
                  <a:lnTo>
                    <a:pt x="1523" y="624839"/>
                  </a:lnTo>
                  <a:lnTo>
                    <a:pt x="7619" y="608076"/>
                  </a:lnTo>
                  <a:lnTo>
                    <a:pt x="15239" y="589787"/>
                  </a:lnTo>
                  <a:lnTo>
                    <a:pt x="24383" y="569976"/>
                  </a:lnTo>
                  <a:lnTo>
                    <a:pt x="32003" y="550163"/>
                  </a:lnTo>
                  <a:lnTo>
                    <a:pt x="42671" y="530352"/>
                  </a:lnTo>
                  <a:lnTo>
                    <a:pt x="47243" y="512063"/>
                  </a:lnTo>
                  <a:lnTo>
                    <a:pt x="54863" y="487680"/>
                  </a:lnTo>
                  <a:lnTo>
                    <a:pt x="62483" y="431291"/>
                  </a:lnTo>
                  <a:lnTo>
                    <a:pt x="88391" y="391668"/>
                  </a:lnTo>
                  <a:lnTo>
                    <a:pt x="92963" y="391668"/>
                  </a:lnTo>
                  <a:lnTo>
                    <a:pt x="94487" y="393191"/>
                  </a:lnTo>
                  <a:lnTo>
                    <a:pt x="99059" y="406908"/>
                  </a:lnTo>
                  <a:lnTo>
                    <a:pt x="100583" y="408432"/>
                  </a:lnTo>
                  <a:lnTo>
                    <a:pt x="108203" y="405383"/>
                  </a:lnTo>
                  <a:lnTo>
                    <a:pt x="115823" y="397763"/>
                  </a:lnTo>
                  <a:lnTo>
                    <a:pt x="118871" y="393191"/>
                  </a:lnTo>
                  <a:lnTo>
                    <a:pt x="120395" y="387096"/>
                  </a:lnTo>
                  <a:lnTo>
                    <a:pt x="117347" y="381000"/>
                  </a:lnTo>
                  <a:lnTo>
                    <a:pt x="117347" y="376428"/>
                  </a:lnTo>
                  <a:lnTo>
                    <a:pt x="120395" y="370332"/>
                  </a:lnTo>
                  <a:lnTo>
                    <a:pt x="128015" y="364235"/>
                  </a:lnTo>
                  <a:lnTo>
                    <a:pt x="143255" y="365759"/>
                  </a:lnTo>
                  <a:lnTo>
                    <a:pt x="160019" y="371856"/>
                  </a:lnTo>
                  <a:lnTo>
                    <a:pt x="172211" y="384048"/>
                  </a:lnTo>
                  <a:lnTo>
                    <a:pt x="164591" y="403859"/>
                  </a:lnTo>
                  <a:lnTo>
                    <a:pt x="155447" y="420624"/>
                  </a:lnTo>
                  <a:lnTo>
                    <a:pt x="146303" y="438911"/>
                  </a:lnTo>
                  <a:lnTo>
                    <a:pt x="140207" y="457200"/>
                  </a:lnTo>
                  <a:lnTo>
                    <a:pt x="135635" y="472439"/>
                  </a:lnTo>
                  <a:lnTo>
                    <a:pt x="202691" y="411480"/>
                  </a:lnTo>
                  <a:lnTo>
                    <a:pt x="268223" y="345948"/>
                  </a:lnTo>
                  <a:lnTo>
                    <a:pt x="452627" y="156972"/>
                  </a:lnTo>
                  <a:lnTo>
                    <a:pt x="513587" y="99060"/>
                  </a:lnTo>
                  <a:lnTo>
                    <a:pt x="573023" y="47244"/>
                  </a:lnTo>
                  <a:lnTo>
                    <a:pt x="632459" y="0"/>
                  </a:lnTo>
                  <a:lnTo>
                    <a:pt x="643127" y="6096"/>
                  </a:lnTo>
                  <a:lnTo>
                    <a:pt x="647699" y="15240"/>
                  </a:lnTo>
                  <a:lnTo>
                    <a:pt x="650747" y="24384"/>
                  </a:lnTo>
                  <a:lnTo>
                    <a:pt x="649223" y="44196"/>
                  </a:lnTo>
                  <a:lnTo>
                    <a:pt x="647699" y="54864"/>
                  </a:lnTo>
                  <a:lnTo>
                    <a:pt x="530351" y="166115"/>
                  </a:lnTo>
                  <a:lnTo>
                    <a:pt x="467867" y="224027"/>
                  </a:lnTo>
                  <a:lnTo>
                    <a:pt x="405383" y="283464"/>
                  </a:lnTo>
                  <a:lnTo>
                    <a:pt x="345947" y="341376"/>
                  </a:lnTo>
                  <a:lnTo>
                    <a:pt x="289559" y="400811"/>
                  </a:lnTo>
                  <a:lnTo>
                    <a:pt x="237743" y="460248"/>
                  </a:lnTo>
                  <a:lnTo>
                    <a:pt x="326135" y="422148"/>
                  </a:lnTo>
                  <a:lnTo>
                    <a:pt x="330707" y="438911"/>
                  </a:lnTo>
                  <a:lnTo>
                    <a:pt x="320039" y="483108"/>
                  </a:lnTo>
                  <a:lnTo>
                    <a:pt x="291083" y="512063"/>
                  </a:lnTo>
                  <a:lnTo>
                    <a:pt x="249935" y="537972"/>
                  </a:lnTo>
                  <a:lnTo>
                    <a:pt x="202691" y="563880"/>
                  </a:lnTo>
                  <a:lnTo>
                    <a:pt x="178307" y="577596"/>
                  </a:lnTo>
                  <a:lnTo>
                    <a:pt x="126491" y="605028"/>
                  </a:lnTo>
                  <a:lnTo>
                    <a:pt x="103631" y="620268"/>
                  </a:lnTo>
                  <a:lnTo>
                    <a:pt x="79247" y="635508"/>
                  </a:lnTo>
                  <a:lnTo>
                    <a:pt x="59435" y="650748"/>
                  </a:lnTo>
                  <a:lnTo>
                    <a:pt x="39623" y="667512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4" name="object 16"/>
            <p:cNvSpPr/>
            <p:nvPr/>
          </p:nvSpPr>
          <p:spPr>
            <a:xfrm>
              <a:off x="8717280" y="5415758"/>
              <a:ext cx="298299" cy="446218"/>
            </a:xfrm>
            <a:custGeom>
              <a:avLst/>
              <a:gdLst/>
              <a:ahLst/>
              <a:cxnLst/>
              <a:rect l="l" t="t" r="r" b="b"/>
              <a:pathLst>
                <a:path w="230504" h="344804">
                  <a:moveTo>
                    <a:pt x="143256" y="344423"/>
                  </a:moveTo>
                  <a:lnTo>
                    <a:pt x="118872" y="344423"/>
                  </a:lnTo>
                  <a:lnTo>
                    <a:pt x="109728" y="341376"/>
                  </a:lnTo>
                  <a:lnTo>
                    <a:pt x="100584" y="336804"/>
                  </a:lnTo>
                  <a:lnTo>
                    <a:pt x="92964" y="330708"/>
                  </a:lnTo>
                  <a:lnTo>
                    <a:pt x="85344" y="323087"/>
                  </a:lnTo>
                  <a:lnTo>
                    <a:pt x="77724" y="316991"/>
                  </a:lnTo>
                  <a:lnTo>
                    <a:pt x="70104" y="309372"/>
                  </a:lnTo>
                  <a:lnTo>
                    <a:pt x="62484" y="300228"/>
                  </a:lnTo>
                  <a:lnTo>
                    <a:pt x="54864" y="294131"/>
                  </a:lnTo>
                  <a:lnTo>
                    <a:pt x="42672" y="286512"/>
                  </a:lnTo>
                  <a:lnTo>
                    <a:pt x="28956" y="280416"/>
                  </a:lnTo>
                  <a:lnTo>
                    <a:pt x="7620" y="268224"/>
                  </a:lnTo>
                  <a:lnTo>
                    <a:pt x="3048" y="262128"/>
                  </a:lnTo>
                  <a:lnTo>
                    <a:pt x="0" y="254507"/>
                  </a:lnTo>
                  <a:lnTo>
                    <a:pt x="0" y="251459"/>
                  </a:lnTo>
                  <a:lnTo>
                    <a:pt x="1524" y="249936"/>
                  </a:lnTo>
                  <a:lnTo>
                    <a:pt x="4572" y="249936"/>
                  </a:lnTo>
                  <a:lnTo>
                    <a:pt x="16764" y="251459"/>
                  </a:lnTo>
                  <a:lnTo>
                    <a:pt x="19812" y="251459"/>
                  </a:lnTo>
                  <a:lnTo>
                    <a:pt x="22860" y="249936"/>
                  </a:lnTo>
                  <a:lnTo>
                    <a:pt x="22860" y="242316"/>
                  </a:lnTo>
                  <a:lnTo>
                    <a:pt x="19812" y="240792"/>
                  </a:lnTo>
                  <a:lnTo>
                    <a:pt x="12192" y="240792"/>
                  </a:lnTo>
                  <a:lnTo>
                    <a:pt x="7620" y="239268"/>
                  </a:lnTo>
                  <a:lnTo>
                    <a:pt x="7620" y="233172"/>
                  </a:lnTo>
                  <a:lnTo>
                    <a:pt x="19812" y="230124"/>
                  </a:lnTo>
                  <a:lnTo>
                    <a:pt x="36576" y="227076"/>
                  </a:lnTo>
                  <a:lnTo>
                    <a:pt x="54864" y="227076"/>
                  </a:lnTo>
                  <a:lnTo>
                    <a:pt x="62484" y="233172"/>
                  </a:lnTo>
                  <a:lnTo>
                    <a:pt x="67056" y="240792"/>
                  </a:lnTo>
                  <a:lnTo>
                    <a:pt x="80772" y="254507"/>
                  </a:lnTo>
                  <a:lnTo>
                    <a:pt x="89916" y="260604"/>
                  </a:lnTo>
                  <a:lnTo>
                    <a:pt x="94488" y="225551"/>
                  </a:lnTo>
                  <a:lnTo>
                    <a:pt x="96012" y="192024"/>
                  </a:lnTo>
                  <a:lnTo>
                    <a:pt x="96012" y="91439"/>
                  </a:lnTo>
                  <a:lnTo>
                    <a:pt x="97536" y="59436"/>
                  </a:lnTo>
                  <a:lnTo>
                    <a:pt x="103632" y="28956"/>
                  </a:lnTo>
                  <a:lnTo>
                    <a:pt x="112776" y="1524"/>
                  </a:lnTo>
                  <a:lnTo>
                    <a:pt x="124968" y="0"/>
                  </a:lnTo>
                  <a:lnTo>
                    <a:pt x="143256" y="3048"/>
                  </a:lnTo>
                  <a:lnTo>
                    <a:pt x="156972" y="9144"/>
                  </a:lnTo>
                  <a:lnTo>
                    <a:pt x="163068" y="12192"/>
                  </a:lnTo>
                  <a:lnTo>
                    <a:pt x="156972" y="73152"/>
                  </a:lnTo>
                  <a:lnTo>
                    <a:pt x="152400" y="105155"/>
                  </a:lnTo>
                  <a:lnTo>
                    <a:pt x="149352" y="138684"/>
                  </a:lnTo>
                  <a:lnTo>
                    <a:pt x="149352" y="201168"/>
                  </a:lnTo>
                  <a:lnTo>
                    <a:pt x="153924" y="230124"/>
                  </a:lnTo>
                  <a:lnTo>
                    <a:pt x="188976" y="196595"/>
                  </a:lnTo>
                  <a:lnTo>
                    <a:pt x="205740" y="199643"/>
                  </a:lnTo>
                  <a:lnTo>
                    <a:pt x="216408" y="202692"/>
                  </a:lnTo>
                  <a:lnTo>
                    <a:pt x="224028" y="208788"/>
                  </a:lnTo>
                  <a:lnTo>
                    <a:pt x="228600" y="214883"/>
                  </a:lnTo>
                  <a:lnTo>
                    <a:pt x="230124" y="222504"/>
                  </a:lnTo>
                  <a:lnTo>
                    <a:pt x="228600" y="230124"/>
                  </a:lnTo>
                  <a:lnTo>
                    <a:pt x="224028" y="239268"/>
                  </a:lnTo>
                  <a:lnTo>
                    <a:pt x="217932" y="248411"/>
                  </a:lnTo>
                  <a:lnTo>
                    <a:pt x="201168" y="266700"/>
                  </a:lnTo>
                  <a:lnTo>
                    <a:pt x="185928" y="288036"/>
                  </a:lnTo>
                  <a:lnTo>
                    <a:pt x="176784" y="298704"/>
                  </a:lnTo>
                  <a:lnTo>
                    <a:pt x="169164" y="309372"/>
                  </a:lnTo>
                  <a:lnTo>
                    <a:pt x="163068" y="318515"/>
                  </a:lnTo>
                  <a:lnTo>
                    <a:pt x="160020" y="329184"/>
                  </a:lnTo>
                  <a:lnTo>
                    <a:pt x="156972" y="338328"/>
                  </a:lnTo>
                  <a:lnTo>
                    <a:pt x="143256" y="344423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5" name="object 17"/>
            <p:cNvSpPr/>
            <p:nvPr/>
          </p:nvSpPr>
          <p:spPr>
            <a:xfrm>
              <a:off x="6259875" y="5486758"/>
              <a:ext cx="298299" cy="447862"/>
            </a:xfrm>
            <a:custGeom>
              <a:avLst/>
              <a:gdLst/>
              <a:ahLst/>
              <a:cxnLst/>
              <a:rect l="l" t="t" r="r" b="b"/>
              <a:pathLst>
                <a:path w="230504" h="346075">
                  <a:moveTo>
                    <a:pt x="129539" y="345948"/>
                  </a:moveTo>
                  <a:lnTo>
                    <a:pt x="92963" y="332232"/>
                  </a:lnTo>
                  <a:lnTo>
                    <a:pt x="54863" y="294131"/>
                  </a:lnTo>
                  <a:lnTo>
                    <a:pt x="42671" y="286512"/>
                  </a:lnTo>
                  <a:lnTo>
                    <a:pt x="28955" y="280416"/>
                  </a:lnTo>
                  <a:lnTo>
                    <a:pt x="18287" y="274319"/>
                  </a:lnTo>
                  <a:lnTo>
                    <a:pt x="7619" y="269748"/>
                  </a:lnTo>
                  <a:lnTo>
                    <a:pt x="3047" y="263652"/>
                  </a:lnTo>
                  <a:lnTo>
                    <a:pt x="0" y="256031"/>
                  </a:lnTo>
                  <a:lnTo>
                    <a:pt x="0" y="251459"/>
                  </a:lnTo>
                  <a:lnTo>
                    <a:pt x="1523" y="249936"/>
                  </a:lnTo>
                  <a:lnTo>
                    <a:pt x="4571" y="249936"/>
                  </a:lnTo>
                  <a:lnTo>
                    <a:pt x="16763" y="252983"/>
                  </a:lnTo>
                  <a:lnTo>
                    <a:pt x="19811" y="252983"/>
                  </a:lnTo>
                  <a:lnTo>
                    <a:pt x="22859" y="249936"/>
                  </a:lnTo>
                  <a:lnTo>
                    <a:pt x="22859" y="243840"/>
                  </a:lnTo>
                  <a:lnTo>
                    <a:pt x="19811" y="242316"/>
                  </a:lnTo>
                  <a:lnTo>
                    <a:pt x="12191" y="240792"/>
                  </a:lnTo>
                  <a:lnTo>
                    <a:pt x="7619" y="239268"/>
                  </a:lnTo>
                  <a:lnTo>
                    <a:pt x="7619" y="233172"/>
                  </a:lnTo>
                  <a:lnTo>
                    <a:pt x="19811" y="230124"/>
                  </a:lnTo>
                  <a:lnTo>
                    <a:pt x="36575" y="227076"/>
                  </a:lnTo>
                  <a:lnTo>
                    <a:pt x="54863" y="227076"/>
                  </a:lnTo>
                  <a:lnTo>
                    <a:pt x="62483" y="234695"/>
                  </a:lnTo>
                  <a:lnTo>
                    <a:pt x="67055" y="240792"/>
                  </a:lnTo>
                  <a:lnTo>
                    <a:pt x="74675" y="248411"/>
                  </a:lnTo>
                  <a:lnTo>
                    <a:pt x="80771" y="256031"/>
                  </a:lnTo>
                  <a:lnTo>
                    <a:pt x="89915" y="260604"/>
                  </a:lnTo>
                  <a:lnTo>
                    <a:pt x="94487" y="227076"/>
                  </a:lnTo>
                  <a:lnTo>
                    <a:pt x="96011" y="192024"/>
                  </a:lnTo>
                  <a:lnTo>
                    <a:pt x="96011" y="91439"/>
                  </a:lnTo>
                  <a:lnTo>
                    <a:pt x="97535" y="59436"/>
                  </a:lnTo>
                  <a:lnTo>
                    <a:pt x="103631" y="30480"/>
                  </a:lnTo>
                  <a:lnTo>
                    <a:pt x="112775" y="1524"/>
                  </a:lnTo>
                  <a:lnTo>
                    <a:pt x="124967" y="0"/>
                  </a:lnTo>
                  <a:lnTo>
                    <a:pt x="134111" y="1524"/>
                  </a:lnTo>
                  <a:lnTo>
                    <a:pt x="141731" y="3048"/>
                  </a:lnTo>
                  <a:lnTo>
                    <a:pt x="156971" y="9144"/>
                  </a:lnTo>
                  <a:lnTo>
                    <a:pt x="163067" y="12192"/>
                  </a:lnTo>
                  <a:lnTo>
                    <a:pt x="156971" y="73152"/>
                  </a:lnTo>
                  <a:lnTo>
                    <a:pt x="152399" y="105155"/>
                  </a:lnTo>
                  <a:lnTo>
                    <a:pt x="149351" y="138684"/>
                  </a:lnTo>
                  <a:lnTo>
                    <a:pt x="147827" y="169164"/>
                  </a:lnTo>
                  <a:lnTo>
                    <a:pt x="149351" y="201168"/>
                  </a:lnTo>
                  <a:lnTo>
                    <a:pt x="153923" y="230124"/>
                  </a:lnTo>
                  <a:lnTo>
                    <a:pt x="188975" y="196595"/>
                  </a:lnTo>
                  <a:lnTo>
                    <a:pt x="205739" y="199643"/>
                  </a:lnTo>
                  <a:lnTo>
                    <a:pt x="216407" y="204216"/>
                  </a:lnTo>
                  <a:lnTo>
                    <a:pt x="224027" y="208788"/>
                  </a:lnTo>
                  <a:lnTo>
                    <a:pt x="228599" y="214883"/>
                  </a:lnTo>
                  <a:lnTo>
                    <a:pt x="230123" y="222504"/>
                  </a:lnTo>
                  <a:lnTo>
                    <a:pt x="228599" y="230124"/>
                  </a:lnTo>
                  <a:lnTo>
                    <a:pt x="224027" y="239268"/>
                  </a:lnTo>
                  <a:lnTo>
                    <a:pt x="217931" y="248411"/>
                  </a:lnTo>
                  <a:lnTo>
                    <a:pt x="201167" y="268224"/>
                  </a:lnTo>
                  <a:lnTo>
                    <a:pt x="193547" y="278892"/>
                  </a:lnTo>
                  <a:lnTo>
                    <a:pt x="184403" y="288036"/>
                  </a:lnTo>
                  <a:lnTo>
                    <a:pt x="169163" y="309372"/>
                  </a:lnTo>
                  <a:lnTo>
                    <a:pt x="163067" y="320039"/>
                  </a:lnTo>
                  <a:lnTo>
                    <a:pt x="156971" y="338328"/>
                  </a:lnTo>
                  <a:lnTo>
                    <a:pt x="141731" y="344423"/>
                  </a:lnTo>
                  <a:lnTo>
                    <a:pt x="129539" y="34594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6" name="object 18"/>
            <p:cNvSpPr/>
            <p:nvPr/>
          </p:nvSpPr>
          <p:spPr>
            <a:xfrm>
              <a:off x="3897136" y="5380258"/>
              <a:ext cx="298299" cy="447862"/>
            </a:xfrm>
            <a:custGeom>
              <a:avLst/>
              <a:gdLst/>
              <a:ahLst/>
              <a:cxnLst/>
              <a:rect l="l" t="t" r="r" b="b"/>
              <a:pathLst>
                <a:path w="230505" h="346075">
                  <a:moveTo>
                    <a:pt x="131064" y="345948"/>
                  </a:moveTo>
                  <a:lnTo>
                    <a:pt x="94488" y="332232"/>
                  </a:lnTo>
                  <a:lnTo>
                    <a:pt x="79248" y="316991"/>
                  </a:lnTo>
                  <a:lnTo>
                    <a:pt x="64008" y="301752"/>
                  </a:lnTo>
                  <a:lnTo>
                    <a:pt x="54864" y="294131"/>
                  </a:lnTo>
                  <a:lnTo>
                    <a:pt x="42672" y="286512"/>
                  </a:lnTo>
                  <a:lnTo>
                    <a:pt x="30480" y="280416"/>
                  </a:lnTo>
                  <a:lnTo>
                    <a:pt x="9144" y="268224"/>
                  </a:lnTo>
                  <a:lnTo>
                    <a:pt x="4572" y="263652"/>
                  </a:lnTo>
                  <a:lnTo>
                    <a:pt x="0" y="256031"/>
                  </a:lnTo>
                  <a:lnTo>
                    <a:pt x="0" y="251459"/>
                  </a:lnTo>
                  <a:lnTo>
                    <a:pt x="3048" y="249936"/>
                  </a:lnTo>
                  <a:lnTo>
                    <a:pt x="6096" y="249936"/>
                  </a:lnTo>
                  <a:lnTo>
                    <a:pt x="18288" y="252983"/>
                  </a:lnTo>
                  <a:lnTo>
                    <a:pt x="19812" y="252983"/>
                  </a:lnTo>
                  <a:lnTo>
                    <a:pt x="22860" y="249936"/>
                  </a:lnTo>
                  <a:lnTo>
                    <a:pt x="24384" y="245364"/>
                  </a:lnTo>
                  <a:lnTo>
                    <a:pt x="22860" y="243840"/>
                  </a:lnTo>
                  <a:lnTo>
                    <a:pt x="19812" y="242316"/>
                  </a:lnTo>
                  <a:lnTo>
                    <a:pt x="12192" y="240792"/>
                  </a:lnTo>
                  <a:lnTo>
                    <a:pt x="9144" y="239268"/>
                  </a:lnTo>
                  <a:lnTo>
                    <a:pt x="7620" y="237743"/>
                  </a:lnTo>
                  <a:lnTo>
                    <a:pt x="9144" y="233172"/>
                  </a:lnTo>
                  <a:lnTo>
                    <a:pt x="21336" y="230124"/>
                  </a:lnTo>
                  <a:lnTo>
                    <a:pt x="36576" y="227076"/>
                  </a:lnTo>
                  <a:lnTo>
                    <a:pt x="54864" y="227076"/>
                  </a:lnTo>
                  <a:lnTo>
                    <a:pt x="76200" y="248411"/>
                  </a:lnTo>
                  <a:lnTo>
                    <a:pt x="82296" y="256031"/>
                  </a:lnTo>
                  <a:lnTo>
                    <a:pt x="91440" y="260604"/>
                  </a:lnTo>
                  <a:lnTo>
                    <a:pt x="96012" y="227076"/>
                  </a:lnTo>
                  <a:lnTo>
                    <a:pt x="96012" y="91439"/>
                  </a:lnTo>
                  <a:lnTo>
                    <a:pt x="99060" y="59436"/>
                  </a:lnTo>
                  <a:lnTo>
                    <a:pt x="103632" y="30480"/>
                  </a:lnTo>
                  <a:lnTo>
                    <a:pt x="114300" y="1524"/>
                  </a:lnTo>
                  <a:lnTo>
                    <a:pt x="126492" y="0"/>
                  </a:lnTo>
                  <a:lnTo>
                    <a:pt x="135636" y="1524"/>
                  </a:lnTo>
                  <a:lnTo>
                    <a:pt x="143256" y="3048"/>
                  </a:lnTo>
                  <a:lnTo>
                    <a:pt x="156972" y="9144"/>
                  </a:lnTo>
                  <a:lnTo>
                    <a:pt x="163068" y="12192"/>
                  </a:lnTo>
                  <a:lnTo>
                    <a:pt x="161544" y="42672"/>
                  </a:lnTo>
                  <a:lnTo>
                    <a:pt x="156972" y="73152"/>
                  </a:lnTo>
                  <a:lnTo>
                    <a:pt x="150876" y="138684"/>
                  </a:lnTo>
                  <a:lnTo>
                    <a:pt x="149352" y="169164"/>
                  </a:lnTo>
                  <a:lnTo>
                    <a:pt x="150876" y="201168"/>
                  </a:lnTo>
                  <a:lnTo>
                    <a:pt x="155448" y="230124"/>
                  </a:lnTo>
                  <a:lnTo>
                    <a:pt x="190500" y="196595"/>
                  </a:lnTo>
                  <a:lnTo>
                    <a:pt x="205740" y="199643"/>
                  </a:lnTo>
                  <a:lnTo>
                    <a:pt x="217932" y="204216"/>
                  </a:lnTo>
                  <a:lnTo>
                    <a:pt x="225552" y="208788"/>
                  </a:lnTo>
                  <a:lnTo>
                    <a:pt x="230124" y="214883"/>
                  </a:lnTo>
                  <a:lnTo>
                    <a:pt x="230124" y="222504"/>
                  </a:lnTo>
                  <a:lnTo>
                    <a:pt x="202692" y="268224"/>
                  </a:lnTo>
                  <a:lnTo>
                    <a:pt x="176784" y="298704"/>
                  </a:lnTo>
                  <a:lnTo>
                    <a:pt x="164592" y="320039"/>
                  </a:lnTo>
                  <a:lnTo>
                    <a:pt x="158496" y="338328"/>
                  </a:lnTo>
                  <a:lnTo>
                    <a:pt x="143256" y="344423"/>
                  </a:lnTo>
                  <a:lnTo>
                    <a:pt x="131064" y="34594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7" name="object 19"/>
            <p:cNvSpPr txBox="1"/>
            <p:nvPr/>
          </p:nvSpPr>
          <p:spPr>
            <a:xfrm>
              <a:off x="6963963" y="3101722"/>
              <a:ext cx="821765" cy="409822"/>
            </a:xfrm>
            <a:prstGeom prst="rect">
              <a:avLst/>
            </a:prstGeom>
          </p:spPr>
          <p:txBody>
            <a:bodyPr vert="horz" wrap="square" lIns="0" tIns="21366" rIns="0" bIns="0" rtlCol="0">
              <a:spAutoFit/>
            </a:bodyPr>
            <a:lstStyle/>
            <a:p>
              <a:pPr marL="183251" defTabSz="1183325">
                <a:spcBef>
                  <a:spcPts val="168"/>
                </a:spcBef>
              </a:pPr>
              <a:r>
                <a:rPr sz="2523" spc="-32" dirty="0">
                  <a:solidFill>
                    <a:srgbClr val="FF0000"/>
                  </a:solidFill>
                  <a:latin typeface="Comic Sans MS"/>
                  <a:cs typeface="Comic Sans MS"/>
                </a:rPr>
                <a:t>101</a:t>
              </a:r>
              <a:endParaRPr sz="2523">
                <a:latin typeface="Comic Sans MS"/>
                <a:cs typeface="Comic Sans MS"/>
              </a:endParaRPr>
            </a:p>
          </p:txBody>
        </p:sp>
        <p:sp>
          <p:nvSpPr>
            <p:cNvPr id="38" name="object 20"/>
            <p:cNvSpPr txBox="1"/>
            <p:nvPr/>
          </p:nvSpPr>
          <p:spPr>
            <a:xfrm>
              <a:off x="6128721" y="3087898"/>
              <a:ext cx="821765" cy="409822"/>
            </a:xfrm>
            <a:prstGeom prst="rect">
              <a:avLst/>
            </a:prstGeom>
          </p:spPr>
          <p:txBody>
            <a:bodyPr vert="horz" wrap="square" lIns="0" tIns="21366" rIns="0" bIns="0" rtlCol="0">
              <a:spAutoFit/>
            </a:bodyPr>
            <a:lstStyle/>
            <a:p>
              <a:pPr marL="152024" defTabSz="1183325">
                <a:spcBef>
                  <a:spcPts val="168"/>
                </a:spcBef>
              </a:pPr>
              <a:r>
                <a:rPr sz="2523" spc="-32" dirty="0">
                  <a:solidFill>
                    <a:srgbClr val="FF0000"/>
                  </a:solidFill>
                  <a:latin typeface="Comic Sans MS"/>
                  <a:cs typeface="Comic Sans MS"/>
                </a:rPr>
                <a:t>010</a:t>
              </a:r>
              <a:endParaRPr sz="2523">
                <a:latin typeface="Comic Sans MS"/>
                <a:cs typeface="Comic Sans MS"/>
              </a:endParaRPr>
            </a:p>
          </p:txBody>
        </p:sp>
        <p:sp>
          <p:nvSpPr>
            <p:cNvPr id="39" name="object 21"/>
            <p:cNvSpPr txBox="1"/>
            <p:nvPr/>
          </p:nvSpPr>
          <p:spPr>
            <a:xfrm>
              <a:off x="5244173" y="3051047"/>
              <a:ext cx="811082" cy="460438"/>
            </a:xfrm>
            <a:prstGeom prst="rect">
              <a:avLst/>
            </a:prstGeom>
            <a:ln w="10668">
              <a:solidFill>
                <a:srgbClr val="6EAA46"/>
              </a:solidFill>
            </a:ln>
          </p:spPr>
          <p:txBody>
            <a:bodyPr vert="horz" wrap="square" lIns="0" tIns="71492" rIns="0" bIns="0" rtlCol="0">
              <a:spAutoFit/>
            </a:bodyPr>
            <a:lstStyle/>
            <a:p>
              <a:pPr marL="232556" defTabSz="1183325">
                <a:spcBef>
                  <a:spcPts val="562"/>
                </a:spcBef>
              </a:pPr>
              <a:r>
                <a:rPr sz="2523" spc="-32" dirty="0">
                  <a:solidFill>
                    <a:srgbClr val="FF0000"/>
                  </a:solidFill>
                  <a:latin typeface="Comic Sans MS"/>
                  <a:cs typeface="Comic Sans MS"/>
                </a:rPr>
                <a:t>111</a:t>
              </a:r>
              <a:endParaRPr sz="2523">
                <a:latin typeface="Comic Sans MS"/>
                <a:cs typeface="Comic Sans MS"/>
              </a:endParaRPr>
            </a:p>
          </p:txBody>
        </p:sp>
        <p:sp>
          <p:nvSpPr>
            <p:cNvPr id="40" name="object 22"/>
            <p:cNvSpPr/>
            <p:nvPr/>
          </p:nvSpPr>
          <p:spPr>
            <a:xfrm>
              <a:off x="6121819" y="3051047"/>
              <a:ext cx="1670648" cy="483198"/>
            </a:xfrm>
            <a:custGeom>
              <a:avLst/>
              <a:gdLst/>
              <a:ahLst/>
              <a:cxnLst/>
              <a:rect l="l" t="t" r="r" b="b"/>
              <a:pathLst>
                <a:path w="1290954" h="373380">
                  <a:moveTo>
                    <a:pt x="0" y="0"/>
                  </a:moveTo>
                  <a:lnTo>
                    <a:pt x="626364" y="0"/>
                  </a:lnTo>
                  <a:lnTo>
                    <a:pt x="626364" y="370331"/>
                  </a:lnTo>
                  <a:lnTo>
                    <a:pt x="0" y="370331"/>
                  </a:lnTo>
                  <a:lnTo>
                    <a:pt x="0" y="0"/>
                  </a:lnTo>
                  <a:close/>
                </a:path>
                <a:path w="1290954" h="373380">
                  <a:moveTo>
                    <a:pt x="664464" y="3047"/>
                  </a:moveTo>
                  <a:lnTo>
                    <a:pt x="1290827" y="3047"/>
                  </a:lnTo>
                  <a:lnTo>
                    <a:pt x="1290827" y="373379"/>
                  </a:lnTo>
                  <a:lnTo>
                    <a:pt x="664464" y="373379"/>
                  </a:lnTo>
                  <a:lnTo>
                    <a:pt x="664464" y="3047"/>
                  </a:lnTo>
                  <a:close/>
                </a:path>
              </a:pathLst>
            </a:custGeom>
            <a:ln w="10668">
              <a:solidFill>
                <a:srgbClr val="6EAA46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</p:spTree>
    <p:extLst>
      <p:ext uri="{BB962C8B-B14F-4D97-AF65-F5344CB8AC3E}">
        <p14:creationId xmlns:p14="http://schemas.microsoft.com/office/powerpoint/2010/main" val="1284486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967247-52CF-855F-2655-B81971E3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844576B-230D-31A4-0484-A2FF3FBB07E8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🔗 </a:t>
            </a:r>
            <a:r>
              <a:rPr lang="en-GB" sz="4000" b="1" dirty="0">
                <a:latin typeface="Comic Sans MS" panose="030F0702030302020204" pitchFamily="66" charset="0"/>
              </a:rPr>
              <a:t>Interconnection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Octal digit = 3 bits</a:t>
            </a:r>
            <a:r>
              <a:rPr lang="en-GB" sz="2400" dirty="0">
                <a:latin typeface="Comic Sans MS" panose="030F0702030302020204" pitchFamily="66" charset="0"/>
              </a:rPr>
              <a:t> → compact view for older 3-bit-multiple word sizes.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Hex digit = 4 bits</a:t>
            </a:r>
            <a:r>
              <a:rPr lang="en-GB" sz="2400" dirty="0">
                <a:latin typeface="Comic Sans MS" panose="030F0702030302020204" pitchFamily="66" charset="0"/>
              </a:rPr>
              <a:t> → better match for modern </a:t>
            </a:r>
            <a:r>
              <a:rPr lang="en-GB" sz="2400" b="1" dirty="0">
                <a:latin typeface="Comic Sans MS" panose="030F0702030302020204" pitchFamily="66" charset="0"/>
              </a:rPr>
              <a:t>nibble-based</a:t>
            </a:r>
            <a:r>
              <a:rPr lang="en-GB" sz="2400" dirty="0">
                <a:latin typeface="Comic Sans MS" panose="030F0702030302020204" pitchFamily="66" charset="0"/>
              </a:rPr>
              <a:t> architectures.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Two conversion ways</a:t>
            </a:r>
            <a:r>
              <a:rPr lang="en-GB" sz="2400" dirty="0">
                <a:latin typeface="Comic Sans MS" panose="030F0702030302020204" pitchFamily="66" charset="0"/>
              </a:rPr>
              <a:t> exist for </a:t>
            </a:r>
            <a:r>
              <a:rPr lang="en-GB" sz="2400" dirty="0" err="1">
                <a:latin typeface="Comic Sans MS" panose="030F0702030302020204" pitchFamily="66" charset="0"/>
              </a:rPr>
              <a:t>Octal↔Binary</a:t>
            </a:r>
            <a:r>
              <a:rPr lang="en-GB" sz="2400" dirty="0">
                <a:latin typeface="Comic Sans MS" panose="030F0702030302020204" pitchFamily="66" charset="0"/>
              </a:rPr>
              <a:t>; </a:t>
            </a:r>
            <a:r>
              <a:rPr lang="en-GB" sz="2400" b="1" dirty="0">
                <a:latin typeface="Comic Sans MS" panose="030F0702030302020204" pitchFamily="66" charset="0"/>
              </a:rPr>
              <a:t>direct 3-bit grouping</a:t>
            </a:r>
            <a:r>
              <a:rPr lang="en-GB" sz="2400" dirty="0">
                <a:latin typeface="Comic Sans MS" panose="030F0702030302020204" pitchFamily="66" charset="0"/>
              </a:rPr>
              <a:t> is the 	quickest in practice.</a:t>
            </a:r>
          </a:p>
          <a:p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By knowing where octal shines (and where hex does), you can read binary data efficiently in any context. 🚀</a:t>
            </a:r>
          </a:p>
        </p:txBody>
      </p:sp>
    </p:spTree>
    <p:extLst>
      <p:ext uri="{BB962C8B-B14F-4D97-AF65-F5344CB8AC3E}">
        <p14:creationId xmlns:p14="http://schemas.microsoft.com/office/powerpoint/2010/main" val="2286009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63115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 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 → Decimal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100₈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512₈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2️⃣ </a:t>
            </a:r>
            <a:r>
              <a:rPr lang="sv-SE" sz="2400" b="1" dirty="0">
                <a:latin typeface="Comic Sans MS" panose="030F0702030302020204" pitchFamily="66" charset="0"/>
              </a:rPr>
              <a:t>Decimal → 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64₁₀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330₁₀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3️⃣ 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 →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direct</a:t>
            </a:r>
            <a:r>
              <a:rPr lang="sv-SE" sz="2400" b="1" dirty="0">
                <a:latin typeface="Comic Sans MS" panose="030F0702030302020204" pitchFamily="66" charset="0"/>
              </a:rPr>
              <a:t>, 3-bit </a:t>
            </a:r>
            <a:r>
              <a:rPr lang="sv-SE" sz="2400" b="1" dirty="0" err="1">
                <a:latin typeface="Comic Sans MS" panose="030F0702030302020204" pitchFamily="66" charset="0"/>
              </a:rPr>
              <a:t>mapping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100₈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512₈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4️⃣ 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→ 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direct</a:t>
            </a:r>
            <a:r>
              <a:rPr lang="sv-SE" sz="2400" b="1" dirty="0">
                <a:latin typeface="Comic Sans MS" panose="030F0702030302020204" pitchFamily="66" charset="0"/>
              </a:rPr>
              <a:t>, </a:t>
            </a:r>
            <a:r>
              <a:rPr lang="sv-SE" sz="2400" b="1" dirty="0" err="1">
                <a:latin typeface="Comic Sans MS" panose="030F0702030302020204" pitchFamily="66" charset="0"/>
              </a:rPr>
              <a:t>group</a:t>
            </a:r>
            <a:r>
              <a:rPr lang="sv-SE" sz="2400" b="1" dirty="0">
                <a:latin typeface="Comic Sans MS" panose="030F0702030302020204" pitchFamily="66" charset="0"/>
              </a:rPr>
              <a:t> by 3 from right)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0100 0000₂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0001 0100 1010₂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 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 → Decimal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100₈ = 64₁₀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512₈ = 330₁₀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2️⃣ </a:t>
            </a:r>
            <a:r>
              <a:rPr lang="sv-SE" sz="2400" b="1" dirty="0">
                <a:latin typeface="Comic Sans MS" panose="030F0702030302020204" pitchFamily="66" charset="0"/>
              </a:rPr>
              <a:t>Decimal → 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64₁₀ = 100₈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330₁₀ = 512₈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3️⃣ 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 →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direct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100₈ →</a:t>
            </a:r>
            <a:r>
              <a:rPr lang="sv-SE" sz="2400" dirty="0">
                <a:latin typeface="Comic Sans MS" panose="030F0702030302020204" pitchFamily="66" charset="0"/>
              </a:rPr>
              <a:t> 1|0|0 → 001 000 000 → </a:t>
            </a:r>
            <a:r>
              <a:rPr lang="sv-SE" sz="2400" b="1" dirty="0">
                <a:latin typeface="Comic Sans MS" panose="030F0702030302020204" pitchFamily="66" charset="0"/>
              </a:rPr>
              <a:t>0100 0000₂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padded</a:t>
            </a:r>
            <a:r>
              <a:rPr lang="sv-SE" sz="2400" dirty="0">
                <a:latin typeface="Comic Sans MS" panose="030F0702030302020204" pitchFamily="66" charset="0"/>
              </a:rPr>
              <a:t> to a full byte)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512₈ →</a:t>
            </a:r>
            <a:r>
              <a:rPr lang="sv-SE" sz="2400" dirty="0">
                <a:latin typeface="Comic Sans MS" panose="030F0702030302020204" pitchFamily="66" charset="0"/>
              </a:rPr>
              <a:t> 5|1|2 → 101 001 010 → </a:t>
            </a:r>
            <a:r>
              <a:rPr lang="sv-SE" sz="2400" b="1" dirty="0">
                <a:latin typeface="Comic Sans MS" panose="030F0702030302020204" pitchFamily="66" charset="0"/>
              </a:rPr>
              <a:t>0001 0100 1010₂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padded</a:t>
            </a:r>
            <a:r>
              <a:rPr lang="sv-SE" sz="2400" dirty="0">
                <a:latin typeface="Comic Sans MS" panose="030F0702030302020204" pitchFamily="66" charset="0"/>
              </a:rPr>
              <a:t> to 12 bits)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4️⃣ 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→ 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direct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0100 0000₂ →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group</a:t>
            </a:r>
            <a:r>
              <a:rPr lang="sv-SE" sz="2400" dirty="0">
                <a:latin typeface="Comic Sans MS" panose="030F0702030302020204" pitchFamily="66" charset="0"/>
              </a:rPr>
              <a:t> 010|000|000 → </a:t>
            </a:r>
            <a:r>
              <a:rPr lang="sv-SE" sz="2400" b="1" dirty="0">
                <a:latin typeface="Comic Sans MS" panose="030F0702030302020204" pitchFamily="66" charset="0"/>
              </a:rPr>
              <a:t>4 0 0 → 100₈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0001 0100 1010₂ →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group</a:t>
            </a:r>
            <a:r>
              <a:rPr lang="sv-SE" sz="2400" dirty="0">
                <a:latin typeface="Comic Sans MS" panose="030F0702030302020204" pitchFamily="66" charset="0"/>
              </a:rPr>
              <a:t> 000|101|001|010 → </a:t>
            </a:r>
            <a:r>
              <a:rPr lang="sv-SE" sz="2400" b="1" dirty="0">
                <a:latin typeface="Comic Sans MS" panose="030F0702030302020204" pitchFamily="66" charset="0"/>
              </a:rPr>
              <a:t>0 5 1 2 → 512₈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drop</a:t>
            </a:r>
            <a:r>
              <a:rPr lang="sv-SE" sz="2400" dirty="0">
                <a:latin typeface="Comic Sans MS" panose="030F0702030302020204" pitchFamily="66" charset="0"/>
              </a:rPr>
              <a:t> 			leading 0) </a:t>
            </a: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Octal (base-8)</a:t>
            </a:r>
            <a:r>
              <a:rPr lang="en-GB" sz="2400" dirty="0">
                <a:latin typeface="Comic Sans MS" panose="030F0702030302020204" pitchFamily="66" charset="0"/>
              </a:rPr>
              <a:t> compresses binary using </a:t>
            </a:r>
            <a:r>
              <a:rPr lang="en-GB" sz="2400" b="1" dirty="0">
                <a:latin typeface="Comic Sans MS" panose="030F0702030302020204" pitchFamily="66" charset="0"/>
              </a:rPr>
              <a:t>3-bit groupings</a:t>
            </a:r>
            <a:r>
              <a:rPr lang="en-GB" sz="2400" dirty="0">
                <a:latin typeface="Comic Sans MS" panose="030F0702030302020204" pitchFamily="66" charset="0"/>
              </a:rPr>
              <a:t> per digit.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Use the </a:t>
            </a:r>
            <a:r>
              <a:rPr lang="en-GB" sz="2400" b="1" dirty="0">
                <a:latin typeface="Comic Sans MS" panose="030F0702030302020204" pitchFamily="66" charset="0"/>
              </a:rPr>
              <a:t>direct methods</a:t>
            </a:r>
            <a:r>
              <a:rPr lang="en-GB" sz="2400" dirty="0">
                <a:latin typeface="Comic Sans MS" panose="030F0702030302020204" pitchFamily="66" charset="0"/>
              </a:rPr>
              <a:t> for speed: </a:t>
            </a:r>
            <a:r>
              <a:rPr lang="en-GB" sz="2400" i="1" dirty="0">
                <a:latin typeface="Comic Sans MS" panose="030F0702030302020204" pitchFamily="66" charset="0"/>
              </a:rPr>
              <a:t>Octal ↔ Binary</a:t>
            </a:r>
            <a:r>
              <a:rPr lang="en-GB" sz="2400" dirty="0">
                <a:latin typeface="Comic Sans MS" panose="030F0702030302020204" pitchFamily="66" charset="0"/>
              </a:rPr>
              <a:t> via </a:t>
            </a:r>
            <a:r>
              <a:rPr lang="en-GB" sz="2400" b="1" dirty="0">
                <a:latin typeface="Comic Sans MS" panose="030F0702030302020204" pitchFamily="66" charset="0"/>
              </a:rPr>
              <a:t>3-bit mapping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i="1" dirty="0">
                <a:latin typeface="Comic Sans MS" panose="030F0702030302020204" pitchFamily="66" charset="0"/>
              </a:rPr>
              <a:t>Binary ↔ 	Octal</a:t>
            </a:r>
            <a:r>
              <a:rPr lang="en-GB" sz="2400" dirty="0">
                <a:latin typeface="Comic Sans MS" panose="030F0702030302020204" pitchFamily="66" charset="0"/>
              </a:rPr>
              <a:t> by </a:t>
            </a:r>
            <a:r>
              <a:rPr lang="en-GB" sz="2400" b="1" dirty="0">
                <a:latin typeface="Comic Sans MS" panose="030F0702030302020204" pitchFamily="66" charset="0"/>
              </a:rPr>
              <a:t>grouping in 3s from the right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While </a:t>
            </a:r>
            <a:r>
              <a:rPr lang="en-GB" sz="2400" b="1" dirty="0">
                <a:latin typeface="Comic Sans MS" panose="030F0702030302020204" pitchFamily="66" charset="0"/>
              </a:rPr>
              <a:t>hex</a:t>
            </a:r>
            <a:r>
              <a:rPr lang="en-GB" sz="2400" dirty="0">
                <a:latin typeface="Comic Sans MS" panose="030F0702030302020204" pitchFamily="66" charset="0"/>
              </a:rPr>
              <a:t> is more common today, octal remains an important historical and practical 	lens for reading binary succinctly. 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3313</TotalTime>
  <Words>1161</Words>
  <Application>Microsoft Office PowerPoint</Application>
  <PresentationFormat>Custom</PresentationFormat>
  <Paragraphs>230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 MT</vt:lpstr>
      <vt:lpstr>Calibri</vt:lpstr>
      <vt:lpstr>Comic Sans MS</vt:lpstr>
      <vt:lpstr>Times New Roman</vt:lpstr>
      <vt:lpstr>Verdana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348</cp:revision>
  <dcterms:created xsi:type="dcterms:W3CDTF">2025-12-09T17:44:59Z</dcterms:created>
  <dcterms:modified xsi:type="dcterms:W3CDTF">2026-01-16T17:54:20Z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