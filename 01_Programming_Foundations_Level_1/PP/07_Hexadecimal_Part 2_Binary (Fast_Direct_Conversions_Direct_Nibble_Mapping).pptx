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503" r:id="rId2"/>
    <p:sldId id="257" r:id="rId3"/>
    <p:sldId id="504" r:id="rId4"/>
    <p:sldId id="333" r:id="rId5"/>
    <p:sldId id="490" r:id="rId6"/>
    <p:sldId id="491" r:id="rId7"/>
    <p:sldId id="492" r:id="rId8"/>
    <p:sldId id="493" r:id="rId9"/>
    <p:sldId id="494" r:id="rId10"/>
    <p:sldId id="495" r:id="rId11"/>
    <p:sldId id="497" r:id="rId12"/>
    <p:sldId id="496" r:id="rId13"/>
    <p:sldId id="498" r:id="rId14"/>
    <p:sldId id="499" r:id="rId15"/>
    <p:sldId id="500" r:id="rId16"/>
    <p:sldId id="501" r:id="rId17"/>
    <p:sldId id="502" r:id="rId18"/>
    <p:sldId id="489" r:id="rId19"/>
    <p:sldId id="485" r:id="rId20"/>
    <p:sldId id="477" r:id="rId21"/>
    <p:sldId id="349" r:id="rId22"/>
    <p:sldId id="438" r:id="rId23"/>
    <p:sldId id="425" r:id="rId24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929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15" y="438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4BD18700-0DDF-1B3F-E7EA-DA4C8D0308F5}"/>
              </a:ext>
            </a:extLst>
          </p:cNvPr>
          <p:cNvSpPr txBox="1"/>
          <p:nvPr/>
        </p:nvSpPr>
        <p:spPr>
          <a:xfrm>
            <a:off x="0" y="3338091"/>
            <a:ext cx="13411198" cy="1910779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699401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08802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Hexadecimal Part 2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Binary (Fast Direct Conversions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direct nibble mapping)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28DCED-BC8E-55B0-8DD9-4EB2D9921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26348B8A-E47C-91AB-E9FC-FB39466F8956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2D53FC9-B051-6470-79E1-8EE9665EBF3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BE6157-B510-AA4A-CA7E-2CDED258CBC5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B0D1A947-E75C-1A4A-FBBA-71C636A1126C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EDAD3ED9-EAB0-13ED-5D26-7CC40C094F8D}"/>
              </a:ext>
            </a:extLst>
          </p:cNvPr>
          <p:cNvSpPr txBox="1"/>
          <p:nvPr/>
        </p:nvSpPr>
        <p:spPr>
          <a:xfrm>
            <a:off x="106432" y="3084218"/>
            <a:ext cx="13304768" cy="172867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Hexa to Binary?</a:t>
            </a:r>
          </a:p>
        </p:txBody>
      </p:sp>
    </p:spTree>
    <p:extLst>
      <p:ext uri="{BB962C8B-B14F-4D97-AF65-F5344CB8AC3E}">
        <p14:creationId xmlns:p14="http://schemas.microsoft.com/office/powerpoint/2010/main" val="14036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28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Hexadecimal ↔ Binary (Fast Direct Conversions - direct nibble mapping)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Hex is the most readable way to look at binary. In this lesson you’ll learn </a:t>
            </a:r>
            <a:r>
              <a:rPr lang="en-GB" sz="2400" b="1" dirty="0">
                <a:latin typeface="Comic Sans MS" panose="030F0702030302020204" pitchFamily="66" charset="0"/>
              </a:rPr>
              <a:t>two ways</a:t>
            </a:r>
            <a:r>
              <a:rPr lang="en-GB" sz="2400" dirty="0">
                <a:latin typeface="Comic Sans MS" panose="030F0702030302020204" pitchFamily="66" charset="0"/>
              </a:rPr>
              <a:t> to convert between </a:t>
            </a:r>
            <a:r>
              <a:rPr lang="en-GB" sz="2400" b="1" dirty="0">
                <a:latin typeface="Comic Sans MS" panose="030F0702030302020204" pitchFamily="66" charset="0"/>
              </a:rPr>
              <a:t>hexadecimal</a:t>
            </a:r>
            <a:r>
              <a:rPr lang="en-GB" sz="2400" dirty="0">
                <a:latin typeface="Comic Sans MS" panose="030F0702030302020204" pitchFamily="66" charset="0"/>
              </a:rPr>
              <a:t> and </a:t>
            </a:r>
            <a:r>
              <a:rPr lang="en-GB" sz="2400" b="1" dirty="0">
                <a:latin typeface="Comic Sans MS" panose="030F0702030302020204" pitchFamily="66" charset="0"/>
              </a:rPr>
              <a:t>binary</a:t>
            </a:r>
            <a:r>
              <a:rPr lang="en-GB" sz="2400" dirty="0">
                <a:latin typeface="Comic Sans MS" panose="030F0702030302020204" pitchFamily="66" charset="0"/>
              </a:rPr>
              <a:t> — including the </a:t>
            </a:r>
            <a:r>
              <a:rPr lang="en-GB" sz="2400" b="1" dirty="0">
                <a:latin typeface="Comic Sans MS" panose="030F0702030302020204" pitchFamily="66" charset="0"/>
              </a:rPr>
              <a:t>direct nibble mapping</a:t>
            </a:r>
            <a:r>
              <a:rPr lang="en-GB" sz="2400" dirty="0">
                <a:latin typeface="Comic Sans MS" panose="030F0702030302020204" pitchFamily="66" charset="0"/>
              </a:rPr>
              <a:t> that turns every hex digit into </a:t>
            </a:r>
            <a:r>
              <a:rPr lang="en-GB" sz="2400" b="1" dirty="0">
                <a:latin typeface="Comic Sans MS" panose="030F0702030302020204" pitchFamily="66" charset="0"/>
              </a:rPr>
              <a:t>exactly 4 bits</a:t>
            </a:r>
            <a:r>
              <a:rPr lang="en-GB" sz="2400" dirty="0">
                <a:latin typeface="Comic Sans MS" panose="030F0702030302020204" pitchFamily="66" charset="0"/>
              </a:rPr>
              <a:t> (and back) with no arithmetic.</a:t>
            </a:r>
          </a:p>
        </p:txBody>
      </p:sp>
    </p:spTree>
    <p:extLst>
      <p:ext uri="{BB962C8B-B14F-4D97-AF65-F5344CB8AC3E}">
        <p14:creationId xmlns:p14="http://schemas.microsoft.com/office/powerpoint/2010/main" val="40466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9F29B5-C88C-FE94-D245-2B863E93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585CD5-A392-1B7F-FC82-A7F92D5F9517}"/>
              </a:ext>
            </a:extLst>
          </p:cNvPr>
          <p:cNvSpPr txBox="1"/>
          <p:nvPr/>
        </p:nvSpPr>
        <p:spPr>
          <a:xfrm>
            <a:off x="381000" y="888075"/>
            <a:ext cx="12352767" cy="34979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Convert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Hexa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Binary?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Way 1 (</a:t>
            </a:r>
            <a:r>
              <a:rPr lang="sv-SE" sz="24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Two</a:t>
            </a:r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-step):</a:t>
            </a: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	</a:t>
            </a:r>
            <a:r>
              <a:rPr lang="en-GB" sz="2400" dirty="0">
                <a:latin typeface="Comic Sans MS"/>
                <a:cs typeface="Comic Sans MS"/>
              </a:rPr>
              <a:t>Two</a:t>
            </a:r>
            <a:r>
              <a:rPr lang="en-GB" sz="2400" spc="-2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steps:</a:t>
            </a:r>
          </a:p>
          <a:p>
            <a:r>
              <a:rPr lang="en-GB" sz="2400" spc="-10" dirty="0">
                <a:latin typeface="Comic Sans MS"/>
                <a:cs typeface="Comic Sans MS"/>
              </a:rPr>
              <a:t>		1. </a:t>
            </a:r>
            <a:r>
              <a:rPr lang="en-GB" sz="2400" dirty="0">
                <a:latin typeface="Comic Sans MS"/>
                <a:cs typeface="Comic Sans MS"/>
              </a:rPr>
              <a:t>Convert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 err="1">
                <a:latin typeface="Comic Sans MS"/>
                <a:cs typeface="Comic Sans MS"/>
              </a:rPr>
              <a:t>hexa</a:t>
            </a:r>
            <a:r>
              <a:rPr lang="en-GB" sz="2400" spc="2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1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decimal.</a:t>
            </a:r>
          </a:p>
          <a:p>
            <a:r>
              <a:rPr lang="en-GB" sz="2400" spc="-10" dirty="0">
                <a:latin typeface="Comic Sans MS"/>
                <a:cs typeface="Comic Sans MS"/>
              </a:rPr>
              <a:t>		2. </a:t>
            </a:r>
            <a:r>
              <a:rPr lang="en-GB" sz="2400" dirty="0">
                <a:latin typeface="Comic Sans MS"/>
                <a:cs typeface="Comic Sans MS"/>
              </a:rPr>
              <a:t>Convert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decimal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binary.</a:t>
            </a:r>
            <a:endParaRPr lang="en-GB" sz="2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lang="en-GB" sz="2400" dirty="0">
                <a:latin typeface="Comic Sans MS"/>
                <a:cs typeface="Comic Sans MS"/>
              </a:rPr>
              <a:t>That’s</a:t>
            </a:r>
            <a:r>
              <a:rPr lang="en-GB" sz="2400" spc="-25" dirty="0">
                <a:latin typeface="Comic Sans MS"/>
                <a:cs typeface="Comic Sans MS"/>
              </a:rPr>
              <a:t> it.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092513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F7EC4B-FE61-8304-948A-6969EAE4C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930CD823-5FFA-338E-145F-D53954A86D9E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Convert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Hexa</a:t>
            </a:r>
            <a:r>
              <a:rPr lang="en-GB" sz="4000" b="1" spc="1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Binary?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Way 2 (</a:t>
            </a:r>
            <a:r>
              <a:rPr lang="sv-SE" sz="24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Direct</a:t>
            </a:r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):</a:t>
            </a: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	</a:t>
            </a:r>
            <a:r>
              <a:rPr lang="sv-SE" sz="2400" dirty="0" err="1">
                <a:latin typeface="Comic Sans MS" panose="030F0702030302020204" pitchFamily="66" charset="0"/>
              </a:rPr>
              <a:t>Map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each</a:t>
            </a:r>
            <a:r>
              <a:rPr lang="sv-SE" sz="2400" dirty="0">
                <a:latin typeface="Comic Sans MS" panose="030F0702030302020204" pitchFamily="66" charset="0"/>
              </a:rPr>
              <a:t> 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b="1" dirty="0">
                <a:latin typeface="Comic Sans MS" panose="030F0702030302020204" pitchFamily="66" charset="0"/>
              </a:rPr>
              <a:t> </a:t>
            </a:r>
            <a:r>
              <a:rPr lang="sv-SE" sz="2400" b="1" dirty="0" err="1">
                <a:latin typeface="Comic Sans MS" panose="030F0702030302020204" pitchFamily="66" charset="0"/>
              </a:rPr>
              <a:t>digit</a:t>
            </a:r>
            <a:r>
              <a:rPr lang="sv-SE" sz="2400" b="1" dirty="0">
                <a:latin typeface="Comic Sans MS" panose="030F0702030302020204" pitchFamily="66" charset="0"/>
              </a:rPr>
              <a:t> → 4-bit </a:t>
            </a:r>
            <a:r>
              <a:rPr lang="sv-SE" sz="2400" b="1" dirty="0" err="1">
                <a:latin typeface="Comic Sans MS" panose="030F0702030302020204" pitchFamily="66" charset="0"/>
              </a:rPr>
              <a:t>nibble</a:t>
            </a:r>
            <a:r>
              <a:rPr lang="sv-SE" sz="2400" dirty="0">
                <a:latin typeface="Comic Sans MS" panose="030F0702030302020204" pitchFamily="66" charset="0"/>
              </a:rPr>
              <a:t>. </a:t>
            </a:r>
            <a:r>
              <a:rPr lang="sv-SE" sz="2400" i="1" dirty="0">
                <a:latin typeface="Comic Sans MS" panose="030F0702030302020204" pitchFamily="66" charset="0"/>
              </a:rPr>
              <a:t>(</a:t>
            </a:r>
            <a:r>
              <a:rPr lang="sv-SE" sz="2400" i="1" dirty="0" err="1">
                <a:latin typeface="Comic Sans MS" panose="030F0702030302020204" pitchFamily="66" charset="0"/>
              </a:rPr>
              <a:t>Fastest</a:t>
            </a:r>
            <a:r>
              <a:rPr lang="sv-SE" sz="2400" i="1" dirty="0">
                <a:latin typeface="Comic Sans MS" panose="030F0702030302020204" pitchFamily="66" charset="0"/>
              </a:rPr>
              <a:t>; </a:t>
            </a:r>
            <a:r>
              <a:rPr lang="sv-SE" sz="2400" i="1" dirty="0" err="1">
                <a:latin typeface="Comic Sans MS" panose="030F0702030302020204" pitchFamily="66" charset="0"/>
              </a:rPr>
              <a:t>what</a:t>
            </a:r>
            <a:r>
              <a:rPr lang="sv-SE" sz="2400" i="1" dirty="0">
                <a:latin typeface="Comic Sans MS" panose="030F0702030302020204" pitchFamily="66" charset="0"/>
              </a:rPr>
              <a:t> </a:t>
            </a:r>
            <a:r>
              <a:rPr lang="sv-SE" sz="2400" i="1" dirty="0" err="1">
                <a:latin typeface="Comic Sans MS" panose="030F0702030302020204" pitchFamily="66" charset="0"/>
              </a:rPr>
              <a:t>pros</a:t>
            </a:r>
            <a:r>
              <a:rPr lang="sv-SE" sz="2400" i="1" dirty="0">
                <a:latin typeface="Comic Sans MS" panose="030F0702030302020204" pitchFamily="66" charset="0"/>
              </a:rPr>
              <a:t> </a:t>
            </a:r>
            <a:r>
              <a:rPr lang="sv-SE" sz="2400" i="1" dirty="0" err="1">
                <a:latin typeface="Comic Sans MS" panose="030F0702030302020204" pitchFamily="66" charset="0"/>
              </a:rPr>
              <a:t>use</a:t>
            </a:r>
            <a:r>
              <a:rPr lang="sv-SE" sz="2400" i="1" dirty="0">
                <a:latin typeface="Comic Sans MS" panose="030F0702030302020204" pitchFamily="66" charset="0"/>
              </a:rPr>
              <a:t>)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  <a:br>
              <a:rPr lang="sv-SE" sz="2400" dirty="0">
                <a:latin typeface="Comic Sans MS" panose="030F0702030302020204" pitchFamily="66" charset="0"/>
              </a:rPr>
            </a:br>
            <a:r>
              <a:rPr lang="sv-SE" sz="2400" dirty="0">
                <a:latin typeface="Comic Sans MS" panose="030F0702030302020204" pitchFamily="66" charset="0"/>
              </a:rPr>
              <a:t>	</a:t>
            </a:r>
            <a:r>
              <a:rPr lang="sv-SE" sz="2400" dirty="0" err="1">
                <a:latin typeface="Comic Sans MS" panose="030F0702030302020204" pitchFamily="66" charset="0"/>
              </a:rPr>
              <a:t>Example</a:t>
            </a:r>
            <a:r>
              <a:rPr lang="sv-SE" sz="2400" dirty="0">
                <a:latin typeface="Comic Sans MS" panose="030F0702030302020204" pitchFamily="66" charset="0"/>
              </a:rPr>
              <a:t> </a:t>
            </a:r>
            <a:r>
              <a:rPr lang="sv-SE" sz="2400" dirty="0" err="1">
                <a:latin typeface="Comic Sans MS" panose="030F0702030302020204" pitchFamily="66" charset="0"/>
              </a:rPr>
              <a:t>mapping</a:t>
            </a:r>
            <a:r>
              <a:rPr lang="sv-SE" sz="2400" dirty="0">
                <a:latin typeface="Comic Sans MS" panose="030F0702030302020204" pitchFamily="66" charset="0"/>
              </a:rPr>
              <a:t>: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	A→1010, B→1011, C→1100, D→1101, E→1110, F→1111. </a:t>
            </a:r>
          </a:p>
        </p:txBody>
      </p:sp>
    </p:spTree>
    <p:extLst>
      <p:ext uri="{BB962C8B-B14F-4D97-AF65-F5344CB8AC3E}">
        <p14:creationId xmlns:p14="http://schemas.microsoft.com/office/powerpoint/2010/main" val="153648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F34003D-A00C-A4AF-A095-5A5F286A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C1735E88-C1C0-E686-12DF-66DF673FA80D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Direct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Conversion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</a:p>
          <a:p>
            <a:endParaRPr lang="sv-SE" sz="2400" dirty="0"/>
          </a:p>
          <a:p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spc="-25" dirty="0">
                <a:latin typeface="Comic Sans MS" panose="030F0702030302020204" pitchFamily="66" charset="0"/>
              </a:rPr>
              <a:t> </a:t>
            </a:r>
            <a:r>
              <a:rPr lang="sv-SE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1D5</a:t>
            </a:r>
            <a:r>
              <a:rPr lang="sv-SE" sz="2400" spc="1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to</a:t>
            </a:r>
            <a:r>
              <a:rPr lang="sv-SE" sz="2400" spc="10" dirty="0">
                <a:latin typeface="Comic Sans MS" panose="030F0702030302020204" pitchFamily="66" charset="0"/>
              </a:rPr>
              <a:t> </a:t>
            </a:r>
            <a:r>
              <a:rPr lang="sv-SE" sz="2400" spc="-10" dirty="0" err="1">
                <a:latin typeface="Comic Sans MS" panose="030F0702030302020204" pitchFamily="66" charset="0"/>
              </a:rPr>
              <a:t>Binary</a:t>
            </a:r>
            <a:endParaRPr lang="sv-SE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1C84DB-4156-FDDE-3388-13602EFF7C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119" y="3244528"/>
            <a:ext cx="6248961" cy="5823272"/>
          </a:xfrm>
          <a:prstGeom prst="rect">
            <a:avLst/>
          </a:prstGeom>
        </p:spPr>
      </p:pic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48CB9E48-BEB3-981B-942A-8DF7E7F78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585" y="1768246"/>
            <a:ext cx="6816182" cy="126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355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7F96CEE-CAEE-D131-BB30-DE6C01C38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37DED28-2232-68B2-2D9C-4AAB66F078ED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Direct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Conversion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</a:p>
          <a:p>
            <a:endParaRPr lang="sv-SE" sz="2400" dirty="0"/>
          </a:p>
          <a:p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spc="-25" dirty="0">
                <a:latin typeface="Comic Sans MS" panose="030F0702030302020204" pitchFamily="66" charset="0"/>
              </a:rPr>
              <a:t> </a:t>
            </a:r>
            <a:r>
              <a:rPr lang="sv-SE" sz="24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5E9</a:t>
            </a:r>
            <a:r>
              <a:rPr lang="sv-SE" sz="2400" spc="1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to</a:t>
            </a:r>
            <a:r>
              <a:rPr lang="sv-SE" sz="2400" spc="10" dirty="0">
                <a:latin typeface="Comic Sans MS" panose="030F0702030302020204" pitchFamily="66" charset="0"/>
              </a:rPr>
              <a:t> </a:t>
            </a:r>
            <a:r>
              <a:rPr lang="sv-SE" sz="2400" spc="-10" dirty="0" err="1">
                <a:latin typeface="Comic Sans MS" panose="030F0702030302020204" pitchFamily="66" charset="0"/>
              </a:rPr>
              <a:t>Binary</a:t>
            </a:r>
            <a:endParaRPr lang="sv-SE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AB516F-F771-A465-0761-ABE516CF5F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119" y="3244528"/>
            <a:ext cx="6248961" cy="5823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1DADBF-0435-346E-8F93-611A39B4E2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7585" y="1780408"/>
            <a:ext cx="6816182" cy="12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620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BA1F36-45F9-A6FE-A860-05BAEF1B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7B0BFD6-4F3C-DE57-A0E0-ED220DD97214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Direct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Conversion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</a:p>
          <a:p>
            <a:endParaRPr lang="sv-SE" sz="2400" dirty="0"/>
          </a:p>
          <a:p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spc="-25" dirty="0">
                <a:latin typeface="Comic Sans MS" panose="030F0702030302020204" pitchFamily="66" charset="0"/>
              </a:rPr>
              <a:t> </a:t>
            </a:r>
            <a:r>
              <a:rPr lang="sv-SE" sz="24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5E9</a:t>
            </a:r>
            <a:r>
              <a:rPr lang="sv-SE" sz="2400" spc="1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to</a:t>
            </a:r>
            <a:r>
              <a:rPr lang="sv-SE" sz="2400" spc="10" dirty="0">
                <a:latin typeface="Comic Sans MS" panose="030F0702030302020204" pitchFamily="66" charset="0"/>
              </a:rPr>
              <a:t> </a:t>
            </a:r>
            <a:r>
              <a:rPr lang="sv-SE" sz="2400" spc="-10" dirty="0" err="1">
                <a:latin typeface="Comic Sans MS" panose="030F0702030302020204" pitchFamily="66" charset="0"/>
              </a:rPr>
              <a:t>Binary</a:t>
            </a:r>
            <a:endParaRPr lang="sv-SE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F5CB0-D420-7368-72B3-241BD00374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119" y="3244528"/>
            <a:ext cx="6248961" cy="58232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42DFC3-79A8-7065-5E85-F69476C0A9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7585" y="1780408"/>
            <a:ext cx="6816182" cy="12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162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BCB47F-605E-93AB-92B5-07FE1F8E6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A96FF8A-37C7-0076-037A-325E651FB77C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Direct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Conversion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</a:p>
          <a:p>
            <a:endParaRPr lang="sv-SE" sz="2400" dirty="0"/>
          </a:p>
          <a:p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spc="-25" dirty="0">
                <a:latin typeface="Comic Sans MS" panose="030F0702030302020204" pitchFamily="66" charset="0"/>
              </a:rPr>
              <a:t> </a:t>
            </a:r>
            <a:r>
              <a:rPr lang="sv-SE" sz="2400" spc="-25" dirty="0">
                <a:solidFill>
                  <a:srgbClr val="FF0000"/>
                </a:solidFill>
                <a:latin typeface="Comic Sans MS" panose="030F0702030302020204" pitchFamily="66" charset="0"/>
              </a:rPr>
              <a:t>1DF</a:t>
            </a:r>
            <a:r>
              <a:rPr lang="sv-SE" sz="2400" spc="1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to</a:t>
            </a:r>
            <a:r>
              <a:rPr lang="sv-SE" sz="2400" spc="10" dirty="0">
                <a:latin typeface="Comic Sans MS" panose="030F0702030302020204" pitchFamily="66" charset="0"/>
              </a:rPr>
              <a:t> </a:t>
            </a:r>
            <a:r>
              <a:rPr lang="sv-SE" sz="2400" spc="-10" dirty="0" err="1">
                <a:latin typeface="Comic Sans MS" panose="030F0702030302020204" pitchFamily="66" charset="0"/>
              </a:rPr>
              <a:t>Binary</a:t>
            </a:r>
            <a:endParaRPr lang="sv-SE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93FDEA-D5DC-CD9D-C2B6-70878A5730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81119" y="3489662"/>
            <a:ext cx="6248961" cy="5333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BEE320-B355-DADC-A02B-DA67C7F94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8987" y="1780408"/>
            <a:ext cx="6633377" cy="12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219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801FB49-E764-1AE4-93F5-CB1214395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78BA9E2-B154-210D-C912-7B2D17480CE2}"/>
              </a:ext>
            </a:extLst>
          </p:cNvPr>
          <p:cNvSpPr txBox="1"/>
          <p:nvPr/>
        </p:nvSpPr>
        <p:spPr>
          <a:xfrm>
            <a:off x="381000" y="888075"/>
            <a:ext cx="12352767" cy="29875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Worked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examples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  <a:endParaRPr lang="sv-SE" sz="4000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1D5₁₆ →</a:t>
            </a:r>
            <a:r>
              <a:rPr lang="sv-SE" sz="2400" dirty="0">
                <a:latin typeface="Comic Sans MS" panose="030F0702030302020204" pitchFamily="66" charset="0"/>
              </a:rPr>
              <a:t> 1 | D | 5 → 0001 1101 0101 → </a:t>
            </a:r>
            <a:r>
              <a:rPr lang="sv-SE" sz="2400" b="1" dirty="0">
                <a:latin typeface="Comic Sans MS" panose="030F0702030302020204" pitchFamily="66" charset="0"/>
              </a:rPr>
              <a:t>0001 1101 0101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5E9₁₆ →</a:t>
            </a:r>
            <a:r>
              <a:rPr lang="sv-SE" sz="2400" dirty="0">
                <a:latin typeface="Comic Sans MS" panose="030F0702030302020204" pitchFamily="66" charset="0"/>
              </a:rPr>
              <a:t> 5 | E | 9 → 0101 1110 1001 → </a:t>
            </a:r>
            <a:r>
              <a:rPr lang="sv-SE" sz="2400" b="1" dirty="0">
                <a:latin typeface="Comic Sans MS" panose="030F0702030302020204" pitchFamily="66" charset="0"/>
              </a:rPr>
              <a:t>0101 1110 1001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>
                <a:latin typeface="Comic Sans MS" panose="030F0702030302020204" pitchFamily="66" charset="0"/>
              </a:rPr>
              <a:t>1DF₁₆ →</a:t>
            </a:r>
            <a:r>
              <a:rPr lang="sv-SE" sz="2400" dirty="0">
                <a:latin typeface="Comic Sans MS" panose="030F0702030302020204" pitchFamily="66" charset="0"/>
              </a:rPr>
              <a:t> 1 | D | F → 0001 1101 1111 → </a:t>
            </a:r>
            <a:r>
              <a:rPr lang="sv-SE" sz="2400" b="1" dirty="0">
                <a:latin typeface="Comic Sans MS" panose="030F0702030302020204" pitchFamily="66" charset="0"/>
              </a:rPr>
              <a:t>0001 1101 1111</a:t>
            </a:r>
            <a:r>
              <a:rPr lang="sv-SE" sz="2400" dirty="0">
                <a:latin typeface="Comic Sans MS" panose="030F0702030302020204" pitchFamily="66" charset="0"/>
              </a:rPr>
              <a:t>.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 err="1">
                <a:latin typeface="Comic Sans MS" panose="030F0702030302020204" pitchFamily="66" charset="0"/>
              </a:rPr>
              <a:t>Tip</a:t>
            </a:r>
            <a:r>
              <a:rPr lang="sv-SE" sz="2400" dirty="0">
                <a:latin typeface="Comic Sans MS" panose="030F0702030302020204" pitchFamily="66" charset="0"/>
              </a:rPr>
              <a:t>: Always </a:t>
            </a:r>
            <a:r>
              <a:rPr lang="sv-SE" sz="2400" dirty="0" err="1">
                <a:latin typeface="Comic Sans MS" panose="030F0702030302020204" pitchFamily="66" charset="0"/>
              </a:rPr>
              <a:t>group</a:t>
            </a:r>
            <a:r>
              <a:rPr lang="sv-SE" sz="2400" dirty="0">
                <a:latin typeface="Comic Sans MS" panose="030F0702030302020204" pitchFamily="66" charset="0"/>
              </a:rPr>
              <a:t> the final </a:t>
            </a:r>
            <a:r>
              <a:rPr lang="sv-SE" sz="2400" dirty="0" err="1">
                <a:latin typeface="Comic Sans MS" panose="030F0702030302020204" pitchFamily="66" charset="0"/>
              </a:rPr>
              <a:t>binary</a:t>
            </a:r>
            <a:r>
              <a:rPr lang="sv-SE" sz="2400" dirty="0">
                <a:latin typeface="Comic Sans MS" panose="030F0702030302020204" pitchFamily="66" charset="0"/>
              </a:rPr>
              <a:t> as </a:t>
            </a:r>
            <a:r>
              <a:rPr lang="sv-SE" sz="2400" b="1" dirty="0" err="1">
                <a:latin typeface="Comic Sans MS" panose="030F0702030302020204" pitchFamily="66" charset="0"/>
              </a:rPr>
              <a:t>nibbles</a:t>
            </a:r>
            <a:r>
              <a:rPr lang="sv-SE" sz="2400" b="1" dirty="0">
                <a:latin typeface="Comic Sans MS" panose="030F0702030302020204" pitchFamily="66" charset="0"/>
              </a:rPr>
              <a:t> (4 bits)</a:t>
            </a:r>
            <a:r>
              <a:rPr lang="sv-SE" sz="2400" dirty="0">
                <a:latin typeface="Comic Sans MS" panose="030F0702030302020204" pitchFamily="66" charset="0"/>
              </a:rPr>
              <a:t> for </a:t>
            </a:r>
            <a:r>
              <a:rPr lang="sv-SE" sz="2400" dirty="0" err="1">
                <a:latin typeface="Comic Sans MS" panose="030F0702030302020204" pitchFamily="66" charset="0"/>
              </a:rPr>
              <a:t>readability</a:t>
            </a:r>
            <a:r>
              <a:rPr lang="sv-SE" sz="2400" dirty="0">
                <a:latin typeface="Comic Sans MS" panose="030F0702030302020204" pitchFamily="66" charset="0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6853241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3A66BD1-A2C3-A8D1-DF58-3B10A29CA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BB3492E6-0AC4-C65E-B5C7-A07B626A743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ACDA0D3-E32D-77D1-8F25-84BF0CF2756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49038B-A546-F951-2A96-5009E8BFC60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9D6C78DB-57BE-8E41-B519-CB060515591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6A12697F-3C97-06FB-234C-C835E3A690DC}"/>
              </a:ext>
            </a:extLst>
          </p:cNvPr>
          <p:cNvSpPr txBox="1"/>
          <p:nvPr/>
        </p:nvSpPr>
        <p:spPr>
          <a:xfrm>
            <a:off x="106432" y="3084218"/>
            <a:ext cx="13304768" cy="240835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4000" spc="-13" dirty="0">
                <a:solidFill>
                  <a:srgbClr val="FFFFFF"/>
                </a:solidFill>
                <a:latin typeface="Comic Sans MS"/>
                <a:cs typeface="Comic Sans MS"/>
              </a:rPr>
              <a:t>Programming Foundations</a:t>
            </a:r>
          </a:p>
          <a:p>
            <a:pPr marL="2089760" algn="ctr">
              <a:spcBef>
                <a:spcPts val="505"/>
              </a:spcBef>
            </a:pPr>
            <a:r>
              <a:rPr lang="sv-SE" sz="2400" spc="-13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3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Convert Binary to Hexa </a:t>
            </a:r>
          </a:p>
          <a:p>
            <a:pPr marL="2089760" algn="ctr">
              <a:spcBef>
                <a:spcPts val="505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in a simpler way</a:t>
            </a:r>
          </a:p>
        </p:txBody>
      </p:sp>
    </p:spTree>
    <p:extLst>
      <p:ext uri="{BB962C8B-B14F-4D97-AF65-F5344CB8AC3E}">
        <p14:creationId xmlns:p14="http://schemas.microsoft.com/office/powerpoint/2010/main" val="369984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57D0E85-A2E6-1BD5-2945-38CEA6785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707C730-DD56-411D-F048-D2E470C1A3AB}"/>
              </a:ext>
            </a:extLst>
          </p:cNvPr>
          <p:cNvSpPr txBox="1"/>
          <p:nvPr/>
        </p:nvSpPr>
        <p:spPr>
          <a:xfrm>
            <a:off x="381000" y="888075"/>
            <a:ext cx="12352767" cy="349794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Convert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Binary to </a:t>
            </a:r>
            <a:r>
              <a:rPr lang="en-GB" sz="4000" b="1" dirty="0">
                <a:latin typeface="Comic Sans MS" panose="030F0702030302020204" pitchFamily="66" charset="0"/>
              </a:rPr>
              <a:t>Hexa</a:t>
            </a:r>
            <a:r>
              <a:rPr lang="en-GB" sz="4000" b="1" spc="-10" dirty="0">
                <a:latin typeface="Comic Sans MS" panose="030F0702030302020204" pitchFamily="66" charset="0"/>
              </a:rPr>
              <a:t>?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Way 1 (</a:t>
            </a:r>
            <a:r>
              <a:rPr lang="sv-SE" sz="24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Two</a:t>
            </a:r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-step):</a:t>
            </a: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  <a:cs typeface="Comic Sans MS"/>
              </a:rPr>
              <a:t>	</a:t>
            </a:r>
            <a:r>
              <a:rPr lang="en-GB" sz="2400" dirty="0">
                <a:latin typeface="Comic Sans MS"/>
                <a:cs typeface="Comic Sans MS"/>
              </a:rPr>
              <a:t>Two</a:t>
            </a:r>
            <a:r>
              <a:rPr lang="en-GB" sz="2400" spc="-2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steps:</a:t>
            </a:r>
          </a:p>
          <a:p>
            <a:r>
              <a:rPr lang="en-GB" sz="2400" spc="-10" dirty="0">
                <a:latin typeface="Comic Sans MS"/>
                <a:cs typeface="Comic Sans MS"/>
              </a:rPr>
              <a:t>		1. </a:t>
            </a:r>
            <a:r>
              <a:rPr lang="en-GB" sz="2400" dirty="0">
                <a:latin typeface="Comic Sans MS"/>
                <a:cs typeface="Comic Sans MS"/>
              </a:rPr>
              <a:t>Convert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binary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15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decimal.</a:t>
            </a:r>
          </a:p>
          <a:p>
            <a:r>
              <a:rPr lang="en-GB" sz="2400" spc="-10" dirty="0">
                <a:latin typeface="Comic Sans MS"/>
                <a:cs typeface="Comic Sans MS"/>
              </a:rPr>
              <a:t>		2. </a:t>
            </a:r>
            <a:r>
              <a:rPr lang="en-GB" sz="2400" dirty="0">
                <a:latin typeface="Comic Sans MS"/>
                <a:cs typeface="Comic Sans MS"/>
              </a:rPr>
              <a:t>Convert</a:t>
            </a:r>
            <a:r>
              <a:rPr lang="en-GB" sz="2400" spc="45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decimal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>
                <a:latin typeface="Comic Sans MS"/>
                <a:cs typeface="Comic Sans MS"/>
              </a:rPr>
              <a:t>to</a:t>
            </a:r>
            <a:r>
              <a:rPr lang="en-GB" sz="2400" spc="40" dirty="0">
                <a:latin typeface="Comic Sans MS"/>
                <a:cs typeface="Comic Sans MS"/>
              </a:rPr>
              <a:t> </a:t>
            </a:r>
            <a:r>
              <a:rPr lang="en-GB" sz="2400" dirty="0" err="1">
                <a:latin typeface="Comic Sans MS"/>
                <a:cs typeface="Comic Sans MS"/>
              </a:rPr>
              <a:t>hexa</a:t>
            </a:r>
            <a:r>
              <a:rPr lang="en-GB" sz="2400" spc="-10" dirty="0">
                <a:latin typeface="Comic Sans MS"/>
                <a:cs typeface="Comic Sans MS"/>
              </a:rPr>
              <a:t>.</a:t>
            </a:r>
            <a:endParaRPr lang="en-GB" sz="2400" dirty="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lang="en-GB" sz="2400" dirty="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</a:pPr>
            <a:r>
              <a:rPr lang="en-GB" sz="2400" dirty="0">
                <a:latin typeface="Comic Sans MS"/>
                <a:cs typeface="Comic Sans MS"/>
              </a:rPr>
              <a:t>That’s</a:t>
            </a:r>
            <a:r>
              <a:rPr lang="en-GB" sz="2400" spc="-25" dirty="0">
                <a:latin typeface="Comic Sans MS"/>
                <a:cs typeface="Comic Sans MS"/>
              </a:rPr>
              <a:t> it.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722647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206ACAA-31E4-C85D-0BAE-3E534461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3B9DC9A-CEA5-6C48-4944-958D78710D8C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How</a:t>
            </a:r>
            <a:r>
              <a:rPr lang="en-GB" sz="4000" b="1" spc="4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to</a:t>
            </a:r>
            <a:r>
              <a:rPr lang="en-GB" sz="4000" b="1" spc="35" dirty="0">
                <a:latin typeface="Comic Sans MS" panose="030F0702030302020204" pitchFamily="66" charset="0"/>
              </a:rPr>
              <a:t> </a:t>
            </a:r>
            <a:r>
              <a:rPr lang="en-GB" sz="4000" b="1" dirty="0">
                <a:latin typeface="Comic Sans MS" panose="030F0702030302020204" pitchFamily="66" charset="0"/>
              </a:rPr>
              <a:t>Convert</a:t>
            </a:r>
            <a:r>
              <a:rPr lang="en-GB" sz="4000" b="1" spc="20" dirty="0">
                <a:latin typeface="Comic Sans MS" panose="030F0702030302020204" pitchFamily="66" charset="0"/>
              </a:rPr>
              <a:t> </a:t>
            </a:r>
            <a:r>
              <a:rPr lang="en-GB" sz="4000" b="1" spc="-10" dirty="0">
                <a:latin typeface="Comic Sans MS" panose="030F0702030302020204" pitchFamily="66" charset="0"/>
              </a:rPr>
              <a:t>Binary to </a:t>
            </a:r>
            <a:r>
              <a:rPr lang="en-GB" sz="4000" b="1" dirty="0">
                <a:latin typeface="Comic Sans MS" panose="030F0702030302020204" pitchFamily="66" charset="0"/>
              </a:rPr>
              <a:t>Hexa</a:t>
            </a:r>
            <a:r>
              <a:rPr lang="en-GB" sz="4000" b="1" spc="-10" dirty="0">
                <a:latin typeface="Comic Sans MS" panose="030F0702030302020204" pitchFamily="66" charset="0"/>
              </a:rPr>
              <a:t>?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Way 2 (</a:t>
            </a:r>
            <a:r>
              <a:rPr lang="sv-SE" sz="24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Direct</a:t>
            </a:r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):</a:t>
            </a:r>
          </a:p>
          <a:p>
            <a:r>
              <a:rPr lang="sv-SE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	</a:t>
            </a:r>
            <a:r>
              <a:rPr lang="en-GB" sz="2400" dirty="0">
                <a:latin typeface="Comic Sans MS" panose="030F0702030302020204" pitchFamily="66" charset="0"/>
              </a:rPr>
              <a:t>Group bits in </a:t>
            </a:r>
            <a:r>
              <a:rPr lang="en-GB" sz="2400" b="1" dirty="0">
                <a:latin typeface="Comic Sans MS" panose="030F0702030302020204" pitchFamily="66" charset="0"/>
              </a:rPr>
              <a:t>fours from the right</a:t>
            </a:r>
            <a:r>
              <a:rPr lang="en-GB" sz="2400" dirty="0">
                <a:latin typeface="Comic Sans MS" panose="030F0702030302020204" pitchFamily="66" charset="0"/>
              </a:rPr>
              <a:t>, then map each 4-bit group to one hex digit.</a:t>
            </a:r>
          </a:p>
        </p:txBody>
      </p:sp>
    </p:spTree>
    <p:extLst>
      <p:ext uri="{BB962C8B-B14F-4D97-AF65-F5344CB8AC3E}">
        <p14:creationId xmlns:p14="http://schemas.microsoft.com/office/powerpoint/2010/main" val="1786193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E516987-0B52-F8EC-386F-9546F4456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39336CB-F80B-AE7F-0DBA-2832A9FCFDC0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Direct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Conversion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</a:p>
          <a:p>
            <a:endParaRPr lang="sv-SE" sz="2400" dirty="0"/>
          </a:p>
          <a:p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spc="-25" dirty="0">
                <a:latin typeface="Comic Sans MS" panose="030F0702030302020204" pitchFamily="66" charset="0"/>
              </a:rPr>
              <a:t> </a:t>
            </a:r>
            <a:r>
              <a:rPr lang="en-SE" sz="2400" dirty="0">
                <a:solidFill>
                  <a:srgbClr val="FF0000"/>
                </a:solidFill>
              </a:rPr>
              <a:t>000111010101</a:t>
            </a:r>
            <a:r>
              <a:rPr lang="sv-SE" sz="2400" spc="1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to</a:t>
            </a:r>
            <a:r>
              <a:rPr lang="sv-SE" sz="2400" spc="10" dirty="0">
                <a:latin typeface="Comic Sans MS" panose="030F0702030302020204" pitchFamily="66" charset="0"/>
              </a:rPr>
              <a:t> </a:t>
            </a:r>
            <a:r>
              <a:rPr lang="sv-SE" sz="2400" spc="-10" dirty="0" err="1">
                <a:latin typeface="Comic Sans MS" panose="030F0702030302020204" pitchFamily="66" charset="0"/>
              </a:rPr>
              <a:t>Binary</a:t>
            </a:r>
            <a:endParaRPr lang="sv-SE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61A27C-802A-F660-DBEF-9BEF688065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7612" y="3489662"/>
            <a:ext cx="5495974" cy="53330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BA9583-AA6C-9E62-F10B-FCBC723B0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8987" y="1785143"/>
            <a:ext cx="6633377" cy="122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5465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87A787-6ACF-3053-574D-1001F78A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9B7289A-3422-2342-A128-A69AA9F27258}"/>
              </a:ext>
            </a:extLst>
          </p:cNvPr>
          <p:cNvSpPr txBox="1"/>
          <p:nvPr/>
        </p:nvSpPr>
        <p:spPr>
          <a:xfrm>
            <a:off x="381000" y="888075"/>
            <a:ext cx="12352767" cy="15102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Direct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Conversion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</a:p>
          <a:p>
            <a:endParaRPr lang="sv-SE" sz="2400" dirty="0"/>
          </a:p>
          <a:p>
            <a:r>
              <a:rPr lang="sv-SE" sz="2400" dirty="0" err="1">
                <a:latin typeface="Comic Sans MS" panose="030F0702030302020204" pitchFamily="66" charset="0"/>
              </a:rPr>
              <a:t>Convert</a:t>
            </a:r>
            <a:r>
              <a:rPr lang="sv-SE" sz="2400" spc="-25" dirty="0">
                <a:latin typeface="Comic Sans MS" panose="030F0702030302020204" pitchFamily="66" charset="0"/>
              </a:rPr>
              <a:t> </a:t>
            </a:r>
            <a:r>
              <a:rPr lang="en-SE" sz="2400" dirty="0">
                <a:solidFill>
                  <a:srgbClr val="FF0000"/>
                </a:solidFill>
              </a:rPr>
              <a:t>000111011111</a:t>
            </a:r>
            <a:r>
              <a:rPr lang="sv-SE" sz="2400" spc="10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sv-SE" sz="2400" dirty="0">
                <a:latin typeface="Comic Sans MS" panose="030F0702030302020204" pitchFamily="66" charset="0"/>
              </a:rPr>
              <a:t>to</a:t>
            </a:r>
            <a:r>
              <a:rPr lang="sv-SE" sz="2400" spc="10" dirty="0">
                <a:latin typeface="Comic Sans MS" panose="030F0702030302020204" pitchFamily="66" charset="0"/>
              </a:rPr>
              <a:t> </a:t>
            </a:r>
            <a:r>
              <a:rPr lang="sv-SE" sz="2400" spc="-10" dirty="0" err="1">
                <a:latin typeface="Comic Sans MS" panose="030F0702030302020204" pitchFamily="66" charset="0"/>
              </a:rPr>
              <a:t>Binary</a:t>
            </a:r>
            <a:endParaRPr lang="sv-SE" sz="2400" dirty="0">
              <a:latin typeface="Comic Sans MS" panose="030F0702030302020204" pitchFamily="66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727FF-5FA5-96E9-8755-1AC631B46A4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57612" y="3785774"/>
            <a:ext cx="5495974" cy="47407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7BBCE3-72DB-C0F3-7E44-B161CE3B9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8988" y="1785143"/>
            <a:ext cx="6633375" cy="122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45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3B9D9F-111D-C254-DB9B-0379FF55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55A5224-6FED-15CC-1209-13376CD7AA24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sv-SE" sz="4000" b="1" dirty="0" err="1">
                <a:latin typeface="Comic Sans MS" panose="030F0702030302020204" pitchFamily="66" charset="0"/>
              </a:rPr>
              <a:t>Worked</a:t>
            </a:r>
            <a:r>
              <a:rPr lang="sv-SE" sz="4000" b="1" dirty="0">
                <a:latin typeface="Comic Sans MS" panose="030F0702030302020204" pitchFamily="66" charset="0"/>
              </a:rPr>
              <a:t> </a:t>
            </a:r>
            <a:r>
              <a:rPr lang="sv-SE" sz="4000" b="1" dirty="0" err="1">
                <a:latin typeface="Comic Sans MS" panose="030F0702030302020204" pitchFamily="66" charset="0"/>
              </a:rPr>
              <a:t>examples</a:t>
            </a:r>
            <a:r>
              <a:rPr lang="sv-SE" sz="4000" b="1" dirty="0">
                <a:latin typeface="Comic Sans MS" panose="030F0702030302020204" pitchFamily="66" charset="0"/>
              </a:rPr>
              <a:t>:</a:t>
            </a:r>
            <a:endParaRPr lang="sv-SE" sz="4000" dirty="0">
              <a:latin typeface="Comic Sans MS" panose="030F0702030302020204" pitchFamily="66" charset="0"/>
            </a:endParaRPr>
          </a:p>
          <a:p>
            <a:endParaRPr lang="sv-SE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/>
              <a:t>0001 1101 0101₂ →</a:t>
            </a:r>
            <a:r>
              <a:rPr lang="sv-SE" sz="2400" dirty="0"/>
              <a:t> </a:t>
            </a:r>
            <a:r>
              <a:rPr lang="sv-SE" sz="2400" dirty="0" err="1"/>
              <a:t>group</a:t>
            </a:r>
            <a:r>
              <a:rPr lang="sv-SE" sz="2400" dirty="0"/>
              <a:t> 0001 | 1101 | 0101 → </a:t>
            </a:r>
            <a:r>
              <a:rPr lang="sv-SE" sz="2400" b="1" dirty="0"/>
              <a:t>1 D 5 → 1D5₁₆</a:t>
            </a:r>
            <a:r>
              <a:rPr lang="sv-SE" sz="2400" dirty="0"/>
              <a:t>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🟨 </a:t>
            </a:r>
            <a:r>
              <a:rPr lang="sv-SE" sz="2400" b="1" dirty="0"/>
              <a:t>0001 1101 1111₂ →</a:t>
            </a:r>
            <a:r>
              <a:rPr lang="sv-SE" sz="2400" dirty="0"/>
              <a:t> </a:t>
            </a:r>
            <a:r>
              <a:rPr lang="sv-SE" sz="2400" dirty="0" err="1"/>
              <a:t>group</a:t>
            </a:r>
            <a:r>
              <a:rPr lang="sv-SE" sz="2400" dirty="0"/>
              <a:t> 0001 | 1101 | 1111 → </a:t>
            </a:r>
            <a:r>
              <a:rPr lang="sv-SE" sz="2400" b="1" dirty="0"/>
              <a:t>1 D F → 1DF₁₆</a:t>
            </a:r>
            <a:r>
              <a:rPr lang="sv-SE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43168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55F795-5AE7-1F45-388D-E81942C86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E4EB49BE-0C00-D88B-0195-95DEA59A48B0}"/>
              </a:ext>
            </a:extLst>
          </p:cNvPr>
          <p:cNvSpPr txBox="1"/>
          <p:nvPr/>
        </p:nvSpPr>
        <p:spPr>
          <a:xfrm>
            <a:off x="381000" y="888075"/>
            <a:ext cx="12352767" cy="224888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Why Direct Conversion Wins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b="1" dirty="0">
                <a:latin typeface="Comic Sans MS" panose="030F0702030302020204" pitchFamily="66" charset="0"/>
              </a:rPr>
              <a:t>🟨 Zero arithmetic</a:t>
            </a:r>
            <a:r>
              <a:rPr lang="en-GB" sz="2400" dirty="0">
                <a:latin typeface="Comic Sans MS" panose="030F0702030302020204" pitchFamily="66" charset="0"/>
              </a:rPr>
              <a:t> once you know the nibble table.</a:t>
            </a:r>
          </a:p>
          <a:p>
            <a:r>
              <a:rPr lang="en-GB" sz="2400" b="1" dirty="0">
                <a:latin typeface="Comic Sans MS" panose="030F0702030302020204" pitchFamily="66" charset="0"/>
              </a:rPr>
              <a:t>🟨 One byte = two hex digits</a:t>
            </a:r>
            <a:r>
              <a:rPr lang="en-GB" sz="2400" dirty="0">
                <a:latin typeface="Comic Sans MS" panose="030F0702030302020204" pitchFamily="66" charset="0"/>
              </a:rPr>
              <a:t> → memory dumps, instruction bytes, and </a:t>
            </a:r>
            <a:r>
              <a:rPr lang="en-GB" sz="2400" dirty="0" err="1">
                <a:latin typeface="Comic Sans MS" panose="030F0702030302020204" pitchFamily="66" charset="0"/>
              </a:rPr>
              <a:t>color</a:t>
            </a:r>
            <a:r>
              <a:rPr lang="en-GB" sz="2400" dirty="0">
                <a:latin typeface="Comic Sans MS" panose="030F0702030302020204" pitchFamily="66" charset="0"/>
              </a:rPr>
              <a:t> codes 	are clean and short.</a:t>
            </a:r>
          </a:p>
        </p:txBody>
      </p:sp>
    </p:spTree>
    <p:extLst>
      <p:ext uri="{BB962C8B-B14F-4D97-AF65-F5344CB8AC3E}">
        <p14:creationId xmlns:p14="http://schemas.microsoft.com/office/powerpoint/2010/main" val="2976312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CBC27D-ED21-7619-3680-4FF2943E7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6E12E570-D282-0618-22D8-21937EDB9812}"/>
              </a:ext>
            </a:extLst>
          </p:cNvPr>
          <p:cNvSpPr txBox="1"/>
          <p:nvPr/>
        </p:nvSpPr>
        <p:spPr>
          <a:xfrm>
            <a:off x="381000" y="888075"/>
            <a:ext cx="12352767" cy="26182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SE" sz="4000" b="1" dirty="0">
                <a:latin typeface="Comic Sans MS" panose="030F0702030302020204" pitchFamily="66" charset="0"/>
              </a:rPr>
              <a:t>🔗 </a:t>
            </a:r>
            <a:r>
              <a:rPr lang="sv-SE" sz="4000" b="1" dirty="0" err="1">
                <a:latin typeface="Comic Sans MS" panose="030F0702030302020204" pitchFamily="66" charset="0"/>
              </a:rPr>
              <a:t>Interconnection</a:t>
            </a:r>
            <a:endParaRPr lang="sv-SE" sz="4000" b="1" dirty="0">
              <a:latin typeface="Comic Sans MS" panose="030F0702030302020204" pitchFamily="66" charset="0"/>
            </a:endParaRP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</a:t>
            </a:r>
            <a:r>
              <a:rPr lang="en-GB" sz="2400" dirty="0">
                <a:latin typeface="Comic Sans MS" panose="030F0702030302020204" pitchFamily="66" charset="0"/>
              </a:rPr>
              <a:t> </a:t>
            </a:r>
            <a:r>
              <a:rPr lang="en-GB" sz="2400" b="1" dirty="0">
                <a:latin typeface="Comic Sans MS" panose="030F0702030302020204" pitchFamily="66" charset="0"/>
              </a:rPr>
              <a:t>Hex ↔ Binary</a:t>
            </a:r>
            <a:r>
              <a:rPr lang="en-GB" sz="2400" dirty="0">
                <a:latin typeface="Comic Sans MS" panose="030F0702030302020204" pitchFamily="66" charset="0"/>
              </a:rPr>
              <a:t> maps </a:t>
            </a:r>
            <a:r>
              <a:rPr lang="en-GB" sz="2400" b="1" dirty="0">
                <a:latin typeface="Comic Sans MS" panose="030F0702030302020204" pitchFamily="66" charset="0"/>
              </a:rPr>
              <a:t>1 digit ↔ 4 bits</a:t>
            </a:r>
            <a:r>
              <a:rPr lang="en-GB" sz="2400" dirty="0">
                <a:latin typeface="Comic Sans MS" panose="030F0702030302020204" pitchFamily="66" charset="0"/>
              </a:rPr>
              <a:t> (nibble), so </a:t>
            </a:r>
            <a:r>
              <a:rPr lang="en-GB" sz="2400" b="1" dirty="0">
                <a:latin typeface="Comic Sans MS" panose="030F0702030302020204" pitchFamily="66" charset="0"/>
              </a:rPr>
              <a:t>1 byte ↔ 2 hex digits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</a:t>
            </a:r>
            <a:r>
              <a:rPr lang="en-GB" sz="2400" dirty="0">
                <a:latin typeface="Comic Sans MS" panose="030F0702030302020204" pitchFamily="66" charset="0"/>
              </a:rPr>
              <a:t>Use </a:t>
            </a:r>
            <a:r>
              <a:rPr lang="en-GB" sz="2400" b="1" dirty="0">
                <a:latin typeface="Comic Sans MS" panose="030F0702030302020204" pitchFamily="66" charset="0"/>
              </a:rPr>
              <a:t>Way 2 (direct)</a:t>
            </a:r>
            <a:r>
              <a:rPr lang="en-GB" sz="2400" dirty="0">
                <a:latin typeface="Comic Sans MS" panose="030F0702030302020204" pitchFamily="66" charset="0"/>
              </a:rPr>
              <a:t> for speed; use </a:t>
            </a:r>
            <a:r>
              <a:rPr lang="en-GB" sz="2400" b="1" dirty="0">
                <a:latin typeface="Comic Sans MS" panose="030F0702030302020204" pitchFamily="66" charset="0"/>
              </a:rPr>
              <a:t>Way 1</a:t>
            </a:r>
            <a:r>
              <a:rPr lang="en-GB" sz="2400" dirty="0">
                <a:latin typeface="Comic Sans MS" panose="030F0702030302020204" pitchFamily="66" charset="0"/>
              </a:rPr>
              <a:t> to reinforce base-conversion theory.</a:t>
            </a:r>
            <a:br>
              <a:rPr lang="en-GB" sz="2400" dirty="0">
                <a:latin typeface="Comic Sans MS" panose="030F0702030302020204" pitchFamily="66" charset="0"/>
              </a:rPr>
            </a:br>
            <a:r>
              <a:rPr lang="en-GB" sz="2400" dirty="0">
                <a:latin typeface="Comic Sans MS" panose="030F0702030302020204" pitchFamily="66" charset="0"/>
                <a:cs typeface="Comic Sans MS"/>
              </a:rPr>
              <a:t>🔹</a:t>
            </a:r>
            <a:r>
              <a:rPr lang="en-GB" sz="2400" dirty="0">
                <a:latin typeface="Comic Sans MS" panose="030F0702030302020204" pitchFamily="66" charset="0"/>
              </a:rPr>
              <a:t>Grouping in </a:t>
            </a:r>
            <a:r>
              <a:rPr lang="en-GB" sz="2400" b="1" dirty="0">
                <a:latin typeface="Comic Sans MS" panose="030F0702030302020204" pitchFamily="66" charset="0"/>
              </a:rPr>
              <a:t>nibbles</a:t>
            </a:r>
            <a:r>
              <a:rPr lang="en-GB" sz="2400" dirty="0">
                <a:latin typeface="Comic Sans MS" panose="030F0702030302020204" pitchFamily="66" charset="0"/>
              </a:rPr>
              <a:t> keeps numbers readable and reduces errors when reading bytes, 	addresses, and encodings. </a:t>
            </a:r>
          </a:p>
        </p:txBody>
      </p:sp>
    </p:spTree>
    <p:extLst>
      <p:ext uri="{BB962C8B-B14F-4D97-AF65-F5344CB8AC3E}">
        <p14:creationId xmlns:p14="http://schemas.microsoft.com/office/powerpoint/2010/main" val="3656596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967247-52CF-855F-2655-B81971E3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844576B-230D-31A4-0484-A2FF3FBB07E8}"/>
              </a:ext>
            </a:extLst>
          </p:cNvPr>
          <p:cNvSpPr txBox="1"/>
          <p:nvPr/>
        </p:nvSpPr>
        <p:spPr>
          <a:xfrm>
            <a:off x="381000" y="888075"/>
            <a:ext cx="12352767" cy="59422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Instructions: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Convert </a:t>
            </a:r>
            <a:r>
              <a:rPr lang="en-GB" sz="2400" b="1" dirty="0">
                <a:latin typeface="Comic Sans MS" panose="030F0702030302020204" pitchFamily="66" charset="0"/>
              </a:rPr>
              <a:t>directly</a:t>
            </a:r>
            <a:r>
              <a:rPr lang="en-GB" sz="2400" dirty="0">
                <a:latin typeface="Comic Sans MS" panose="030F0702030302020204" pitchFamily="66" charset="0"/>
              </a:rPr>
              <a:t> (use nibble mapping / 4-bit grouping only).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1️⃣ </a:t>
            </a:r>
            <a:r>
              <a:rPr lang="en-GB" sz="2400" b="1" dirty="0">
                <a:latin typeface="Comic Sans MS" panose="030F0702030302020204" pitchFamily="66" charset="0"/>
              </a:rPr>
              <a:t>Hex → Binary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a) 12A4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b) 1C35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c) 100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d) 115C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2️⃣ </a:t>
            </a:r>
            <a:r>
              <a:rPr lang="en-GB" sz="2400" b="1" dirty="0">
                <a:latin typeface="Comic Sans MS" panose="030F0702030302020204" pitchFamily="66" charset="0"/>
              </a:rPr>
              <a:t>Binary → Hex</a:t>
            </a:r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	a) 0001 0010 1010 0100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b) 0001 1100 0011 0101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c) 0001 0000 0000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d) 0001 0001 0101 1100 </a:t>
            </a:r>
          </a:p>
        </p:txBody>
      </p:sp>
    </p:spTree>
    <p:extLst>
      <p:ext uri="{BB962C8B-B14F-4D97-AF65-F5344CB8AC3E}">
        <p14:creationId xmlns:p14="http://schemas.microsoft.com/office/powerpoint/2010/main" val="22860092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D7AA581-89A1-DA75-DD53-25B5AD31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DDFD32E-F7C2-B657-91B9-4B68EDD1D595}"/>
              </a:ext>
            </a:extLst>
          </p:cNvPr>
          <p:cNvSpPr txBox="1"/>
          <p:nvPr/>
        </p:nvSpPr>
        <p:spPr>
          <a:xfrm>
            <a:off x="381000" y="888075"/>
            <a:ext cx="12352767" cy="557286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🧐 Activity Solution</a:t>
            </a:r>
          </a:p>
          <a:p>
            <a:endParaRPr lang="en-GB" sz="2400" dirty="0">
              <a:latin typeface="Comic Sans MS" panose="030F0702030302020204" pitchFamily="66" charset="0"/>
            </a:endParaRPr>
          </a:p>
          <a:p>
            <a:r>
              <a:rPr lang="en-GB" sz="2400" dirty="0">
                <a:latin typeface="Comic Sans MS" panose="030F0702030302020204" pitchFamily="66" charset="0"/>
              </a:rPr>
              <a:t>📋 </a:t>
            </a:r>
            <a:r>
              <a:rPr lang="en-GB" sz="2400" b="1" dirty="0">
                <a:latin typeface="Comic Sans MS" panose="030F0702030302020204" pitchFamily="66" charset="0"/>
              </a:rPr>
              <a:t>Solution:</a:t>
            </a:r>
          </a:p>
          <a:p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b="1" dirty="0">
                <a:latin typeface="Comic Sans MS" panose="030F0702030302020204" pitchFamily="66" charset="0"/>
              </a:rPr>
              <a:t>1️⃣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r>
              <a:rPr lang="sv-SE" sz="2400" b="1" dirty="0">
                <a:latin typeface="Comic Sans MS" panose="030F0702030302020204" pitchFamily="66" charset="0"/>
              </a:rPr>
              <a:t> →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</a:t>
            </a:r>
            <a:r>
              <a:rPr lang="sv-SE" sz="2400" b="1" dirty="0">
                <a:latin typeface="Comic Sans MS" panose="030F0702030302020204" pitchFamily="66" charset="0"/>
              </a:rPr>
              <a:t>12A4 →</a:t>
            </a:r>
            <a:r>
              <a:rPr lang="sv-SE" sz="2400" dirty="0">
                <a:latin typeface="Comic Sans MS" panose="030F0702030302020204" pitchFamily="66" charset="0"/>
              </a:rPr>
              <a:t> 0001 0010 1010 0100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b) </a:t>
            </a:r>
            <a:r>
              <a:rPr lang="sv-SE" sz="2400" b="1" dirty="0">
                <a:latin typeface="Comic Sans MS" panose="030F0702030302020204" pitchFamily="66" charset="0"/>
              </a:rPr>
              <a:t>1C35 →</a:t>
            </a:r>
            <a:r>
              <a:rPr lang="sv-SE" sz="2400" dirty="0">
                <a:latin typeface="Comic Sans MS" panose="030F0702030302020204" pitchFamily="66" charset="0"/>
              </a:rPr>
              <a:t> 0001 1100 0011 0101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c) </a:t>
            </a:r>
            <a:r>
              <a:rPr lang="sv-SE" sz="2400" b="1" dirty="0">
                <a:latin typeface="Comic Sans MS" panose="030F0702030302020204" pitchFamily="66" charset="0"/>
              </a:rPr>
              <a:t>100 →</a:t>
            </a:r>
            <a:r>
              <a:rPr lang="sv-SE" sz="2400" dirty="0">
                <a:latin typeface="Comic Sans MS" panose="030F0702030302020204" pitchFamily="66" charset="0"/>
              </a:rPr>
              <a:t> 0001 0000 0000</a:t>
            </a:r>
          </a:p>
          <a:p>
            <a:r>
              <a:rPr lang="sv-SE" sz="2400" dirty="0">
                <a:latin typeface="Comic Sans MS" panose="030F0702030302020204" pitchFamily="66" charset="0"/>
              </a:rPr>
              <a:t>	d) </a:t>
            </a:r>
            <a:r>
              <a:rPr lang="sv-SE" sz="2400" b="1" dirty="0">
                <a:latin typeface="Comic Sans MS" panose="030F0702030302020204" pitchFamily="66" charset="0"/>
              </a:rPr>
              <a:t>115C →</a:t>
            </a:r>
            <a:r>
              <a:rPr lang="sv-SE" sz="2400" dirty="0">
                <a:latin typeface="Comic Sans MS" panose="030F0702030302020204" pitchFamily="66" charset="0"/>
              </a:rPr>
              <a:t> 0001 0001 0101 1100</a:t>
            </a:r>
          </a:p>
          <a:p>
            <a:r>
              <a:rPr lang="sv-SE" sz="2400" b="1" dirty="0">
                <a:latin typeface="Comic Sans MS" panose="030F0702030302020204" pitchFamily="66" charset="0"/>
              </a:rPr>
              <a:t>2️⃣ </a:t>
            </a:r>
            <a:r>
              <a:rPr lang="sv-SE" sz="2400" b="1" dirty="0" err="1">
                <a:latin typeface="Comic Sans MS" panose="030F0702030302020204" pitchFamily="66" charset="0"/>
              </a:rPr>
              <a:t>Binary</a:t>
            </a:r>
            <a:r>
              <a:rPr lang="sv-SE" sz="2400" b="1" dirty="0">
                <a:latin typeface="Comic Sans MS" panose="030F0702030302020204" pitchFamily="66" charset="0"/>
              </a:rPr>
              <a:t> → </a:t>
            </a:r>
            <a:r>
              <a:rPr lang="sv-SE" sz="2400" b="1" dirty="0" err="1">
                <a:latin typeface="Comic Sans MS" panose="030F0702030302020204" pitchFamily="66" charset="0"/>
              </a:rPr>
              <a:t>Hex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a) 0001 0010 1010 0100 → </a:t>
            </a:r>
            <a:r>
              <a:rPr lang="sv-SE" sz="2400" b="1" dirty="0">
                <a:latin typeface="Comic Sans MS" panose="030F0702030302020204" pitchFamily="66" charset="0"/>
              </a:rPr>
              <a:t>12A4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b) 0001 1100 0011 0101 → </a:t>
            </a:r>
            <a:r>
              <a:rPr lang="sv-SE" sz="2400" b="1" dirty="0">
                <a:latin typeface="Comic Sans MS" panose="030F0702030302020204" pitchFamily="66" charset="0"/>
              </a:rPr>
              <a:t>1C35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c) 0001 0000 0000 → </a:t>
            </a:r>
            <a:r>
              <a:rPr lang="sv-SE" sz="2400" b="1" dirty="0">
                <a:latin typeface="Comic Sans MS" panose="030F0702030302020204" pitchFamily="66" charset="0"/>
              </a:rPr>
              <a:t>100</a:t>
            </a:r>
            <a:endParaRPr lang="sv-SE" sz="2400" dirty="0">
              <a:latin typeface="Comic Sans MS" panose="030F0702030302020204" pitchFamily="66" charset="0"/>
            </a:endParaRPr>
          </a:p>
          <a:p>
            <a:r>
              <a:rPr lang="sv-SE" sz="2400" dirty="0">
                <a:latin typeface="Comic Sans MS" panose="030F0702030302020204" pitchFamily="66" charset="0"/>
              </a:rPr>
              <a:t>	d) 0001 0001 0101 1100 → </a:t>
            </a:r>
            <a:r>
              <a:rPr lang="sv-SE" sz="2400" b="1" dirty="0">
                <a:latin typeface="Comic Sans MS" panose="030F0702030302020204" pitchFamily="66" charset="0"/>
              </a:rPr>
              <a:t>115C</a:t>
            </a:r>
            <a:endParaRPr lang="sv-SE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516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4212E39-4E28-41C3-A740-153DBCD4F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A668543-7EAE-9776-A80B-3240223674A9}"/>
              </a:ext>
            </a:extLst>
          </p:cNvPr>
          <p:cNvSpPr txBox="1"/>
          <p:nvPr/>
        </p:nvSpPr>
        <p:spPr>
          <a:xfrm>
            <a:off x="381000" y="888075"/>
            <a:ext cx="12352767" cy="335687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r>
              <a:rPr lang="en-GB" sz="4000" b="1" dirty="0">
                <a:latin typeface="Comic Sans MS" panose="030F0702030302020204" pitchFamily="66" charset="0"/>
              </a:rPr>
              <a:t>🏁 Conclusion</a:t>
            </a:r>
          </a:p>
          <a:p>
            <a:endParaRPr lang="en-GB" sz="2400" b="1" dirty="0">
              <a:latin typeface="Comic Sans MS" panose="030F0702030302020204" pitchFamily="66" charset="0"/>
            </a:endParaRP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b="1" dirty="0">
                <a:latin typeface="Comic Sans MS" panose="030F0702030302020204" pitchFamily="66" charset="0"/>
              </a:rPr>
              <a:t>Direct nibble mapping</a:t>
            </a:r>
            <a:r>
              <a:rPr lang="en-GB" sz="2400" dirty="0">
                <a:latin typeface="Comic Sans MS" panose="030F0702030302020204" pitchFamily="66" charset="0"/>
              </a:rPr>
              <a:t> is the professional, fast path for </a:t>
            </a:r>
            <a:r>
              <a:rPr lang="en-GB" sz="2400" b="1" dirty="0">
                <a:latin typeface="Comic Sans MS" panose="030F0702030302020204" pitchFamily="66" charset="0"/>
              </a:rPr>
              <a:t>Hex ↔ Binary</a:t>
            </a:r>
            <a:r>
              <a:rPr lang="en-GB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Keep everything </a:t>
            </a:r>
            <a:r>
              <a:rPr lang="en-GB" sz="2400" b="1" dirty="0">
                <a:latin typeface="Comic Sans MS" panose="030F0702030302020204" pitchFamily="66" charset="0"/>
              </a:rPr>
              <a:t>grouped in 4-bit nibbles</a:t>
            </a:r>
            <a:r>
              <a:rPr lang="en-GB" sz="2400" dirty="0">
                <a:latin typeface="Comic Sans MS" panose="030F0702030302020204" pitchFamily="66" charset="0"/>
              </a:rPr>
              <a:t>, pad with zeros on the left when needed.</a:t>
            </a:r>
          </a:p>
          <a:p>
            <a:r>
              <a:rPr lang="en-SE" sz="2400" dirty="0">
                <a:latin typeface="Comic Sans MS" panose="030F0702030302020204" pitchFamily="66" charset="0"/>
              </a:rPr>
              <a:t>✅ </a:t>
            </a:r>
            <a:r>
              <a:rPr lang="en-GB" sz="2400" dirty="0">
                <a:latin typeface="Comic Sans MS" panose="030F0702030302020204" pitchFamily="66" charset="0"/>
              </a:rPr>
              <a:t>Use </a:t>
            </a:r>
            <a:r>
              <a:rPr lang="en-GB" sz="2400" b="1" dirty="0">
                <a:latin typeface="Comic Sans MS" panose="030F0702030302020204" pitchFamily="66" charset="0"/>
              </a:rPr>
              <a:t>two-step</a:t>
            </a:r>
            <a:r>
              <a:rPr lang="en-GB" sz="2400" dirty="0">
                <a:latin typeface="Comic Sans MS" panose="030F0702030302020204" pitchFamily="66" charset="0"/>
              </a:rPr>
              <a:t> (via decimal) to validate learning or when teaching base arithmetic 	foundations. </a:t>
            </a:r>
          </a:p>
          <a:p>
            <a:r>
              <a:rPr lang="en-GB" sz="2400" dirty="0">
                <a:latin typeface="Comic Sans MS" panose="030F0702030302020204" pitchFamily="66" charset="0"/>
              </a:rPr>
              <a:t>	With these skills, your students can confidently read bytes, registers, 	addresses, and encodings in real-world tools and labs. 🚀</a:t>
            </a:r>
          </a:p>
        </p:txBody>
      </p:sp>
    </p:spTree>
    <p:extLst>
      <p:ext uri="{BB962C8B-B14F-4D97-AF65-F5344CB8AC3E}">
        <p14:creationId xmlns:p14="http://schemas.microsoft.com/office/powerpoint/2010/main" val="1064792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AE4C6-4671-7ABB-DEC7-C93D3D3BB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36B4F463-11B6-D65B-4C5F-167F42EC86FA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25178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3233</TotalTime>
  <Words>758</Words>
  <Application>Microsoft Office PowerPoint</Application>
  <PresentationFormat>Custom</PresentationFormat>
  <Paragraphs>118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330</cp:revision>
  <dcterms:created xsi:type="dcterms:W3CDTF">2025-12-09T17:44:59Z</dcterms:created>
  <dcterms:modified xsi:type="dcterms:W3CDTF">2026-01-16T17:52:03Z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