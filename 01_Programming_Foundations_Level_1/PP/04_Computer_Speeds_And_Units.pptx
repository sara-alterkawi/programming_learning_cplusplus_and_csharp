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60" r:id="rId2"/>
    <p:sldId id="257" r:id="rId3"/>
    <p:sldId id="333" r:id="rId4"/>
    <p:sldId id="448" r:id="rId5"/>
    <p:sldId id="429" r:id="rId6"/>
    <p:sldId id="451" r:id="rId7"/>
    <p:sldId id="390" r:id="rId8"/>
    <p:sldId id="391" r:id="rId9"/>
    <p:sldId id="452" r:id="rId10"/>
    <p:sldId id="392" r:id="rId11"/>
    <p:sldId id="395" r:id="rId12"/>
    <p:sldId id="453" r:id="rId13"/>
    <p:sldId id="449" r:id="rId14"/>
    <p:sldId id="393" r:id="rId15"/>
    <p:sldId id="396" r:id="rId16"/>
    <p:sldId id="280" r:id="rId17"/>
    <p:sldId id="454" r:id="rId18"/>
    <p:sldId id="455" r:id="rId19"/>
    <p:sldId id="456" r:id="rId20"/>
    <p:sldId id="457" r:id="rId21"/>
    <p:sldId id="458" r:id="rId22"/>
    <p:sldId id="459" r:id="rId23"/>
    <p:sldId id="450" r:id="rId24"/>
    <p:sldId id="349" r:id="rId25"/>
    <p:sldId id="438" r:id="rId26"/>
    <p:sldId id="425" r:id="rId2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Computer Speeds and Units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11065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Computer Speeds &amp; Units (Bits, Bytes, Hz, and Architectures)</a:t>
            </a:r>
            <a:br>
              <a:rPr lang="en-GB" sz="4000" dirty="0">
                <a:latin typeface="Comic Sans MS" panose="030F0702030302020204" pitchFamily="66" charset="0"/>
              </a:rPr>
            </a:br>
            <a:endParaRPr lang="en-GB" sz="40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Understanding how we measure data and speed is foundational: from bits &amp; bytes to kilobytes through yottabytes, from CPU cycles (Hz) to how quickly the CPU reaches memory, and why 32-bit vs 64-bit still matters.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C6089A-9399-7B6C-1DF0-B5FD0BB67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68B6C98-DF7D-1E74-4ECD-DAABA058C2C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C71BFE6-1ECE-2491-22AB-7BE8A393D9B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50C70FE-339F-A4ED-3C8F-741EE094099F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FFBD4F6-4C5B-7C83-CD38-3813161573B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23E59231-254E-DD14-1CE8-B129EB58A98D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Memory Units</a:t>
            </a:r>
          </a:p>
        </p:txBody>
      </p:sp>
    </p:spTree>
    <p:extLst>
      <p:ext uri="{BB962C8B-B14F-4D97-AF65-F5344CB8AC3E}">
        <p14:creationId xmlns:p14="http://schemas.microsoft.com/office/powerpoint/2010/main" val="224405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4ACECE-324C-7BED-23E8-E3919313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13B6F73-CA80-FF78-505A-971DCD9B0887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Memory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Units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…</a:t>
            </a:r>
            <a:endParaRPr lang="en-GB" sz="2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FD8877-9519-8AF9-CDDA-3B7B9AE5B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0288"/>
            <a:ext cx="13411200" cy="595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4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03CB46-BADB-4621-4EBB-1E0139F5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8BC23C8-D937-6A10-5F5E-2015720EB7B6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Memory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Units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…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Bit = the smallest unit (0 or 1).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Byte = 8 bits.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Binary-scaled units (base 2) commonly taught to beginners: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🟩 1 KB = 1,024 bytes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🟩 1 MB = 1,024 KB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🟩 1 GB = 1,024 MB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🟩 1 TB = 1,024 GB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Even Larger : PB, EB, ZB, YB with real-world anchors (e.g., Facebook servers in PBs, 	global internet traffic in EBs, “whole data in the world” a few ZBs).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📌 Note for learners: Operating systems and storage vendors sometimes use decimal (	10³) labels; this lesson uses the binary (2¹⁰=1,024) view shown in the slides.</a:t>
            </a:r>
          </a:p>
        </p:txBody>
      </p:sp>
    </p:spTree>
    <p:extLst>
      <p:ext uri="{BB962C8B-B14F-4D97-AF65-F5344CB8AC3E}">
        <p14:creationId xmlns:p14="http://schemas.microsoft.com/office/powerpoint/2010/main" val="120436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CD78B5-29E7-0D11-5018-D9280761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BCE7C08-BB39-2036-3E52-5A3F85BE4BCF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7D2DAA9-83A3-C176-45F2-7F811183B1B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E96370A-1203-5C9B-8B28-6849D8399F8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F04998E-3658-1BB0-DBFF-B05D6691297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40AE7CE-88B5-4FA9-1013-C682262A030D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CPU Access to Memory</a:t>
            </a:r>
          </a:p>
        </p:txBody>
      </p:sp>
    </p:spTree>
    <p:extLst>
      <p:ext uri="{BB962C8B-B14F-4D97-AF65-F5344CB8AC3E}">
        <p14:creationId xmlns:p14="http://schemas.microsoft.com/office/powerpoint/2010/main" val="3456207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DE3560-E6BC-5792-33C2-CD5B7711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>
            <a:extLst>
              <a:ext uri="{FF2B5EF4-FFF2-40B4-BE49-F238E27FC236}">
                <a16:creationId xmlns:a16="http://schemas.microsoft.com/office/drawing/2014/main" id="{591063F3-C8B3-D5CA-70FB-B0FF5D05A0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9" t="43982" r="45703" b="35227"/>
          <a:stretch>
            <a:fillRect/>
          </a:stretch>
        </p:blipFill>
        <p:spPr>
          <a:xfrm>
            <a:off x="0" y="2219354"/>
            <a:ext cx="13416830" cy="783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91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D25E82-C4A0-DEDD-C4DF-7AA7AB14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1133A3E-7BD6-496B-2602-0CFF57EA224A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Memory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Units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…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 closer the storage is to the CPU, the faster the access: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Registers (inside CPU): instantly available values for current instructions.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Cache (on-chip): very fast access to recently used data/instructions.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Main Memory (RAM): fast, but slower than cache.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Secondary Storage (SSD/HDD): slowest among these tiers, used for long-term 	storage.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Slides emphasize: “Instantly / semi-instantly available data… makes access to 	data much faster.”</a:t>
            </a:r>
          </a:p>
        </p:txBody>
      </p:sp>
    </p:spTree>
    <p:extLst>
      <p:ext uri="{BB962C8B-B14F-4D97-AF65-F5344CB8AC3E}">
        <p14:creationId xmlns:p14="http://schemas.microsoft.com/office/powerpoint/2010/main" val="265783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03BD65-47DB-72B6-E216-47CB3B29C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A4C9874-FD57-FC3F-4821-462A995AC570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9DFB3CA-C96A-E988-DB5C-BE851242E20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BA80191-AEAC-C1E1-1C06-927F9293B32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BD05E7A-C5C4-CF98-1FF5-CC6E33AB22F3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88D959A-DD9C-9A70-0BBA-AEF826CB716A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CPU Speed</a:t>
            </a:r>
          </a:p>
        </p:txBody>
      </p:sp>
    </p:spTree>
    <p:extLst>
      <p:ext uri="{BB962C8B-B14F-4D97-AF65-F5344CB8AC3E}">
        <p14:creationId xmlns:p14="http://schemas.microsoft.com/office/powerpoint/2010/main" val="3873552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3F0689-425F-5DB6-3BFF-D484A700E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E6A2960-5BA7-07FC-5115-75150196FC97}"/>
              </a:ext>
            </a:extLst>
          </p:cNvPr>
          <p:cNvSpPr txBox="1"/>
          <p:nvPr/>
        </p:nvSpPr>
        <p:spPr>
          <a:xfrm>
            <a:off x="381000" y="888075"/>
            <a:ext cx="12352767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latin typeface="Comic Sans MS" panose="030F0702030302020204" pitchFamily="66" charset="0"/>
              </a:rPr>
              <a:t>CPU Speed</a:t>
            </a:r>
            <a:endParaRPr lang="en-GB" sz="240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Higher clock speed means a faster CPU (within the same generation)</a:t>
            </a:r>
          </a:p>
          <a:p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Clock speed (also “clock rate” or “frequency”) is one of the most significant.</a:t>
            </a:r>
          </a:p>
          <a:p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A CPU with a clock speed of 3.2 GHz executes 3.2 billion cycles per second.</a:t>
            </a: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dirty="0">
                <a:latin typeface="Comic Sans MS"/>
                <a:cs typeface="Comic Sans MS"/>
              </a:rPr>
              <a:t>During</a:t>
            </a:r>
            <a:r>
              <a:rPr lang="en-GB" sz="2400" spc="-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each</a:t>
            </a:r>
            <a:r>
              <a:rPr lang="en-GB" sz="2400" spc="-2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cycle,</a:t>
            </a:r>
            <a:r>
              <a:rPr lang="en-GB" sz="2400" spc="-2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billions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-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transistors</a:t>
            </a:r>
            <a:r>
              <a:rPr lang="en-GB" sz="2400" spc="-2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within</a:t>
            </a:r>
            <a:r>
              <a:rPr lang="en-GB" sz="2400" spc="-15" dirty="0">
                <a:latin typeface="Comic Sans MS"/>
                <a:cs typeface="Comic Sans MS"/>
              </a:rPr>
              <a:t> </a:t>
            </a:r>
            <a:r>
              <a:rPr lang="en-GB" sz="2400" spc="-25" dirty="0">
                <a:latin typeface="Comic Sans MS"/>
                <a:cs typeface="Comic Sans MS"/>
              </a:rPr>
              <a:t>the </a:t>
            </a:r>
            <a:r>
              <a:rPr lang="en-GB" sz="2400" dirty="0">
                <a:latin typeface="Comic Sans MS"/>
                <a:cs typeface="Comic Sans MS"/>
              </a:rPr>
              <a:t>processor</a:t>
            </a:r>
            <a:r>
              <a:rPr lang="en-GB" sz="2400" spc="1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open</a:t>
            </a:r>
            <a:r>
              <a:rPr lang="en-GB" sz="2400" spc="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and </a:t>
            </a:r>
            <a:r>
              <a:rPr lang="en-GB" sz="2400" spc="-10" dirty="0">
                <a:latin typeface="Comic Sans MS"/>
                <a:cs typeface="Comic Sans MS"/>
              </a:rPr>
              <a:t>close.</a:t>
            </a:r>
            <a:endParaRPr lang="en-GB" sz="2400" dirty="0">
              <a:latin typeface="Comic Sans MS"/>
              <a:cs typeface="Comic Sans MS"/>
            </a:endParaRPr>
          </a:p>
          <a:p>
            <a:endParaRPr lang="en-GB" sz="2400" spc="-1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Picture 3" descr="A hand holding a computer chip&#10;&#10;AI-generated content may be incorrect.">
            <a:extLst>
              <a:ext uri="{FF2B5EF4-FFF2-40B4-BE49-F238E27FC236}">
                <a16:creationId xmlns:a16="http://schemas.microsoft.com/office/drawing/2014/main" id="{50554946-D498-48EA-D04D-BB0FE72B5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060" y="3276599"/>
            <a:ext cx="6181943" cy="3644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474581-5993-CBC9-33F1-92862C3A2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3733800"/>
            <a:ext cx="5005143" cy="364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55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8C6E1D-BE89-AF42-C65C-00787A79A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016ED78-5AB9-E73E-AEEA-8E0340C48523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Memory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Units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…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Clock speed / frequency</a:t>
            </a:r>
            <a:r>
              <a:rPr lang="en-GB" sz="2400" dirty="0">
                <a:latin typeface="Comic Sans MS" panose="030F0702030302020204" pitchFamily="66" charset="0"/>
              </a:rPr>
              <a:t> measures how many </a:t>
            </a:r>
            <a:r>
              <a:rPr lang="en-GB" sz="2400" b="1" dirty="0">
                <a:latin typeface="Comic Sans MS" panose="030F0702030302020204" pitchFamily="66" charset="0"/>
              </a:rPr>
              <a:t>cycles per second</a:t>
            </a:r>
            <a:r>
              <a:rPr lang="en-GB" sz="2400" dirty="0">
                <a:latin typeface="Comic Sans MS" panose="030F0702030302020204" pitchFamily="66" charset="0"/>
              </a:rPr>
              <a:t> the CPU 	performs, in </a:t>
            </a:r>
            <a:r>
              <a:rPr lang="en-GB" sz="2400" b="1" dirty="0">
                <a:latin typeface="Comic Sans MS" panose="030F0702030302020204" pitchFamily="66" charset="0"/>
              </a:rPr>
              <a:t>Hertz (Hz)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3.2 GHz</a:t>
            </a:r>
            <a:r>
              <a:rPr lang="en-GB" sz="2400" dirty="0">
                <a:latin typeface="Comic Sans MS" panose="030F0702030302020204" pitchFamily="66" charset="0"/>
              </a:rPr>
              <a:t> = </a:t>
            </a:r>
            <a:r>
              <a:rPr lang="en-GB" sz="2400" b="1" dirty="0">
                <a:latin typeface="Comic Sans MS" panose="030F0702030302020204" pitchFamily="66" charset="0"/>
              </a:rPr>
              <a:t>3.2 billion cycles per second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On each cycle, </a:t>
            </a:r>
            <a:r>
              <a:rPr lang="en-GB" sz="2400" b="1" dirty="0">
                <a:latin typeface="Comic Sans MS" panose="030F0702030302020204" pitchFamily="66" charset="0"/>
              </a:rPr>
              <a:t>billions of transistors</a:t>
            </a:r>
            <a:r>
              <a:rPr lang="en-GB" sz="2400" dirty="0">
                <a:latin typeface="Comic Sans MS" panose="030F0702030302020204" pitchFamily="66" charset="0"/>
              </a:rPr>
              <a:t> open/close (binary switching) to execute instructions.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Transistor</a:t>
            </a:r>
            <a:r>
              <a:rPr lang="en-GB" sz="2400" dirty="0">
                <a:latin typeface="Comic Sans MS" panose="030F0702030302020204" pitchFamily="66" charset="0"/>
              </a:rPr>
              <a:t> = </a:t>
            </a:r>
            <a:r>
              <a:rPr lang="en-GB" sz="2400" b="1" dirty="0">
                <a:latin typeface="Comic Sans MS" panose="030F0702030302020204" pitchFamily="66" charset="0"/>
              </a:rPr>
              <a:t>binary switch</a:t>
            </a:r>
            <a:r>
              <a:rPr lang="en-GB" sz="2400" dirty="0">
                <a:latin typeface="Comic Sans MS" panose="030F0702030302020204" pitchFamily="66" charset="0"/>
              </a:rPr>
              <a:t> that </a:t>
            </a:r>
            <a:r>
              <a:rPr lang="en-GB" sz="2400" b="1" dirty="0">
                <a:latin typeface="Comic Sans MS" panose="030F0702030302020204" pitchFamily="66" charset="0"/>
              </a:rPr>
              <a:t>prevents or allows electricity</a:t>
            </a:r>
            <a:r>
              <a:rPr lang="en-GB" sz="2400" dirty="0">
                <a:latin typeface="Comic Sans MS" panose="030F0702030302020204" pitchFamily="66" charset="0"/>
              </a:rPr>
              <a:t> (OFF/ON → 0/1). </a:t>
            </a:r>
          </a:p>
        </p:txBody>
      </p:sp>
    </p:spTree>
    <p:extLst>
      <p:ext uri="{BB962C8B-B14F-4D97-AF65-F5344CB8AC3E}">
        <p14:creationId xmlns:p14="http://schemas.microsoft.com/office/powerpoint/2010/main" val="1036986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F50FEC-E593-6864-ABE0-4D282F55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E9A9A2A-E706-E2CA-F26B-00D43A294D2C}"/>
              </a:ext>
            </a:extLst>
          </p:cNvPr>
          <p:cNvGrpSpPr/>
          <p:nvPr/>
        </p:nvGrpSpPr>
        <p:grpSpPr>
          <a:xfrm>
            <a:off x="986994" y="1923415"/>
            <a:ext cx="11437212" cy="6211570"/>
            <a:chOff x="2005857" y="1912769"/>
            <a:chExt cx="6526530" cy="354457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B24709A6-7784-8522-D493-B8766B67A64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5857" y="1912769"/>
              <a:ext cx="6476232" cy="3544320"/>
            </a:xfrm>
            <a:prstGeom prst="rect">
              <a:avLst/>
            </a:prstGeom>
          </p:spPr>
        </p:pic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14C2BD95-EA94-F13A-A9E3-D1B7F4BEA672}"/>
                </a:ext>
              </a:extLst>
            </p:cNvPr>
            <p:cNvSpPr/>
            <p:nvPr/>
          </p:nvSpPr>
          <p:spPr>
            <a:xfrm>
              <a:off x="3697224" y="2894076"/>
              <a:ext cx="4829810" cy="655320"/>
            </a:xfrm>
            <a:custGeom>
              <a:avLst/>
              <a:gdLst/>
              <a:ahLst/>
              <a:cxnLst/>
              <a:rect l="l" t="t" r="r" b="b"/>
              <a:pathLst>
                <a:path w="4829809" h="655320">
                  <a:moveTo>
                    <a:pt x="0" y="0"/>
                  </a:moveTo>
                  <a:lnTo>
                    <a:pt x="4829556" y="0"/>
                  </a:lnTo>
                  <a:lnTo>
                    <a:pt x="4829556" y="655320"/>
                  </a:lnTo>
                  <a:lnTo>
                    <a:pt x="0" y="65532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2836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62688E-5B37-9EA3-88D1-9E5A9EE8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F969635-3629-A81F-3808-7886DA2FE3C7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280E8A09-12F4-1B05-2D73-78614CD984B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A516C81-F62D-540D-069E-E6D788490CC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E5132E3-8847-4F76-28F9-F7DDE63AFA1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71CC4FA4-64D7-CACE-1EB3-8C85B80A9FD8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32-Bit vs 64-Bit</a:t>
            </a:r>
          </a:p>
        </p:txBody>
      </p:sp>
    </p:spTree>
    <p:extLst>
      <p:ext uri="{BB962C8B-B14F-4D97-AF65-F5344CB8AC3E}">
        <p14:creationId xmlns:p14="http://schemas.microsoft.com/office/powerpoint/2010/main" val="1834281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B9B4AC-76F3-12BF-956B-2984DB8A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3655" y="1656715"/>
            <a:ext cx="12323889" cy="6744970"/>
            <a:chOff x="2005857" y="1912769"/>
            <a:chExt cx="6476365" cy="3544570"/>
          </a:xfrm>
        </p:grpSpPr>
        <p:pic>
          <p:nvPicPr>
            <p:cNvPr id="4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5857" y="1912769"/>
              <a:ext cx="6476232" cy="3544320"/>
            </a:xfrm>
            <a:prstGeom prst="rect">
              <a:avLst/>
            </a:prstGeom>
          </p:spPr>
        </p:pic>
        <p:sp>
          <p:nvSpPr>
            <p:cNvPr id="6" name="object 4"/>
            <p:cNvSpPr/>
            <p:nvPr/>
          </p:nvSpPr>
          <p:spPr>
            <a:xfrm>
              <a:off x="3587496" y="4750308"/>
              <a:ext cx="4721860" cy="341630"/>
            </a:xfrm>
            <a:custGeom>
              <a:avLst/>
              <a:gdLst/>
              <a:ahLst/>
              <a:cxnLst/>
              <a:rect l="l" t="t" r="r" b="b"/>
              <a:pathLst>
                <a:path w="4721859" h="341629">
                  <a:moveTo>
                    <a:pt x="0" y="0"/>
                  </a:moveTo>
                  <a:lnTo>
                    <a:pt x="4721351" y="0"/>
                  </a:lnTo>
                  <a:lnTo>
                    <a:pt x="4721351" y="341375"/>
                  </a:lnTo>
                  <a:lnTo>
                    <a:pt x="0" y="341375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12653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3EF8-D9BC-BBB2-4EBA-67EB5097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13">
            <a:extLst>
              <a:ext uri="{FF2B5EF4-FFF2-40B4-BE49-F238E27FC236}">
                <a16:creationId xmlns:a16="http://schemas.microsoft.com/office/drawing/2014/main" id="{A39712BA-8A28-4346-B23D-932183E49040}"/>
              </a:ext>
            </a:extLst>
          </p:cNvPr>
          <p:cNvSpPr/>
          <p:nvPr/>
        </p:nvSpPr>
        <p:spPr>
          <a:xfrm>
            <a:off x="228600" y="1455995"/>
            <a:ext cx="12753788" cy="7146409"/>
          </a:xfrm>
          <a:custGeom>
            <a:avLst/>
            <a:gdLst/>
            <a:ahLst/>
            <a:cxnLst/>
            <a:rect l="l" t="t" r="r" b="b"/>
            <a:pathLst>
              <a:path w="3186429" h="1790700">
                <a:moveTo>
                  <a:pt x="3185922" y="0"/>
                </a:moveTo>
                <a:lnTo>
                  <a:pt x="0" y="0"/>
                </a:lnTo>
                <a:lnTo>
                  <a:pt x="0" y="1790700"/>
                </a:lnTo>
                <a:lnTo>
                  <a:pt x="3185922" y="1790700"/>
                </a:lnTo>
                <a:lnTo>
                  <a:pt x="318592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7" name="object 24">
            <a:extLst>
              <a:ext uri="{FF2B5EF4-FFF2-40B4-BE49-F238E27FC236}">
                <a16:creationId xmlns:a16="http://schemas.microsoft.com/office/drawing/2014/main" id="{7EC986B5-0F4A-F913-2E61-4CC28768EB2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0" y="6096000"/>
            <a:ext cx="5979588" cy="663085"/>
          </a:xfrm>
          <a:prstGeom prst="rect">
            <a:avLst/>
          </a:prstGeom>
        </p:spPr>
      </p:pic>
      <p:pic>
        <p:nvPicPr>
          <p:cNvPr id="3" name="object 24">
            <a:extLst>
              <a:ext uri="{FF2B5EF4-FFF2-40B4-BE49-F238E27FC236}">
                <a16:creationId xmlns:a16="http://schemas.microsoft.com/office/drawing/2014/main" id="{42356090-52C1-32EA-C1B8-9D76E4AEE9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6076568"/>
            <a:ext cx="5979588" cy="629032"/>
          </a:xfrm>
          <a:prstGeom prst="rect">
            <a:avLst/>
          </a:prstGeom>
        </p:spPr>
      </p:pic>
      <p:pic>
        <p:nvPicPr>
          <p:cNvPr id="5" name="object 24">
            <a:extLst>
              <a:ext uri="{FF2B5EF4-FFF2-40B4-BE49-F238E27FC236}">
                <a16:creationId xmlns:a16="http://schemas.microsoft.com/office/drawing/2014/main" id="{D5E32005-F2CD-8A44-2999-4C93B56721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4492190"/>
            <a:ext cx="5979588" cy="629031"/>
          </a:xfrm>
          <a:prstGeom prst="rect">
            <a:avLst/>
          </a:prstGeom>
        </p:spPr>
      </p:pic>
      <p:pic>
        <p:nvPicPr>
          <p:cNvPr id="4" name="object 24">
            <a:extLst>
              <a:ext uri="{FF2B5EF4-FFF2-40B4-BE49-F238E27FC236}">
                <a16:creationId xmlns:a16="http://schemas.microsoft.com/office/drawing/2014/main" id="{6A8ABAF5-1CB5-FDC7-F805-1DA1D27018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3719576"/>
            <a:ext cx="5979588" cy="629031"/>
          </a:xfrm>
          <a:prstGeom prst="rect">
            <a:avLst/>
          </a:prstGeom>
        </p:spPr>
      </p:pic>
      <p:sp>
        <p:nvSpPr>
          <p:cNvPr id="9" name="object 17">
            <a:extLst>
              <a:ext uri="{FF2B5EF4-FFF2-40B4-BE49-F238E27FC236}">
                <a16:creationId xmlns:a16="http://schemas.microsoft.com/office/drawing/2014/main" id="{1A4C1755-EBBE-D605-466B-D0BC189581EC}"/>
              </a:ext>
            </a:extLst>
          </p:cNvPr>
          <p:cNvSpPr/>
          <p:nvPr/>
        </p:nvSpPr>
        <p:spPr>
          <a:xfrm>
            <a:off x="2259648" y="2073580"/>
            <a:ext cx="1493917" cy="1500329"/>
          </a:xfrm>
          <a:custGeom>
            <a:avLst/>
            <a:gdLst/>
            <a:ahLst/>
            <a:cxnLst/>
            <a:rect l="l" t="t" r="r" b="b"/>
            <a:pathLst>
              <a:path w="295909" h="297179">
                <a:moveTo>
                  <a:pt x="0" y="148589"/>
                </a:moveTo>
                <a:lnTo>
                  <a:pt x="7546" y="101827"/>
                </a:lnTo>
                <a:lnTo>
                  <a:pt x="28553" y="61063"/>
                </a:lnTo>
                <a:lnTo>
                  <a:pt x="60569" y="28821"/>
                </a:lnTo>
                <a:lnTo>
                  <a:pt x="101144" y="7626"/>
                </a:lnTo>
                <a:lnTo>
                  <a:pt x="147828" y="0"/>
                </a:lnTo>
                <a:lnTo>
                  <a:pt x="194511" y="7626"/>
                </a:lnTo>
                <a:lnTo>
                  <a:pt x="235086" y="28821"/>
                </a:lnTo>
                <a:lnTo>
                  <a:pt x="267102" y="61063"/>
                </a:lnTo>
                <a:lnTo>
                  <a:pt x="288109" y="101827"/>
                </a:lnTo>
                <a:lnTo>
                  <a:pt x="295656" y="148589"/>
                </a:lnTo>
                <a:lnTo>
                  <a:pt x="288109" y="195645"/>
                </a:lnTo>
                <a:lnTo>
                  <a:pt x="267102" y="236445"/>
                </a:lnTo>
                <a:lnTo>
                  <a:pt x="235086" y="268577"/>
                </a:lnTo>
                <a:lnTo>
                  <a:pt x="194511" y="289627"/>
                </a:lnTo>
                <a:lnTo>
                  <a:pt x="147828" y="297179"/>
                </a:lnTo>
                <a:lnTo>
                  <a:pt x="101144" y="289627"/>
                </a:lnTo>
                <a:lnTo>
                  <a:pt x="60569" y="268577"/>
                </a:lnTo>
                <a:lnTo>
                  <a:pt x="28553" y="236445"/>
                </a:lnTo>
                <a:lnTo>
                  <a:pt x="7546" y="195645"/>
                </a:lnTo>
                <a:lnTo>
                  <a:pt x="0" y="148589"/>
                </a:lnTo>
                <a:close/>
              </a:path>
            </a:pathLst>
          </a:custGeom>
          <a:ln w="4978">
            <a:solidFill>
              <a:srgbClr val="8EA9DB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9">
            <a:extLst>
              <a:ext uri="{FF2B5EF4-FFF2-40B4-BE49-F238E27FC236}">
                <a16:creationId xmlns:a16="http://schemas.microsoft.com/office/drawing/2014/main" id="{7C7E1986-5F7D-5EC1-32B2-23FC457123B5}"/>
              </a:ext>
            </a:extLst>
          </p:cNvPr>
          <p:cNvSpPr txBox="1"/>
          <p:nvPr/>
        </p:nvSpPr>
        <p:spPr>
          <a:xfrm>
            <a:off x="2516492" y="2583179"/>
            <a:ext cx="1064908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2416" b="1" spc="-43" dirty="0">
                <a:solidFill>
                  <a:srgbClr val="8FAADC"/>
                </a:solidFill>
                <a:latin typeface="Comic Sans MS"/>
                <a:cs typeface="Comic Sans MS"/>
              </a:rPr>
              <a:t>32-Bit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12" name="object 20">
            <a:extLst>
              <a:ext uri="{FF2B5EF4-FFF2-40B4-BE49-F238E27FC236}">
                <a16:creationId xmlns:a16="http://schemas.microsoft.com/office/drawing/2014/main" id="{D0507EF7-4B76-C1DB-BDA9-4671F91ED2BB}"/>
              </a:ext>
            </a:extLst>
          </p:cNvPr>
          <p:cNvSpPr/>
          <p:nvPr/>
        </p:nvSpPr>
        <p:spPr>
          <a:xfrm>
            <a:off x="9457428" y="2108753"/>
            <a:ext cx="1497123" cy="1493917"/>
          </a:xfrm>
          <a:custGeom>
            <a:avLst/>
            <a:gdLst/>
            <a:ahLst/>
            <a:cxnLst/>
            <a:rect l="l" t="t" r="r" b="b"/>
            <a:pathLst>
              <a:path w="296544" h="295909">
                <a:moveTo>
                  <a:pt x="0" y="147828"/>
                </a:moveTo>
                <a:lnTo>
                  <a:pt x="7546" y="101144"/>
                </a:lnTo>
                <a:lnTo>
                  <a:pt x="28553" y="60569"/>
                </a:lnTo>
                <a:lnTo>
                  <a:pt x="60569" y="28553"/>
                </a:lnTo>
                <a:lnTo>
                  <a:pt x="101144" y="7546"/>
                </a:lnTo>
                <a:lnTo>
                  <a:pt x="147827" y="0"/>
                </a:lnTo>
                <a:lnTo>
                  <a:pt x="194883" y="7546"/>
                </a:lnTo>
                <a:lnTo>
                  <a:pt x="235683" y="28553"/>
                </a:lnTo>
                <a:lnTo>
                  <a:pt x="267815" y="60569"/>
                </a:lnTo>
                <a:lnTo>
                  <a:pt x="288865" y="101144"/>
                </a:lnTo>
                <a:lnTo>
                  <a:pt x="296418" y="147828"/>
                </a:lnTo>
                <a:lnTo>
                  <a:pt x="288865" y="194511"/>
                </a:lnTo>
                <a:lnTo>
                  <a:pt x="267815" y="235086"/>
                </a:lnTo>
                <a:lnTo>
                  <a:pt x="235683" y="267102"/>
                </a:lnTo>
                <a:lnTo>
                  <a:pt x="194883" y="288109"/>
                </a:lnTo>
                <a:lnTo>
                  <a:pt x="147827" y="295656"/>
                </a:lnTo>
                <a:lnTo>
                  <a:pt x="101144" y="288109"/>
                </a:lnTo>
                <a:lnTo>
                  <a:pt x="60569" y="267102"/>
                </a:lnTo>
                <a:lnTo>
                  <a:pt x="28553" y="235086"/>
                </a:lnTo>
                <a:lnTo>
                  <a:pt x="7546" y="194511"/>
                </a:lnTo>
                <a:lnTo>
                  <a:pt x="0" y="147828"/>
                </a:lnTo>
                <a:close/>
              </a:path>
            </a:pathLst>
          </a:custGeom>
          <a:ln w="4978">
            <a:solidFill>
              <a:srgbClr val="FFBD4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22">
            <a:extLst>
              <a:ext uri="{FF2B5EF4-FFF2-40B4-BE49-F238E27FC236}">
                <a16:creationId xmlns:a16="http://schemas.microsoft.com/office/drawing/2014/main" id="{4729C2AC-7721-8031-6F6C-E79E489511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9565" y="2583179"/>
            <a:ext cx="990728" cy="990728"/>
          </a:xfrm>
          <a:prstGeom prst="rect">
            <a:avLst/>
          </a:prstGeom>
        </p:spPr>
      </p:pic>
      <p:sp>
        <p:nvSpPr>
          <p:cNvPr id="15" name="object 23">
            <a:extLst>
              <a:ext uri="{FF2B5EF4-FFF2-40B4-BE49-F238E27FC236}">
                <a16:creationId xmlns:a16="http://schemas.microsoft.com/office/drawing/2014/main" id="{E01E92FD-6E26-D249-4542-51FC9D183325}"/>
              </a:ext>
            </a:extLst>
          </p:cNvPr>
          <p:cNvSpPr txBox="1"/>
          <p:nvPr/>
        </p:nvSpPr>
        <p:spPr>
          <a:xfrm>
            <a:off x="6362164" y="2855710"/>
            <a:ext cx="612314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sz="2416" b="1" spc="-43" dirty="0">
                <a:solidFill>
                  <a:srgbClr val="6FAD46"/>
                </a:solidFill>
                <a:latin typeface="Comic Sans MS"/>
                <a:cs typeface="Comic Sans MS"/>
              </a:rPr>
              <a:t>VS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2" name="object 21">
            <a:extLst>
              <a:ext uri="{FF2B5EF4-FFF2-40B4-BE49-F238E27FC236}">
                <a16:creationId xmlns:a16="http://schemas.microsoft.com/office/drawing/2014/main" id="{8697CF63-FA55-DD91-1FB8-2302881C1FEB}"/>
              </a:ext>
            </a:extLst>
          </p:cNvPr>
          <p:cNvSpPr txBox="1"/>
          <p:nvPr/>
        </p:nvSpPr>
        <p:spPr>
          <a:xfrm>
            <a:off x="9475677" y="2624594"/>
            <a:ext cx="1497123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2416" b="1" spc="-43" dirty="0">
                <a:solidFill>
                  <a:srgbClr val="FFBE44"/>
                </a:solidFill>
                <a:latin typeface="Comic Sans MS"/>
                <a:cs typeface="Comic Sans MS"/>
              </a:rPr>
              <a:t>64-Bit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17" name="object 25">
            <a:extLst>
              <a:ext uri="{FF2B5EF4-FFF2-40B4-BE49-F238E27FC236}">
                <a16:creationId xmlns:a16="http://schemas.microsoft.com/office/drawing/2014/main" id="{7B519E9D-39A2-92D7-3603-412F7F3689FD}"/>
              </a:ext>
            </a:extLst>
          </p:cNvPr>
          <p:cNvSpPr txBox="1"/>
          <p:nvPr/>
        </p:nvSpPr>
        <p:spPr>
          <a:xfrm>
            <a:off x="552124" y="3733800"/>
            <a:ext cx="5924747" cy="610687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Less processing power, older, slower, and less secure</a:t>
            </a:r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DA15B289-D18F-0959-8C86-3BA02F4E46CA}"/>
              </a:ext>
            </a:extLst>
          </p:cNvPr>
          <p:cNvSpPr txBox="1"/>
          <p:nvPr/>
        </p:nvSpPr>
        <p:spPr>
          <a:xfrm>
            <a:off x="552124" y="4644547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2^32 (or 4,294,967,296) bytes</a:t>
            </a:r>
          </a:p>
        </p:txBody>
      </p:sp>
      <p:pic>
        <p:nvPicPr>
          <p:cNvPr id="16" name="object 24">
            <a:extLst>
              <a:ext uri="{FF2B5EF4-FFF2-40B4-BE49-F238E27FC236}">
                <a16:creationId xmlns:a16="http://schemas.microsoft.com/office/drawing/2014/main" id="{74FB834E-FEFE-E1F4-4C96-D86F7D094A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5287078"/>
            <a:ext cx="5979588" cy="629032"/>
          </a:xfrm>
          <a:prstGeom prst="rect">
            <a:avLst/>
          </a:prstGeom>
        </p:spPr>
      </p:pic>
      <p:sp>
        <p:nvSpPr>
          <p:cNvPr id="18" name="object 25">
            <a:extLst>
              <a:ext uri="{FF2B5EF4-FFF2-40B4-BE49-F238E27FC236}">
                <a16:creationId xmlns:a16="http://schemas.microsoft.com/office/drawing/2014/main" id="{17241B5F-6FE8-2B9A-06A3-3AC1BE73E5A3}"/>
              </a:ext>
            </a:extLst>
          </p:cNvPr>
          <p:cNvSpPr txBox="1"/>
          <p:nvPr/>
        </p:nvSpPr>
        <p:spPr>
          <a:xfrm>
            <a:off x="552124" y="54394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Can allocate only 4GB of memory (RAM</a:t>
            </a:r>
          </a:p>
        </p:txBody>
      </p:sp>
      <p:pic>
        <p:nvPicPr>
          <p:cNvPr id="23" name="object 24">
            <a:extLst>
              <a:ext uri="{FF2B5EF4-FFF2-40B4-BE49-F238E27FC236}">
                <a16:creationId xmlns:a16="http://schemas.microsoft.com/office/drawing/2014/main" id="{405A113B-1677-01A6-4623-3EDB1DD381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957" y="6845709"/>
            <a:ext cx="5979588" cy="815734"/>
          </a:xfrm>
          <a:prstGeom prst="rect">
            <a:avLst/>
          </a:prstGeom>
        </p:spPr>
      </p:pic>
      <p:sp>
        <p:nvSpPr>
          <p:cNvPr id="24" name="object 25">
            <a:extLst>
              <a:ext uri="{FF2B5EF4-FFF2-40B4-BE49-F238E27FC236}">
                <a16:creationId xmlns:a16="http://schemas.microsoft.com/office/drawing/2014/main" id="{46E72B7D-B118-24AE-4A5D-62E849886C2B}"/>
              </a:ext>
            </a:extLst>
          </p:cNvPr>
          <p:cNvSpPr txBox="1"/>
          <p:nvPr/>
        </p:nvSpPr>
        <p:spPr>
          <a:xfrm>
            <a:off x="539797" y="6998065"/>
            <a:ext cx="5924747" cy="610687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Can only run a 32-bit operating system software and 32-bit</a:t>
            </a:r>
          </a:p>
        </p:txBody>
      </p:sp>
      <p:pic>
        <p:nvPicPr>
          <p:cNvPr id="25" name="object 24">
            <a:extLst>
              <a:ext uri="{FF2B5EF4-FFF2-40B4-BE49-F238E27FC236}">
                <a16:creationId xmlns:a16="http://schemas.microsoft.com/office/drawing/2014/main" id="{CFDF339A-19A7-A15D-17DB-6E514F901C6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4492190"/>
            <a:ext cx="5979588" cy="629031"/>
          </a:xfrm>
          <a:prstGeom prst="rect">
            <a:avLst/>
          </a:prstGeom>
        </p:spPr>
      </p:pic>
      <p:pic>
        <p:nvPicPr>
          <p:cNvPr id="26" name="object 24">
            <a:extLst>
              <a:ext uri="{FF2B5EF4-FFF2-40B4-BE49-F238E27FC236}">
                <a16:creationId xmlns:a16="http://schemas.microsoft.com/office/drawing/2014/main" id="{1C8C3876-010B-A42B-8857-A94DA5D16A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3719576"/>
            <a:ext cx="5979588" cy="629031"/>
          </a:xfrm>
          <a:prstGeom prst="rect">
            <a:avLst/>
          </a:prstGeom>
        </p:spPr>
      </p:pic>
      <p:sp>
        <p:nvSpPr>
          <p:cNvPr id="27" name="object 25">
            <a:extLst>
              <a:ext uri="{FF2B5EF4-FFF2-40B4-BE49-F238E27FC236}">
                <a16:creationId xmlns:a16="http://schemas.microsoft.com/office/drawing/2014/main" id="{BC82A151-7454-B238-179E-792D69359B4F}"/>
              </a:ext>
            </a:extLst>
          </p:cNvPr>
          <p:cNvSpPr txBox="1"/>
          <p:nvPr/>
        </p:nvSpPr>
        <p:spPr>
          <a:xfrm>
            <a:off x="6728935" y="3871933"/>
            <a:ext cx="5924747" cy="610687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More processing power, newer, faster, and more secure</a:t>
            </a:r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0D23EA7B-9EEE-4429-08F0-5B82F7DFAD81}"/>
              </a:ext>
            </a:extLst>
          </p:cNvPr>
          <p:cNvSpPr txBox="1"/>
          <p:nvPr/>
        </p:nvSpPr>
        <p:spPr>
          <a:xfrm>
            <a:off x="6728935" y="4644547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2^64 or 18,446,744,073,709,551,616) bytes</a:t>
            </a:r>
          </a:p>
        </p:txBody>
      </p:sp>
      <p:pic>
        <p:nvPicPr>
          <p:cNvPr id="29" name="object 24">
            <a:extLst>
              <a:ext uri="{FF2B5EF4-FFF2-40B4-BE49-F238E27FC236}">
                <a16:creationId xmlns:a16="http://schemas.microsoft.com/office/drawing/2014/main" id="{AE9B1177-3E77-75D1-B49B-6C8CB3C48E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5287077"/>
            <a:ext cx="5979588" cy="663085"/>
          </a:xfrm>
          <a:prstGeom prst="rect">
            <a:avLst/>
          </a:prstGeom>
        </p:spPr>
      </p:pic>
      <p:sp>
        <p:nvSpPr>
          <p:cNvPr id="30" name="object 25">
            <a:extLst>
              <a:ext uri="{FF2B5EF4-FFF2-40B4-BE49-F238E27FC236}">
                <a16:creationId xmlns:a16="http://schemas.microsoft.com/office/drawing/2014/main" id="{03D16BC2-1631-CBB3-8297-2CD4CD82310E}"/>
              </a:ext>
            </a:extLst>
          </p:cNvPr>
          <p:cNvSpPr txBox="1"/>
          <p:nvPr/>
        </p:nvSpPr>
        <p:spPr>
          <a:xfrm>
            <a:off x="6728935" y="54394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Can allocate much more RAM</a:t>
            </a:r>
          </a:p>
        </p:txBody>
      </p:sp>
      <p:pic>
        <p:nvPicPr>
          <p:cNvPr id="33" name="object 24">
            <a:extLst>
              <a:ext uri="{FF2B5EF4-FFF2-40B4-BE49-F238E27FC236}">
                <a16:creationId xmlns:a16="http://schemas.microsoft.com/office/drawing/2014/main" id="{4FF62AB9-0A8E-6C89-FCE7-A4715622EA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1768" y="6845709"/>
            <a:ext cx="5979588" cy="815736"/>
          </a:xfrm>
          <a:prstGeom prst="rect">
            <a:avLst/>
          </a:prstGeom>
        </p:spPr>
      </p:pic>
      <p:sp>
        <p:nvSpPr>
          <p:cNvPr id="34" name="object 25">
            <a:extLst>
              <a:ext uri="{FF2B5EF4-FFF2-40B4-BE49-F238E27FC236}">
                <a16:creationId xmlns:a16="http://schemas.microsoft.com/office/drawing/2014/main" id="{D295A3A8-FA12-4E02-74BD-FD3504EEF572}"/>
              </a:ext>
            </a:extLst>
          </p:cNvPr>
          <p:cNvSpPr txBox="1"/>
          <p:nvPr/>
        </p:nvSpPr>
        <p:spPr>
          <a:xfrm>
            <a:off x="6716609" y="6998065"/>
            <a:ext cx="5924747" cy="610687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Can run both 64-bit and 32-bit operating systems and software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3EFEC92-5B25-70BD-3D95-A5A88BC9A2F0}"/>
              </a:ext>
            </a:extLst>
          </p:cNvPr>
          <p:cNvGrpSpPr/>
          <p:nvPr/>
        </p:nvGrpSpPr>
        <p:grpSpPr>
          <a:xfrm>
            <a:off x="5155353" y="4155876"/>
            <a:ext cx="2899019" cy="2885753"/>
            <a:chOff x="2867973" y="3663202"/>
            <a:chExt cx="1591716" cy="158443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464523DE-30FD-6CEC-13D9-199295BB5617}"/>
                </a:ext>
              </a:extLst>
            </p:cNvPr>
            <p:cNvGrpSpPr/>
            <p:nvPr/>
          </p:nvGrpSpPr>
          <p:grpSpPr>
            <a:xfrm>
              <a:off x="2870354" y="3663202"/>
              <a:ext cx="1589335" cy="1584432"/>
              <a:chOff x="3799750" y="219186"/>
              <a:chExt cx="1680112" cy="1674929"/>
            </a:xfrm>
          </p:grpSpPr>
          <p:pic>
            <p:nvPicPr>
              <p:cNvPr id="114" name="object 44">
                <a:extLst>
                  <a:ext uri="{FF2B5EF4-FFF2-40B4-BE49-F238E27FC236}">
                    <a16:creationId xmlns:a16="http://schemas.microsoft.com/office/drawing/2014/main" id="{CCAF437A-9AE0-4A3E-C64F-6E987215599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799750" y="219186"/>
                <a:ext cx="1680112" cy="1674929"/>
              </a:xfrm>
              <a:prstGeom prst="rect">
                <a:avLst/>
              </a:prstGeom>
            </p:spPr>
          </p:pic>
          <p:pic>
            <p:nvPicPr>
              <p:cNvPr id="115" name="object 46">
                <a:extLst>
                  <a:ext uri="{FF2B5EF4-FFF2-40B4-BE49-F238E27FC236}">
                    <a16:creationId xmlns:a16="http://schemas.microsoft.com/office/drawing/2014/main" id="{DB1530CC-146D-2DA3-D77F-0860B1CD6BD6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403074" y="812178"/>
                <a:ext cx="473464" cy="473464"/>
              </a:xfrm>
              <a:prstGeom prst="rect">
                <a:avLst/>
              </a:prstGeom>
            </p:spPr>
          </p:pic>
        </p:grpSp>
        <p:sp>
          <p:nvSpPr>
            <p:cNvPr id="99" name="object 48">
              <a:extLst>
                <a:ext uri="{FF2B5EF4-FFF2-40B4-BE49-F238E27FC236}">
                  <a16:creationId xmlns:a16="http://schemas.microsoft.com/office/drawing/2014/main" id="{CDF5A0FB-F64D-1D1C-E616-DFF09E084925}"/>
                </a:ext>
              </a:extLst>
            </p:cNvPr>
            <p:cNvSpPr/>
            <p:nvPr/>
          </p:nvSpPr>
          <p:spPr>
            <a:xfrm>
              <a:off x="3660801" y="3663202"/>
              <a:ext cx="0" cy="1584432"/>
            </a:xfrm>
            <a:custGeom>
              <a:avLst/>
              <a:gdLst/>
              <a:ahLst/>
              <a:cxnLst/>
              <a:rect l="l" t="t" r="r" b="b"/>
              <a:pathLst>
                <a:path h="822325">
                  <a:moveTo>
                    <a:pt x="0" y="0"/>
                  </a:moveTo>
                  <a:lnTo>
                    <a:pt x="0" y="822198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49">
              <a:extLst>
                <a:ext uri="{FF2B5EF4-FFF2-40B4-BE49-F238E27FC236}">
                  <a16:creationId xmlns:a16="http://schemas.microsoft.com/office/drawing/2014/main" id="{E5E02C9D-856B-D34D-397D-F91E677E71E5}"/>
                </a:ext>
              </a:extLst>
            </p:cNvPr>
            <p:cNvSpPr/>
            <p:nvPr/>
          </p:nvSpPr>
          <p:spPr>
            <a:xfrm>
              <a:off x="2867973" y="4454562"/>
              <a:ext cx="1585656" cy="0"/>
            </a:xfrm>
            <a:custGeom>
              <a:avLst/>
              <a:gdLst/>
              <a:ahLst/>
              <a:cxnLst/>
              <a:rect l="l" t="t" r="r" b="b"/>
              <a:pathLst>
                <a:path w="822960">
                  <a:moveTo>
                    <a:pt x="0" y="0"/>
                  </a:moveTo>
                  <a:lnTo>
                    <a:pt x="82296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50">
              <a:extLst>
                <a:ext uri="{FF2B5EF4-FFF2-40B4-BE49-F238E27FC236}">
                  <a16:creationId xmlns:a16="http://schemas.microsoft.com/office/drawing/2014/main" id="{98444F0C-1F7D-0B10-9DD5-F95F683952AC}"/>
                </a:ext>
              </a:extLst>
            </p:cNvPr>
            <p:cNvSpPr/>
            <p:nvPr/>
          </p:nvSpPr>
          <p:spPr>
            <a:xfrm>
              <a:off x="3594732" y="3746889"/>
              <a:ext cx="134585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51">
              <a:extLst>
                <a:ext uri="{FF2B5EF4-FFF2-40B4-BE49-F238E27FC236}">
                  <a16:creationId xmlns:a16="http://schemas.microsoft.com/office/drawing/2014/main" id="{ACC175D9-FE94-2983-99C8-9D15093BDD66}"/>
                </a:ext>
              </a:extLst>
            </p:cNvPr>
            <p:cNvSpPr/>
            <p:nvPr/>
          </p:nvSpPr>
          <p:spPr>
            <a:xfrm>
              <a:off x="3613819" y="3805617"/>
              <a:ext cx="95433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3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52">
              <a:extLst>
                <a:ext uri="{FF2B5EF4-FFF2-40B4-BE49-F238E27FC236}">
                  <a16:creationId xmlns:a16="http://schemas.microsoft.com/office/drawing/2014/main" id="{292245B5-F707-03F5-7DF4-126787583A56}"/>
                </a:ext>
              </a:extLst>
            </p:cNvPr>
            <p:cNvSpPr/>
            <p:nvPr/>
          </p:nvSpPr>
          <p:spPr>
            <a:xfrm>
              <a:off x="3632906" y="3862877"/>
              <a:ext cx="57504" cy="0"/>
            </a:xfrm>
            <a:custGeom>
              <a:avLst/>
              <a:gdLst/>
              <a:ahLst/>
              <a:cxnLst/>
              <a:rect l="l" t="t" r="r" b="b"/>
              <a:pathLst>
                <a:path w="29844">
                  <a:moveTo>
                    <a:pt x="0" y="0"/>
                  </a:moveTo>
                  <a:lnTo>
                    <a:pt x="29718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53">
              <a:extLst>
                <a:ext uri="{FF2B5EF4-FFF2-40B4-BE49-F238E27FC236}">
                  <a16:creationId xmlns:a16="http://schemas.microsoft.com/office/drawing/2014/main" id="{4328DCBC-ADCF-D45A-DAF0-6942F71A3E2E}"/>
                </a:ext>
              </a:extLst>
            </p:cNvPr>
            <p:cNvSpPr/>
            <p:nvPr/>
          </p:nvSpPr>
          <p:spPr>
            <a:xfrm>
              <a:off x="4371410" y="4387024"/>
              <a:ext cx="0" cy="134585"/>
            </a:xfrm>
            <a:custGeom>
              <a:avLst/>
              <a:gdLst/>
              <a:ahLst/>
              <a:cxnLst/>
              <a:rect l="l" t="t" r="r" b="b"/>
              <a:pathLst>
                <a:path h="69850">
                  <a:moveTo>
                    <a:pt x="0" y="0"/>
                  </a:moveTo>
                  <a:lnTo>
                    <a:pt x="0" y="69342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54">
              <a:extLst>
                <a:ext uri="{FF2B5EF4-FFF2-40B4-BE49-F238E27FC236}">
                  <a16:creationId xmlns:a16="http://schemas.microsoft.com/office/drawing/2014/main" id="{98853CCF-E145-7D5B-6F9D-4A793EADCB9C}"/>
                </a:ext>
              </a:extLst>
            </p:cNvPr>
            <p:cNvSpPr/>
            <p:nvPr/>
          </p:nvSpPr>
          <p:spPr>
            <a:xfrm>
              <a:off x="4312684" y="4406111"/>
              <a:ext cx="0" cy="95433"/>
            </a:xfrm>
            <a:custGeom>
              <a:avLst/>
              <a:gdLst/>
              <a:ahLst/>
              <a:cxnLst/>
              <a:rect l="l" t="t" r="r" b="b"/>
              <a:pathLst>
                <a:path h="49529">
                  <a:moveTo>
                    <a:pt x="0" y="0"/>
                  </a:moveTo>
                  <a:lnTo>
                    <a:pt x="0" y="4953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55">
              <a:extLst>
                <a:ext uri="{FF2B5EF4-FFF2-40B4-BE49-F238E27FC236}">
                  <a16:creationId xmlns:a16="http://schemas.microsoft.com/office/drawing/2014/main" id="{B1193F42-BF9F-E4C0-1E17-2A5C19D59E4C}"/>
                </a:ext>
              </a:extLst>
            </p:cNvPr>
            <p:cNvSpPr/>
            <p:nvPr/>
          </p:nvSpPr>
          <p:spPr>
            <a:xfrm>
              <a:off x="4253954" y="4425198"/>
              <a:ext cx="0" cy="57504"/>
            </a:xfrm>
            <a:custGeom>
              <a:avLst/>
              <a:gdLst/>
              <a:ahLst/>
              <a:cxnLst/>
              <a:rect l="l" t="t" r="r" b="b"/>
              <a:pathLst>
                <a:path h="29845">
                  <a:moveTo>
                    <a:pt x="0" y="0"/>
                  </a:moveTo>
                  <a:lnTo>
                    <a:pt x="0" y="29717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56">
              <a:extLst>
                <a:ext uri="{FF2B5EF4-FFF2-40B4-BE49-F238E27FC236}">
                  <a16:creationId xmlns:a16="http://schemas.microsoft.com/office/drawing/2014/main" id="{CC0C349B-4575-ABCF-FD18-955E1D48FD87}"/>
                </a:ext>
              </a:extLst>
            </p:cNvPr>
            <p:cNvSpPr/>
            <p:nvPr/>
          </p:nvSpPr>
          <p:spPr>
            <a:xfrm>
              <a:off x="3593266" y="5163702"/>
              <a:ext cx="135808" cy="0"/>
            </a:xfrm>
            <a:custGeom>
              <a:avLst/>
              <a:gdLst/>
              <a:ahLst/>
              <a:cxnLst/>
              <a:rect l="l" t="t" r="r" b="b"/>
              <a:pathLst>
                <a:path w="70485">
                  <a:moveTo>
                    <a:pt x="7010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57">
              <a:extLst>
                <a:ext uri="{FF2B5EF4-FFF2-40B4-BE49-F238E27FC236}">
                  <a16:creationId xmlns:a16="http://schemas.microsoft.com/office/drawing/2014/main" id="{31666E7E-1B43-BC00-23FD-DF27F9CE8682}"/>
                </a:ext>
              </a:extLst>
            </p:cNvPr>
            <p:cNvSpPr/>
            <p:nvPr/>
          </p:nvSpPr>
          <p:spPr>
            <a:xfrm>
              <a:off x="3613819" y="5106442"/>
              <a:ext cx="95433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4953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58">
              <a:extLst>
                <a:ext uri="{FF2B5EF4-FFF2-40B4-BE49-F238E27FC236}">
                  <a16:creationId xmlns:a16="http://schemas.microsoft.com/office/drawing/2014/main" id="{16F10205-7828-BD44-C85A-3E2CBC533C58}"/>
                </a:ext>
              </a:extLst>
            </p:cNvPr>
            <p:cNvSpPr/>
            <p:nvPr/>
          </p:nvSpPr>
          <p:spPr>
            <a:xfrm>
              <a:off x="3632906" y="5047714"/>
              <a:ext cx="57504" cy="0"/>
            </a:xfrm>
            <a:custGeom>
              <a:avLst/>
              <a:gdLst/>
              <a:ahLst/>
              <a:cxnLst/>
              <a:rect l="l" t="t" r="r" b="b"/>
              <a:pathLst>
                <a:path w="29844">
                  <a:moveTo>
                    <a:pt x="2971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59">
              <a:extLst>
                <a:ext uri="{FF2B5EF4-FFF2-40B4-BE49-F238E27FC236}">
                  <a16:creationId xmlns:a16="http://schemas.microsoft.com/office/drawing/2014/main" id="{F9753F09-2790-3E66-BC95-8F52D9F6C10C}"/>
                </a:ext>
              </a:extLst>
            </p:cNvPr>
            <p:cNvSpPr/>
            <p:nvPr/>
          </p:nvSpPr>
          <p:spPr>
            <a:xfrm>
              <a:off x="2950193" y="4388493"/>
              <a:ext cx="0" cy="134585"/>
            </a:xfrm>
            <a:custGeom>
              <a:avLst/>
              <a:gdLst/>
              <a:ahLst/>
              <a:cxnLst/>
              <a:rect l="l" t="t" r="r" b="b"/>
              <a:pathLst>
                <a:path h="69850">
                  <a:moveTo>
                    <a:pt x="0" y="69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60">
              <a:extLst>
                <a:ext uri="{FF2B5EF4-FFF2-40B4-BE49-F238E27FC236}">
                  <a16:creationId xmlns:a16="http://schemas.microsoft.com/office/drawing/2014/main" id="{AE81C139-9239-A520-46AE-24902D1668D1}"/>
                </a:ext>
              </a:extLst>
            </p:cNvPr>
            <p:cNvSpPr/>
            <p:nvPr/>
          </p:nvSpPr>
          <p:spPr>
            <a:xfrm>
              <a:off x="3008921" y="4407579"/>
              <a:ext cx="0" cy="95433"/>
            </a:xfrm>
            <a:custGeom>
              <a:avLst/>
              <a:gdLst/>
              <a:ahLst/>
              <a:cxnLst/>
              <a:rect l="l" t="t" r="r" b="b"/>
              <a:pathLst>
                <a:path h="49529">
                  <a:moveTo>
                    <a:pt x="0" y="495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61">
              <a:extLst>
                <a:ext uri="{FF2B5EF4-FFF2-40B4-BE49-F238E27FC236}">
                  <a16:creationId xmlns:a16="http://schemas.microsoft.com/office/drawing/2014/main" id="{68608E00-4ED6-5F71-26C9-B72CE1B11606}"/>
                </a:ext>
              </a:extLst>
            </p:cNvPr>
            <p:cNvSpPr/>
            <p:nvPr/>
          </p:nvSpPr>
          <p:spPr>
            <a:xfrm>
              <a:off x="3066182" y="4426666"/>
              <a:ext cx="0" cy="57504"/>
            </a:xfrm>
            <a:custGeom>
              <a:avLst/>
              <a:gdLst/>
              <a:ahLst/>
              <a:cxnLst/>
              <a:rect l="l" t="t" r="r" b="b"/>
              <a:pathLst>
                <a:path h="29845">
                  <a:moveTo>
                    <a:pt x="0" y="297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63">
              <a:extLst>
                <a:ext uri="{FF2B5EF4-FFF2-40B4-BE49-F238E27FC236}">
                  <a16:creationId xmlns:a16="http://schemas.microsoft.com/office/drawing/2014/main" id="{392CB6C1-DC0B-4EE2-111B-2CB80000ED47}"/>
                </a:ext>
              </a:extLst>
            </p:cNvPr>
            <p:cNvSpPr/>
            <p:nvPr/>
          </p:nvSpPr>
          <p:spPr>
            <a:xfrm>
              <a:off x="2867973" y="3663202"/>
              <a:ext cx="1585656" cy="1584432"/>
            </a:xfrm>
            <a:custGeom>
              <a:avLst/>
              <a:gdLst/>
              <a:ahLst/>
              <a:cxnLst/>
              <a:rect l="l" t="t" r="r" b="b"/>
              <a:pathLst>
                <a:path w="822960" h="822325">
                  <a:moveTo>
                    <a:pt x="0" y="410718"/>
                  </a:moveTo>
                  <a:lnTo>
                    <a:pt x="2770" y="362774"/>
                  </a:lnTo>
                  <a:lnTo>
                    <a:pt x="10876" y="316467"/>
                  </a:lnTo>
                  <a:lnTo>
                    <a:pt x="24007" y="272103"/>
                  </a:lnTo>
                  <a:lnTo>
                    <a:pt x="41854" y="229988"/>
                  </a:lnTo>
                  <a:lnTo>
                    <a:pt x="64106" y="190429"/>
                  </a:lnTo>
                  <a:lnTo>
                    <a:pt x="90453" y="153732"/>
                  </a:lnTo>
                  <a:lnTo>
                    <a:pt x="120586" y="120205"/>
                  </a:lnTo>
                  <a:lnTo>
                    <a:pt x="154195" y="90153"/>
                  </a:lnTo>
                  <a:lnTo>
                    <a:pt x="190969" y="63884"/>
                  </a:lnTo>
                  <a:lnTo>
                    <a:pt x="230599" y="41703"/>
                  </a:lnTo>
                  <a:lnTo>
                    <a:pt x="272775" y="23918"/>
                  </a:lnTo>
                  <a:lnTo>
                    <a:pt x="317187" y="10834"/>
                  </a:lnTo>
                  <a:lnTo>
                    <a:pt x="363525" y="2759"/>
                  </a:lnTo>
                  <a:lnTo>
                    <a:pt x="411480" y="0"/>
                  </a:lnTo>
                  <a:lnTo>
                    <a:pt x="459434" y="2759"/>
                  </a:lnTo>
                  <a:lnTo>
                    <a:pt x="505772" y="10834"/>
                  </a:lnTo>
                  <a:lnTo>
                    <a:pt x="550184" y="23918"/>
                  </a:lnTo>
                  <a:lnTo>
                    <a:pt x="592360" y="41703"/>
                  </a:lnTo>
                  <a:lnTo>
                    <a:pt x="631990" y="63884"/>
                  </a:lnTo>
                  <a:lnTo>
                    <a:pt x="668764" y="90153"/>
                  </a:lnTo>
                  <a:lnTo>
                    <a:pt x="702373" y="120205"/>
                  </a:lnTo>
                  <a:lnTo>
                    <a:pt x="732506" y="153732"/>
                  </a:lnTo>
                  <a:lnTo>
                    <a:pt x="758853" y="190429"/>
                  </a:lnTo>
                  <a:lnTo>
                    <a:pt x="781105" y="229988"/>
                  </a:lnTo>
                  <a:lnTo>
                    <a:pt x="798952" y="272103"/>
                  </a:lnTo>
                  <a:lnTo>
                    <a:pt x="812083" y="316467"/>
                  </a:lnTo>
                  <a:lnTo>
                    <a:pt x="820189" y="362774"/>
                  </a:lnTo>
                  <a:lnTo>
                    <a:pt x="822960" y="410718"/>
                  </a:lnTo>
                  <a:lnTo>
                    <a:pt x="820189" y="458672"/>
                  </a:lnTo>
                  <a:lnTo>
                    <a:pt x="812083" y="505010"/>
                  </a:lnTo>
                  <a:lnTo>
                    <a:pt x="798952" y="549422"/>
                  </a:lnTo>
                  <a:lnTo>
                    <a:pt x="781105" y="591598"/>
                  </a:lnTo>
                  <a:lnTo>
                    <a:pt x="758853" y="631228"/>
                  </a:lnTo>
                  <a:lnTo>
                    <a:pt x="732506" y="668002"/>
                  </a:lnTo>
                  <a:lnTo>
                    <a:pt x="702373" y="701611"/>
                  </a:lnTo>
                  <a:lnTo>
                    <a:pt x="668764" y="731744"/>
                  </a:lnTo>
                  <a:lnTo>
                    <a:pt x="631990" y="758091"/>
                  </a:lnTo>
                  <a:lnTo>
                    <a:pt x="592360" y="780343"/>
                  </a:lnTo>
                  <a:lnTo>
                    <a:pt x="550184" y="798190"/>
                  </a:lnTo>
                  <a:lnTo>
                    <a:pt x="505772" y="811321"/>
                  </a:lnTo>
                  <a:lnTo>
                    <a:pt x="459434" y="819427"/>
                  </a:lnTo>
                  <a:lnTo>
                    <a:pt x="411480" y="822198"/>
                  </a:lnTo>
                  <a:lnTo>
                    <a:pt x="363525" y="819427"/>
                  </a:lnTo>
                  <a:lnTo>
                    <a:pt x="317187" y="811321"/>
                  </a:lnTo>
                  <a:lnTo>
                    <a:pt x="272775" y="798190"/>
                  </a:lnTo>
                  <a:lnTo>
                    <a:pt x="230599" y="780343"/>
                  </a:lnTo>
                  <a:lnTo>
                    <a:pt x="190969" y="758091"/>
                  </a:lnTo>
                  <a:lnTo>
                    <a:pt x="154195" y="731744"/>
                  </a:lnTo>
                  <a:lnTo>
                    <a:pt x="120586" y="701611"/>
                  </a:lnTo>
                  <a:lnTo>
                    <a:pt x="90453" y="668002"/>
                  </a:lnTo>
                  <a:lnTo>
                    <a:pt x="64106" y="631228"/>
                  </a:lnTo>
                  <a:lnTo>
                    <a:pt x="41854" y="591598"/>
                  </a:lnTo>
                  <a:lnTo>
                    <a:pt x="24007" y="549422"/>
                  </a:lnTo>
                  <a:lnTo>
                    <a:pt x="10876" y="505010"/>
                  </a:lnTo>
                  <a:lnTo>
                    <a:pt x="2770" y="458672"/>
                  </a:lnTo>
                  <a:lnTo>
                    <a:pt x="0" y="410718"/>
                  </a:lnTo>
                  <a:close/>
                </a:path>
                <a:path w="822960" h="822325">
                  <a:moveTo>
                    <a:pt x="0" y="410718"/>
                  </a:moveTo>
                  <a:lnTo>
                    <a:pt x="2770" y="362774"/>
                  </a:lnTo>
                  <a:lnTo>
                    <a:pt x="10876" y="316467"/>
                  </a:lnTo>
                  <a:lnTo>
                    <a:pt x="24007" y="272103"/>
                  </a:lnTo>
                  <a:lnTo>
                    <a:pt x="41854" y="229988"/>
                  </a:lnTo>
                  <a:lnTo>
                    <a:pt x="64106" y="190429"/>
                  </a:lnTo>
                  <a:lnTo>
                    <a:pt x="90453" y="153732"/>
                  </a:lnTo>
                  <a:lnTo>
                    <a:pt x="120586" y="120205"/>
                  </a:lnTo>
                  <a:lnTo>
                    <a:pt x="154195" y="90153"/>
                  </a:lnTo>
                  <a:lnTo>
                    <a:pt x="190969" y="63884"/>
                  </a:lnTo>
                  <a:lnTo>
                    <a:pt x="230599" y="41703"/>
                  </a:lnTo>
                  <a:lnTo>
                    <a:pt x="272775" y="23918"/>
                  </a:lnTo>
                  <a:lnTo>
                    <a:pt x="317187" y="10834"/>
                  </a:lnTo>
                  <a:lnTo>
                    <a:pt x="363525" y="2759"/>
                  </a:lnTo>
                  <a:lnTo>
                    <a:pt x="411480" y="0"/>
                  </a:lnTo>
                  <a:lnTo>
                    <a:pt x="459434" y="2759"/>
                  </a:lnTo>
                  <a:lnTo>
                    <a:pt x="505772" y="10834"/>
                  </a:lnTo>
                  <a:lnTo>
                    <a:pt x="550184" y="23918"/>
                  </a:lnTo>
                  <a:lnTo>
                    <a:pt x="592360" y="41703"/>
                  </a:lnTo>
                  <a:lnTo>
                    <a:pt x="631990" y="63884"/>
                  </a:lnTo>
                  <a:lnTo>
                    <a:pt x="668764" y="90153"/>
                  </a:lnTo>
                  <a:lnTo>
                    <a:pt x="702373" y="120205"/>
                  </a:lnTo>
                  <a:lnTo>
                    <a:pt x="732506" y="153732"/>
                  </a:lnTo>
                  <a:lnTo>
                    <a:pt x="758853" y="190429"/>
                  </a:lnTo>
                  <a:lnTo>
                    <a:pt x="781105" y="229988"/>
                  </a:lnTo>
                  <a:lnTo>
                    <a:pt x="798952" y="272103"/>
                  </a:lnTo>
                  <a:lnTo>
                    <a:pt x="812083" y="316467"/>
                  </a:lnTo>
                  <a:lnTo>
                    <a:pt x="820189" y="362774"/>
                  </a:lnTo>
                  <a:lnTo>
                    <a:pt x="822960" y="410718"/>
                  </a:lnTo>
                  <a:lnTo>
                    <a:pt x="820189" y="458672"/>
                  </a:lnTo>
                  <a:lnTo>
                    <a:pt x="812083" y="505010"/>
                  </a:lnTo>
                  <a:lnTo>
                    <a:pt x="798952" y="549422"/>
                  </a:lnTo>
                  <a:lnTo>
                    <a:pt x="781105" y="591598"/>
                  </a:lnTo>
                  <a:lnTo>
                    <a:pt x="758853" y="631228"/>
                  </a:lnTo>
                  <a:lnTo>
                    <a:pt x="732506" y="668002"/>
                  </a:lnTo>
                  <a:lnTo>
                    <a:pt x="702373" y="701611"/>
                  </a:lnTo>
                  <a:lnTo>
                    <a:pt x="668764" y="731744"/>
                  </a:lnTo>
                  <a:lnTo>
                    <a:pt x="631990" y="758091"/>
                  </a:lnTo>
                  <a:lnTo>
                    <a:pt x="592360" y="780343"/>
                  </a:lnTo>
                  <a:lnTo>
                    <a:pt x="550184" y="798190"/>
                  </a:lnTo>
                  <a:lnTo>
                    <a:pt x="505772" y="811321"/>
                  </a:lnTo>
                  <a:lnTo>
                    <a:pt x="459434" y="819427"/>
                  </a:lnTo>
                  <a:lnTo>
                    <a:pt x="411480" y="822198"/>
                  </a:lnTo>
                  <a:lnTo>
                    <a:pt x="363525" y="819427"/>
                  </a:lnTo>
                  <a:lnTo>
                    <a:pt x="317187" y="811321"/>
                  </a:lnTo>
                  <a:lnTo>
                    <a:pt x="272775" y="798190"/>
                  </a:lnTo>
                  <a:lnTo>
                    <a:pt x="230599" y="780343"/>
                  </a:lnTo>
                  <a:lnTo>
                    <a:pt x="190969" y="758091"/>
                  </a:lnTo>
                  <a:lnTo>
                    <a:pt x="154195" y="731744"/>
                  </a:lnTo>
                  <a:lnTo>
                    <a:pt x="120586" y="701611"/>
                  </a:lnTo>
                  <a:lnTo>
                    <a:pt x="90453" y="668002"/>
                  </a:lnTo>
                  <a:lnTo>
                    <a:pt x="64106" y="631228"/>
                  </a:lnTo>
                  <a:lnTo>
                    <a:pt x="41854" y="591598"/>
                  </a:lnTo>
                  <a:lnTo>
                    <a:pt x="24007" y="549422"/>
                  </a:lnTo>
                  <a:lnTo>
                    <a:pt x="10876" y="505010"/>
                  </a:lnTo>
                  <a:lnTo>
                    <a:pt x="2770" y="458672"/>
                  </a:lnTo>
                  <a:lnTo>
                    <a:pt x="0" y="410718"/>
                  </a:lnTo>
                  <a:close/>
                </a:path>
              </a:pathLst>
            </a:custGeom>
            <a:ln w="2655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45">
            <a:extLst>
              <a:ext uri="{FF2B5EF4-FFF2-40B4-BE49-F238E27FC236}">
                <a16:creationId xmlns:a16="http://schemas.microsoft.com/office/drawing/2014/main" id="{5F832E81-9649-50B8-800C-466A3659DDB9}"/>
              </a:ext>
            </a:extLst>
          </p:cNvPr>
          <p:cNvSpPr txBox="1"/>
          <p:nvPr/>
        </p:nvSpPr>
        <p:spPr>
          <a:xfrm>
            <a:off x="5149834" y="5396615"/>
            <a:ext cx="2899017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ctr">
              <a:spcBef>
                <a:spcPts val="207"/>
              </a:spcBef>
            </a:pPr>
            <a:r>
              <a:rPr sz="2416" spc="-17" dirty="0" err="1">
                <a:solidFill>
                  <a:srgbClr val="C00000"/>
                </a:solidFill>
                <a:latin typeface="Comic Sans MS"/>
                <a:cs typeface="Comic Sans MS"/>
              </a:rPr>
              <a:t>Diffrence</a:t>
            </a:r>
            <a:r>
              <a:rPr lang="sv-SE" sz="2416" spc="-17" dirty="0">
                <a:solidFill>
                  <a:srgbClr val="C00000"/>
                </a:solidFill>
                <a:latin typeface="Comic Sans MS"/>
                <a:cs typeface="Comic Sans MS"/>
              </a:rPr>
              <a:t>s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6" name="object 25">
            <a:extLst>
              <a:ext uri="{FF2B5EF4-FFF2-40B4-BE49-F238E27FC236}">
                <a16:creationId xmlns:a16="http://schemas.microsoft.com/office/drawing/2014/main" id="{5EAB2891-9CBB-043A-0E81-98AF1C8A9FC1}"/>
              </a:ext>
            </a:extLst>
          </p:cNvPr>
          <p:cNvSpPr txBox="1"/>
          <p:nvPr/>
        </p:nvSpPr>
        <p:spPr>
          <a:xfrm>
            <a:off x="588240" y="622892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Referred to as x86 or x86-32</a:t>
            </a:r>
          </a:p>
        </p:txBody>
      </p:sp>
      <p:sp>
        <p:nvSpPr>
          <p:cNvPr id="10" name="object 25">
            <a:extLst>
              <a:ext uri="{FF2B5EF4-FFF2-40B4-BE49-F238E27FC236}">
                <a16:creationId xmlns:a16="http://schemas.microsoft.com/office/drawing/2014/main" id="{D78964BD-9A94-34CC-A010-15E196BF5D3B}"/>
              </a:ext>
            </a:extLst>
          </p:cNvPr>
          <p:cNvSpPr txBox="1"/>
          <p:nvPr/>
        </p:nvSpPr>
        <p:spPr>
          <a:xfrm>
            <a:off x="6760440" y="6248356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Referred to as x64 or x86-64</a:t>
            </a: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567FE212-26B6-3A7B-9789-8D4764E6BD7C}"/>
              </a:ext>
            </a:extLst>
          </p:cNvPr>
          <p:cNvSpPr txBox="1"/>
          <p:nvPr/>
        </p:nvSpPr>
        <p:spPr>
          <a:xfrm>
            <a:off x="381000" y="8630336"/>
            <a:ext cx="12352767" cy="8946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Note: if you have installed 32-bit operating system on a 64-bit computer, then it can run 32-bit software only.</a:t>
            </a:r>
          </a:p>
        </p:txBody>
      </p:sp>
    </p:spTree>
    <p:extLst>
      <p:ext uri="{BB962C8B-B14F-4D97-AF65-F5344CB8AC3E}">
        <p14:creationId xmlns:p14="http://schemas.microsoft.com/office/powerpoint/2010/main" val="1931627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EBDABEB-C369-3C15-16C3-CCD39D26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917DDCF-E6DC-A161-71EF-DC0C86E1D5D2}"/>
              </a:ext>
            </a:extLst>
          </p:cNvPr>
          <p:cNvSpPr txBox="1"/>
          <p:nvPr/>
        </p:nvSpPr>
        <p:spPr>
          <a:xfrm>
            <a:off x="381000" y="888075"/>
            <a:ext cx="12352767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Address space &amp; capacity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2³² = 4,294,967,296</a:t>
            </a:r>
            <a:r>
              <a:rPr lang="en-GB" sz="2400" dirty="0">
                <a:latin typeface="Comic Sans MS" panose="030F0702030302020204" pitchFamily="66" charset="0"/>
              </a:rPr>
              <a:t> bytes ≈ </a:t>
            </a:r>
            <a:r>
              <a:rPr lang="en-GB" sz="2400" b="1" dirty="0">
                <a:latin typeface="Comic Sans MS" panose="030F0702030302020204" pitchFamily="66" charset="0"/>
              </a:rPr>
              <a:t>4 GB</a:t>
            </a:r>
            <a:r>
              <a:rPr lang="en-GB" sz="2400" dirty="0">
                <a:latin typeface="Comic Sans MS" panose="030F0702030302020204" pitchFamily="66" charset="0"/>
              </a:rPr>
              <a:t> addressable by a </a:t>
            </a:r>
            <a:r>
              <a:rPr lang="en-GB" sz="2400" b="1" dirty="0">
                <a:latin typeface="Comic Sans MS" panose="030F0702030302020204" pitchFamily="66" charset="0"/>
              </a:rPr>
              <a:t>32-bit</a:t>
            </a:r>
            <a:r>
              <a:rPr lang="en-GB" sz="2400" dirty="0">
                <a:latin typeface="Comic Sans MS" panose="030F0702030302020204" pitchFamily="66" charset="0"/>
              </a:rPr>
              <a:t> system.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2⁶⁴ = 18,446,744,073,709,551,616</a:t>
            </a:r>
            <a:r>
              <a:rPr lang="en-GB" sz="2400" dirty="0">
                <a:latin typeface="Comic Sans MS" panose="030F0702030302020204" pitchFamily="66" charset="0"/>
              </a:rPr>
              <a:t> bytes ≈ </a:t>
            </a:r>
            <a:r>
              <a:rPr lang="en-GB" sz="2400" b="1" dirty="0">
                <a:latin typeface="Comic Sans MS" panose="030F0702030302020204" pitchFamily="66" charset="0"/>
              </a:rPr>
              <a:t>16 EB</a:t>
            </a:r>
            <a:r>
              <a:rPr lang="en-GB" sz="2400" dirty="0">
                <a:latin typeface="Comic Sans MS" panose="030F0702030302020204" pitchFamily="66" charset="0"/>
              </a:rPr>
              <a:t> (vastly larger) for </a:t>
            </a:r>
            <a:r>
              <a:rPr lang="en-GB" sz="2400" b="1" dirty="0">
                <a:latin typeface="Comic Sans MS" panose="030F0702030302020204" pitchFamily="66" charset="0"/>
              </a:rPr>
              <a:t>64-bit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Naming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32-bit:</a:t>
            </a:r>
            <a:r>
              <a:rPr lang="en-GB" sz="2400" dirty="0">
                <a:latin typeface="Comic Sans MS" panose="030F0702030302020204" pitchFamily="66" charset="0"/>
              </a:rPr>
              <a:t> x86 / x86-32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64-bit:</a:t>
            </a:r>
            <a:r>
              <a:rPr lang="en-GB" sz="2400" dirty="0">
                <a:latin typeface="Comic Sans MS" panose="030F0702030302020204" pitchFamily="66" charset="0"/>
              </a:rPr>
              <a:t> x64 / x86-64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Performance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64-bit</a:t>
            </a:r>
            <a:r>
              <a:rPr lang="en-GB" sz="2400" dirty="0">
                <a:latin typeface="Comic Sans MS" panose="030F0702030302020204" pitchFamily="66" charset="0"/>
              </a:rPr>
              <a:t> can handle </a:t>
            </a:r>
            <a:r>
              <a:rPr lang="en-GB" sz="2400" b="1" dirty="0">
                <a:latin typeface="Comic Sans MS" panose="030F0702030302020204" pitchFamily="66" charset="0"/>
              </a:rPr>
              <a:t>twice as many bits per cycle</a:t>
            </a:r>
            <a:r>
              <a:rPr lang="en-GB" sz="2400" dirty="0">
                <a:latin typeface="Comic Sans MS" panose="030F0702030302020204" pitchFamily="66" charset="0"/>
              </a:rPr>
              <a:t> (within the same generation), enables larger data types and more RAM.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Compatibility (as shown in slides)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32-bit CPU</a:t>
            </a:r>
            <a:r>
              <a:rPr lang="en-GB" sz="2400" dirty="0">
                <a:latin typeface="Comic Sans MS" panose="030F0702030302020204" pitchFamily="66" charset="0"/>
              </a:rPr>
              <a:t> → runs </a:t>
            </a:r>
            <a:r>
              <a:rPr lang="en-GB" sz="2400" b="1" dirty="0">
                <a:latin typeface="Comic Sans MS" panose="030F0702030302020204" pitchFamily="66" charset="0"/>
              </a:rPr>
              <a:t>32-bit OS &amp; 32-bit software only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64-bit CPU</a:t>
            </a:r>
            <a:r>
              <a:rPr lang="en-GB" sz="2400" dirty="0">
                <a:latin typeface="Comic Sans MS" panose="030F0702030302020204" pitchFamily="66" charset="0"/>
              </a:rPr>
              <a:t> → can run </a:t>
            </a:r>
            <a:r>
              <a:rPr lang="en-GB" sz="2400" b="1" dirty="0">
                <a:latin typeface="Comic Sans MS" panose="030F0702030302020204" pitchFamily="66" charset="0"/>
              </a:rPr>
              <a:t>64-bit &amp; 32-bit OS/software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If you install a 32-bit OS on a 64-bit CPU</a:t>
            </a:r>
            <a:r>
              <a:rPr lang="en-GB" sz="2400" dirty="0">
                <a:latin typeface="Comic Sans MS" panose="030F0702030302020204" pitchFamily="66" charset="0"/>
              </a:rPr>
              <a:t>, you can run </a:t>
            </a:r>
            <a:r>
              <a:rPr lang="en-GB" sz="2400" b="1" dirty="0">
                <a:latin typeface="Comic Sans MS" panose="030F0702030302020204" pitchFamily="66" charset="0"/>
              </a:rPr>
              <a:t>32-bit software 	only</a:t>
            </a:r>
            <a:r>
              <a:rPr lang="en-GB" sz="2400" dirty="0">
                <a:latin typeface="Comic Sans MS" panose="030F0702030302020204" pitchFamily="66" charset="0"/>
              </a:rPr>
              <a:t> (you won’t benefit from 64-bit apps or large RAM).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RAM reality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32-bit OS</a:t>
            </a:r>
            <a:r>
              <a:rPr lang="en-GB" sz="2400" dirty="0">
                <a:latin typeface="Comic Sans MS" panose="030F0702030302020204" pitchFamily="66" charset="0"/>
              </a:rPr>
              <a:t>: can allocate only about </a:t>
            </a:r>
            <a:r>
              <a:rPr lang="en-GB" sz="2400" b="1" dirty="0">
                <a:latin typeface="Comic Sans MS" panose="030F0702030302020204" pitchFamily="66" charset="0"/>
              </a:rPr>
              <a:t>4 GB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64-bit OS</a:t>
            </a:r>
            <a:r>
              <a:rPr lang="en-GB" sz="2400" dirty="0">
                <a:latin typeface="Comic Sans MS" panose="030F0702030302020204" pitchFamily="66" charset="0"/>
              </a:rPr>
              <a:t>: can allocate </a:t>
            </a:r>
            <a:r>
              <a:rPr lang="en-GB" sz="2400" b="1" dirty="0">
                <a:latin typeface="Comic Sans MS" panose="030F0702030302020204" pitchFamily="66" charset="0"/>
              </a:rPr>
              <a:t>much more</a:t>
            </a:r>
            <a:r>
              <a:rPr lang="en-GB" sz="2400" dirty="0">
                <a:latin typeface="Comic Sans MS" panose="030F0702030302020204" pitchFamily="66" charset="0"/>
              </a:rPr>
              <a:t> (practically limited by hardware/edition).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If you have </a:t>
            </a:r>
            <a:r>
              <a:rPr lang="en-GB" sz="2400" b="1" dirty="0">
                <a:latin typeface="Comic Sans MS" panose="030F0702030302020204" pitchFamily="66" charset="0"/>
              </a:rPr>
              <a:t>≥ 4 GB RAM</a:t>
            </a:r>
            <a:r>
              <a:rPr lang="en-GB" sz="2400" dirty="0">
                <a:latin typeface="Comic Sans MS" panose="030F0702030302020204" pitchFamily="66" charset="0"/>
              </a:rPr>
              <a:t>, you </a:t>
            </a:r>
            <a:r>
              <a:rPr lang="en-GB" sz="2400" b="1" dirty="0">
                <a:latin typeface="Comic Sans MS" panose="030F0702030302020204" pitchFamily="66" charset="0"/>
              </a:rPr>
              <a:t>should</a:t>
            </a:r>
            <a:r>
              <a:rPr lang="en-GB" sz="2400" dirty="0">
                <a:latin typeface="Comic Sans MS" panose="030F0702030302020204" pitchFamily="66" charset="0"/>
              </a:rPr>
              <a:t> use </a:t>
            </a:r>
            <a:r>
              <a:rPr lang="en-GB" sz="2400" b="1" dirty="0">
                <a:latin typeface="Comic Sans MS" panose="030F0702030302020204" pitchFamily="66" charset="0"/>
              </a:rPr>
              <a:t>64-bit CPU + 64-bit OS</a:t>
            </a:r>
            <a:r>
              <a:rPr lang="en-GB" sz="2400" dirty="0">
                <a:latin typeface="Comic Sans MS" panose="030F0702030302020204" pitchFamily="66" charset="0"/>
              </a:rPr>
              <a:t> to utilize it 	fully. </a:t>
            </a:r>
          </a:p>
        </p:txBody>
      </p:sp>
    </p:spTree>
    <p:extLst>
      <p:ext uri="{BB962C8B-B14F-4D97-AF65-F5344CB8AC3E}">
        <p14:creationId xmlns:p14="http://schemas.microsoft.com/office/powerpoint/2010/main" val="1048822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F5E085-D350-B03F-D1D4-65E65BBE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FAF031A-7C77-E2F2-29DB-7EB920AA8957}"/>
              </a:ext>
            </a:extLst>
          </p:cNvPr>
          <p:cNvSpPr txBox="1"/>
          <p:nvPr/>
        </p:nvSpPr>
        <p:spPr>
          <a:xfrm>
            <a:off x="381000" y="888075"/>
            <a:ext cx="12352767" cy="581908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How</a:t>
            </a:r>
            <a:r>
              <a:rPr lang="sv-SE" sz="4000" b="1" dirty="0">
                <a:latin typeface="Comic Sans MS" panose="030F0702030302020204" pitchFamily="66" charset="0"/>
              </a:rPr>
              <a:t> to </a:t>
            </a:r>
            <a:r>
              <a:rPr lang="sv-SE" sz="4000" b="1" dirty="0" err="1">
                <a:latin typeface="Comic Sans MS" panose="030F0702030302020204" pitchFamily="66" charset="0"/>
              </a:rPr>
              <a:t>Know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Your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Device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Specifications</a:t>
            </a:r>
            <a:r>
              <a:rPr lang="sv-SE" sz="4000" b="1" dirty="0">
                <a:latin typeface="Comic Sans MS" panose="030F0702030302020204" pitchFamily="66" charset="0"/>
              </a:rPr>
              <a:t> on Windows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📖 </a:t>
            </a:r>
            <a:r>
              <a:rPr lang="en-SE" sz="2400" b="1" dirty="0">
                <a:latin typeface="Comic Sans MS" panose="030F0702030302020204" pitchFamily="66" charset="0"/>
              </a:rPr>
              <a:t>1️⃣ </a:t>
            </a:r>
            <a:r>
              <a:rPr lang="sv-SE" sz="2400" b="1" dirty="0">
                <a:latin typeface="Comic Sans MS" panose="030F0702030302020204" pitchFamily="66" charset="0"/>
              </a:rPr>
              <a:t>Basic </a:t>
            </a:r>
            <a:r>
              <a:rPr lang="sv-SE" sz="2400" b="1" dirty="0" err="1">
                <a:latin typeface="Comic Sans MS" panose="030F0702030302020204" pitchFamily="66" charset="0"/>
              </a:rPr>
              <a:t>Specifications</a:t>
            </a:r>
            <a:r>
              <a:rPr lang="sv-SE" sz="2400" b="1" dirty="0">
                <a:latin typeface="Comic Sans MS" panose="030F0702030302020204" pitchFamily="66" charset="0"/>
              </a:rPr>
              <a:t> (Processor, RAM, and System </a:t>
            </a:r>
            <a:r>
              <a:rPr lang="sv-SE" sz="2400" b="1" dirty="0" err="1">
                <a:latin typeface="Comic Sans MS" panose="030F0702030302020204" pitchFamily="66" charset="0"/>
              </a:rPr>
              <a:t>Type</a:t>
            </a:r>
            <a:r>
              <a:rPr lang="sv-SE" sz="2400" b="1" dirty="0">
                <a:latin typeface="Comic Sans MS" panose="030F0702030302020204" pitchFamily="66" charset="0"/>
              </a:rPr>
              <a:t>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SE" sz="2400" b="1" dirty="0">
                <a:latin typeface="Comic Sans MS" panose="030F0702030302020204" pitchFamily="66" charset="0"/>
              </a:rPr>
              <a:t>🧭 </a:t>
            </a:r>
            <a:r>
              <a:rPr lang="sv-SE" sz="2400" b="1" dirty="0" err="1">
                <a:latin typeface="Comic Sans MS" panose="030F0702030302020204" pitchFamily="66" charset="0"/>
              </a:rPr>
              <a:t>Method</a:t>
            </a:r>
            <a:r>
              <a:rPr lang="sv-SE" sz="2400" b="1" dirty="0">
                <a:latin typeface="Comic Sans MS" panose="030F0702030302020204" pitchFamily="66" charset="0"/>
              </a:rPr>
              <a:t> 1: </a:t>
            </a:r>
            <a:r>
              <a:rPr lang="sv-SE" sz="2400" b="1" dirty="0" err="1">
                <a:latin typeface="Comic Sans MS" panose="030F0702030302020204" pitchFamily="66" charset="0"/>
              </a:rPr>
              <a:t>Using</a:t>
            </a:r>
            <a:r>
              <a:rPr lang="sv-SE" sz="2400" b="1" dirty="0">
                <a:latin typeface="Comic Sans MS" panose="030F0702030302020204" pitchFamily="66" charset="0"/>
              </a:rPr>
              <a:t> “</a:t>
            </a:r>
            <a:r>
              <a:rPr lang="sv-SE" sz="2400" b="1" dirty="0" err="1">
                <a:latin typeface="Comic Sans MS" panose="030F0702030302020204" pitchFamily="66" charset="0"/>
              </a:rPr>
              <a:t>About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This</a:t>
            </a:r>
            <a:r>
              <a:rPr lang="sv-SE" sz="2400" b="1" dirty="0">
                <a:latin typeface="Comic Sans MS" panose="030F0702030302020204" pitchFamily="66" charset="0"/>
              </a:rPr>
              <a:t> PC”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1️⃣ Press </a:t>
            </a:r>
            <a:r>
              <a:rPr lang="sv-SE" sz="2400" b="1" dirty="0">
                <a:latin typeface="Comic Sans MS" panose="030F0702030302020204" pitchFamily="66" charset="0"/>
              </a:rPr>
              <a:t>Windows + I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open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Settings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2️⃣ Go to </a:t>
            </a:r>
            <a:r>
              <a:rPr lang="sv-SE" sz="2400" b="1" dirty="0">
                <a:latin typeface="Comic Sans MS" panose="030F0702030302020204" pitchFamily="66" charset="0"/>
              </a:rPr>
              <a:t>System → </a:t>
            </a:r>
            <a:r>
              <a:rPr lang="sv-SE" sz="2400" b="1" dirty="0" err="1">
                <a:latin typeface="Comic Sans MS" panose="030F0702030302020204" pitchFamily="66" charset="0"/>
              </a:rPr>
              <a:t>About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3️⃣ Under </a:t>
            </a:r>
            <a:r>
              <a:rPr lang="sv-SE" sz="2400" b="1" dirty="0" err="1">
                <a:latin typeface="Comic Sans MS" panose="030F0702030302020204" pitchFamily="66" charset="0"/>
              </a:rPr>
              <a:t>Device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specifications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you’ll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see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💻 </a:t>
            </a:r>
            <a:r>
              <a:rPr lang="sv-SE" sz="2400" b="1" dirty="0">
                <a:latin typeface="Comic Sans MS" panose="030F0702030302020204" pitchFamily="66" charset="0"/>
              </a:rPr>
              <a:t>Processor:</a:t>
            </a:r>
            <a:r>
              <a:rPr lang="sv-SE" sz="2400" dirty="0">
                <a:latin typeface="Comic Sans MS" panose="030F0702030302020204" pitchFamily="66" charset="0"/>
              </a:rPr>
              <a:t> CPU </a:t>
            </a:r>
            <a:r>
              <a:rPr lang="sv-SE" sz="2400" dirty="0" err="1">
                <a:latin typeface="Comic Sans MS" panose="030F0702030302020204" pitchFamily="66" charset="0"/>
              </a:rPr>
              <a:t>model</a:t>
            </a:r>
            <a:r>
              <a:rPr lang="sv-SE" sz="2400" dirty="0">
                <a:latin typeface="Comic Sans MS" panose="030F0702030302020204" pitchFamily="66" charset="0"/>
              </a:rPr>
              <a:t> and speed (</a:t>
            </a:r>
            <a:r>
              <a:rPr lang="sv-SE" sz="2400" dirty="0" err="1">
                <a:latin typeface="Comic Sans MS" panose="030F0702030302020204" pitchFamily="66" charset="0"/>
              </a:rPr>
              <a:t>e.g</a:t>
            </a:r>
            <a:r>
              <a:rPr lang="sv-SE" sz="2400" dirty="0">
                <a:latin typeface="Comic Sans MS" panose="030F0702030302020204" pitchFamily="66" charset="0"/>
              </a:rPr>
              <a:t>., </a:t>
            </a:r>
            <a:r>
              <a:rPr lang="sv-SE" sz="2400" i="1" dirty="0">
                <a:latin typeface="Comic Sans MS" panose="030F0702030302020204" pitchFamily="66" charset="0"/>
              </a:rPr>
              <a:t>Intel </a:t>
            </a:r>
            <a:r>
              <a:rPr lang="sv-SE" sz="2400" i="1" dirty="0" err="1">
                <a:latin typeface="Comic Sans MS" panose="030F0702030302020204" pitchFamily="66" charset="0"/>
              </a:rPr>
              <a:t>Core</a:t>
            </a:r>
            <a:r>
              <a:rPr lang="sv-SE" sz="2400" i="1" dirty="0">
                <a:latin typeface="Comic Sans MS" panose="030F0702030302020204" pitchFamily="66" charset="0"/>
              </a:rPr>
              <a:t> i7-10750H @ 				2.60 GHz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🧠 </a:t>
            </a:r>
            <a:r>
              <a:rPr lang="sv-SE" sz="2400" b="1" dirty="0" err="1">
                <a:latin typeface="Comic Sans MS" panose="030F0702030302020204" pitchFamily="66" charset="0"/>
              </a:rPr>
              <a:t>Installed</a:t>
            </a:r>
            <a:r>
              <a:rPr lang="sv-SE" sz="2400" b="1" dirty="0">
                <a:latin typeface="Comic Sans MS" panose="030F0702030302020204" pitchFamily="66" charset="0"/>
              </a:rPr>
              <a:t> RAM:</a:t>
            </a:r>
            <a:r>
              <a:rPr lang="sv-SE" sz="2400" dirty="0">
                <a:latin typeface="Comic Sans MS" panose="030F0702030302020204" pitchFamily="66" charset="0"/>
              </a:rPr>
              <a:t> total </a:t>
            </a:r>
            <a:r>
              <a:rPr lang="sv-SE" sz="2400" dirty="0" err="1">
                <a:latin typeface="Comic Sans MS" panose="030F0702030302020204" pitchFamily="66" charset="0"/>
              </a:rPr>
              <a:t>physical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memory</a:t>
            </a:r>
            <a:r>
              <a:rPr lang="sv-SE" sz="2400" dirty="0">
                <a:latin typeface="Comic Sans MS" panose="030F0702030302020204" pitchFamily="66" charset="0"/>
              </a:rPr>
              <a:t> (</a:t>
            </a:r>
            <a:r>
              <a:rPr lang="sv-SE" sz="2400" dirty="0" err="1">
                <a:latin typeface="Comic Sans MS" panose="030F0702030302020204" pitchFamily="66" charset="0"/>
              </a:rPr>
              <a:t>e.g</a:t>
            </a:r>
            <a:r>
              <a:rPr lang="sv-SE" sz="2400" dirty="0">
                <a:latin typeface="Comic Sans MS" panose="030F0702030302020204" pitchFamily="66" charset="0"/>
              </a:rPr>
              <a:t>., </a:t>
            </a:r>
            <a:r>
              <a:rPr lang="sv-SE" sz="2400" i="1" dirty="0">
                <a:latin typeface="Comic Sans MS" panose="030F0702030302020204" pitchFamily="66" charset="0"/>
              </a:rPr>
              <a:t>16 GB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⚙️ </a:t>
            </a:r>
            <a:r>
              <a:rPr lang="sv-SE" sz="2400" b="1" dirty="0">
                <a:latin typeface="Comic Sans MS" panose="030F0702030302020204" pitchFamily="66" charset="0"/>
              </a:rPr>
              <a:t>System </a:t>
            </a:r>
            <a:r>
              <a:rPr lang="sv-SE" sz="2400" b="1" dirty="0" err="1">
                <a:latin typeface="Comic Sans MS" panose="030F0702030302020204" pitchFamily="66" charset="0"/>
              </a:rPr>
              <a:t>type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whether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your</a:t>
            </a:r>
            <a:r>
              <a:rPr lang="sv-SE" sz="2400" dirty="0">
                <a:latin typeface="Comic Sans MS" panose="030F0702030302020204" pitchFamily="66" charset="0"/>
              </a:rPr>
              <a:t> Windows and processor </a:t>
            </a:r>
            <a:r>
              <a:rPr lang="sv-SE" sz="2400" dirty="0" err="1">
                <a:latin typeface="Comic Sans MS" panose="030F0702030302020204" pitchFamily="66" charset="0"/>
              </a:rPr>
              <a:t>are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32-					bit</a:t>
            </a:r>
            <a:r>
              <a:rPr lang="sv-SE" sz="2400" dirty="0">
                <a:latin typeface="Comic Sans MS" panose="030F0702030302020204" pitchFamily="66" charset="0"/>
              </a:rPr>
              <a:t> or </a:t>
            </a:r>
            <a:r>
              <a:rPr lang="sv-SE" sz="2400" b="1" dirty="0">
                <a:latin typeface="Comic Sans MS" panose="030F0702030302020204" pitchFamily="66" charset="0"/>
              </a:rPr>
              <a:t>64-bit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→ </a:t>
            </a:r>
            <a:r>
              <a:rPr lang="sv-SE" sz="2400" i="1" dirty="0" err="1">
                <a:latin typeface="Comic Sans MS" panose="030F0702030302020204" pitchFamily="66" charset="0"/>
              </a:rPr>
              <a:t>Example</a:t>
            </a:r>
            <a:r>
              <a:rPr lang="sv-SE" sz="2400" i="1" dirty="0">
                <a:latin typeface="Comic Sans MS" panose="030F0702030302020204" pitchFamily="66" charset="0"/>
              </a:rPr>
              <a:t>:</a:t>
            </a:r>
            <a:r>
              <a:rPr lang="sv-SE" sz="2400" dirty="0">
                <a:latin typeface="Comic Sans MS" panose="030F0702030302020204" pitchFamily="66" charset="0"/>
              </a:rPr>
              <a:t> “64-bit operating system, x64-based processor.”</a:t>
            </a:r>
          </a:p>
        </p:txBody>
      </p:sp>
    </p:spTree>
    <p:extLst>
      <p:ext uri="{BB962C8B-B14F-4D97-AF65-F5344CB8AC3E}">
        <p14:creationId xmlns:p14="http://schemas.microsoft.com/office/powerpoint/2010/main" val="2569686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8F22E1-3CE6-54EE-BD90-2B1407D6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438CEEE-5AE8-E2E9-F98C-73EE2FE942B1}"/>
              </a:ext>
            </a:extLst>
          </p:cNvPr>
          <p:cNvSpPr txBox="1"/>
          <p:nvPr/>
        </p:nvSpPr>
        <p:spPr>
          <a:xfrm>
            <a:off x="381000" y="888075"/>
            <a:ext cx="12352767" cy="42186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2400" b="1" dirty="0">
                <a:latin typeface="Comic Sans MS" panose="030F0702030302020204" pitchFamily="66" charset="0"/>
              </a:rPr>
              <a:t>📖 2️⃣ </a:t>
            </a:r>
            <a:r>
              <a:rPr lang="sv-SE" sz="2400" b="1" dirty="0">
                <a:latin typeface="Comic Sans MS" panose="030F0702030302020204" pitchFamily="66" charset="0"/>
              </a:rPr>
              <a:t>GPU &amp; Graphics </a:t>
            </a:r>
            <a:r>
              <a:rPr lang="sv-SE" sz="2400" b="1" dirty="0" err="1">
                <a:latin typeface="Comic Sans MS" panose="030F0702030302020204" pitchFamily="66" charset="0"/>
              </a:rPr>
              <a:t>Card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Details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🧭 </a:t>
            </a:r>
            <a:r>
              <a:rPr lang="sv-SE" sz="2400" b="1" dirty="0" err="1">
                <a:latin typeface="Comic Sans MS" panose="030F0702030302020204" pitchFamily="66" charset="0"/>
              </a:rPr>
              <a:t>Method</a:t>
            </a:r>
            <a:r>
              <a:rPr lang="sv-SE" sz="2400" b="1" dirty="0">
                <a:latin typeface="Comic Sans MS" panose="030F0702030302020204" pitchFamily="66" charset="0"/>
              </a:rPr>
              <a:t> 2: </a:t>
            </a:r>
            <a:r>
              <a:rPr lang="sv-SE" sz="2400" b="1" dirty="0" err="1">
                <a:latin typeface="Comic Sans MS" panose="030F0702030302020204" pitchFamily="66" charset="0"/>
              </a:rPr>
              <a:t>Using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Device</a:t>
            </a:r>
            <a:r>
              <a:rPr lang="sv-SE" sz="2400" b="1" dirty="0">
                <a:latin typeface="Comic Sans MS" panose="030F0702030302020204" pitchFamily="66" charset="0"/>
              </a:rPr>
              <a:t> Manager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1️⃣ Press </a:t>
            </a:r>
            <a:r>
              <a:rPr lang="sv-SE" sz="2400" b="1" dirty="0">
                <a:latin typeface="Comic Sans MS" panose="030F0702030302020204" pitchFamily="66" charset="0"/>
              </a:rPr>
              <a:t>Windows + X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select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 err="1">
                <a:latin typeface="Comic Sans MS" panose="030F0702030302020204" pitchFamily="66" charset="0"/>
              </a:rPr>
              <a:t>Device</a:t>
            </a:r>
            <a:r>
              <a:rPr lang="sv-SE" sz="2400" b="1" dirty="0">
                <a:latin typeface="Comic Sans MS" panose="030F0702030302020204" pitchFamily="66" charset="0"/>
              </a:rPr>
              <a:t> Manager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2️⃣ </a:t>
            </a:r>
            <a:r>
              <a:rPr lang="sv-SE" sz="2400" dirty="0" err="1">
                <a:latin typeface="Comic Sans MS" panose="030F0702030302020204" pitchFamily="66" charset="0"/>
              </a:rPr>
              <a:t>Expand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Display Adapters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3️⃣ </a:t>
            </a:r>
            <a:r>
              <a:rPr lang="sv-SE" sz="2400" dirty="0" err="1">
                <a:latin typeface="Comic Sans MS" panose="030F0702030302020204" pitchFamily="66" charset="0"/>
              </a:rPr>
              <a:t>You’ll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see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one</a:t>
            </a:r>
            <a:r>
              <a:rPr lang="sv-SE" sz="2400" dirty="0">
                <a:latin typeface="Comic Sans MS" panose="030F0702030302020204" pitchFamily="66" charset="0"/>
              </a:rPr>
              <a:t> or </a:t>
            </a:r>
            <a:r>
              <a:rPr lang="sv-SE" sz="2400" dirty="0" err="1">
                <a:latin typeface="Comic Sans MS" panose="030F0702030302020204" pitchFamily="66" charset="0"/>
              </a:rPr>
              <a:t>more</a:t>
            </a:r>
            <a:r>
              <a:rPr lang="sv-SE" sz="2400" dirty="0">
                <a:latin typeface="Comic Sans MS" panose="030F0702030302020204" pitchFamily="66" charset="0"/>
              </a:rPr>
              <a:t> GPUs </a:t>
            </a:r>
            <a:r>
              <a:rPr lang="sv-SE" sz="2400" dirty="0" err="1">
                <a:latin typeface="Comic Sans MS" panose="030F0702030302020204" pitchFamily="66" charset="0"/>
              </a:rPr>
              <a:t>listed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		</a:t>
            </a:r>
            <a:r>
              <a:rPr lang="sv-SE" sz="2400" b="1" dirty="0" err="1">
                <a:latin typeface="Comic Sans MS" panose="030F0702030302020204" pitchFamily="66" charset="0"/>
              </a:rPr>
              <a:t>Integrated</a:t>
            </a:r>
            <a:r>
              <a:rPr lang="sv-SE" sz="2400" b="1" dirty="0">
                <a:latin typeface="Comic Sans MS" panose="030F0702030302020204" pitchFamily="66" charset="0"/>
              </a:rPr>
              <a:t> GPU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e.g</a:t>
            </a:r>
            <a:r>
              <a:rPr lang="sv-SE" sz="2400" dirty="0">
                <a:latin typeface="Comic Sans MS" panose="030F0702030302020204" pitchFamily="66" charset="0"/>
              </a:rPr>
              <a:t>., </a:t>
            </a:r>
            <a:r>
              <a:rPr lang="sv-SE" sz="2400" i="1" dirty="0">
                <a:latin typeface="Comic Sans MS" panose="030F0702030302020204" pitchFamily="66" charset="0"/>
              </a:rPr>
              <a:t>Intel UHD Graphics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		</a:t>
            </a:r>
            <a:r>
              <a:rPr lang="sv-SE" sz="2400" b="1" dirty="0" err="1">
                <a:latin typeface="Comic Sans MS" panose="030F0702030302020204" pitchFamily="66" charset="0"/>
              </a:rPr>
              <a:t>Dedicated</a:t>
            </a:r>
            <a:r>
              <a:rPr lang="sv-SE" sz="2400" b="1" dirty="0">
                <a:latin typeface="Comic Sans MS" panose="030F0702030302020204" pitchFamily="66" charset="0"/>
              </a:rPr>
              <a:t> GPU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e.g</a:t>
            </a:r>
            <a:r>
              <a:rPr lang="sv-SE" sz="2400" dirty="0">
                <a:latin typeface="Comic Sans MS" panose="030F0702030302020204" pitchFamily="66" charset="0"/>
              </a:rPr>
              <a:t>., </a:t>
            </a:r>
            <a:r>
              <a:rPr lang="sv-SE" sz="2400" i="1" dirty="0">
                <a:latin typeface="Comic Sans MS" panose="030F0702030302020204" pitchFamily="66" charset="0"/>
              </a:rPr>
              <a:t>NVIDIA </a:t>
            </a:r>
            <a:r>
              <a:rPr lang="sv-SE" sz="2400" i="1" dirty="0" err="1">
                <a:latin typeface="Comic Sans MS" panose="030F0702030302020204" pitchFamily="66" charset="0"/>
              </a:rPr>
              <a:t>GeForce</a:t>
            </a:r>
            <a:r>
              <a:rPr lang="sv-SE" sz="2400" i="1" dirty="0">
                <a:latin typeface="Comic Sans MS" panose="030F0702030302020204" pitchFamily="66" charset="0"/>
              </a:rPr>
              <a:t> RTX 3060</a:t>
            </a:r>
            <a:r>
              <a:rPr lang="sv-SE" sz="2400" dirty="0">
                <a:latin typeface="Comic Sans MS" panose="030F0702030302020204" pitchFamily="66" charset="0"/>
              </a:rPr>
              <a:t> or </a:t>
            </a:r>
            <a:r>
              <a:rPr lang="sv-SE" sz="2400" i="1" dirty="0">
                <a:latin typeface="Comic Sans MS" panose="030F0702030302020204" pitchFamily="66" charset="0"/>
              </a:rPr>
              <a:t>AMD </a:t>
            </a:r>
            <a:r>
              <a:rPr lang="sv-SE" sz="2400" i="1" dirty="0" err="1">
                <a:latin typeface="Comic Sans MS" panose="030F0702030302020204" pitchFamily="66" charset="0"/>
              </a:rPr>
              <a:t>Radeon</a:t>
            </a:r>
            <a:r>
              <a:rPr lang="sv-SE" sz="2400" i="1" dirty="0">
                <a:latin typeface="Comic Sans MS" panose="030F0702030302020204" pitchFamily="66" charset="0"/>
              </a:rPr>
              <a:t> RX 				6600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💡 </a:t>
            </a:r>
            <a:r>
              <a:rPr lang="sv-SE" sz="2400" b="1" dirty="0">
                <a:latin typeface="Comic Sans MS" panose="030F0702030302020204" pitchFamily="66" charset="0"/>
              </a:rPr>
              <a:t>Alternative (</a:t>
            </a:r>
            <a:r>
              <a:rPr lang="sv-SE" sz="2400" b="1" dirty="0" err="1">
                <a:latin typeface="Comic Sans MS" panose="030F0702030302020204" pitchFamily="66" charset="0"/>
              </a:rPr>
              <a:t>fastest</a:t>
            </a:r>
            <a:r>
              <a:rPr lang="sv-SE" sz="2400" b="1" dirty="0">
                <a:latin typeface="Comic Sans MS" panose="030F0702030302020204" pitchFamily="66" charset="0"/>
              </a:rPr>
              <a:t>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Press </a:t>
            </a:r>
            <a:r>
              <a:rPr lang="sv-SE" sz="2400" b="1" dirty="0">
                <a:latin typeface="Comic Sans MS" panose="030F0702030302020204" pitchFamily="66" charset="0"/>
              </a:rPr>
              <a:t>Windows + R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type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dxdiag</a:t>
            </a:r>
            <a:r>
              <a:rPr lang="sv-SE" sz="2400" dirty="0">
                <a:latin typeface="Comic Sans MS" panose="030F0702030302020204" pitchFamily="66" charset="0"/>
              </a:rPr>
              <a:t>, press </a:t>
            </a:r>
            <a:r>
              <a:rPr lang="sv-SE" sz="2400" b="1" dirty="0" err="1">
                <a:latin typeface="Comic Sans MS" panose="030F0702030302020204" pitchFamily="66" charset="0"/>
              </a:rPr>
              <a:t>Enter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Go to the </a:t>
            </a:r>
            <a:r>
              <a:rPr lang="sv-SE" sz="2400" b="1" dirty="0">
                <a:latin typeface="Comic Sans MS" panose="030F0702030302020204" pitchFamily="66" charset="0"/>
              </a:rPr>
              <a:t>Display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tab</a:t>
            </a:r>
            <a:r>
              <a:rPr lang="sv-SE" sz="2400" dirty="0">
                <a:latin typeface="Comic Sans MS" panose="030F0702030302020204" pitchFamily="66" charset="0"/>
              </a:rPr>
              <a:t> → </a:t>
            </a:r>
            <a:r>
              <a:rPr lang="sv-SE" sz="2400" dirty="0" err="1">
                <a:latin typeface="Comic Sans MS" panose="030F0702030302020204" pitchFamily="66" charset="0"/>
              </a:rPr>
              <a:t>see</a:t>
            </a:r>
            <a:r>
              <a:rPr lang="sv-SE" sz="2400" dirty="0">
                <a:latin typeface="Comic Sans MS" panose="030F0702030302020204" pitchFamily="66" charset="0"/>
              </a:rPr>
              <a:t> GPU </a:t>
            </a:r>
            <a:r>
              <a:rPr lang="sv-SE" sz="2400" dirty="0" err="1">
                <a:latin typeface="Comic Sans MS" panose="030F0702030302020204" pitchFamily="66" charset="0"/>
              </a:rPr>
              <a:t>name</a:t>
            </a:r>
            <a:r>
              <a:rPr lang="sv-SE" sz="2400" dirty="0">
                <a:latin typeface="Comic Sans MS" panose="030F0702030302020204" pitchFamily="66" charset="0"/>
              </a:rPr>
              <a:t>, driver version, and VRAM (</a:t>
            </a:r>
            <a:r>
              <a:rPr lang="sv-SE" sz="2400" dirty="0" err="1">
                <a:latin typeface="Comic Sans MS" panose="030F0702030302020204" pitchFamily="66" charset="0"/>
              </a:rPr>
              <a:t>memory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40015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B34A8A-72C5-46C5-E10C-AA4459BD1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CE90B6C-CA40-B91B-2AAD-3B2EC3D7ECA2}"/>
              </a:ext>
            </a:extLst>
          </p:cNvPr>
          <p:cNvSpPr txBox="1"/>
          <p:nvPr/>
        </p:nvSpPr>
        <p:spPr>
          <a:xfrm>
            <a:off x="381000" y="888075"/>
            <a:ext cx="12352767" cy="42186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2400" dirty="0">
                <a:latin typeface="Comic Sans MS" panose="030F0702030302020204" pitchFamily="66" charset="0"/>
              </a:rPr>
              <a:t>📖 </a:t>
            </a:r>
            <a:r>
              <a:rPr lang="en-SE" sz="2400" b="1" dirty="0">
                <a:latin typeface="Comic Sans MS" panose="030F0702030302020204" pitchFamily="66" charset="0"/>
              </a:rPr>
              <a:t>3️⃣ </a:t>
            </a:r>
            <a:r>
              <a:rPr lang="sv-SE" sz="2400" b="1" dirty="0" err="1">
                <a:latin typeface="Comic Sans MS" panose="030F0702030302020204" pitchFamily="66" charset="0"/>
              </a:rPr>
              <a:t>Storage</a:t>
            </a:r>
            <a:r>
              <a:rPr lang="sv-SE" sz="2400" b="1" dirty="0">
                <a:latin typeface="Comic Sans MS" panose="030F0702030302020204" pitchFamily="66" charset="0"/>
              </a:rPr>
              <a:t> (SSD / HDD </a:t>
            </a:r>
            <a:r>
              <a:rPr lang="sv-SE" sz="2400" b="1" dirty="0" err="1">
                <a:latin typeface="Comic Sans MS" panose="030F0702030302020204" pitchFamily="66" charset="0"/>
              </a:rPr>
              <a:t>Type</a:t>
            </a:r>
            <a:r>
              <a:rPr lang="sv-SE" sz="2400" b="1" dirty="0">
                <a:latin typeface="Comic Sans MS" panose="030F0702030302020204" pitchFamily="66" charset="0"/>
              </a:rPr>
              <a:t> &amp; </a:t>
            </a:r>
            <a:r>
              <a:rPr lang="sv-SE" sz="2400" b="1" dirty="0" err="1">
                <a:latin typeface="Comic Sans MS" panose="030F0702030302020204" pitchFamily="66" charset="0"/>
              </a:rPr>
              <a:t>Capacity</a:t>
            </a:r>
            <a:r>
              <a:rPr lang="sv-SE" sz="2400" b="1" dirty="0">
                <a:latin typeface="Comic Sans MS" panose="030F0702030302020204" pitchFamily="66" charset="0"/>
              </a:rPr>
              <a:t>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🧭 </a:t>
            </a:r>
            <a:r>
              <a:rPr lang="sv-SE" sz="2400" dirty="0" err="1">
                <a:latin typeface="Comic Sans MS" panose="030F0702030302020204" pitchFamily="66" charset="0"/>
              </a:rPr>
              <a:t>Method</a:t>
            </a:r>
            <a:r>
              <a:rPr lang="sv-SE" sz="2400" dirty="0">
                <a:latin typeface="Comic Sans MS" panose="030F0702030302020204" pitchFamily="66" charset="0"/>
              </a:rPr>
              <a:t> 3: </a:t>
            </a:r>
            <a:r>
              <a:rPr lang="sv-SE" sz="2400" dirty="0" err="1">
                <a:latin typeface="Comic Sans MS" panose="030F0702030302020204" pitchFamily="66" charset="0"/>
              </a:rPr>
              <a:t>Using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File</a:t>
            </a:r>
            <a:r>
              <a:rPr lang="sv-SE" sz="2400" dirty="0">
                <a:latin typeface="Comic Sans MS" panose="030F0702030302020204" pitchFamily="66" charset="0"/>
              </a:rPr>
              <a:t> Explorer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1️⃣ </a:t>
            </a:r>
            <a:r>
              <a:rPr lang="sv-SE" sz="2400" dirty="0" err="1">
                <a:latin typeface="Comic Sans MS" panose="030F0702030302020204" pitchFamily="66" charset="0"/>
              </a:rPr>
              <a:t>Open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 err="1">
                <a:latin typeface="Comic Sans MS" panose="030F0702030302020204" pitchFamily="66" charset="0"/>
              </a:rPr>
              <a:t>This</a:t>
            </a:r>
            <a:r>
              <a:rPr lang="sv-SE" sz="2400" b="1" dirty="0">
                <a:latin typeface="Comic Sans MS" panose="030F0702030302020204" pitchFamily="66" charset="0"/>
              </a:rPr>
              <a:t> PC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2️⃣ Right-</a:t>
            </a:r>
            <a:r>
              <a:rPr lang="sv-SE" sz="2400" dirty="0" err="1">
                <a:latin typeface="Comic Sans MS" panose="030F0702030302020204" pitchFamily="66" charset="0"/>
              </a:rPr>
              <a:t>click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any</a:t>
            </a:r>
            <a:r>
              <a:rPr lang="sv-SE" sz="2400" dirty="0">
                <a:latin typeface="Comic Sans MS" panose="030F0702030302020204" pitchFamily="66" charset="0"/>
              </a:rPr>
              <a:t> drive → </a:t>
            </a:r>
            <a:r>
              <a:rPr lang="sv-SE" sz="2400" b="1" dirty="0" err="1">
                <a:latin typeface="Comic Sans MS" panose="030F0702030302020204" pitchFamily="66" charset="0"/>
              </a:rPr>
              <a:t>Properties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3️⃣ </a:t>
            </a:r>
            <a:r>
              <a:rPr lang="sv-SE" sz="2400" dirty="0" err="1">
                <a:latin typeface="Comic Sans MS" panose="030F0702030302020204" pitchFamily="66" charset="0"/>
              </a:rPr>
              <a:t>View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		</a:t>
            </a:r>
            <a:r>
              <a:rPr lang="sv-SE" sz="2400" b="1" dirty="0" err="1">
                <a:latin typeface="Comic Sans MS" panose="030F0702030302020204" pitchFamily="66" charset="0"/>
              </a:rPr>
              <a:t>Used</a:t>
            </a:r>
            <a:r>
              <a:rPr lang="sv-SE" sz="2400" b="1" dirty="0">
                <a:latin typeface="Comic Sans MS" panose="030F0702030302020204" pitchFamily="66" charset="0"/>
              </a:rPr>
              <a:t> space / </a:t>
            </a:r>
            <a:r>
              <a:rPr lang="sv-SE" sz="2400" b="1" dirty="0" err="1">
                <a:latin typeface="Comic Sans MS" panose="030F0702030302020204" pitchFamily="66" charset="0"/>
              </a:rPr>
              <a:t>Free</a:t>
            </a:r>
            <a:r>
              <a:rPr lang="sv-SE" sz="2400" b="1" dirty="0">
                <a:latin typeface="Comic Sans MS" panose="030F0702030302020204" pitchFamily="66" charset="0"/>
              </a:rPr>
              <a:t> space / Total </a:t>
            </a:r>
            <a:r>
              <a:rPr lang="sv-SE" sz="2400" b="1" dirty="0" err="1">
                <a:latin typeface="Comic Sans MS" panose="030F0702030302020204" pitchFamily="66" charset="0"/>
              </a:rPr>
              <a:t>capacity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⚙️ To </a:t>
            </a:r>
            <a:r>
              <a:rPr lang="sv-SE" sz="2400" b="1" dirty="0" err="1">
                <a:latin typeface="Comic Sans MS" panose="030F0702030302020204" pitchFamily="66" charset="0"/>
              </a:rPr>
              <a:t>know</a:t>
            </a:r>
            <a:r>
              <a:rPr lang="sv-SE" sz="2400" b="1" dirty="0">
                <a:latin typeface="Comic Sans MS" panose="030F0702030302020204" pitchFamily="66" charset="0"/>
              </a:rPr>
              <a:t> the </a:t>
            </a:r>
            <a:r>
              <a:rPr lang="sv-SE" sz="2400" b="1" dirty="0" err="1">
                <a:latin typeface="Comic Sans MS" panose="030F0702030302020204" pitchFamily="66" charset="0"/>
              </a:rPr>
              <a:t>physical</a:t>
            </a:r>
            <a:r>
              <a:rPr lang="sv-SE" sz="2400" b="1" dirty="0">
                <a:latin typeface="Comic Sans MS" panose="030F0702030302020204" pitchFamily="66" charset="0"/>
              </a:rPr>
              <a:t> drive </a:t>
            </a:r>
            <a:r>
              <a:rPr lang="sv-SE" sz="2400" b="1" dirty="0" err="1">
                <a:latin typeface="Comic Sans MS" panose="030F0702030302020204" pitchFamily="66" charset="0"/>
              </a:rPr>
              <a:t>type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Press </a:t>
            </a:r>
            <a:r>
              <a:rPr lang="sv-SE" sz="2400" b="1" dirty="0">
                <a:latin typeface="Comic Sans MS" panose="030F0702030302020204" pitchFamily="66" charset="0"/>
              </a:rPr>
              <a:t>Windows + S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type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“</a:t>
            </a:r>
            <a:r>
              <a:rPr lang="sv-SE" sz="2400" b="1" dirty="0" err="1">
                <a:latin typeface="Comic Sans MS" panose="030F0702030302020204" pitchFamily="66" charset="0"/>
              </a:rPr>
              <a:t>Defragment</a:t>
            </a:r>
            <a:r>
              <a:rPr lang="sv-SE" sz="2400" b="1" dirty="0">
                <a:latin typeface="Comic Sans MS" panose="030F0702030302020204" pitchFamily="66" charset="0"/>
              </a:rPr>
              <a:t> and </a:t>
            </a:r>
            <a:r>
              <a:rPr lang="sv-SE" sz="2400" b="1" dirty="0" err="1">
                <a:latin typeface="Comic Sans MS" panose="030F0702030302020204" pitchFamily="66" charset="0"/>
              </a:rPr>
              <a:t>Optimize</a:t>
            </a:r>
            <a:r>
              <a:rPr lang="sv-SE" sz="2400" b="1" dirty="0">
                <a:latin typeface="Comic Sans MS" panose="030F0702030302020204" pitchFamily="66" charset="0"/>
              </a:rPr>
              <a:t> Drives”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open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Under </a:t>
            </a:r>
            <a:r>
              <a:rPr lang="sv-SE" sz="2400" b="1" dirty="0">
                <a:latin typeface="Comic Sans MS" panose="030F0702030302020204" pitchFamily="66" charset="0"/>
              </a:rPr>
              <a:t>Media </a:t>
            </a:r>
            <a:r>
              <a:rPr lang="sv-SE" sz="2400" b="1" dirty="0" err="1">
                <a:latin typeface="Comic Sans MS" panose="030F0702030302020204" pitchFamily="66" charset="0"/>
              </a:rPr>
              <a:t>type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you’ll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see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pPr lvl="1"/>
            <a:r>
              <a:rPr lang="sv-SE" sz="2400" dirty="0">
                <a:latin typeface="Comic Sans MS" panose="030F0702030302020204" pitchFamily="66" charset="0"/>
              </a:rPr>
              <a:t>	“Solid State Drive (SSD)” or</a:t>
            </a:r>
          </a:p>
          <a:p>
            <a:pPr lvl="1"/>
            <a:r>
              <a:rPr lang="sv-SE" sz="2400" dirty="0">
                <a:latin typeface="Comic Sans MS" panose="030F0702030302020204" pitchFamily="66" charset="0"/>
              </a:rPr>
              <a:t>	“Hard Disk Drive (HDD)”.</a:t>
            </a:r>
          </a:p>
        </p:txBody>
      </p:sp>
    </p:spTree>
    <p:extLst>
      <p:ext uri="{BB962C8B-B14F-4D97-AF65-F5344CB8AC3E}">
        <p14:creationId xmlns:p14="http://schemas.microsoft.com/office/powerpoint/2010/main" val="2572763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E76C9E-88A3-1F94-7D32-A6F1B743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71C0A5F-8F3A-9228-CB09-526A9A1BE272}"/>
              </a:ext>
            </a:extLst>
          </p:cNvPr>
          <p:cNvSpPr txBox="1"/>
          <p:nvPr/>
        </p:nvSpPr>
        <p:spPr>
          <a:xfrm>
            <a:off x="381000" y="888075"/>
            <a:ext cx="12352767" cy="49573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2400" dirty="0">
                <a:latin typeface="Comic Sans MS" panose="030F0702030302020204" pitchFamily="66" charset="0"/>
              </a:rPr>
              <a:t>📖 </a:t>
            </a:r>
            <a:r>
              <a:rPr lang="en-SE" sz="2400" b="1" dirty="0">
                <a:latin typeface="Comic Sans MS" panose="030F0702030302020204" pitchFamily="66" charset="0"/>
              </a:rPr>
              <a:t>4️⃣ </a:t>
            </a:r>
            <a:r>
              <a:rPr lang="sv-SE" sz="2400" b="1" dirty="0" err="1">
                <a:latin typeface="Comic Sans MS" panose="030F0702030302020204" pitchFamily="66" charset="0"/>
              </a:rPr>
              <a:t>Advanced</a:t>
            </a:r>
            <a:r>
              <a:rPr lang="sv-SE" sz="2400" b="1" dirty="0">
                <a:latin typeface="Comic Sans MS" panose="030F0702030302020204" pitchFamily="66" charset="0"/>
              </a:rPr>
              <a:t> Full System Information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🧭 </a:t>
            </a:r>
            <a:r>
              <a:rPr lang="sv-SE" sz="2400" dirty="0" err="1">
                <a:latin typeface="Comic Sans MS" panose="030F0702030302020204" pitchFamily="66" charset="0"/>
              </a:rPr>
              <a:t>Method</a:t>
            </a:r>
            <a:r>
              <a:rPr lang="sv-SE" sz="2400" dirty="0">
                <a:latin typeface="Comic Sans MS" panose="030F0702030302020204" pitchFamily="66" charset="0"/>
              </a:rPr>
              <a:t> 4: </a:t>
            </a:r>
            <a:r>
              <a:rPr lang="sv-SE" sz="2400" dirty="0" err="1">
                <a:latin typeface="Comic Sans MS" panose="030F0702030302020204" pitchFamily="66" charset="0"/>
              </a:rPr>
              <a:t>Using</a:t>
            </a:r>
            <a:r>
              <a:rPr lang="sv-SE" sz="2400" dirty="0">
                <a:latin typeface="Comic Sans MS" panose="030F0702030302020204" pitchFamily="66" charset="0"/>
              </a:rPr>
              <a:t> System Information </a:t>
            </a:r>
            <a:r>
              <a:rPr lang="sv-SE" sz="2400" dirty="0" err="1">
                <a:latin typeface="Comic Sans MS" panose="030F0702030302020204" pitchFamily="66" charset="0"/>
              </a:rPr>
              <a:t>Tool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1️⃣ Press </a:t>
            </a:r>
            <a:r>
              <a:rPr lang="sv-SE" sz="2400" b="1" dirty="0">
                <a:latin typeface="Comic Sans MS" panose="030F0702030302020204" pitchFamily="66" charset="0"/>
              </a:rPr>
              <a:t>Windows + R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type</a:t>
            </a:r>
            <a:r>
              <a:rPr lang="sv-SE" sz="2400" dirty="0">
                <a:latin typeface="Comic Sans MS" panose="030F0702030302020204" pitchFamily="66" charset="0"/>
              </a:rPr>
              <a:t> msinfo32, press </a:t>
            </a:r>
            <a:r>
              <a:rPr lang="sv-SE" sz="2400" b="1" dirty="0" err="1">
                <a:latin typeface="Comic Sans MS" panose="030F0702030302020204" pitchFamily="66" charset="0"/>
              </a:rPr>
              <a:t>Enter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2️⃣ </a:t>
            </a:r>
            <a:r>
              <a:rPr lang="sv-SE" sz="2400" dirty="0" err="1">
                <a:latin typeface="Comic Sans MS" panose="030F0702030302020204" pitchFamily="66" charset="0"/>
              </a:rPr>
              <a:t>This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opens</a:t>
            </a:r>
            <a:r>
              <a:rPr lang="sv-SE" sz="2400" dirty="0">
                <a:latin typeface="Comic Sans MS" panose="030F0702030302020204" pitchFamily="66" charset="0"/>
              </a:rPr>
              <a:t> the </a:t>
            </a:r>
            <a:r>
              <a:rPr lang="sv-SE" sz="2400" b="1" dirty="0">
                <a:latin typeface="Comic Sans MS" panose="030F0702030302020204" pitchFamily="66" charset="0"/>
              </a:rPr>
              <a:t>System Information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window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showing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OS version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sv-SE" sz="2400" dirty="0" err="1">
                <a:latin typeface="Comic Sans MS" panose="030F0702030302020204" pitchFamily="66" charset="0"/>
              </a:rPr>
              <a:t>Manufacturer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model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BIOS version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sv-SE" sz="2400" dirty="0" err="1">
                <a:latin typeface="Comic Sans MS" panose="030F0702030302020204" pitchFamily="66" charset="0"/>
              </a:rPr>
              <a:t>Installed</a:t>
            </a:r>
            <a:r>
              <a:rPr lang="sv-SE" sz="2400" dirty="0">
                <a:latin typeface="Comic Sans MS" panose="030F0702030302020204" pitchFamily="66" charset="0"/>
              </a:rPr>
              <a:t> RAM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Processor </a:t>
            </a:r>
            <a:r>
              <a:rPr lang="sv-SE" sz="2400" dirty="0" err="1">
                <a:latin typeface="Comic Sans MS" panose="030F0702030302020204" pitchFamily="66" charset="0"/>
              </a:rPr>
              <a:t>details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System </a:t>
            </a:r>
            <a:r>
              <a:rPr lang="sv-SE" sz="2400" dirty="0" err="1">
                <a:latin typeface="Comic Sans MS" panose="030F0702030302020204" pitchFamily="66" charset="0"/>
              </a:rPr>
              <a:t>type</a:t>
            </a:r>
            <a:r>
              <a:rPr lang="sv-SE" sz="2400" dirty="0">
                <a:latin typeface="Comic Sans MS" panose="030F0702030302020204" pitchFamily="66" charset="0"/>
              </a:rPr>
              <a:t> (32/64-bit)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sv-SE" sz="2400" dirty="0" err="1">
                <a:latin typeface="Comic Sans MS" panose="030F0702030302020204" pitchFamily="66" charset="0"/>
              </a:rPr>
              <a:t>Boot</a:t>
            </a:r>
            <a:r>
              <a:rPr lang="sv-SE" sz="2400" dirty="0">
                <a:latin typeface="Comic Sans MS" panose="030F0702030302020204" pitchFamily="66" charset="0"/>
              </a:rPr>
              <a:t> mode, etc.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📋 </a:t>
            </a:r>
            <a:r>
              <a:rPr lang="sv-SE" sz="2400" dirty="0" err="1">
                <a:latin typeface="Comic Sans MS" panose="030F0702030302020204" pitchFamily="66" charset="0"/>
              </a:rPr>
              <a:t>You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can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also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Export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this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report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sv-SE" sz="2400" dirty="0" err="1">
                <a:latin typeface="Comic Sans MS" panose="030F0702030302020204" pitchFamily="66" charset="0"/>
              </a:rPr>
              <a:t>File</a:t>
            </a:r>
            <a:r>
              <a:rPr lang="sv-SE" sz="2400" dirty="0">
                <a:latin typeface="Comic Sans MS" panose="030F0702030302020204" pitchFamily="66" charset="0"/>
              </a:rPr>
              <a:t> → Export → </a:t>
            </a:r>
            <a:r>
              <a:rPr lang="sv-SE" sz="2400" dirty="0" err="1">
                <a:latin typeface="Comic Sans MS" panose="030F0702030302020204" pitchFamily="66" charset="0"/>
              </a:rPr>
              <a:t>choose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location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786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E356DE-AFBC-D37E-C395-73DB9941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1483B06-35E6-8740-9DFD-8B04E54FE107}"/>
              </a:ext>
            </a:extLst>
          </p:cNvPr>
          <p:cNvSpPr txBox="1"/>
          <p:nvPr/>
        </p:nvSpPr>
        <p:spPr>
          <a:xfrm>
            <a:off x="381000" y="888075"/>
            <a:ext cx="12352767" cy="42186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2400" dirty="0">
                <a:latin typeface="Comic Sans MS" panose="030F0702030302020204" pitchFamily="66" charset="0"/>
              </a:rPr>
              <a:t>📖 </a:t>
            </a:r>
            <a:r>
              <a:rPr lang="en-SE" sz="2400" b="1" dirty="0">
                <a:latin typeface="Comic Sans MS" panose="030F0702030302020204" pitchFamily="66" charset="0"/>
              </a:rPr>
              <a:t>5️⃣ </a:t>
            </a:r>
            <a:r>
              <a:rPr lang="sv-SE" sz="2400" b="1" dirty="0" err="1">
                <a:latin typeface="Comic Sans MS" panose="030F0702030302020204" pitchFamily="66" charset="0"/>
              </a:rPr>
              <a:t>Using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Command</a:t>
            </a:r>
            <a:r>
              <a:rPr lang="sv-SE" sz="2400" b="1" dirty="0">
                <a:latin typeface="Comic Sans MS" panose="030F0702030302020204" pitchFamily="66" charset="0"/>
              </a:rPr>
              <a:t> Prompt or </a:t>
            </a:r>
            <a:r>
              <a:rPr lang="sv-SE" sz="2400" b="1" dirty="0" err="1">
                <a:latin typeface="Comic Sans MS" panose="030F0702030302020204" pitchFamily="66" charset="0"/>
              </a:rPr>
              <a:t>PowerShell</a:t>
            </a:r>
            <a:r>
              <a:rPr lang="sv-SE" sz="2400" b="1" dirty="0">
                <a:latin typeface="Comic Sans MS" panose="030F0702030302020204" pitchFamily="66" charset="0"/>
              </a:rPr>
              <a:t> (for </a:t>
            </a:r>
            <a:r>
              <a:rPr lang="sv-SE" sz="2400" b="1" dirty="0" err="1">
                <a:latin typeface="Comic Sans MS" panose="030F0702030302020204" pitchFamily="66" charset="0"/>
              </a:rPr>
              <a:t>advanced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users</a:t>
            </a:r>
            <a:r>
              <a:rPr lang="sv-SE" sz="2400" b="1" dirty="0">
                <a:latin typeface="Comic Sans MS" panose="030F0702030302020204" pitchFamily="66" charset="0"/>
              </a:rPr>
              <a:t>)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b="1" dirty="0">
                <a:latin typeface="Comic Sans MS" panose="030F0702030302020204" pitchFamily="66" charset="0"/>
              </a:rPr>
              <a:t>💻 </a:t>
            </a:r>
            <a:r>
              <a:rPr lang="sv-SE" sz="2400" b="1" dirty="0" err="1">
                <a:latin typeface="Comic Sans MS" panose="030F0702030302020204" pitchFamily="66" charset="0"/>
              </a:rPr>
              <a:t>Command</a:t>
            </a:r>
            <a:r>
              <a:rPr lang="sv-SE" sz="2400" b="1" dirty="0">
                <a:latin typeface="Comic Sans MS" panose="030F0702030302020204" pitchFamily="66" charset="0"/>
              </a:rPr>
              <a:t> Prompt: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Press </a:t>
            </a:r>
            <a:r>
              <a:rPr lang="sv-SE" sz="2400" b="1" dirty="0">
                <a:latin typeface="Comic Sans MS" panose="030F0702030302020204" pitchFamily="66" charset="0"/>
              </a:rPr>
              <a:t>Windows + R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type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cmd</a:t>
            </a:r>
            <a:r>
              <a:rPr lang="sv-SE" sz="2400" dirty="0">
                <a:latin typeface="Comic Sans MS" panose="030F0702030302020204" pitchFamily="66" charset="0"/>
              </a:rPr>
              <a:t>, press </a:t>
            </a:r>
            <a:r>
              <a:rPr lang="sv-SE" sz="2400" b="1" dirty="0" err="1">
                <a:latin typeface="Comic Sans MS" panose="030F0702030302020204" pitchFamily="66" charset="0"/>
              </a:rPr>
              <a:t>Enter</a:t>
            </a:r>
            <a:r>
              <a:rPr lang="sv-SE" sz="2400" b="1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then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use</a:t>
            </a:r>
            <a:r>
              <a:rPr lang="sv-SE" sz="2400" dirty="0">
                <a:latin typeface="Comic Sans MS" panose="030F0702030302020204" pitchFamily="66" charset="0"/>
              </a:rPr>
              <a:t> the </a:t>
            </a:r>
            <a:r>
              <a:rPr lang="sv-SE" sz="2400" dirty="0" err="1">
                <a:latin typeface="Comic Sans MS" panose="030F0702030302020204" pitchFamily="66" charset="0"/>
              </a:rPr>
              <a:t>following</a:t>
            </a:r>
            <a:r>
              <a:rPr lang="sv-SE" sz="2400" dirty="0">
                <a:latin typeface="Comic Sans MS" panose="030F0702030302020204" pitchFamily="66" charset="0"/>
              </a:rPr>
              <a:t> 			</a:t>
            </a:r>
            <a:r>
              <a:rPr lang="sv-SE" sz="2400" dirty="0" err="1">
                <a:latin typeface="Comic Sans MS" panose="030F0702030302020204" pitchFamily="66" charset="0"/>
              </a:rPr>
              <a:t>commands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CPU info → </a:t>
            </a:r>
            <a:r>
              <a:rPr lang="sv-SE" sz="2400" dirty="0" err="1">
                <a:latin typeface="Comic Sans MS" panose="030F0702030302020204" pitchFamily="66" charset="0"/>
              </a:rPr>
              <a:t>wmic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cpu</a:t>
            </a:r>
            <a:r>
              <a:rPr lang="sv-SE" sz="2400" dirty="0">
                <a:latin typeface="Comic Sans MS" panose="030F0702030302020204" pitchFamily="66" charset="0"/>
              </a:rPr>
              <a:t> get </a:t>
            </a:r>
            <a:r>
              <a:rPr lang="sv-SE" sz="2400" dirty="0" err="1">
                <a:latin typeface="Comic Sans MS" panose="030F0702030302020204" pitchFamily="66" charset="0"/>
              </a:rPr>
              <a:t>name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RAM info → </a:t>
            </a:r>
            <a:r>
              <a:rPr lang="sv-SE" sz="2400" dirty="0" err="1">
                <a:latin typeface="Comic Sans MS" panose="030F0702030302020204" pitchFamily="66" charset="0"/>
              </a:rPr>
              <a:t>wmic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computersystem</a:t>
            </a:r>
            <a:r>
              <a:rPr lang="sv-SE" sz="2400" dirty="0">
                <a:latin typeface="Comic Sans MS" panose="030F0702030302020204" pitchFamily="66" charset="0"/>
              </a:rPr>
              <a:t> get </a:t>
            </a:r>
            <a:r>
              <a:rPr lang="sv-SE" sz="2400" dirty="0" err="1">
                <a:latin typeface="Comic Sans MS" panose="030F0702030302020204" pitchFamily="66" charset="0"/>
              </a:rPr>
              <a:t>totalphysicalmemory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System </a:t>
            </a:r>
            <a:r>
              <a:rPr lang="sv-SE" sz="2400" dirty="0" err="1">
                <a:latin typeface="Comic Sans MS" panose="030F0702030302020204" pitchFamily="66" charset="0"/>
              </a:rPr>
              <a:t>type</a:t>
            </a:r>
            <a:r>
              <a:rPr lang="sv-SE" sz="2400" dirty="0">
                <a:latin typeface="Comic Sans MS" panose="030F0702030302020204" pitchFamily="66" charset="0"/>
              </a:rPr>
              <a:t> → </a:t>
            </a:r>
            <a:r>
              <a:rPr lang="sv-SE" sz="2400" dirty="0" err="1">
                <a:latin typeface="Comic Sans MS" panose="030F0702030302020204" pitchFamily="66" charset="0"/>
              </a:rPr>
              <a:t>wmic</a:t>
            </a:r>
            <a:r>
              <a:rPr lang="sv-SE" sz="2400" dirty="0">
                <a:latin typeface="Comic Sans MS" panose="030F0702030302020204" pitchFamily="66" charset="0"/>
              </a:rPr>
              <a:t> os get </a:t>
            </a:r>
            <a:r>
              <a:rPr lang="sv-SE" sz="2400" dirty="0" err="1">
                <a:latin typeface="Comic Sans MS" panose="030F0702030302020204" pitchFamily="66" charset="0"/>
              </a:rPr>
              <a:t>osarchitecture</a:t>
            </a:r>
            <a:endParaRPr lang="sv-SE" sz="2400" dirty="0">
              <a:latin typeface="Comic Sans MS" panose="030F0702030302020204" pitchFamily="66" charset="0"/>
            </a:endParaRP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⚡ </a:t>
            </a:r>
            <a:r>
              <a:rPr lang="sv-SE" sz="2400" b="1" dirty="0" err="1">
                <a:latin typeface="Comic Sans MS" panose="030F0702030302020204" pitchFamily="66" charset="0"/>
              </a:rPr>
              <a:t>PowerShell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sv-SE" sz="2400" dirty="0" err="1">
                <a:latin typeface="Comic Sans MS" panose="030F0702030302020204" pitchFamily="66" charset="0"/>
              </a:rPr>
              <a:t>Run</a:t>
            </a:r>
            <a:r>
              <a:rPr lang="sv-SE" sz="2400" dirty="0">
                <a:latin typeface="Comic Sans MS" panose="030F0702030302020204" pitchFamily="66" charset="0"/>
              </a:rPr>
              <a:t> → Get-</a:t>
            </a:r>
            <a:r>
              <a:rPr lang="sv-SE" sz="2400" dirty="0" err="1">
                <a:latin typeface="Comic Sans MS" panose="030F0702030302020204" pitchFamily="66" charset="0"/>
              </a:rPr>
              <a:t>ComputerInfo</a:t>
            </a:r>
            <a:r>
              <a:rPr lang="sv-SE" sz="2400" dirty="0">
                <a:latin typeface="Comic Sans MS" panose="030F0702030302020204" pitchFamily="66" charset="0"/>
              </a:rPr>
              <a:t> | </a:t>
            </a:r>
            <a:r>
              <a:rPr lang="sv-SE" sz="2400" dirty="0" err="1">
                <a:latin typeface="Comic Sans MS" panose="030F0702030302020204" pitchFamily="66" charset="0"/>
              </a:rPr>
              <a:t>Select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CsName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OsName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OsArchitecture</a:t>
            </a:r>
            <a:r>
              <a:rPr lang="sv-SE" sz="2400" dirty="0">
                <a:latin typeface="Comic Sans MS" panose="030F0702030302020204" pitchFamily="66" charset="0"/>
              </a:rPr>
              <a:t>, 	</a:t>
            </a:r>
            <a:r>
              <a:rPr lang="sv-SE" sz="2400" dirty="0" err="1">
                <a:latin typeface="Comic Sans MS" panose="030F0702030302020204" pitchFamily="66" charset="0"/>
              </a:rPr>
              <a:t>CsSystemType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CsTotalPhysicalMemory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588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F75602-A41A-A8BA-568B-9F69A760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12AD391-6CFC-94A5-E515-D389941E09A4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1️⃣ </a:t>
            </a:r>
            <a:r>
              <a:rPr lang="sv-SE" sz="2400" dirty="0" err="1">
                <a:latin typeface="Comic Sans MS" panose="030F0702030302020204" pitchFamily="66" charset="0"/>
              </a:rPr>
              <a:t>Convert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each</a:t>
            </a:r>
            <a:r>
              <a:rPr lang="sv-SE" sz="2400" dirty="0">
                <a:latin typeface="Comic Sans MS" panose="030F0702030302020204" pitchFamily="66" charset="0"/>
              </a:rPr>
              <a:t>: </a:t>
            </a:r>
            <a:r>
              <a:rPr lang="sv-SE" sz="2400" b="1" dirty="0">
                <a:latin typeface="Comic Sans MS" panose="030F0702030302020204" pitchFamily="66" charset="0"/>
              </a:rPr>
              <a:t>8 KB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>
                <a:latin typeface="Comic Sans MS" panose="030F0702030302020204" pitchFamily="66" charset="0"/>
              </a:rPr>
              <a:t>2 MB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>
                <a:latin typeface="Comic Sans MS" panose="030F0702030302020204" pitchFamily="66" charset="0"/>
              </a:rPr>
              <a:t>3 GB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into</a:t>
            </a:r>
            <a:r>
              <a:rPr lang="sv-SE" sz="2400" dirty="0">
                <a:latin typeface="Comic Sans MS" panose="030F0702030302020204" pitchFamily="66" charset="0"/>
              </a:rPr>
              <a:t> bytes (</a:t>
            </a:r>
            <a:r>
              <a:rPr lang="sv-SE" sz="2400" dirty="0" err="1">
                <a:latin typeface="Comic Sans MS" panose="030F0702030302020204" pitchFamily="66" charset="0"/>
              </a:rPr>
              <a:t>use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 KB = 1,024</a:t>
            </a:r>
            <a:r>
              <a:rPr lang="sv-SE" sz="2400" dirty="0">
                <a:latin typeface="Comic Sans MS" panose="030F0702030302020204" pitchFamily="66" charset="0"/>
              </a:rPr>
              <a:t> bytes).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2️⃣ Order </a:t>
            </a:r>
            <a:r>
              <a:rPr lang="sv-SE" sz="2400" dirty="0" err="1">
                <a:latin typeface="Comic Sans MS" panose="030F0702030302020204" pitchFamily="66" charset="0"/>
              </a:rPr>
              <a:t>these</a:t>
            </a:r>
            <a:r>
              <a:rPr lang="sv-SE" sz="2400" dirty="0">
                <a:latin typeface="Comic Sans MS" panose="030F0702030302020204" pitchFamily="66" charset="0"/>
              </a:rPr>
              <a:t> by </a:t>
            </a:r>
            <a:r>
              <a:rPr lang="sv-SE" sz="2400" b="1" dirty="0" err="1">
                <a:latin typeface="Comic Sans MS" panose="030F0702030302020204" pitchFamily="66" charset="0"/>
              </a:rPr>
              <a:t>fastest</a:t>
            </a:r>
            <a:r>
              <a:rPr lang="sv-SE" sz="2400" b="1" dirty="0">
                <a:latin typeface="Comic Sans MS" panose="030F0702030302020204" pitchFamily="66" charset="0"/>
              </a:rPr>
              <a:t> access</a:t>
            </a:r>
            <a:r>
              <a:rPr lang="sv-SE" sz="2400" dirty="0">
                <a:latin typeface="Comic Sans MS" panose="030F0702030302020204" pitchFamily="66" charset="0"/>
              </a:rPr>
              <a:t>: </a:t>
            </a:r>
            <a:r>
              <a:rPr lang="sv-SE" sz="2400" b="1" dirty="0">
                <a:latin typeface="Comic Sans MS" panose="030F0702030302020204" pitchFamily="66" charset="0"/>
              </a:rPr>
              <a:t>RAM, Registers, SSD, L1 Cache</a:t>
            </a:r>
            <a:r>
              <a:rPr lang="sv-SE" sz="2400" dirty="0">
                <a:latin typeface="Comic Sans MS" panose="030F0702030302020204" pitchFamily="66" charset="0"/>
              </a:rPr>
              <a:t>. </a:t>
            </a:r>
            <a:r>
              <a:rPr lang="sv-SE" sz="2400" dirty="0" err="1">
                <a:latin typeface="Comic Sans MS" panose="030F0702030302020204" pitchFamily="66" charset="0"/>
              </a:rPr>
              <a:t>Explain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why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3️⃣ </a:t>
            </a:r>
            <a:r>
              <a:rPr lang="sv-SE" sz="2400" dirty="0" err="1">
                <a:latin typeface="Comic Sans MS" panose="030F0702030302020204" pitchFamily="66" charset="0"/>
              </a:rPr>
              <a:t>Your</a:t>
            </a:r>
            <a:r>
              <a:rPr lang="sv-SE" sz="2400" dirty="0">
                <a:latin typeface="Comic Sans MS" panose="030F0702030302020204" pitchFamily="66" charset="0"/>
              </a:rPr>
              <a:t> laptop has </a:t>
            </a:r>
            <a:r>
              <a:rPr lang="sv-SE" sz="2400" b="1" dirty="0">
                <a:latin typeface="Comic Sans MS" panose="030F0702030302020204" pitchFamily="66" charset="0"/>
              </a:rPr>
              <a:t>8 GB RAM</a:t>
            </a:r>
            <a:r>
              <a:rPr lang="sv-SE" sz="2400" dirty="0">
                <a:latin typeface="Comic Sans MS" panose="030F0702030302020204" pitchFamily="66" charset="0"/>
              </a:rPr>
              <a:t> and a </a:t>
            </a:r>
            <a:r>
              <a:rPr lang="sv-SE" sz="2400" b="1" dirty="0">
                <a:latin typeface="Comic Sans MS" panose="030F0702030302020204" pitchFamily="66" charset="0"/>
              </a:rPr>
              <a:t>64-bit CPU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but</a:t>
            </a:r>
            <a:r>
              <a:rPr lang="sv-SE" sz="2400" dirty="0">
                <a:latin typeface="Comic Sans MS" panose="030F0702030302020204" pitchFamily="66" charset="0"/>
              </a:rPr>
              <a:t> a </a:t>
            </a:r>
            <a:r>
              <a:rPr lang="sv-SE" sz="2400" b="1" dirty="0">
                <a:latin typeface="Comic Sans MS" panose="030F0702030302020204" pitchFamily="66" charset="0"/>
              </a:rPr>
              <a:t>32-bit OS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installed</a:t>
            </a:r>
            <a:r>
              <a:rPr lang="sv-SE" sz="2400" dirty="0">
                <a:latin typeface="Comic Sans MS" panose="030F0702030302020204" pitchFamily="66" charset="0"/>
              </a:rPr>
              <a:t>. List </a:t>
            </a:r>
            <a:r>
              <a:rPr lang="sv-SE" sz="2400" b="1" dirty="0" err="1">
                <a:latin typeface="Comic Sans MS" panose="030F0702030302020204" pitchFamily="66" charset="0"/>
              </a:rPr>
              <a:t>two</a:t>
            </a:r>
            <a:r>
              <a:rPr lang="sv-SE" sz="2400" b="1" dirty="0">
                <a:latin typeface="Comic Sans MS" panose="030F0702030302020204" pitchFamily="66" charset="0"/>
              </a:rPr>
              <a:t> 	limitations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you’ll</a:t>
            </a:r>
            <a:r>
              <a:rPr lang="sv-SE" sz="2400" dirty="0">
                <a:latin typeface="Comic Sans MS" panose="030F0702030302020204" pitchFamily="66" charset="0"/>
              </a:rPr>
              <a:t> face.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4️⃣ A CPU </a:t>
            </a:r>
            <a:r>
              <a:rPr lang="sv-SE" sz="2400" dirty="0" err="1">
                <a:latin typeface="Comic Sans MS" panose="030F0702030302020204" pitchFamily="66" charset="0"/>
              </a:rPr>
              <a:t>runs</a:t>
            </a:r>
            <a:r>
              <a:rPr lang="sv-SE" sz="2400" dirty="0">
                <a:latin typeface="Comic Sans MS" panose="030F0702030302020204" pitchFamily="66" charset="0"/>
              </a:rPr>
              <a:t> at </a:t>
            </a:r>
            <a:r>
              <a:rPr lang="sv-SE" sz="2400" b="1" dirty="0">
                <a:latin typeface="Comic Sans MS" panose="030F0702030302020204" pitchFamily="66" charset="0"/>
              </a:rPr>
              <a:t>3.6 GHz</a:t>
            </a:r>
            <a:r>
              <a:rPr lang="sv-SE" sz="2400" dirty="0">
                <a:latin typeface="Comic Sans MS" panose="030F0702030302020204" pitchFamily="66" charset="0"/>
              </a:rPr>
              <a:t>. </a:t>
            </a:r>
            <a:r>
              <a:rPr lang="sv-SE" sz="2400" dirty="0" err="1">
                <a:latin typeface="Comic Sans MS" panose="030F0702030302020204" pitchFamily="66" charset="0"/>
              </a:rPr>
              <a:t>How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many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cycles</a:t>
            </a:r>
            <a:r>
              <a:rPr lang="sv-SE" sz="2400" dirty="0">
                <a:latin typeface="Comic Sans MS" panose="030F0702030302020204" pitchFamily="66" charset="0"/>
              </a:rPr>
              <a:t> per second is </a:t>
            </a:r>
            <a:r>
              <a:rPr lang="sv-SE" sz="2400" dirty="0" err="1">
                <a:latin typeface="Comic Sans MS" panose="030F0702030302020204" pitchFamily="66" charset="0"/>
              </a:rPr>
              <a:t>that</a:t>
            </a:r>
            <a:r>
              <a:rPr lang="sv-SE" sz="2400" dirty="0">
                <a:latin typeface="Comic Sans MS" panose="030F0702030302020204" pitchFamily="66" charset="0"/>
              </a:rPr>
              <a:t>? </a:t>
            </a:r>
            <a:r>
              <a:rPr lang="sv-SE" sz="2400" dirty="0" err="1">
                <a:latin typeface="Comic Sans MS" panose="030F0702030302020204" pitchFamily="66" charset="0"/>
              </a:rPr>
              <a:t>What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happens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during</a:t>
            </a:r>
            <a:r>
              <a:rPr lang="sv-SE" sz="2400" dirty="0">
                <a:latin typeface="Comic Sans MS" panose="030F0702030302020204" pitchFamily="66" charset="0"/>
              </a:rPr>
              <a:t> 	</a:t>
            </a:r>
            <a:r>
              <a:rPr lang="sv-SE" sz="2400" dirty="0" err="1">
                <a:latin typeface="Comic Sans MS" panose="030F0702030302020204" pitchFamily="66" charset="0"/>
              </a:rPr>
              <a:t>each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cycle</a:t>
            </a:r>
            <a:r>
              <a:rPr lang="sv-SE" sz="2400" dirty="0">
                <a:latin typeface="Comic Sans MS" panose="030F0702030302020204" pitchFamily="66" charset="0"/>
              </a:rPr>
              <a:t> (at a </a:t>
            </a:r>
            <a:r>
              <a:rPr lang="sv-SE" sz="2400" dirty="0" err="1">
                <a:latin typeface="Comic Sans MS" panose="030F0702030302020204" pitchFamily="66" charset="0"/>
              </a:rPr>
              <a:t>high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level</a:t>
            </a:r>
            <a:r>
              <a:rPr lang="sv-SE" sz="2400" dirty="0">
                <a:latin typeface="Comic Sans MS" panose="030F0702030302020204" pitchFamily="66" charset="0"/>
              </a:rPr>
              <a:t>)?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944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74195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1️⃣ </a:t>
            </a:r>
            <a:r>
              <a:rPr lang="sv-SE" sz="2400" dirty="0" err="1">
                <a:latin typeface="Comic Sans MS" panose="030F0702030302020204" pitchFamily="66" charset="0"/>
              </a:rPr>
              <a:t>Convert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each</a:t>
            </a:r>
            <a:r>
              <a:rPr lang="sv-SE" sz="2400" dirty="0">
                <a:latin typeface="Comic Sans MS" panose="030F0702030302020204" pitchFamily="66" charset="0"/>
              </a:rPr>
              <a:t>: </a:t>
            </a:r>
            <a:r>
              <a:rPr lang="sv-SE" sz="2400" b="1" dirty="0">
                <a:latin typeface="Comic Sans MS" panose="030F0702030302020204" pitchFamily="66" charset="0"/>
              </a:rPr>
              <a:t>8 KB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>
                <a:latin typeface="Comic Sans MS" panose="030F0702030302020204" pitchFamily="66" charset="0"/>
              </a:rPr>
              <a:t>2 MB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>
                <a:latin typeface="Comic Sans MS" panose="030F0702030302020204" pitchFamily="66" charset="0"/>
              </a:rPr>
              <a:t>3 GB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into</a:t>
            </a:r>
            <a:r>
              <a:rPr lang="sv-SE" sz="2400" dirty="0">
                <a:latin typeface="Comic Sans MS" panose="030F0702030302020204" pitchFamily="66" charset="0"/>
              </a:rPr>
              <a:t> bytes (</a:t>
            </a:r>
            <a:r>
              <a:rPr lang="sv-SE" sz="2400" dirty="0" err="1">
                <a:latin typeface="Comic Sans MS" panose="030F0702030302020204" pitchFamily="66" charset="0"/>
              </a:rPr>
              <a:t>use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 KB = 1,024</a:t>
            </a:r>
            <a:r>
              <a:rPr lang="sv-SE" sz="2400" dirty="0">
                <a:latin typeface="Comic Sans MS" panose="030F0702030302020204" pitchFamily="66" charset="0"/>
              </a:rPr>
              <a:t> bytes).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8 KB = </a:t>
            </a:r>
            <a:r>
              <a:rPr lang="sv-SE" sz="2400" b="1" dirty="0">
                <a:latin typeface="Comic Sans MS" panose="030F0702030302020204" pitchFamily="66" charset="0"/>
              </a:rPr>
              <a:t>8 × 1,024 = 8,192</a:t>
            </a:r>
            <a:r>
              <a:rPr lang="sv-SE" sz="2400" dirty="0">
                <a:latin typeface="Comic Sans MS" panose="030F0702030302020204" pitchFamily="66" charset="0"/>
              </a:rPr>
              <a:t> bytes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2 MB = </a:t>
            </a:r>
            <a:r>
              <a:rPr lang="sv-SE" sz="2400" b="1" dirty="0">
                <a:latin typeface="Comic Sans MS" panose="030F0702030302020204" pitchFamily="66" charset="0"/>
              </a:rPr>
              <a:t>2 × 1,024 × 1,024 = 2,097,152</a:t>
            </a:r>
            <a:r>
              <a:rPr lang="sv-SE" sz="2400" dirty="0">
                <a:latin typeface="Comic Sans MS" panose="030F0702030302020204" pitchFamily="66" charset="0"/>
              </a:rPr>
              <a:t> bytes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3 GB = </a:t>
            </a:r>
            <a:r>
              <a:rPr lang="sv-SE" sz="2400" b="1" dirty="0">
                <a:latin typeface="Comic Sans MS" panose="030F0702030302020204" pitchFamily="66" charset="0"/>
              </a:rPr>
              <a:t>3 × 1,024³ = 3,221,225,472</a:t>
            </a:r>
            <a:r>
              <a:rPr lang="sv-SE" sz="2400" dirty="0">
                <a:latin typeface="Comic Sans MS" panose="030F0702030302020204" pitchFamily="66" charset="0"/>
              </a:rPr>
              <a:t> bytes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Order these by </a:t>
            </a:r>
            <a:r>
              <a:rPr lang="en-GB" sz="2400" b="1" dirty="0">
                <a:latin typeface="Comic Sans MS" panose="030F0702030302020204" pitchFamily="66" charset="0"/>
              </a:rPr>
              <a:t>fastest access</a:t>
            </a:r>
            <a:r>
              <a:rPr lang="en-GB" sz="2400" dirty="0">
                <a:latin typeface="Comic Sans MS" panose="030F0702030302020204" pitchFamily="66" charset="0"/>
              </a:rPr>
              <a:t>: </a:t>
            </a:r>
            <a:r>
              <a:rPr lang="en-GB" sz="2400" b="1" dirty="0">
                <a:latin typeface="Comic Sans MS" panose="030F0702030302020204" pitchFamily="66" charset="0"/>
              </a:rPr>
              <a:t>RAM, Registers, SSD, L1 Cache</a:t>
            </a:r>
            <a:r>
              <a:rPr lang="en-GB" sz="2400" dirty="0">
                <a:latin typeface="Comic Sans MS" panose="030F0702030302020204" pitchFamily="66" charset="0"/>
              </a:rPr>
              <a:t>. Explain why.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Registers → L1 Cache → RAM → SSD</a:t>
            </a:r>
            <a:r>
              <a:rPr lang="en-GB" sz="2400" dirty="0">
                <a:latin typeface="Comic Sans MS" panose="030F0702030302020204" pitchFamily="66" charset="0"/>
              </a:rPr>
              <a:t> (closest to farthest from CPU → 	fastest to slowest).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Your laptop has </a:t>
            </a:r>
            <a:r>
              <a:rPr lang="en-GB" sz="2400" b="1" dirty="0">
                <a:latin typeface="Comic Sans MS" panose="030F0702030302020204" pitchFamily="66" charset="0"/>
              </a:rPr>
              <a:t>8 GB RAM</a:t>
            </a:r>
            <a:r>
              <a:rPr lang="en-GB" sz="2400" dirty="0">
                <a:latin typeface="Comic Sans MS" panose="030F0702030302020204" pitchFamily="66" charset="0"/>
              </a:rPr>
              <a:t> and a </a:t>
            </a:r>
            <a:r>
              <a:rPr lang="en-GB" sz="2400" b="1" dirty="0">
                <a:latin typeface="Comic Sans MS" panose="030F0702030302020204" pitchFamily="66" charset="0"/>
              </a:rPr>
              <a:t>64-bit CPU</a:t>
            </a:r>
            <a:r>
              <a:rPr lang="en-GB" sz="2400" dirty="0">
                <a:latin typeface="Comic Sans MS" panose="030F0702030302020204" pitchFamily="66" charset="0"/>
              </a:rPr>
              <a:t>, but a </a:t>
            </a:r>
            <a:r>
              <a:rPr lang="en-GB" sz="2400" b="1" dirty="0">
                <a:latin typeface="Comic Sans MS" panose="030F0702030302020204" pitchFamily="66" charset="0"/>
              </a:rPr>
              <a:t>32-bit OS</a:t>
            </a:r>
            <a:r>
              <a:rPr lang="en-GB" sz="2400" dirty="0">
                <a:latin typeface="Comic Sans MS" panose="030F0702030302020204" pitchFamily="66" charset="0"/>
              </a:rPr>
              <a:t> installed. List </a:t>
            </a:r>
            <a:r>
              <a:rPr lang="en-GB" sz="2400" b="1" dirty="0">
                <a:latin typeface="Comic Sans MS" panose="030F0702030302020204" pitchFamily="66" charset="0"/>
              </a:rPr>
              <a:t>two 	limitations</a:t>
            </a:r>
            <a:r>
              <a:rPr lang="en-GB" sz="2400" dirty="0">
                <a:latin typeface="Comic Sans MS" panose="030F0702030302020204" pitchFamily="66" charset="0"/>
              </a:rPr>
              <a:t> you’ll face.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You can’t fully use &gt; 4 GB RAM; you can run </a:t>
            </a:r>
            <a:r>
              <a:rPr lang="en-GB" sz="2400" b="1" dirty="0">
                <a:latin typeface="Comic Sans MS" panose="030F0702030302020204" pitchFamily="66" charset="0"/>
              </a:rPr>
              <a:t>32-bit apps only</a:t>
            </a:r>
            <a:r>
              <a:rPr lang="en-GB" sz="2400" dirty="0">
                <a:latin typeface="Comic Sans MS" panose="030F0702030302020204" pitchFamily="66" charset="0"/>
              </a:rPr>
              <a:t> (no 64-bit 	software benefits)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A CPU runs at </a:t>
            </a:r>
            <a:r>
              <a:rPr lang="en-GB" sz="2400" b="1" dirty="0">
                <a:latin typeface="Comic Sans MS" panose="030F0702030302020204" pitchFamily="66" charset="0"/>
              </a:rPr>
              <a:t>3.6 GHz</a:t>
            </a:r>
            <a:r>
              <a:rPr lang="en-GB" sz="2400" dirty="0">
                <a:latin typeface="Comic Sans MS" panose="030F0702030302020204" pitchFamily="66" charset="0"/>
              </a:rPr>
              <a:t>. How many cycles per second is that? What happens during 	each cycle (at a high level)?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3.6 GHz = 3.6 billion cycles/sec</a:t>
            </a:r>
            <a:r>
              <a:rPr lang="en-GB" sz="2400" dirty="0">
                <a:latin typeface="Comic Sans MS" panose="030F0702030302020204" pitchFamily="66" charset="0"/>
              </a:rPr>
              <a:t>; during each cycle, the CPU’s </a:t>
            </a:r>
            <a:r>
              <a:rPr lang="en-GB" sz="2400" b="1" dirty="0">
                <a:latin typeface="Comic Sans MS" panose="030F0702030302020204" pitchFamily="66" charset="0"/>
              </a:rPr>
              <a:t>transistors 	switch</a:t>
            </a:r>
            <a:r>
              <a:rPr lang="en-GB" sz="2400" dirty="0">
                <a:latin typeface="Comic Sans MS" panose="030F0702030302020204" pitchFamily="66" charset="0"/>
              </a:rPr>
              <a:t>, moving/processing data per the current instruction. </a:t>
            </a: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sv-SE" sz="2400" b="1" dirty="0">
                <a:latin typeface="Comic Sans MS" panose="030F0702030302020204" pitchFamily="66" charset="0"/>
              </a:rPr>
              <a:t>Bits &amp; Bytes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define</a:t>
            </a:r>
            <a:r>
              <a:rPr lang="sv-SE" sz="2400" dirty="0">
                <a:latin typeface="Comic Sans MS" panose="030F0702030302020204" pitchFamily="66" charset="0"/>
              </a:rPr>
              <a:t> data </a:t>
            </a:r>
            <a:r>
              <a:rPr lang="sv-SE" sz="2400" dirty="0" err="1">
                <a:latin typeface="Comic Sans MS" panose="030F0702030302020204" pitchFamily="66" charset="0"/>
              </a:rPr>
              <a:t>size</a:t>
            </a:r>
            <a:r>
              <a:rPr lang="sv-SE" sz="2400" dirty="0">
                <a:latin typeface="Comic Sans MS" panose="030F0702030302020204" pitchFamily="66" charset="0"/>
              </a:rPr>
              <a:t>; </a:t>
            </a:r>
            <a:r>
              <a:rPr lang="sv-SE" sz="2400" b="1" dirty="0">
                <a:latin typeface="Comic Sans MS" panose="030F0702030302020204" pitchFamily="66" charset="0"/>
              </a:rPr>
              <a:t>KB→MB→GB→TB</a:t>
            </a:r>
            <a:r>
              <a:rPr lang="sv-SE" sz="2400" dirty="0">
                <a:latin typeface="Comic Sans MS" panose="030F0702030302020204" pitchFamily="66" charset="0"/>
              </a:rPr>
              <a:t> (1,024 steps) </a:t>
            </a:r>
            <a:r>
              <a:rPr lang="sv-SE" sz="2400" dirty="0" err="1">
                <a:latin typeface="Comic Sans MS" panose="030F0702030302020204" pitchFamily="66" charset="0"/>
              </a:rPr>
              <a:t>scale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storage</a:t>
            </a:r>
            <a:r>
              <a:rPr lang="sv-SE" sz="2400" dirty="0">
                <a:latin typeface="Comic Sans MS" panose="030F0702030302020204" pitchFamily="66" charset="0"/>
              </a:rPr>
              <a:t> and 	</a:t>
            </a:r>
            <a:r>
              <a:rPr lang="sv-SE" sz="2400" dirty="0" err="1">
                <a:latin typeface="Comic Sans MS" panose="030F0702030302020204" pitchFamily="66" charset="0"/>
              </a:rPr>
              <a:t>memory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sv-SE" sz="2400" b="1" dirty="0" err="1">
                <a:latin typeface="Comic Sans MS" panose="030F0702030302020204" pitchFamily="66" charset="0"/>
              </a:rPr>
              <a:t>CPU↔Memory</a:t>
            </a:r>
            <a:r>
              <a:rPr lang="sv-SE" sz="2400" dirty="0">
                <a:latin typeface="Comic Sans MS" panose="030F0702030302020204" pitchFamily="66" charset="0"/>
              </a:rPr>
              <a:t> speed </a:t>
            </a:r>
            <a:r>
              <a:rPr lang="sv-SE" sz="2400" dirty="0" err="1">
                <a:latin typeface="Comic Sans MS" panose="030F0702030302020204" pitchFamily="66" charset="0"/>
              </a:rPr>
              <a:t>hinges</a:t>
            </a:r>
            <a:r>
              <a:rPr lang="sv-SE" sz="2400" dirty="0">
                <a:latin typeface="Comic Sans MS" panose="030F0702030302020204" pitchFamily="66" charset="0"/>
              </a:rPr>
              <a:t> on </a:t>
            </a:r>
            <a:r>
              <a:rPr lang="sv-SE" sz="2400" b="1" dirty="0" err="1">
                <a:latin typeface="Comic Sans MS" panose="030F0702030302020204" pitchFamily="66" charset="0"/>
              </a:rPr>
              <a:t>distance</a:t>
            </a:r>
            <a:r>
              <a:rPr lang="sv-SE" sz="2400" dirty="0">
                <a:latin typeface="Comic Sans MS" panose="030F0702030302020204" pitchFamily="66" charset="0"/>
              </a:rPr>
              <a:t>: Registers/Cache (</a:t>
            </a:r>
            <a:r>
              <a:rPr lang="sv-SE" sz="2400" dirty="0" err="1">
                <a:latin typeface="Comic Sans MS" panose="030F0702030302020204" pitchFamily="66" charset="0"/>
              </a:rPr>
              <a:t>closest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fastest</a:t>
            </a:r>
            <a:r>
              <a:rPr lang="sv-SE" sz="2400" dirty="0">
                <a:latin typeface="Comic Sans MS" panose="030F0702030302020204" pitchFamily="66" charset="0"/>
              </a:rPr>
              <a:t>) → 	RAM → SSD/HDD.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sv-SE" sz="2400" b="1" dirty="0">
                <a:latin typeface="Comic Sans MS" panose="030F0702030302020204" pitchFamily="66" charset="0"/>
              </a:rPr>
              <a:t>Hz</a:t>
            </a:r>
            <a:r>
              <a:rPr lang="sv-SE" sz="2400" dirty="0">
                <a:latin typeface="Comic Sans MS" panose="030F0702030302020204" pitchFamily="66" charset="0"/>
              </a:rPr>
              <a:t> = </a:t>
            </a:r>
            <a:r>
              <a:rPr lang="sv-SE" sz="2400" dirty="0" err="1">
                <a:latin typeface="Comic Sans MS" panose="030F0702030302020204" pitchFamily="66" charset="0"/>
              </a:rPr>
              <a:t>cycles</a:t>
            </a:r>
            <a:r>
              <a:rPr lang="sv-SE" sz="2400" dirty="0">
                <a:latin typeface="Comic Sans MS" panose="030F0702030302020204" pitchFamily="66" charset="0"/>
              </a:rPr>
              <a:t>/sec; </a:t>
            </a:r>
            <a:r>
              <a:rPr lang="sv-SE" sz="2400" dirty="0" err="1">
                <a:latin typeface="Comic Sans MS" panose="030F0702030302020204" pitchFamily="66" charset="0"/>
              </a:rPr>
              <a:t>more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cycles</a:t>
            </a:r>
            <a:r>
              <a:rPr lang="sv-SE" sz="2400" dirty="0">
                <a:latin typeface="Comic Sans MS" panose="030F0702030302020204" pitchFamily="66" charset="0"/>
              </a:rPr>
              <a:t> (same gen) → </a:t>
            </a:r>
            <a:r>
              <a:rPr lang="sv-SE" sz="2400" dirty="0" err="1">
                <a:latin typeface="Comic Sans MS" panose="030F0702030302020204" pitchFamily="66" charset="0"/>
              </a:rPr>
              <a:t>more</a:t>
            </a:r>
            <a:r>
              <a:rPr lang="sv-SE" sz="2400" dirty="0">
                <a:latin typeface="Comic Sans MS" panose="030F0702030302020204" pitchFamily="66" charset="0"/>
              </a:rPr>
              <a:t> potential </a:t>
            </a:r>
            <a:r>
              <a:rPr lang="sv-SE" sz="2400" dirty="0" err="1">
                <a:latin typeface="Comic Sans MS" panose="030F0702030302020204" pitchFamily="66" charset="0"/>
              </a:rPr>
              <a:t>work</a:t>
            </a:r>
            <a:r>
              <a:rPr lang="sv-SE" sz="2400" dirty="0">
                <a:latin typeface="Comic Sans MS" panose="030F0702030302020204" pitchFamily="66" charset="0"/>
              </a:rPr>
              <a:t>; </a:t>
            </a:r>
            <a:r>
              <a:rPr lang="sv-SE" sz="2400" b="1" dirty="0">
                <a:latin typeface="Comic Sans MS" panose="030F0702030302020204" pitchFamily="66" charset="0"/>
              </a:rPr>
              <a:t>transistors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toggle</a:t>
            </a:r>
            <a:r>
              <a:rPr lang="sv-SE" sz="2400" dirty="0">
                <a:latin typeface="Comic Sans MS" panose="030F0702030302020204" pitchFamily="66" charset="0"/>
              </a:rPr>
              <a:t> 	</a:t>
            </a:r>
            <a:r>
              <a:rPr lang="sv-SE" sz="2400" dirty="0" err="1">
                <a:latin typeface="Comic Sans MS" panose="030F0702030302020204" pitchFamily="66" charset="0"/>
              </a:rPr>
              <a:t>every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cycle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sv-SE" sz="2400" b="1" dirty="0">
                <a:latin typeface="Comic Sans MS" panose="030F0702030302020204" pitchFamily="66" charset="0"/>
              </a:rPr>
              <a:t>64-bit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architectures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unlock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far </a:t>
            </a:r>
            <a:r>
              <a:rPr lang="sv-SE" sz="2400" b="1" dirty="0" err="1">
                <a:latin typeface="Comic Sans MS" panose="030F0702030302020204" pitchFamily="66" charset="0"/>
              </a:rPr>
              <a:t>larger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address</a:t>
            </a:r>
            <a:r>
              <a:rPr lang="sv-SE" sz="2400" b="1" dirty="0">
                <a:latin typeface="Comic Sans MS" panose="030F0702030302020204" pitchFamily="66" charset="0"/>
              </a:rPr>
              <a:t> space</a:t>
            </a:r>
            <a:r>
              <a:rPr lang="sv-SE" sz="2400" dirty="0">
                <a:latin typeface="Comic Sans MS" panose="030F0702030302020204" pitchFamily="66" charset="0"/>
              </a:rPr>
              <a:t> and </a:t>
            </a:r>
            <a:r>
              <a:rPr lang="sv-SE" sz="2400" b="1" dirty="0" err="1">
                <a:latin typeface="Comic Sans MS" panose="030F0702030302020204" pitchFamily="66" charset="0"/>
              </a:rPr>
              <a:t>broader</a:t>
            </a:r>
            <a:r>
              <a:rPr lang="sv-SE" sz="2400" b="1" dirty="0">
                <a:latin typeface="Comic Sans MS" panose="030F0702030302020204" pitchFamily="66" charset="0"/>
              </a:rPr>
              <a:t> 	</a:t>
            </a:r>
            <a:r>
              <a:rPr lang="sv-SE" sz="2400" b="1" dirty="0" err="1">
                <a:latin typeface="Comic Sans MS" panose="030F0702030302020204" pitchFamily="66" charset="0"/>
              </a:rPr>
              <a:t>capability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than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32-bit</a:t>
            </a:r>
            <a:r>
              <a:rPr lang="sv-SE" sz="2400" dirty="0">
                <a:latin typeface="Comic Sans MS" panose="030F0702030302020204" pitchFamily="66" charset="0"/>
              </a:rPr>
              <a:t>—and </a:t>
            </a:r>
            <a:r>
              <a:rPr lang="sv-SE" sz="2400" dirty="0" err="1">
                <a:latin typeface="Comic Sans MS" panose="030F0702030302020204" pitchFamily="66" charset="0"/>
              </a:rPr>
              <a:t>your</a:t>
            </a:r>
            <a:r>
              <a:rPr lang="sv-SE" sz="2400" dirty="0">
                <a:latin typeface="Comic Sans MS" panose="030F0702030302020204" pitchFamily="66" charset="0"/>
              </a:rPr>
              <a:t> OS choice must match </a:t>
            </a:r>
            <a:r>
              <a:rPr lang="sv-SE" sz="2400" dirty="0" err="1">
                <a:latin typeface="Comic Sans MS" panose="030F0702030302020204" pitchFamily="66" charset="0"/>
              </a:rPr>
              <a:t>your</a:t>
            </a:r>
            <a:r>
              <a:rPr lang="sv-SE" sz="2400" dirty="0">
                <a:latin typeface="Comic Sans MS" panose="030F0702030302020204" pitchFamily="66" charset="0"/>
              </a:rPr>
              <a:t> hardware to 	</a:t>
            </a:r>
            <a:r>
              <a:rPr lang="sv-SE" sz="2400" dirty="0" err="1">
                <a:latin typeface="Comic Sans MS" panose="030F0702030302020204" pitchFamily="66" charset="0"/>
              </a:rPr>
              <a:t>realize</a:t>
            </a:r>
            <a:r>
              <a:rPr lang="sv-SE" sz="2400" dirty="0">
                <a:latin typeface="Comic Sans MS" panose="030F0702030302020204" pitchFamily="66" charset="0"/>
              </a:rPr>
              <a:t> the </a:t>
            </a:r>
            <a:r>
              <a:rPr lang="sv-SE" sz="2400" dirty="0" err="1">
                <a:latin typeface="Comic Sans MS" panose="030F0702030302020204" pitchFamily="66" charset="0"/>
              </a:rPr>
              <a:t>benefits</a:t>
            </a:r>
            <a:r>
              <a:rPr lang="sv-SE" sz="2400" dirty="0">
                <a:latin typeface="Comic Sans MS" panose="030F0702030302020204" pitchFamily="66" charset="0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3119</TotalTime>
  <Words>1735</Words>
  <Application>Microsoft Office PowerPoint</Application>
  <PresentationFormat>Custom</PresentationFormat>
  <Paragraphs>171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301</cp:revision>
  <dcterms:created xsi:type="dcterms:W3CDTF">2025-12-09T17:44:59Z</dcterms:created>
  <dcterms:modified xsi:type="dcterms:W3CDTF">2026-01-16T17:46:00Z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