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43" r:id="rId5"/>
    <p:sldId id="344" r:id="rId6"/>
    <p:sldId id="345" r:id="rId7"/>
    <p:sldId id="280" r:id="rId8"/>
    <p:sldId id="346" r:id="rId9"/>
    <p:sldId id="347" r:id="rId10"/>
    <p:sldId id="348" r:id="rId11"/>
    <p:sldId id="349" r:id="rId12"/>
    <p:sldId id="350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53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4BD18700-0DDF-1B3F-E7EA-DA4C8D0308F5}"/>
              </a:ext>
            </a:extLst>
          </p:cNvPr>
          <p:cNvSpPr txBox="1"/>
          <p:nvPr/>
        </p:nvSpPr>
        <p:spPr>
          <a:xfrm>
            <a:off x="0" y="3338091"/>
            <a:ext cx="13411198" cy="191077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0835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 Data, Information,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Knowledge, and Wisdom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What</a:t>
            </a:r>
            <a:r>
              <a:rPr lang="en-GB" sz="4000" b="1" spc="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is</a:t>
            </a:r>
            <a:r>
              <a:rPr lang="en-GB" sz="4000" b="1" spc="7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the</a:t>
            </a:r>
            <a:r>
              <a:rPr lang="en-GB" sz="4000" b="1" spc="2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difference</a:t>
            </a:r>
            <a:r>
              <a:rPr lang="en-GB" sz="4000" b="1" spc="-15" dirty="0">
                <a:latin typeface="Comic Sans MS" panose="030F0702030302020204" pitchFamily="66" charset="0"/>
              </a:rPr>
              <a:t> </a:t>
            </a:r>
            <a:r>
              <a:rPr lang="en-GB" sz="4000" b="1" spc="-10" dirty="0">
                <a:latin typeface="Comic Sans MS" panose="030F0702030302020204" pitchFamily="66" charset="0"/>
              </a:rPr>
              <a:t>between…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19" name="Picture 18" descr="A diagram of different types of information&#10;&#10;AI-generated content may be incorrect.">
            <a:extLst>
              <a:ext uri="{FF2B5EF4-FFF2-40B4-BE49-F238E27FC236}">
                <a16:creationId xmlns:a16="http://schemas.microsoft.com/office/drawing/2014/main" id="{69481888-0F2C-9AAA-31B2-F01B436EC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90" y="3527891"/>
            <a:ext cx="12374020" cy="300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CB63F1-6596-9FA8-DBFE-BCC968954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B6A1DB6-8A92-5A37-B528-148708901749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We</a:t>
            </a:r>
            <a:r>
              <a:rPr lang="sv-SE" sz="4000" b="1" spc="20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will</a:t>
            </a:r>
            <a:r>
              <a:rPr lang="sv-SE" sz="4000" b="1" spc="35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start</a:t>
            </a:r>
            <a:r>
              <a:rPr lang="sv-SE" sz="4000" b="1" spc="5" dirty="0">
                <a:latin typeface="Comic Sans MS" panose="030F0702030302020204" pitchFamily="66" charset="0"/>
              </a:rPr>
              <a:t> </a:t>
            </a:r>
            <a:r>
              <a:rPr lang="sv-SE" sz="4000" b="1" spc="-10" dirty="0" err="1">
                <a:latin typeface="Comic Sans MS" panose="030F0702030302020204" pitchFamily="66" charset="0"/>
              </a:rPr>
              <a:t>with</a:t>
            </a:r>
            <a:r>
              <a:rPr lang="sv-SE" sz="4000" b="1" spc="-10" dirty="0">
                <a:latin typeface="Comic Sans MS" panose="030F0702030302020204" pitchFamily="66" charset="0"/>
              </a:rPr>
              <a:t>..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C5E13D-10F6-2EC4-E813-20AFB5D1B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3685" y="3527891"/>
            <a:ext cx="6103830" cy="300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582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C7D6E26-8384-C5D1-6C5C-5DCE7EEB3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4446192-C086-7186-9014-A04F7F113CB7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0" dirty="0" err="1">
                <a:latin typeface="Comic Sans MS" panose="030F0702030302020204" pitchFamily="66" charset="0"/>
              </a:rPr>
              <a:t>Example</a:t>
            </a:r>
            <a:r>
              <a:rPr lang="sv-SE" sz="4000" b="1" spc="-10" dirty="0"/>
              <a:t>:</a:t>
            </a: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63E4CF-AB61-C9AE-DAAD-310E3B1EB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2256" y="2247900"/>
            <a:ext cx="12326687" cy="556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22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5FD1830-0D9C-F9B8-87BD-31D21087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848" y="2158746"/>
            <a:ext cx="11963504" cy="574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03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03EF8-D9BC-BBB2-4EBA-67EB5097A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13">
            <a:extLst>
              <a:ext uri="{FF2B5EF4-FFF2-40B4-BE49-F238E27FC236}">
                <a16:creationId xmlns:a16="http://schemas.microsoft.com/office/drawing/2014/main" id="{A39712BA-8A28-4346-B23D-932183E49040}"/>
              </a:ext>
            </a:extLst>
          </p:cNvPr>
          <p:cNvSpPr/>
          <p:nvPr/>
        </p:nvSpPr>
        <p:spPr>
          <a:xfrm>
            <a:off x="228600" y="1455995"/>
            <a:ext cx="12753788" cy="7146409"/>
          </a:xfrm>
          <a:custGeom>
            <a:avLst/>
            <a:gdLst/>
            <a:ahLst/>
            <a:cxnLst/>
            <a:rect l="l" t="t" r="r" b="b"/>
            <a:pathLst>
              <a:path w="3186429" h="1790700">
                <a:moveTo>
                  <a:pt x="3185922" y="0"/>
                </a:moveTo>
                <a:lnTo>
                  <a:pt x="0" y="0"/>
                </a:lnTo>
                <a:lnTo>
                  <a:pt x="0" y="1790700"/>
                </a:lnTo>
                <a:lnTo>
                  <a:pt x="3185922" y="1790700"/>
                </a:lnTo>
                <a:lnTo>
                  <a:pt x="318592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24">
            <a:extLst>
              <a:ext uri="{FF2B5EF4-FFF2-40B4-BE49-F238E27FC236}">
                <a16:creationId xmlns:a16="http://schemas.microsoft.com/office/drawing/2014/main" id="{D5E32005-F2CD-8A44-2999-4C93B567217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84" y="4492190"/>
            <a:ext cx="5979588" cy="629031"/>
          </a:xfrm>
          <a:prstGeom prst="rect">
            <a:avLst/>
          </a:prstGeom>
        </p:spPr>
      </p:pic>
      <p:pic>
        <p:nvPicPr>
          <p:cNvPr id="4" name="object 24">
            <a:extLst>
              <a:ext uri="{FF2B5EF4-FFF2-40B4-BE49-F238E27FC236}">
                <a16:creationId xmlns:a16="http://schemas.microsoft.com/office/drawing/2014/main" id="{6A8ABAF5-1CB5-FDC7-F805-1DA1D27018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84" y="3719576"/>
            <a:ext cx="5979588" cy="629031"/>
          </a:xfrm>
          <a:prstGeom prst="rect">
            <a:avLst/>
          </a:prstGeom>
        </p:spPr>
      </p:pic>
      <p:sp>
        <p:nvSpPr>
          <p:cNvPr id="9" name="object 17">
            <a:extLst>
              <a:ext uri="{FF2B5EF4-FFF2-40B4-BE49-F238E27FC236}">
                <a16:creationId xmlns:a16="http://schemas.microsoft.com/office/drawing/2014/main" id="{1A4C1755-EBBE-D605-466B-D0BC189581EC}"/>
              </a:ext>
            </a:extLst>
          </p:cNvPr>
          <p:cNvSpPr/>
          <p:nvPr/>
        </p:nvSpPr>
        <p:spPr>
          <a:xfrm>
            <a:off x="2259648" y="2073580"/>
            <a:ext cx="1493917" cy="1500329"/>
          </a:xfrm>
          <a:custGeom>
            <a:avLst/>
            <a:gdLst/>
            <a:ahLst/>
            <a:cxnLst/>
            <a:rect l="l" t="t" r="r" b="b"/>
            <a:pathLst>
              <a:path w="295909" h="297179">
                <a:moveTo>
                  <a:pt x="0" y="148589"/>
                </a:moveTo>
                <a:lnTo>
                  <a:pt x="7546" y="101827"/>
                </a:lnTo>
                <a:lnTo>
                  <a:pt x="28553" y="61063"/>
                </a:lnTo>
                <a:lnTo>
                  <a:pt x="60569" y="28821"/>
                </a:lnTo>
                <a:lnTo>
                  <a:pt x="101144" y="7626"/>
                </a:lnTo>
                <a:lnTo>
                  <a:pt x="147828" y="0"/>
                </a:lnTo>
                <a:lnTo>
                  <a:pt x="194511" y="7626"/>
                </a:lnTo>
                <a:lnTo>
                  <a:pt x="235086" y="28821"/>
                </a:lnTo>
                <a:lnTo>
                  <a:pt x="267102" y="61063"/>
                </a:lnTo>
                <a:lnTo>
                  <a:pt x="288109" y="101827"/>
                </a:lnTo>
                <a:lnTo>
                  <a:pt x="295656" y="148589"/>
                </a:lnTo>
                <a:lnTo>
                  <a:pt x="288109" y="195645"/>
                </a:lnTo>
                <a:lnTo>
                  <a:pt x="267102" y="236445"/>
                </a:lnTo>
                <a:lnTo>
                  <a:pt x="235086" y="268577"/>
                </a:lnTo>
                <a:lnTo>
                  <a:pt x="194511" y="289627"/>
                </a:lnTo>
                <a:lnTo>
                  <a:pt x="147828" y="297179"/>
                </a:lnTo>
                <a:lnTo>
                  <a:pt x="101144" y="289627"/>
                </a:lnTo>
                <a:lnTo>
                  <a:pt x="60569" y="268577"/>
                </a:lnTo>
                <a:lnTo>
                  <a:pt x="28553" y="236445"/>
                </a:lnTo>
                <a:lnTo>
                  <a:pt x="7546" y="195645"/>
                </a:lnTo>
                <a:lnTo>
                  <a:pt x="0" y="148589"/>
                </a:lnTo>
                <a:close/>
              </a:path>
            </a:pathLst>
          </a:custGeom>
          <a:ln w="4978">
            <a:solidFill>
              <a:srgbClr val="8EA9DB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9">
            <a:extLst>
              <a:ext uri="{FF2B5EF4-FFF2-40B4-BE49-F238E27FC236}">
                <a16:creationId xmlns:a16="http://schemas.microsoft.com/office/drawing/2014/main" id="{7C7E1986-5F7D-5EC1-32B2-23FC457123B5}"/>
              </a:ext>
            </a:extLst>
          </p:cNvPr>
          <p:cNvSpPr txBox="1"/>
          <p:nvPr/>
        </p:nvSpPr>
        <p:spPr>
          <a:xfrm>
            <a:off x="2639954" y="2583179"/>
            <a:ext cx="881603" cy="39832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sv-SE" sz="2416" b="1" spc="-43" dirty="0">
                <a:solidFill>
                  <a:srgbClr val="8FAADC"/>
                </a:solidFill>
                <a:latin typeface="Comic Sans MS"/>
                <a:cs typeface="Comic Sans MS"/>
              </a:rPr>
              <a:t>Data</a:t>
            </a:r>
            <a:endParaRPr sz="2416" dirty="0">
              <a:latin typeface="Comic Sans MS"/>
              <a:cs typeface="Comic Sans MS"/>
            </a:endParaRPr>
          </a:p>
        </p:txBody>
      </p:sp>
      <p:sp>
        <p:nvSpPr>
          <p:cNvPr id="12" name="object 20">
            <a:extLst>
              <a:ext uri="{FF2B5EF4-FFF2-40B4-BE49-F238E27FC236}">
                <a16:creationId xmlns:a16="http://schemas.microsoft.com/office/drawing/2014/main" id="{D0507EF7-4B76-C1DB-BDA9-4671F91ED2BB}"/>
              </a:ext>
            </a:extLst>
          </p:cNvPr>
          <p:cNvSpPr/>
          <p:nvPr/>
        </p:nvSpPr>
        <p:spPr>
          <a:xfrm>
            <a:off x="9457428" y="2108753"/>
            <a:ext cx="1497123" cy="1493917"/>
          </a:xfrm>
          <a:custGeom>
            <a:avLst/>
            <a:gdLst/>
            <a:ahLst/>
            <a:cxnLst/>
            <a:rect l="l" t="t" r="r" b="b"/>
            <a:pathLst>
              <a:path w="296544" h="295909">
                <a:moveTo>
                  <a:pt x="0" y="147828"/>
                </a:moveTo>
                <a:lnTo>
                  <a:pt x="7546" y="101144"/>
                </a:lnTo>
                <a:lnTo>
                  <a:pt x="28553" y="60569"/>
                </a:lnTo>
                <a:lnTo>
                  <a:pt x="60569" y="28553"/>
                </a:lnTo>
                <a:lnTo>
                  <a:pt x="101144" y="7546"/>
                </a:lnTo>
                <a:lnTo>
                  <a:pt x="147827" y="0"/>
                </a:lnTo>
                <a:lnTo>
                  <a:pt x="194883" y="7546"/>
                </a:lnTo>
                <a:lnTo>
                  <a:pt x="235683" y="28553"/>
                </a:lnTo>
                <a:lnTo>
                  <a:pt x="267815" y="60569"/>
                </a:lnTo>
                <a:lnTo>
                  <a:pt x="288865" y="101144"/>
                </a:lnTo>
                <a:lnTo>
                  <a:pt x="296418" y="147828"/>
                </a:lnTo>
                <a:lnTo>
                  <a:pt x="288865" y="194511"/>
                </a:lnTo>
                <a:lnTo>
                  <a:pt x="267815" y="235086"/>
                </a:lnTo>
                <a:lnTo>
                  <a:pt x="235683" y="267102"/>
                </a:lnTo>
                <a:lnTo>
                  <a:pt x="194883" y="288109"/>
                </a:lnTo>
                <a:lnTo>
                  <a:pt x="147827" y="295656"/>
                </a:lnTo>
                <a:lnTo>
                  <a:pt x="101144" y="288109"/>
                </a:lnTo>
                <a:lnTo>
                  <a:pt x="60569" y="267102"/>
                </a:lnTo>
                <a:lnTo>
                  <a:pt x="28553" y="235086"/>
                </a:lnTo>
                <a:lnTo>
                  <a:pt x="7546" y="194511"/>
                </a:lnTo>
                <a:lnTo>
                  <a:pt x="0" y="147828"/>
                </a:lnTo>
                <a:close/>
              </a:path>
            </a:pathLst>
          </a:custGeom>
          <a:ln w="4978">
            <a:solidFill>
              <a:srgbClr val="FFBD4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22">
            <a:extLst>
              <a:ext uri="{FF2B5EF4-FFF2-40B4-BE49-F238E27FC236}">
                <a16:creationId xmlns:a16="http://schemas.microsoft.com/office/drawing/2014/main" id="{4729C2AC-7721-8031-6F6C-E79E489511E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9565" y="2583179"/>
            <a:ext cx="990728" cy="990728"/>
          </a:xfrm>
          <a:prstGeom prst="rect">
            <a:avLst/>
          </a:prstGeom>
        </p:spPr>
      </p:pic>
      <p:sp>
        <p:nvSpPr>
          <p:cNvPr id="15" name="object 23">
            <a:extLst>
              <a:ext uri="{FF2B5EF4-FFF2-40B4-BE49-F238E27FC236}">
                <a16:creationId xmlns:a16="http://schemas.microsoft.com/office/drawing/2014/main" id="{E01E92FD-6E26-D249-4542-51FC9D183325}"/>
              </a:ext>
            </a:extLst>
          </p:cNvPr>
          <p:cNvSpPr txBox="1"/>
          <p:nvPr/>
        </p:nvSpPr>
        <p:spPr>
          <a:xfrm>
            <a:off x="6362164" y="2855710"/>
            <a:ext cx="612314" cy="39832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sz="2416" b="1" spc="-43" dirty="0">
                <a:solidFill>
                  <a:srgbClr val="6FAD46"/>
                </a:solidFill>
                <a:latin typeface="Comic Sans MS"/>
                <a:cs typeface="Comic Sans MS"/>
              </a:rPr>
              <a:t>VS</a:t>
            </a:r>
            <a:endParaRPr sz="2416" dirty="0">
              <a:latin typeface="Comic Sans MS"/>
              <a:cs typeface="Comic Sans MS"/>
            </a:endParaRPr>
          </a:p>
        </p:txBody>
      </p:sp>
      <p:sp>
        <p:nvSpPr>
          <p:cNvPr id="2" name="object 21">
            <a:extLst>
              <a:ext uri="{FF2B5EF4-FFF2-40B4-BE49-F238E27FC236}">
                <a16:creationId xmlns:a16="http://schemas.microsoft.com/office/drawing/2014/main" id="{8697CF63-FA55-DD91-1FB8-2302881C1FEB}"/>
              </a:ext>
            </a:extLst>
          </p:cNvPr>
          <p:cNvSpPr txBox="1"/>
          <p:nvPr/>
        </p:nvSpPr>
        <p:spPr>
          <a:xfrm>
            <a:off x="9741143" y="2624594"/>
            <a:ext cx="929691" cy="77009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sv-SE" sz="2416" b="1" spc="-43" dirty="0">
                <a:solidFill>
                  <a:srgbClr val="FFBE44"/>
                </a:solidFill>
                <a:latin typeface="Comic Sans MS"/>
                <a:cs typeface="Comic Sans MS"/>
              </a:rPr>
              <a:t>Information</a:t>
            </a:r>
            <a:endParaRPr sz="2416" dirty="0">
              <a:latin typeface="Comic Sans MS"/>
              <a:cs typeface="Comic Sans MS"/>
            </a:endParaRPr>
          </a:p>
        </p:txBody>
      </p:sp>
      <p:sp>
        <p:nvSpPr>
          <p:cNvPr id="17" name="object 25">
            <a:extLst>
              <a:ext uri="{FF2B5EF4-FFF2-40B4-BE49-F238E27FC236}">
                <a16:creationId xmlns:a16="http://schemas.microsoft.com/office/drawing/2014/main" id="{7B519E9D-39A2-92D7-3603-412F7F3689FD}"/>
              </a:ext>
            </a:extLst>
          </p:cNvPr>
          <p:cNvSpPr txBox="1"/>
          <p:nvPr/>
        </p:nvSpPr>
        <p:spPr>
          <a:xfrm>
            <a:off x="552124" y="3871933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sv-SE" sz="1898" dirty="0" err="1">
                <a:latin typeface="Comic Sans MS"/>
                <a:cs typeface="Comic Sans MS"/>
              </a:rPr>
              <a:t>Raw</a:t>
            </a:r>
            <a:r>
              <a:rPr lang="sv-SE" sz="1898" dirty="0">
                <a:latin typeface="Comic Sans MS"/>
                <a:cs typeface="Comic Sans MS"/>
              </a:rPr>
              <a:t> </a:t>
            </a:r>
            <a:r>
              <a:rPr lang="sv-SE" sz="1898" dirty="0" err="1">
                <a:latin typeface="Comic Sans MS"/>
                <a:cs typeface="Comic Sans MS"/>
              </a:rPr>
              <a:t>Facts</a:t>
            </a:r>
            <a:endParaRPr lang="sv-SE" sz="1898" dirty="0">
              <a:latin typeface="Comic Sans MS"/>
              <a:cs typeface="Comic Sans MS"/>
            </a:endParaRPr>
          </a:p>
        </p:txBody>
      </p:sp>
      <p:sp>
        <p:nvSpPr>
          <p:cNvPr id="8" name="object 25">
            <a:extLst>
              <a:ext uri="{FF2B5EF4-FFF2-40B4-BE49-F238E27FC236}">
                <a16:creationId xmlns:a16="http://schemas.microsoft.com/office/drawing/2014/main" id="{DA15B289-D18F-0959-8C86-3BA02F4E46CA}"/>
              </a:ext>
            </a:extLst>
          </p:cNvPr>
          <p:cNvSpPr txBox="1"/>
          <p:nvPr/>
        </p:nvSpPr>
        <p:spPr>
          <a:xfrm>
            <a:off x="552124" y="4644547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Unstructured/Unorganized</a:t>
            </a:r>
          </a:p>
        </p:txBody>
      </p:sp>
      <p:pic>
        <p:nvPicPr>
          <p:cNvPr id="16" name="object 24">
            <a:extLst>
              <a:ext uri="{FF2B5EF4-FFF2-40B4-BE49-F238E27FC236}">
                <a16:creationId xmlns:a16="http://schemas.microsoft.com/office/drawing/2014/main" id="{74FB834E-FEFE-E1F4-4C96-D86F7D094A6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84" y="5287077"/>
            <a:ext cx="5979588" cy="629031"/>
          </a:xfrm>
          <a:prstGeom prst="rect">
            <a:avLst/>
          </a:prstGeom>
        </p:spPr>
      </p:pic>
      <p:sp>
        <p:nvSpPr>
          <p:cNvPr id="18" name="object 25">
            <a:extLst>
              <a:ext uri="{FF2B5EF4-FFF2-40B4-BE49-F238E27FC236}">
                <a16:creationId xmlns:a16="http://schemas.microsoft.com/office/drawing/2014/main" id="{17241B5F-6FE8-2B9A-06A3-3AC1BE73E5A3}"/>
              </a:ext>
            </a:extLst>
          </p:cNvPr>
          <p:cNvSpPr txBox="1"/>
          <p:nvPr/>
        </p:nvSpPr>
        <p:spPr>
          <a:xfrm>
            <a:off x="552124" y="5439433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sv-SE" sz="1898" dirty="0" err="1">
                <a:latin typeface="Comic Sans MS"/>
                <a:cs typeface="Comic Sans MS"/>
              </a:rPr>
              <a:t>Unanalyzed</a:t>
            </a:r>
            <a:endParaRPr lang="sv-SE" sz="1898" dirty="0">
              <a:latin typeface="Comic Sans MS"/>
              <a:cs typeface="Comic Sans MS"/>
            </a:endParaRPr>
          </a:p>
        </p:txBody>
      </p:sp>
      <p:pic>
        <p:nvPicPr>
          <p:cNvPr id="21" name="object 24">
            <a:extLst>
              <a:ext uri="{FF2B5EF4-FFF2-40B4-BE49-F238E27FC236}">
                <a16:creationId xmlns:a16="http://schemas.microsoft.com/office/drawing/2014/main" id="{AED0D458-39DE-2E64-6A67-74BF5278307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84" y="6066393"/>
            <a:ext cx="5979588" cy="629031"/>
          </a:xfrm>
          <a:prstGeom prst="rect">
            <a:avLst/>
          </a:prstGeom>
        </p:spPr>
      </p:pic>
      <p:sp>
        <p:nvSpPr>
          <p:cNvPr id="22" name="object 25">
            <a:extLst>
              <a:ext uri="{FF2B5EF4-FFF2-40B4-BE49-F238E27FC236}">
                <a16:creationId xmlns:a16="http://schemas.microsoft.com/office/drawing/2014/main" id="{06040845-C7DD-4574-A251-F76A6B2152BD}"/>
              </a:ext>
            </a:extLst>
          </p:cNvPr>
          <p:cNvSpPr txBox="1"/>
          <p:nvPr/>
        </p:nvSpPr>
        <p:spPr>
          <a:xfrm>
            <a:off x="552124" y="6218750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sv-SE" sz="1898" dirty="0" err="1">
                <a:latin typeface="Comic Sans MS"/>
                <a:cs typeface="Comic Sans MS"/>
              </a:rPr>
              <a:t>Unprocessed</a:t>
            </a:r>
            <a:endParaRPr lang="sv-SE" sz="1898" dirty="0">
              <a:latin typeface="Comic Sans MS"/>
              <a:cs typeface="Comic Sans MS"/>
            </a:endParaRPr>
          </a:p>
        </p:txBody>
      </p:sp>
      <p:pic>
        <p:nvPicPr>
          <p:cNvPr id="23" name="object 24">
            <a:extLst>
              <a:ext uri="{FF2B5EF4-FFF2-40B4-BE49-F238E27FC236}">
                <a16:creationId xmlns:a16="http://schemas.microsoft.com/office/drawing/2014/main" id="{405A113B-1677-01A6-4623-3EDB1DD381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957" y="6845709"/>
            <a:ext cx="5979588" cy="629031"/>
          </a:xfrm>
          <a:prstGeom prst="rect">
            <a:avLst/>
          </a:prstGeom>
        </p:spPr>
      </p:pic>
      <p:sp>
        <p:nvSpPr>
          <p:cNvPr id="24" name="object 25">
            <a:extLst>
              <a:ext uri="{FF2B5EF4-FFF2-40B4-BE49-F238E27FC236}">
                <a16:creationId xmlns:a16="http://schemas.microsoft.com/office/drawing/2014/main" id="{46E72B7D-B118-24AE-4A5D-62E849886C2B}"/>
              </a:ext>
            </a:extLst>
          </p:cNvPr>
          <p:cNvSpPr txBox="1"/>
          <p:nvPr/>
        </p:nvSpPr>
        <p:spPr>
          <a:xfrm>
            <a:off x="539797" y="6998065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Has no meaning</a:t>
            </a:r>
          </a:p>
        </p:txBody>
      </p:sp>
      <p:pic>
        <p:nvPicPr>
          <p:cNvPr id="25" name="object 24">
            <a:extLst>
              <a:ext uri="{FF2B5EF4-FFF2-40B4-BE49-F238E27FC236}">
                <a16:creationId xmlns:a16="http://schemas.microsoft.com/office/drawing/2014/main" id="{CFDF339A-19A7-A15D-17DB-6E514F901C6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095" y="4492190"/>
            <a:ext cx="5979588" cy="629031"/>
          </a:xfrm>
          <a:prstGeom prst="rect">
            <a:avLst/>
          </a:prstGeom>
        </p:spPr>
      </p:pic>
      <p:pic>
        <p:nvPicPr>
          <p:cNvPr id="26" name="object 24">
            <a:extLst>
              <a:ext uri="{FF2B5EF4-FFF2-40B4-BE49-F238E27FC236}">
                <a16:creationId xmlns:a16="http://schemas.microsoft.com/office/drawing/2014/main" id="{1C8C3876-010B-A42B-8857-A94DA5D16AD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095" y="3719576"/>
            <a:ext cx="5979588" cy="629031"/>
          </a:xfrm>
          <a:prstGeom prst="rect">
            <a:avLst/>
          </a:prstGeom>
        </p:spPr>
      </p:pic>
      <p:sp>
        <p:nvSpPr>
          <p:cNvPr id="27" name="object 25">
            <a:extLst>
              <a:ext uri="{FF2B5EF4-FFF2-40B4-BE49-F238E27FC236}">
                <a16:creationId xmlns:a16="http://schemas.microsoft.com/office/drawing/2014/main" id="{BC82A151-7454-B238-179E-792D69359B4F}"/>
              </a:ext>
            </a:extLst>
          </p:cNvPr>
          <p:cNvSpPr txBox="1"/>
          <p:nvPr/>
        </p:nvSpPr>
        <p:spPr>
          <a:xfrm>
            <a:off x="6728935" y="3871933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Driven from data</a:t>
            </a:r>
          </a:p>
        </p:txBody>
      </p:sp>
      <p:sp>
        <p:nvSpPr>
          <p:cNvPr id="28" name="object 25">
            <a:extLst>
              <a:ext uri="{FF2B5EF4-FFF2-40B4-BE49-F238E27FC236}">
                <a16:creationId xmlns:a16="http://schemas.microsoft.com/office/drawing/2014/main" id="{0D23EA7B-9EEE-4429-08F0-5B82F7DFAD81}"/>
              </a:ext>
            </a:extLst>
          </p:cNvPr>
          <p:cNvSpPr txBox="1"/>
          <p:nvPr/>
        </p:nvSpPr>
        <p:spPr>
          <a:xfrm>
            <a:off x="6728935" y="4644547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Structured/Organized</a:t>
            </a:r>
          </a:p>
        </p:txBody>
      </p:sp>
      <p:pic>
        <p:nvPicPr>
          <p:cNvPr id="29" name="object 24">
            <a:extLst>
              <a:ext uri="{FF2B5EF4-FFF2-40B4-BE49-F238E27FC236}">
                <a16:creationId xmlns:a16="http://schemas.microsoft.com/office/drawing/2014/main" id="{AE9B1177-3E77-75D1-B49B-6C8CB3C48EF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095" y="5287077"/>
            <a:ext cx="5979588" cy="629031"/>
          </a:xfrm>
          <a:prstGeom prst="rect">
            <a:avLst/>
          </a:prstGeom>
        </p:spPr>
      </p:pic>
      <p:sp>
        <p:nvSpPr>
          <p:cNvPr id="30" name="object 25">
            <a:extLst>
              <a:ext uri="{FF2B5EF4-FFF2-40B4-BE49-F238E27FC236}">
                <a16:creationId xmlns:a16="http://schemas.microsoft.com/office/drawing/2014/main" id="{03D16BC2-1631-CBB3-8297-2CD4CD82310E}"/>
              </a:ext>
            </a:extLst>
          </p:cNvPr>
          <p:cNvSpPr txBox="1"/>
          <p:nvPr/>
        </p:nvSpPr>
        <p:spPr>
          <a:xfrm>
            <a:off x="6728935" y="5439433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sv-SE" sz="1898" dirty="0" err="1">
                <a:latin typeface="Comic Sans MS"/>
                <a:cs typeface="Comic Sans MS"/>
              </a:rPr>
              <a:t>Analyzed</a:t>
            </a:r>
            <a:endParaRPr lang="sv-SE" sz="1898" dirty="0">
              <a:latin typeface="Comic Sans MS"/>
              <a:cs typeface="Comic Sans MS"/>
            </a:endParaRPr>
          </a:p>
        </p:txBody>
      </p:sp>
      <p:pic>
        <p:nvPicPr>
          <p:cNvPr id="31" name="object 24">
            <a:extLst>
              <a:ext uri="{FF2B5EF4-FFF2-40B4-BE49-F238E27FC236}">
                <a16:creationId xmlns:a16="http://schemas.microsoft.com/office/drawing/2014/main" id="{A39578EC-52BE-6046-070F-1203A5862B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095" y="6066393"/>
            <a:ext cx="5979588" cy="629031"/>
          </a:xfrm>
          <a:prstGeom prst="rect">
            <a:avLst/>
          </a:prstGeom>
        </p:spPr>
      </p:pic>
      <p:sp>
        <p:nvSpPr>
          <p:cNvPr id="32" name="object 25">
            <a:extLst>
              <a:ext uri="{FF2B5EF4-FFF2-40B4-BE49-F238E27FC236}">
                <a16:creationId xmlns:a16="http://schemas.microsoft.com/office/drawing/2014/main" id="{FE9BAF4E-EA45-8CFA-E986-82FCF72494AC}"/>
              </a:ext>
            </a:extLst>
          </p:cNvPr>
          <p:cNvSpPr txBox="1"/>
          <p:nvPr/>
        </p:nvSpPr>
        <p:spPr>
          <a:xfrm>
            <a:off x="6728935" y="6218749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sv-SE" sz="1898" dirty="0" err="1">
                <a:latin typeface="Comic Sans MS"/>
                <a:cs typeface="Comic Sans MS"/>
              </a:rPr>
              <a:t>Processed</a:t>
            </a:r>
            <a:endParaRPr lang="sv-SE" sz="1898" dirty="0">
              <a:latin typeface="Comic Sans MS"/>
              <a:cs typeface="Comic Sans MS"/>
            </a:endParaRPr>
          </a:p>
        </p:txBody>
      </p:sp>
      <p:pic>
        <p:nvPicPr>
          <p:cNvPr id="33" name="object 24">
            <a:extLst>
              <a:ext uri="{FF2B5EF4-FFF2-40B4-BE49-F238E27FC236}">
                <a16:creationId xmlns:a16="http://schemas.microsoft.com/office/drawing/2014/main" id="{4FF62AB9-0A8E-6C89-FCE7-A4715622EA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1768" y="6845709"/>
            <a:ext cx="5979588" cy="629031"/>
          </a:xfrm>
          <a:prstGeom prst="rect">
            <a:avLst/>
          </a:prstGeom>
        </p:spPr>
      </p:pic>
      <p:sp>
        <p:nvSpPr>
          <p:cNvPr id="34" name="object 25">
            <a:extLst>
              <a:ext uri="{FF2B5EF4-FFF2-40B4-BE49-F238E27FC236}">
                <a16:creationId xmlns:a16="http://schemas.microsoft.com/office/drawing/2014/main" id="{D295A3A8-FA12-4E02-74BD-FD3504EEF572}"/>
              </a:ext>
            </a:extLst>
          </p:cNvPr>
          <p:cNvSpPr txBox="1"/>
          <p:nvPr/>
        </p:nvSpPr>
        <p:spPr>
          <a:xfrm>
            <a:off x="6716609" y="6998065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Has meaning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3EFEC92-5B25-70BD-3D95-A5A88BC9A2F0}"/>
              </a:ext>
            </a:extLst>
          </p:cNvPr>
          <p:cNvGrpSpPr/>
          <p:nvPr/>
        </p:nvGrpSpPr>
        <p:grpSpPr>
          <a:xfrm>
            <a:off x="5155353" y="4155876"/>
            <a:ext cx="2899019" cy="2885753"/>
            <a:chOff x="2867973" y="3663202"/>
            <a:chExt cx="1591716" cy="1584432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464523DE-30FD-6CEC-13D9-199295BB5617}"/>
                </a:ext>
              </a:extLst>
            </p:cNvPr>
            <p:cNvGrpSpPr/>
            <p:nvPr/>
          </p:nvGrpSpPr>
          <p:grpSpPr>
            <a:xfrm>
              <a:off x="2870354" y="3663202"/>
              <a:ext cx="1589335" cy="1584432"/>
              <a:chOff x="3799750" y="219186"/>
              <a:chExt cx="1680112" cy="1674929"/>
            </a:xfrm>
          </p:grpSpPr>
          <p:pic>
            <p:nvPicPr>
              <p:cNvPr id="114" name="object 44">
                <a:extLst>
                  <a:ext uri="{FF2B5EF4-FFF2-40B4-BE49-F238E27FC236}">
                    <a16:creationId xmlns:a16="http://schemas.microsoft.com/office/drawing/2014/main" id="{CCAF437A-9AE0-4A3E-C64F-6E9872155990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799750" y="219186"/>
                <a:ext cx="1680112" cy="1674929"/>
              </a:xfrm>
              <a:prstGeom prst="rect">
                <a:avLst/>
              </a:prstGeom>
            </p:spPr>
          </p:pic>
          <p:pic>
            <p:nvPicPr>
              <p:cNvPr id="115" name="object 46">
                <a:extLst>
                  <a:ext uri="{FF2B5EF4-FFF2-40B4-BE49-F238E27FC236}">
                    <a16:creationId xmlns:a16="http://schemas.microsoft.com/office/drawing/2014/main" id="{DB1530CC-146D-2DA3-D77F-0860B1CD6BD6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403074" y="812178"/>
                <a:ext cx="473464" cy="473464"/>
              </a:xfrm>
              <a:prstGeom prst="rect">
                <a:avLst/>
              </a:prstGeom>
            </p:spPr>
          </p:pic>
        </p:grpSp>
        <p:sp>
          <p:nvSpPr>
            <p:cNvPr id="99" name="object 48">
              <a:extLst>
                <a:ext uri="{FF2B5EF4-FFF2-40B4-BE49-F238E27FC236}">
                  <a16:creationId xmlns:a16="http://schemas.microsoft.com/office/drawing/2014/main" id="{CDF5A0FB-F64D-1D1C-E616-DFF09E084925}"/>
                </a:ext>
              </a:extLst>
            </p:cNvPr>
            <p:cNvSpPr/>
            <p:nvPr/>
          </p:nvSpPr>
          <p:spPr>
            <a:xfrm>
              <a:off x="3660801" y="3663202"/>
              <a:ext cx="0" cy="1584432"/>
            </a:xfrm>
            <a:custGeom>
              <a:avLst/>
              <a:gdLst/>
              <a:ahLst/>
              <a:cxnLst/>
              <a:rect l="l" t="t" r="r" b="b"/>
              <a:pathLst>
                <a:path h="822325">
                  <a:moveTo>
                    <a:pt x="0" y="0"/>
                  </a:moveTo>
                  <a:lnTo>
                    <a:pt x="0" y="822198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49">
              <a:extLst>
                <a:ext uri="{FF2B5EF4-FFF2-40B4-BE49-F238E27FC236}">
                  <a16:creationId xmlns:a16="http://schemas.microsoft.com/office/drawing/2014/main" id="{E5E02C9D-856B-D34D-397D-F91E677E71E5}"/>
                </a:ext>
              </a:extLst>
            </p:cNvPr>
            <p:cNvSpPr/>
            <p:nvPr/>
          </p:nvSpPr>
          <p:spPr>
            <a:xfrm>
              <a:off x="2867973" y="4454562"/>
              <a:ext cx="1585656" cy="0"/>
            </a:xfrm>
            <a:custGeom>
              <a:avLst/>
              <a:gdLst/>
              <a:ahLst/>
              <a:cxnLst/>
              <a:rect l="l" t="t" r="r" b="b"/>
              <a:pathLst>
                <a:path w="822960">
                  <a:moveTo>
                    <a:pt x="0" y="0"/>
                  </a:moveTo>
                  <a:lnTo>
                    <a:pt x="82296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50">
              <a:extLst>
                <a:ext uri="{FF2B5EF4-FFF2-40B4-BE49-F238E27FC236}">
                  <a16:creationId xmlns:a16="http://schemas.microsoft.com/office/drawing/2014/main" id="{98444F0C-1F7D-0B10-9DD5-F95F683952AC}"/>
                </a:ext>
              </a:extLst>
            </p:cNvPr>
            <p:cNvSpPr/>
            <p:nvPr/>
          </p:nvSpPr>
          <p:spPr>
            <a:xfrm>
              <a:off x="3594732" y="3746889"/>
              <a:ext cx="134585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51">
              <a:extLst>
                <a:ext uri="{FF2B5EF4-FFF2-40B4-BE49-F238E27FC236}">
                  <a16:creationId xmlns:a16="http://schemas.microsoft.com/office/drawing/2014/main" id="{ACC175D9-FE94-2983-99C8-9D15093BDD66}"/>
                </a:ext>
              </a:extLst>
            </p:cNvPr>
            <p:cNvSpPr/>
            <p:nvPr/>
          </p:nvSpPr>
          <p:spPr>
            <a:xfrm>
              <a:off x="3613819" y="3805617"/>
              <a:ext cx="95433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3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52">
              <a:extLst>
                <a:ext uri="{FF2B5EF4-FFF2-40B4-BE49-F238E27FC236}">
                  <a16:creationId xmlns:a16="http://schemas.microsoft.com/office/drawing/2014/main" id="{292245B5-F707-03F5-7DF4-126787583A56}"/>
                </a:ext>
              </a:extLst>
            </p:cNvPr>
            <p:cNvSpPr/>
            <p:nvPr/>
          </p:nvSpPr>
          <p:spPr>
            <a:xfrm>
              <a:off x="3632906" y="3862877"/>
              <a:ext cx="57504" cy="0"/>
            </a:xfrm>
            <a:custGeom>
              <a:avLst/>
              <a:gdLst/>
              <a:ahLst/>
              <a:cxnLst/>
              <a:rect l="l" t="t" r="r" b="b"/>
              <a:pathLst>
                <a:path w="29844">
                  <a:moveTo>
                    <a:pt x="0" y="0"/>
                  </a:moveTo>
                  <a:lnTo>
                    <a:pt x="29718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53">
              <a:extLst>
                <a:ext uri="{FF2B5EF4-FFF2-40B4-BE49-F238E27FC236}">
                  <a16:creationId xmlns:a16="http://schemas.microsoft.com/office/drawing/2014/main" id="{4328DCBC-ADCF-D45A-DAF0-6942F71A3E2E}"/>
                </a:ext>
              </a:extLst>
            </p:cNvPr>
            <p:cNvSpPr/>
            <p:nvPr/>
          </p:nvSpPr>
          <p:spPr>
            <a:xfrm>
              <a:off x="4371410" y="4387024"/>
              <a:ext cx="0" cy="134585"/>
            </a:xfrm>
            <a:custGeom>
              <a:avLst/>
              <a:gdLst/>
              <a:ahLst/>
              <a:cxnLst/>
              <a:rect l="l" t="t" r="r" b="b"/>
              <a:pathLst>
                <a:path h="69850">
                  <a:moveTo>
                    <a:pt x="0" y="0"/>
                  </a:moveTo>
                  <a:lnTo>
                    <a:pt x="0" y="69342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54">
              <a:extLst>
                <a:ext uri="{FF2B5EF4-FFF2-40B4-BE49-F238E27FC236}">
                  <a16:creationId xmlns:a16="http://schemas.microsoft.com/office/drawing/2014/main" id="{98853CCF-E145-7D5B-6F9D-4A793EADCB9C}"/>
                </a:ext>
              </a:extLst>
            </p:cNvPr>
            <p:cNvSpPr/>
            <p:nvPr/>
          </p:nvSpPr>
          <p:spPr>
            <a:xfrm>
              <a:off x="4312684" y="4406111"/>
              <a:ext cx="0" cy="95433"/>
            </a:xfrm>
            <a:custGeom>
              <a:avLst/>
              <a:gdLst/>
              <a:ahLst/>
              <a:cxnLst/>
              <a:rect l="l" t="t" r="r" b="b"/>
              <a:pathLst>
                <a:path h="49529">
                  <a:moveTo>
                    <a:pt x="0" y="0"/>
                  </a:moveTo>
                  <a:lnTo>
                    <a:pt x="0" y="4953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55">
              <a:extLst>
                <a:ext uri="{FF2B5EF4-FFF2-40B4-BE49-F238E27FC236}">
                  <a16:creationId xmlns:a16="http://schemas.microsoft.com/office/drawing/2014/main" id="{B1193F42-BF9F-E4C0-1E17-2A5C19D59E4C}"/>
                </a:ext>
              </a:extLst>
            </p:cNvPr>
            <p:cNvSpPr/>
            <p:nvPr/>
          </p:nvSpPr>
          <p:spPr>
            <a:xfrm>
              <a:off x="4253954" y="4425198"/>
              <a:ext cx="0" cy="57504"/>
            </a:xfrm>
            <a:custGeom>
              <a:avLst/>
              <a:gdLst/>
              <a:ahLst/>
              <a:cxnLst/>
              <a:rect l="l" t="t" r="r" b="b"/>
              <a:pathLst>
                <a:path h="29845">
                  <a:moveTo>
                    <a:pt x="0" y="0"/>
                  </a:moveTo>
                  <a:lnTo>
                    <a:pt x="0" y="29717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56">
              <a:extLst>
                <a:ext uri="{FF2B5EF4-FFF2-40B4-BE49-F238E27FC236}">
                  <a16:creationId xmlns:a16="http://schemas.microsoft.com/office/drawing/2014/main" id="{CC0C349B-4575-ABCF-FD18-955E1D48FD87}"/>
                </a:ext>
              </a:extLst>
            </p:cNvPr>
            <p:cNvSpPr/>
            <p:nvPr/>
          </p:nvSpPr>
          <p:spPr>
            <a:xfrm>
              <a:off x="3593266" y="5163702"/>
              <a:ext cx="135808" cy="0"/>
            </a:xfrm>
            <a:custGeom>
              <a:avLst/>
              <a:gdLst/>
              <a:ahLst/>
              <a:cxnLst/>
              <a:rect l="l" t="t" r="r" b="b"/>
              <a:pathLst>
                <a:path w="70485">
                  <a:moveTo>
                    <a:pt x="7010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57">
              <a:extLst>
                <a:ext uri="{FF2B5EF4-FFF2-40B4-BE49-F238E27FC236}">
                  <a16:creationId xmlns:a16="http://schemas.microsoft.com/office/drawing/2014/main" id="{31666E7E-1B43-BC00-23FD-DF27F9CE8682}"/>
                </a:ext>
              </a:extLst>
            </p:cNvPr>
            <p:cNvSpPr/>
            <p:nvPr/>
          </p:nvSpPr>
          <p:spPr>
            <a:xfrm>
              <a:off x="3613819" y="5106442"/>
              <a:ext cx="95433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4953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58">
              <a:extLst>
                <a:ext uri="{FF2B5EF4-FFF2-40B4-BE49-F238E27FC236}">
                  <a16:creationId xmlns:a16="http://schemas.microsoft.com/office/drawing/2014/main" id="{16F10205-7828-BD44-C85A-3E2CBC533C58}"/>
                </a:ext>
              </a:extLst>
            </p:cNvPr>
            <p:cNvSpPr/>
            <p:nvPr/>
          </p:nvSpPr>
          <p:spPr>
            <a:xfrm>
              <a:off x="3632906" y="5047714"/>
              <a:ext cx="57504" cy="0"/>
            </a:xfrm>
            <a:custGeom>
              <a:avLst/>
              <a:gdLst/>
              <a:ahLst/>
              <a:cxnLst/>
              <a:rect l="l" t="t" r="r" b="b"/>
              <a:pathLst>
                <a:path w="29844">
                  <a:moveTo>
                    <a:pt x="2971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59">
              <a:extLst>
                <a:ext uri="{FF2B5EF4-FFF2-40B4-BE49-F238E27FC236}">
                  <a16:creationId xmlns:a16="http://schemas.microsoft.com/office/drawing/2014/main" id="{F9753F09-2790-3E66-BC95-8F52D9F6C10C}"/>
                </a:ext>
              </a:extLst>
            </p:cNvPr>
            <p:cNvSpPr/>
            <p:nvPr/>
          </p:nvSpPr>
          <p:spPr>
            <a:xfrm>
              <a:off x="2950193" y="4388493"/>
              <a:ext cx="0" cy="134585"/>
            </a:xfrm>
            <a:custGeom>
              <a:avLst/>
              <a:gdLst/>
              <a:ahLst/>
              <a:cxnLst/>
              <a:rect l="l" t="t" r="r" b="b"/>
              <a:pathLst>
                <a:path h="69850">
                  <a:moveTo>
                    <a:pt x="0" y="693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60">
              <a:extLst>
                <a:ext uri="{FF2B5EF4-FFF2-40B4-BE49-F238E27FC236}">
                  <a16:creationId xmlns:a16="http://schemas.microsoft.com/office/drawing/2014/main" id="{AE81C139-9239-A520-46AE-24902D1668D1}"/>
                </a:ext>
              </a:extLst>
            </p:cNvPr>
            <p:cNvSpPr/>
            <p:nvPr/>
          </p:nvSpPr>
          <p:spPr>
            <a:xfrm>
              <a:off x="3008921" y="4407579"/>
              <a:ext cx="0" cy="95433"/>
            </a:xfrm>
            <a:custGeom>
              <a:avLst/>
              <a:gdLst/>
              <a:ahLst/>
              <a:cxnLst/>
              <a:rect l="l" t="t" r="r" b="b"/>
              <a:pathLst>
                <a:path h="49529">
                  <a:moveTo>
                    <a:pt x="0" y="4952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61">
              <a:extLst>
                <a:ext uri="{FF2B5EF4-FFF2-40B4-BE49-F238E27FC236}">
                  <a16:creationId xmlns:a16="http://schemas.microsoft.com/office/drawing/2014/main" id="{68608E00-4ED6-5F71-26C9-B72CE1B11606}"/>
                </a:ext>
              </a:extLst>
            </p:cNvPr>
            <p:cNvSpPr/>
            <p:nvPr/>
          </p:nvSpPr>
          <p:spPr>
            <a:xfrm>
              <a:off x="3066182" y="4426666"/>
              <a:ext cx="0" cy="57504"/>
            </a:xfrm>
            <a:custGeom>
              <a:avLst/>
              <a:gdLst/>
              <a:ahLst/>
              <a:cxnLst/>
              <a:rect l="l" t="t" r="r" b="b"/>
              <a:pathLst>
                <a:path h="29845">
                  <a:moveTo>
                    <a:pt x="0" y="297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63">
              <a:extLst>
                <a:ext uri="{FF2B5EF4-FFF2-40B4-BE49-F238E27FC236}">
                  <a16:creationId xmlns:a16="http://schemas.microsoft.com/office/drawing/2014/main" id="{392CB6C1-DC0B-4EE2-111B-2CB80000ED47}"/>
                </a:ext>
              </a:extLst>
            </p:cNvPr>
            <p:cNvSpPr/>
            <p:nvPr/>
          </p:nvSpPr>
          <p:spPr>
            <a:xfrm>
              <a:off x="2867973" y="3663202"/>
              <a:ext cx="1585656" cy="1584432"/>
            </a:xfrm>
            <a:custGeom>
              <a:avLst/>
              <a:gdLst/>
              <a:ahLst/>
              <a:cxnLst/>
              <a:rect l="l" t="t" r="r" b="b"/>
              <a:pathLst>
                <a:path w="822960" h="822325">
                  <a:moveTo>
                    <a:pt x="0" y="410718"/>
                  </a:moveTo>
                  <a:lnTo>
                    <a:pt x="2770" y="362774"/>
                  </a:lnTo>
                  <a:lnTo>
                    <a:pt x="10876" y="316467"/>
                  </a:lnTo>
                  <a:lnTo>
                    <a:pt x="24007" y="272103"/>
                  </a:lnTo>
                  <a:lnTo>
                    <a:pt x="41854" y="229988"/>
                  </a:lnTo>
                  <a:lnTo>
                    <a:pt x="64106" y="190429"/>
                  </a:lnTo>
                  <a:lnTo>
                    <a:pt x="90453" y="153732"/>
                  </a:lnTo>
                  <a:lnTo>
                    <a:pt x="120586" y="120205"/>
                  </a:lnTo>
                  <a:lnTo>
                    <a:pt x="154195" y="90153"/>
                  </a:lnTo>
                  <a:lnTo>
                    <a:pt x="190969" y="63884"/>
                  </a:lnTo>
                  <a:lnTo>
                    <a:pt x="230599" y="41703"/>
                  </a:lnTo>
                  <a:lnTo>
                    <a:pt x="272775" y="23918"/>
                  </a:lnTo>
                  <a:lnTo>
                    <a:pt x="317187" y="10834"/>
                  </a:lnTo>
                  <a:lnTo>
                    <a:pt x="363525" y="2759"/>
                  </a:lnTo>
                  <a:lnTo>
                    <a:pt x="411480" y="0"/>
                  </a:lnTo>
                  <a:lnTo>
                    <a:pt x="459434" y="2759"/>
                  </a:lnTo>
                  <a:lnTo>
                    <a:pt x="505772" y="10834"/>
                  </a:lnTo>
                  <a:lnTo>
                    <a:pt x="550184" y="23918"/>
                  </a:lnTo>
                  <a:lnTo>
                    <a:pt x="592360" y="41703"/>
                  </a:lnTo>
                  <a:lnTo>
                    <a:pt x="631990" y="63884"/>
                  </a:lnTo>
                  <a:lnTo>
                    <a:pt x="668764" y="90153"/>
                  </a:lnTo>
                  <a:lnTo>
                    <a:pt x="702373" y="120205"/>
                  </a:lnTo>
                  <a:lnTo>
                    <a:pt x="732506" y="153732"/>
                  </a:lnTo>
                  <a:lnTo>
                    <a:pt x="758853" y="190429"/>
                  </a:lnTo>
                  <a:lnTo>
                    <a:pt x="781105" y="229988"/>
                  </a:lnTo>
                  <a:lnTo>
                    <a:pt x="798952" y="272103"/>
                  </a:lnTo>
                  <a:lnTo>
                    <a:pt x="812083" y="316467"/>
                  </a:lnTo>
                  <a:lnTo>
                    <a:pt x="820189" y="362774"/>
                  </a:lnTo>
                  <a:lnTo>
                    <a:pt x="822960" y="410718"/>
                  </a:lnTo>
                  <a:lnTo>
                    <a:pt x="820189" y="458672"/>
                  </a:lnTo>
                  <a:lnTo>
                    <a:pt x="812083" y="505010"/>
                  </a:lnTo>
                  <a:lnTo>
                    <a:pt x="798952" y="549422"/>
                  </a:lnTo>
                  <a:lnTo>
                    <a:pt x="781105" y="591598"/>
                  </a:lnTo>
                  <a:lnTo>
                    <a:pt x="758853" y="631228"/>
                  </a:lnTo>
                  <a:lnTo>
                    <a:pt x="732506" y="668002"/>
                  </a:lnTo>
                  <a:lnTo>
                    <a:pt x="702373" y="701611"/>
                  </a:lnTo>
                  <a:lnTo>
                    <a:pt x="668764" y="731744"/>
                  </a:lnTo>
                  <a:lnTo>
                    <a:pt x="631990" y="758091"/>
                  </a:lnTo>
                  <a:lnTo>
                    <a:pt x="592360" y="780343"/>
                  </a:lnTo>
                  <a:lnTo>
                    <a:pt x="550184" y="798190"/>
                  </a:lnTo>
                  <a:lnTo>
                    <a:pt x="505772" y="811321"/>
                  </a:lnTo>
                  <a:lnTo>
                    <a:pt x="459434" y="819427"/>
                  </a:lnTo>
                  <a:lnTo>
                    <a:pt x="411480" y="822198"/>
                  </a:lnTo>
                  <a:lnTo>
                    <a:pt x="363525" y="819427"/>
                  </a:lnTo>
                  <a:lnTo>
                    <a:pt x="317187" y="811321"/>
                  </a:lnTo>
                  <a:lnTo>
                    <a:pt x="272775" y="798190"/>
                  </a:lnTo>
                  <a:lnTo>
                    <a:pt x="230599" y="780343"/>
                  </a:lnTo>
                  <a:lnTo>
                    <a:pt x="190969" y="758091"/>
                  </a:lnTo>
                  <a:lnTo>
                    <a:pt x="154195" y="731744"/>
                  </a:lnTo>
                  <a:lnTo>
                    <a:pt x="120586" y="701611"/>
                  </a:lnTo>
                  <a:lnTo>
                    <a:pt x="90453" y="668002"/>
                  </a:lnTo>
                  <a:lnTo>
                    <a:pt x="64106" y="631228"/>
                  </a:lnTo>
                  <a:lnTo>
                    <a:pt x="41854" y="591598"/>
                  </a:lnTo>
                  <a:lnTo>
                    <a:pt x="24007" y="549422"/>
                  </a:lnTo>
                  <a:lnTo>
                    <a:pt x="10876" y="505010"/>
                  </a:lnTo>
                  <a:lnTo>
                    <a:pt x="2770" y="458672"/>
                  </a:lnTo>
                  <a:lnTo>
                    <a:pt x="0" y="410718"/>
                  </a:lnTo>
                  <a:close/>
                </a:path>
                <a:path w="822960" h="822325">
                  <a:moveTo>
                    <a:pt x="0" y="410718"/>
                  </a:moveTo>
                  <a:lnTo>
                    <a:pt x="2770" y="362774"/>
                  </a:lnTo>
                  <a:lnTo>
                    <a:pt x="10876" y="316467"/>
                  </a:lnTo>
                  <a:lnTo>
                    <a:pt x="24007" y="272103"/>
                  </a:lnTo>
                  <a:lnTo>
                    <a:pt x="41854" y="229988"/>
                  </a:lnTo>
                  <a:lnTo>
                    <a:pt x="64106" y="190429"/>
                  </a:lnTo>
                  <a:lnTo>
                    <a:pt x="90453" y="153732"/>
                  </a:lnTo>
                  <a:lnTo>
                    <a:pt x="120586" y="120205"/>
                  </a:lnTo>
                  <a:lnTo>
                    <a:pt x="154195" y="90153"/>
                  </a:lnTo>
                  <a:lnTo>
                    <a:pt x="190969" y="63884"/>
                  </a:lnTo>
                  <a:lnTo>
                    <a:pt x="230599" y="41703"/>
                  </a:lnTo>
                  <a:lnTo>
                    <a:pt x="272775" y="23918"/>
                  </a:lnTo>
                  <a:lnTo>
                    <a:pt x="317187" y="10834"/>
                  </a:lnTo>
                  <a:lnTo>
                    <a:pt x="363525" y="2759"/>
                  </a:lnTo>
                  <a:lnTo>
                    <a:pt x="411480" y="0"/>
                  </a:lnTo>
                  <a:lnTo>
                    <a:pt x="459434" y="2759"/>
                  </a:lnTo>
                  <a:lnTo>
                    <a:pt x="505772" y="10834"/>
                  </a:lnTo>
                  <a:lnTo>
                    <a:pt x="550184" y="23918"/>
                  </a:lnTo>
                  <a:lnTo>
                    <a:pt x="592360" y="41703"/>
                  </a:lnTo>
                  <a:lnTo>
                    <a:pt x="631990" y="63884"/>
                  </a:lnTo>
                  <a:lnTo>
                    <a:pt x="668764" y="90153"/>
                  </a:lnTo>
                  <a:lnTo>
                    <a:pt x="702373" y="120205"/>
                  </a:lnTo>
                  <a:lnTo>
                    <a:pt x="732506" y="153732"/>
                  </a:lnTo>
                  <a:lnTo>
                    <a:pt x="758853" y="190429"/>
                  </a:lnTo>
                  <a:lnTo>
                    <a:pt x="781105" y="229988"/>
                  </a:lnTo>
                  <a:lnTo>
                    <a:pt x="798952" y="272103"/>
                  </a:lnTo>
                  <a:lnTo>
                    <a:pt x="812083" y="316467"/>
                  </a:lnTo>
                  <a:lnTo>
                    <a:pt x="820189" y="362774"/>
                  </a:lnTo>
                  <a:lnTo>
                    <a:pt x="822960" y="410718"/>
                  </a:lnTo>
                  <a:lnTo>
                    <a:pt x="820189" y="458672"/>
                  </a:lnTo>
                  <a:lnTo>
                    <a:pt x="812083" y="505010"/>
                  </a:lnTo>
                  <a:lnTo>
                    <a:pt x="798952" y="549422"/>
                  </a:lnTo>
                  <a:lnTo>
                    <a:pt x="781105" y="591598"/>
                  </a:lnTo>
                  <a:lnTo>
                    <a:pt x="758853" y="631228"/>
                  </a:lnTo>
                  <a:lnTo>
                    <a:pt x="732506" y="668002"/>
                  </a:lnTo>
                  <a:lnTo>
                    <a:pt x="702373" y="701611"/>
                  </a:lnTo>
                  <a:lnTo>
                    <a:pt x="668764" y="731744"/>
                  </a:lnTo>
                  <a:lnTo>
                    <a:pt x="631990" y="758091"/>
                  </a:lnTo>
                  <a:lnTo>
                    <a:pt x="592360" y="780343"/>
                  </a:lnTo>
                  <a:lnTo>
                    <a:pt x="550184" y="798190"/>
                  </a:lnTo>
                  <a:lnTo>
                    <a:pt x="505772" y="811321"/>
                  </a:lnTo>
                  <a:lnTo>
                    <a:pt x="459434" y="819427"/>
                  </a:lnTo>
                  <a:lnTo>
                    <a:pt x="411480" y="822198"/>
                  </a:lnTo>
                  <a:lnTo>
                    <a:pt x="363525" y="819427"/>
                  </a:lnTo>
                  <a:lnTo>
                    <a:pt x="317187" y="811321"/>
                  </a:lnTo>
                  <a:lnTo>
                    <a:pt x="272775" y="798190"/>
                  </a:lnTo>
                  <a:lnTo>
                    <a:pt x="230599" y="780343"/>
                  </a:lnTo>
                  <a:lnTo>
                    <a:pt x="190969" y="758091"/>
                  </a:lnTo>
                  <a:lnTo>
                    <a:pt x="154195" y="731744"/>
                  </a:lnTo>
                  <a:lnTo>
                    <a:pt x="120586" y="701611"/>
                  </a:lnTo>
                  <a:lnTo>
                    <a:pt x="90453" y="668002"/>
                  </a:lnTo>
                  <a:lnTo>
                    <a:pt x="64106" y="631228"/>
                  </a:lnTo>
                  <a:lnTo>
                    <a:pt x="41854" y="591598"/>
                  </a:lnTo>
                  <a:lnTo>
                    <a:pt x="24007" y="549422"/>
                  </a:lnTo>
                  <a:lnTo>
                    <a:pt x="10876" y="505010"/>
                  </a:lnTo>
                  <a:lnTo>
                    <a:pt x="2770" y="458672"/>
                  </a:lnTo>
                  <a:lnTo>
                    <a:pt x="0" y="410718"/>
                  </a:lnTo>
                  <a:close/>
                </a:path>
              </a:pathLst>
            </a:custGeom>
            <a:ln w="2655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45">
            <a:extLst>
              <a:ext uri="{FF2B5EF4-FFF2-40B4-BE49-F238E27FC236}">
                <a16:creationId xmlns:a16="http://schemas.microsoft.com/office/drawing/2014/main" id="{5F832E81-9649-50B8-800C-466A3659DDB9}"/>
              </a:ext>
            </a:extLst>
          </p:cNvPr>
          <p:cNvSpPr txBox="1"/>
          <p:nvPr/>
        </p:nvSpPr>
        <p:spPr>
          <a:xfrm>
            <a:off x="5149834" y="5396615"/>
            <a:ext cx="2899017" cy="39832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ctr">
              <a:spcBef>
                <a:spcPts val="207"/>
              </a:spcBef>
            </a:pPr>
            <a:r>
              <a:rPr sz="2416" spc="-17" dirty="0" err="1">
                <a:solidFill>
                  <a:srgbClr val="C00000"/>
                </a:solidFill>
                <a:latin typeface="Comic Sans MS"/>
                <a:cs typeface="Comic Sans MS"/>
              </a:rPr>
              <a:t>Diffrence</a:t>
            </a:r>
            <a:r>
              <a:rPr lang="sv-SE" sz="2416" spc="-17" dirty="0">
                <a:solidFill>
                  <a:srgbClr val="C00000"/>
                </a:solidFill>
                <a:latin typeface="Comic Sans MS"/>
                <a:cs typeface="Comic Sans MS"/>
              </a:rPr>
              <a:t>s</a:t>
            </a:r>
            <a:endParaRPr sz="2416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931627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B5B43A-F7C7-219A-01B0-FAFD353DE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75A115C-9103-C373-5011-F147B8391028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0" dirty="0" err="1">
                <a:latin typeface="Comic Sans MS" panose="030F0702030302020204" pitchFamily="66" charset="0"/>
              </a:rPr>
              <a:t>Knowledge</a:t>
            </a:r>
            <a:r>
              <a:rPr lang="sv-SE" sz="4000" b="1" spc="-10" dirty="0">
                <a:latin typeface="Comic Sans MS" panose="030F0702030302020204" pitchFamily="66" charset="0"/>
              </a:rPr>
              <a:t> and </a:t>
            </a:r>
            <a:r>
              <a:rPr lang="sv-SE" sz="4000" b="1" spc="-10" dirty="0" err="1">
                <a:latin typeface="Comic Sans MS" panose="030F0702030302020204" pitchFamily="66" charset="0"/>
              </a:rPr>
              <a:t>Wisdom</a:t>
            </a:r>
            <a:r>
              <a:rPr lang="sv-SE" sz="4000" b="1" spc="-10" dirty="0"/>
              <a:t>:</a:t>
            </a: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DE79E7-3339-8F41-4DAD-C53EB3FB8F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53078" y="2247900"/>
            <a:ext cx="10505043" cy="556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115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F8EF87-B92D-8A61-F233-58D5C595D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385F52F-D748-0C77-286F-1DA88A0831C7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0" dirty="0" err="1">
                <a:latin typeface="Comic Sans MS" panose="030F0702030302020204" pitchFamily="66" charset="0"/>
              </a:rPr>
              <a:t>Knowledge</a:t>
            </a:r>
            <a:r>
              <a:rPr lang="sv-SE" sz="4000" b="1" spc="-10" dirty="0">
                <a:latin typeface="Comic Sans MS" panose="030F0702030302020204" pitchFamily="66" charset="0"/>
              </a:rPr>
              <a:t> and </a:t>
            </a:r>
            <a:r>
              <a:rPr lang="sv-SE" sz="4000" b="1" spc="-10" dirty="0" err="1">
                <a:latin typeface="Comic Sans MS" panose="030F0702030302020204" pitchFamily="66" charset="0"/>
              </a:rPr>
              <a:t>Wisdom</a:t>
            </a:r>
            <a:r>
              <a:rPr lang="sv-SE" sz="4000" b="1" spc="-10" dirty="0"/>
              <a:t>:</a:t>
            </a: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  <p:pic>
        <p:nvPicPr>
          <p:cNvPr id="2" name="Slide">
            <a:extLst>
              <a:ext uri="{FF2B5EF4-FFF2-40B4-BE49-F238E27FC236}">
                <a16:creationId xmlns:a16="http://schemas.microsoft.com/office/drawing/2014/main" id="{5E134793-E3CA-FCBB-0D21-B9657D69A7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25" r="37500" b="55679"/>
          <a:stretch>
            <a:fillRect/>
          </a:stretch>
        </p:blipFill>
        <p:spPr>
          <a:xfrm>
            <a:off x="-5760" y="2236125"/>
            <a:ext cx="13381791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32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552950-8953-E3AB-95A9-484A59C94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48982E6-9DA6-81D9-35A7-372D03C5EB83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Instructions: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Identify one </a:t>
            </a:r>
            <a:r>
              <a:rPr lang="en-GB" sz="2400" b="1" dirty="0">
                <a:latin typeface="Comic Sans MS" panose="030F0702030302020204" pitchFamily="66" charset="0"/>
              </a:rPr>
              <a:t>example of data</a:t>
            </a:r>
            <a:r>
              <a:rPr lang="en-GB" sz="2400" dirty="0">
                <a:latin typeface="Comic Sans MS" panose="030F0702030302020204" pitchFamily="66" charset="0"/>
              </a:rPr>
              <a:t> from your daily life.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2️⃣ Transform that data into </a:t>
            </a:r>
            <a:r>
              <a:rPr lang="en-GB" sz="2400" b="1" dirty="0">
                <a:latin typeface="Comic Sans MS" panose="030F0702030302020204" pitchFamily="66" charset="0"/>
              </a:rPr>
              <a:t>information</a:t>
            </a:r>
            <a:r>
              <a:rPr lang="en-GB" sz="2400" dirty="0">
                <a:latin typeface="Comic Sans MS" panose="030F0702030302020204" pitchFamily="66" charset="0"/>
              </a:rPr>
              <a:t> by adding context or analysis.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3️⃣ Derive </a:t>
            </a:r>
            <a:r>
              <a:rPr lang="en-GB" sz="2400" b="1" dirty="0">
                <a:latin typeface="Comic Sans MS" panose="030F0702030302020204" pitchFamily="66" charset="0"/>
              </a:rPr>
              <a:t>knowledge</a:t>
            </a:r>
            <a:r>
              <a:rPr lang="en-GB" sz="2400" dirty="0">
                <a:latin typeface="Comic Sans MS" panose="030F0702030302020204" pitchFamily="66" charset="0"/>
              </a:rPr>
              <a:t> by finding a pattern or relationship.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4️⃣ Suggest a </a:t>
            </a:r>
            <a:r>
              <a:rPr lang="en-GB" sz="2400" b="1" dirty="0">
                <a:latin typeface="Comic Sans MS" panose="030F0702030302020204" pitchFamily="66" charset="0"/>
              </a:rPr>
              <a:t>wise action</a:t>
            </a:r>
            <a:r>
              <a:rPr lang="en-GB" sz="2400" dirty="0">
                <a:latin typeface="Comic Sans MS" panose="030F0702030302020204" pitchFamily="66" charset="0"/>
              </a:rPr>
              <a:t> you could take based on that knowledge.</a:t>
            </a:r>
          </a:p>
        </p:txBody>
      </p:sp>
    </p:spTree>
    <p:extLst>
      <p:ext uri="{BB962C8B-B14F-4D97-AF65-F5344CB8AC3E}">
        <p14:creationId xmlns:p14="http://schemas.microsoft.com/office/powerpoint/2010/main" val="3799245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7AA581-89A1-DA75-DD53-25B5AD31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DFD32E-F7C2-B657-91B9-4B68EDD1D595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>
                <a:latin typeface="Comic Sans MS" panose="030F0702030302020204" pitchFamily="66" charset="0"/>
              </a:rPr>
              <a:t>📋 </a:t>
            </a:r>
            <a:r>
              <a:rPr lang="en-GB" sz="2400" b="1">
                <a:latin typeface="Comic Sans MS" panose="030F0702030302020204" pitchFamily="66" charset="0"/>
              </a:rPr>
              <a:t>Solution:</a:t>
            </a:r>
            <a:endParaRPr lang="en-GB" sz="2400" b="1" dirty="0">
              <a:latin typeface="Comic Sans MS" panose="030F0702030302020204" pitchFamily="66" charset="0"/>
            </a:endParaRP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1️⃣ Data: 1500 </a:t>
            </a:r>
            <a:r>
              <a:rPr lang="sv-SE" sz="2400" dirty="0" err="1">
                <a:latin typeface="Comic Sans MS" panose="030F0702030302020204" pitchFamily="66" charset="0"/>
              </a:rPr>
              <a:t>website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visitors</a:t>
            </a:r>
            <a:r>
              <a:rPr lang="sv-SE" sz="2400" dirty="0">
                <a:latin typeface="Comic Sans MS" panose="030F0702030302020204" pitchFamily="66" charset="0"/>
              </a:rPr>
              <a:t> in the last </a:t>
            </a:r>
            <a:r>
              <a:rPr lang="sv-SE" sz="2400" dirty="0" err="1">
                <a:latin typeface="Comic Sans MS" panose="030F0702030302020204" pitchFamily="66" charset="0"/>
              </a:rPr>
              <a:t>week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2️⃣ Information: 65% </a:t>
            </a:r>
            <a:r>
              <a:rPr lang="sv-SE" sz="2400" dirty="0" err="1">
                <a:latin typeface="Comic Sans MS" panose="030F0702030302020204" pitchFamily="66" charset="0"/>
              </a:rPr>
              <a:t>of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visitors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came</a:t>
            </a:r>
            <a:r>
              <a:rPr lang="sv-SE" sz="2400" dirty="0">
                <a:latin typeface="Comic Sans MS" panose="030F0702030302020204" pitchFamily="66" charset="0"/>
              </a:rPr>
              <a:t> from mobile </a:t>
            </a:r>
            <a:r>
              <a:rPr lang="sv-SE" sz="2400" dirty="0" err="1">
                <a:latin typeface="Comic Sans MS" panose="030F0702030302020204" pitchFamily="66" charset="0"/>
              </a:rPr>
              <a:t>devices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3️⃣ </a:t>
            </a:r>
            <a:r>
              <a:rPr lang="sv-SE" sz="2400" dirty="0" err="1">
                <a:latin typeface="Comic Sans MS" panose="030F0702030302020204" pitchFamily="66" charset="0"/>
              </a:rPr>
              <a:t>Knowledge</a:t>
            </a:r>
            <a:r>
              <a:rPr lang="sv-SE" sz="2400" dirty="0">
                <a:latin typeface="Comic Sans MS" panose="030F0702030302020204" pitchFamily="66" charset="0"/>
              </a:rPr>
              <a:t>: Mobile </a:t>
            </a:r>
            <a:r>
              <a:rPr lang="sv-SE" sz="2400" dirty="0" err="1">
                <a:latin typeface="Comic Sans MS" panose="030F0702030302020204" pitchFamily="66" charset="0"/>
              </a:rPr>
              <a:t>users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leave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after</a:t>
            </a:r>
            <a:r>
              <a:rPr lang="sv-SE" sz="2400" dirty="0">
                <a:latin typeface="Comic Sans MS" panose="030F0702030302020204" pitchFamily="66" charset="0"/>
              </a:rPr>
              <a:t> 5 </a:t>
            </a:r>
            <a:r>
              <a:rPr lang="sv-SE" sz="2400" dirty="0" err="1">
                <a:latin typeface="Comic Sans MS" panose="030F0702030302020204" pitchFamily="66" charset="0"/>
              </a:rPr>
              <a:t>seconds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more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often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than</a:t>
            </a:r>
            <a:r>
              <a:rPr lang="sv-SE" sz="2400" dirty="0">
                <a:latin typeface="Comic Sans MS" panose="030F0702030302020204" pitchFamily="66" charset="0"/>
              </a:rPr>
              <a:t> desktop </a:t>
            </a:r>
            <a:r>
              <a:rPr lang="sv-SE" sz="2400" dirty="0" err="1">
                <a:latin typeface="Comic Sans MS" panose="030F0702030302020204" pitchFamily="66" charset="0"/>
              </a:rPr>
              <a:t>users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4️⃣ </a:t>
            </a:r>
            <a:r>
              <a:rPr lang="sv-SE" sz="2400" dirty="0" err="1">
                <a:latin typeface="Comic Sans MS" panose="030F0702030302020204" pitchFamily="66" charset="0"/>
              </a:rPr>
              <a:t>Wisdom</a:t>
            </a:r>
            <a:r>
              <a:rPr lang="sv-SE" sz="2400" dirty="0">
                <a:latin typeface="Comic Sans MS" panose="030F0702030302020204" pitchFamily="66" charset="0"/>
              </a:rPr>
              <a:t>: </a:t>
            </a:r>
            <a:r>
              <a:rPr lang="sv-SE" sz="2400" dirty="0" err="1">
                <a:latin typeface="Comic Sans MS" panose="030F0702030302020204" pitchFamily="66" charset="0"/>
              </a:rPr>
              <a:t>Optimize</a:t>
            </a:r>
            <a:r>
              <a:rPr lang="sv-SE" sz="2400" dirty="0">
                <a:latin typeface="Comic Sans MS" panose="030F0702030302020204" pitchFamily="66" charset="0"/>
              </a:rPr>
              <a:t> the mobile </a:t>
            </a:r>
            <a:r>
              <a:rPr lang="sv-SE" sz="2400" dirty="0" err="1">
                <a:latin typeface="Comic Sans MS" panose="030F0702030302020204" pitchFamily="66" charset="0"/>
              </a:rPr>
              <a:t>homepage</a:t>
            </a:r>
            <a:r>
              <a:rPr lang="sv-SE" sz="2400" dirty="0">
                <a:latin typeface="Comic Sans MS" panose="030F0702030302020204" pitchFamily="66" charset="0"/>
              </a:rPr>
              <a:t> for faster </a:t>
            </a:r>
            <a:r>
              <a:rPr lang="sv-SE" sz="2400" dirty="0" err="1">
                <a:latin typeface="Comic Sans MS" panose="030F0702030302020204" pitchFamily="66" charset="0"/>
              </a:rPr>
              <a:t>loading</a:t>
            </a:r>
            <a:r>
              <a:rPr lang="sv-SE" sz="2400" dirty="0">
                <a:latin typeface="Comic Sans MS" panose="030F0702030302020204" pitchFamily="66" charset="0"/>
              </a:rPr>
              <a:t> and </a:t>
            </a:r>
            <a:r>
              <a:rPr lang="sv-SE" sz="2400" dirty="0" err="1">
                <a:latin typeface="Comic Sans MS" panose="030F0702030302020204" pitchFamily="66" charset="0"/>
              </a:rPr>
              <a:t>simpler</a:t>
            </a:r>
            <a:r>
              <a:rPr lang="sv-SE" sz="2400" dirty="0">
                <a:latin typeface="Comic Sans MS" panose="030F0702030302020204" pitchFamily="66" charset="0"/>
              </a:rPr>
              <a:t> layout.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516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45A6634-93EA-8101-D4D4-7877A0E9F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BF87FB5-66A5-F554-533C-11024F2583D0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🏁 Conclusion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dirty="0"/>
              <a:t>✅</a:t>
            </a:r>
            <a:r>
              <a:rPr lang="sv-SE" sz="2400" dirty="0"/>
              <a:t> </a:t>
            </a:r>
            <a:r>
              <a:rPr lang="en-GB" sz="2400" b="1" dirty="0">
                <a:latin typeface="Comic Sans MS" panose="030F0702030302020204" pitchFamily="66" charset="0"/>
              </a:rPr>
              <a:t>Data</a:t>
            </a:r>
            <a:r>
              <a:rPr lang="en-GB" sz="2400" dirty="0">
                <a:latin typeface="Comic Sans MS" panose="030F0702030302020204" pitchFamily="66" charset="0"/>
              </a:rPr>
              <a:t> is the foundation — raw, unstructured, and meaningless alone.</a:t>
            </a:r>
          </a:p>
          <a:p>
            <a:r>
              <a:rPr lang="en-SE" sz="2400" dirty="0"/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Information</a:t>
            </a:r>
            <a:r>
              <a:rPr lang="en-GB" sz="2400" dirty="0">
                <a:latin typeface="Comic Sans MS" panose="030F0702030302020204" pitchFamily="66" charset="0"/>
              </a:rPr>
              <a:t> gives that data </a:t>
            </a:r>
            <a:r>
              <a:rPr lang="en-GB" sz="2400" b="1" dirty="0">
                <a:latin typeface="Comic Sans MS" panose="030F0702030302020204" pitchFamily="66" charset="0"/>
              </a:rPr>
              <a:t>structure and meaning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/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Knowledge</a:t>
            </a:r>
            <a:r>
              <a:rPr lang="en-GB" sz="2400" dirty="0">
                <a:latin typeface="Comic Sans MS" panose="030F0702030302020204" pitchFamily="66" charset="0"/>
              </a:rPr>
              <a:t> adds </a:t>
            </a:r>
            <a:r>
              <a:rPr lang="en-GB" sz="2400" b="1" dirty="0">
                <a:latin typeface="Comic Sans MS" panose="030F0702030302020204" pitchFamily="66" charset="0"/>
              </a:rPr>
              <a:t>understanding and relationships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/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Wisdom</a:t>
            </a:r>
            <a:r>
              <a:rPr lang="en-GB" sz="2400" dirty="0">
                <a:latin typeface="Comic Sans MS" panose="030F0702030302020204" pitchFamily="66" charset="0"/>
              </a:rPr>
              <a:t> applies knowledge in </a:t>
            </a:r>
            <a:r>
              <a:rPr lang="en-GB" sz="2400" b="1" dirty="0">
                <a:latin typeface="Comic Sans MS" panose="030F0702030302020204" pitchFamily="66" charset="0"/>
              </a:rPr>
              <a:t>real-life decisions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🧩 By climbing the DIKW ladder, you move from </a:t>
            </a:r>
            <a:r>
              <a:rPr lang="en-GB" sz="2400" b="1" dirty="0">
                <a:latin typeface="Comic Sans MS" panose="030F0702030302020204" pitchFamily="66" charset="0"/>
              </a:rPr>
              <a:t>knowing facts → </a:t>
            </a:r>
            <a:r>
              <a:rPr lang="en-GB" sz="2400" b="1">
                <a:latin typeface="Comic Sans MS" panose="030F0702030302020204" pitchFamily="66" charset="0"/>
              </a:rPr>
              <a:t>understanding 	patterns </a:t>
            </a:r>
            <a:r>
              <a:rPr lang="en-GB" sz="2400" b="1" dirty="0">
                <a:latin typeface="Comic Sans MS" panose="030F0702030302020204" pitchFamily="66" charset="0"/>
              </a:rPr>
              <a:t>→ applying insight</a:t>
            </a:r>
            <a:r>
              <a:rPr lang="en-GB" sz="2400" dirty="0">
                <a:latin typeface="Comic Sans MS" panose="030F0702030302020204" pitchFamily="66" charset="0"/>
              </a:rPr>
              <a:t> — which is the essence of true learning</a:t>
            </a:r>
            <a:r>
              <a:rPr lang="en-GB" sz="2400">
                <a:latin typeface="Comic Sans MS" panose="030F0702030302020204" pitchFamily="66" charset="0"/>
              </a:rPr>
              <a:t>, decision-	making</a:t>
            </a:r>
            <a:r>
              <a:rPr lang="en-GB" sz="2400" dirty="0">
                <a:latin typeface="Comic Sans MS" panose="030F0702030302020204" pitchFamily="66" charset="0"/>
              </a:rPr>
              <a:t>, and intelligence. 🌟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849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2897</TotalTime>
  <Words>257</Words>
  <Application>Microsoft Office PowerPoint</Application>
  <PresentationFormat>Custom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191</cp:revision>
  <dcterms:created xsi:type="dcterms:W3CDTF">2025-12-09T17:44:59Z</dcterms:created>
  <dcterms:modified xsi:type="dcterms:W3CDTF">2026-01-16T17:38:14Z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