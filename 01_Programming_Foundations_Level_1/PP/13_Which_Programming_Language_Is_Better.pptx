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605" r:id="rId2"/>
    <p:sldId id="257" r:id="rId3"/>
    <p:sldId id="606" r:id="rId4"/>
    <p:sldId id="561" r:id="rId5"/>
    <p:sldId id="562" r:id="rId6"/>
    <p:sldId id="543" r:id="rId7"/>
    <p:sldId id="563" r:id="rId8"/>
    <p:sldId id="565" r:id="rId9"/>
    <p:sldId id="566" r:id="rId10"/>
    <p:sldId id="564" r:id="rId11"/>
    <p:sldId id="570" r:id="rId12"/>
    <p:sldId id="568" r:id="rId13"/>
    <p:sldId id="569" r:id="rId14"/>
    <p:sldId id="567" r:id="rId15"/>
    <p:sldId id="571" r:id="rId16"/>
    <p:sldId id="572" r:id="rId17"/>
    <p:sldId id="573" r:id="rId18"/>
    <p:sldId id="574" r:id="rId19"/>
    <p:sldId id="575" r:id="rId20"/>
    <p:sldId id="576" r:id="rId21"/>
    <p:sldId id="577" r:id="rId22"/>
    <p:sldId id="578" r:id="rId23"/>
    <p:sldId id="579" r:id="rId24"/>
    <p:sldId id="580" r:id="rId25"/>
    <p:sldId id="581" r:id="rId26"/>
    <p:sldId id="582" r:id="rId27"/>
    <p:sldId id="583" r:id="rId28"/>
    <p:sldId id="584" r:id="rId29"/>
    <p:sldId id="585" r:id="rId30"/>
    <p:sldId id="586" r:id="rId31"/>
    <p:sldId id="587" r:id="rId32"/>
    <p:sldId id="588" r:id="rId33"/>
    <p:sldId id="589" r:id="rId34"/>
    <p:sldId id="590" r:id="rId35"/>
    <p:sldId id="591" r:id="rId36"/>
    <p:sldId id="592" r:id="rId37"/>
    <p:sldId id="593" r:id="rId38"/>
    <p:sldId id="594" r:id="rId39"/>
    <p:sldId id="595" r:id="rId40"/>
    <p:sldId id="596" r:id="rId41"/>
    <p:sldId id="597" r:id="rId42"/>
    <p:sldId id="598" r:id="rId43"/>
    <p:sldId id="599" r:id="rId44"/>
    <p:sldId id="600" r:id="rId45"/>
    <p:sldId id="601" r:id="rId46"/>
    <p:sldId id="560" r:id="rId47"/>
    <p:sldId id="531" r:id="rId48"/>
    <p:sldId id="349" r:id="rId49"/>
    <p:sldId id="542" r:id="rId50"/>
    <p:sldId id="602" r:id="rId51"/>
    <p:sldId id="603" r:id="rId52"/>
    <p:sldId id="604" r:id="rId53"/>
    <p:sldId id="438" r:id="rId54"/>
    <p:sldId id="425" r:id="rId5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4BD18700-0DDF-1B3F-E7EA-DA4C8D0308F5}"/>
              </a:ext>
            </a:extLst>
          </p:cNvPr>
          <p:cNvSpPr txBox="1"/>
          <p:nvPr/>
        </p:nvSpPr>
        <p:spPr>
          <a:xfrm>
            <a:off x="0" y="3338091"/>
            <a:ext cx="13411198" cy="191077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69940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0835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Which programming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language is better?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E26270D-0173-C260-F817-8007076DC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E23A6EF-B09B-CB29-B938-042BB566B400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8494B19-76F2-B6DD-8B30-BA16CBB53E2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099C072-7C6F-D8DB-0CE7-808FB93386E7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0D95D465-BFBC-AB8C-5EB1-7D5094A3262A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C1DE712B-42DD-B116-D60E-CDC34009AE0E}"/>
              </a:ext>
            </a:extLst>
          </p:cNvPr>
          <p:cNvSpPr txBox="1"/>
          <p:nvPr/>
        </p:nvSpPr>
        <p:spPr>
          <a:xfrm>
            <a:off x="106432" y="3084218"/>
            <a:ext cx="13304768" cy="234423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Why do we have many programming languages?</a:t>
            </a:r>
          </a:p>
        </p:txBody>
      </p:sp>
    </p:spTree>
    <p:extLst>
      <p:ext uri="{BB962C8B-B14F-4D97-AF65-F5344CB8AC3E}">
        <p14:creationId xmlns:p14="http://schemas.microsoft.com/office/powerpoint/2010/main" val="682150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8D0FF29-7AE0-9BED-10FD-C9819882A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/>
          <p:cNvGrpSpPr/>
          <p:nvPr/>
        </p:nvGrpSpPr>
        <p:grpSpPr>
          <a:xfrm>
            <a:off x="197223" y="1704751"/>
            <a:ext cx="13016753" cy="6648898"/>
            <a:chOff x="0" y="1057655"/>
            <a:chExt cx="10058400" cy="5137785"/>
          </a:xfrm>
        </p:grpSpPr>
        <p:pic>
          <p:nvPicPr>
            <p:cNvPr id="6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7655"/>
              <a:ext cx="10058400" cy="5137404"/>
            </a:xfrm>
            <a:prstGeom prst="rect">
              <a:avLst/>
            </a:prstGeom>
          </p:spPr>
        </p:pic>
        <p:pic>
          <p:nvPicPr>
            <p:cNvPr id="7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7319" y="1207007"/>
              <a:ext cx="713231" cy="1386840"/>
            </a:xfrm>
            <a:prstGeom prst="rect">
              <a:avLst/>
            </a:prstGeom>
          </p:spPr>
        </p:pic>
        <p:pic>
          <p:nvPicPr>
            <p:cNvPr id="10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7487" y="5081015"/>
              <a:ext cx="902208" cy="1014983"/>
            </a:xfrm>
            <a:prstGeom prst="rect">
              <a:avLst/>
            </a:prstGeom>
          </p:spPr>
        </p:pic>
        <p:pic>
          <p:nvPicPr>
            <p:cNvPr id="11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31480" y="5187696"/>
              <a:ext cx="740664" cy="743711"/>
            </a:xfrm>
            <a:prstGeom prst="rect">
              <a:avLst/>
            </a:prstGeom>
          </p:spPr>
        </p:pic>
        <p:pic>
          <p:nvPicPr>
            <p:cNvPr id="12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70392" y="1255776"/>
              <a:ext cx="1380743" cy="2051304"/>
            </a:xfrm>
            <a:prstGeom prst="rect">
              <a:avLst/>
            </a:prstGeom>
          </p:spPr>
        </p:pic>
        <p:pic>
          <p:nvPicPr>
            <p:cNvPr id="13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776" y="1862327"/>
              <a:ext cx="1130807" cy="1127759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45680" y="1057655"/>
              <a:ext cx="1002791" cy="9357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1388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340F480-C144-0DA0-1DEF-6BCAEA44A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5036EBB-5BE5-C1CD-DC28-86B9D5517A71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8E1AAD3-D937-43F6-0883-9C54A5B003E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277F006-4984-2D27-E69B-6000AF0BE453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EA36538-ABA1-FBA7-F6AF-2E6C789BE52E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FC63C117-2BEF-9E03-294E-965781660890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Which Language is Better?</a:t>
            </a:r>
          </a:p>
        </p:txBody>
      </p:sp>
    </p:spTree>
    <p:extLst>
      <p:ext uri="{BB962C8B-B14F-4D97-AF65-F5344CB8AC3E}">
        <p14:creationId xmlns:p14="http://schemas.microsoft.com/office/powerpoint/2010/main" val="3801095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254C707-F062-8A5D-EF4D-1414E6E8C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19776D6-378E-4B01-71F0-C9ED1EF3766B}"/>
              </a:ext>
            </a:extLst>
          </p:cNvPr>
          <p:cNvSpPr txBox="1"/>
          <p:nvPr/>
        </p:nvSpPr>
        <p:spPr>
          <a:xfrm>
            <a:off x="381000" y="888075"/>
            <a:ext cx="12352767" cy="32337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Which Programming Language Is Better? (The Right Question to Ask)</a:t>
            </a:r>
          </a:p>
          <a:p>
            <a:endParaRPr lang="en-GB" sz="4000" dirty="0">
              <a:solidFill>
                <a:srgbClr val="000000"/>
              </a:solidFill>
              <a:latin typeface="Calibri"/>
              <a:cs typeface="Calibri"/>
            </a:endParaRPr>
          </a:p>
          <a:p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What</a:t>
            </a:r>
            <a:r>
              <a:rPr lang="en-GB" sz="4000" spc="58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is</a:t>
            </a:r>
            <a:r>
              <a:rPr lang="en-GB" sz="4000" spc="-19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your</a:t>
            </a:r>
            <a:r>
              <a:rPr lang="en-GB" sz="4000" spc="45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best</a:t>
            </a:r>
            <a:r>
              <a:rPr lang="en-GB" sz="4000" spc="-39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4000" spc="-13" dirty="0" err="1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color</a:t>
            </a:r>
            <a:r>
              <a:rPr lang="en-GB" sz="4000" spc="-13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?</a:t>
            </a:r>
          </a:p>
          <a:p>
            <a:pPr algn="ctr"/>
            <a:r>
              <a:rPr lang="sv-SE" sz="4000" dirty="0" err="1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This</a:t>
            </a:r>
            <a:r>
              <a:rPr lang="sv-SE" sz="4000" spc="6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is</a:t>
            </a:r>
            <a:r>
              <a:rPr lang="sv-SE" sz="4000" spc="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dirty="0" err="1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incomplete</a:t>
            </a:r>
            <a:r>
              <a:rPr lang="sv-SE" sz="4000" spc="-45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spc="-13" dirty="0" err="1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question</a:t>
            </a:r>
            <a:r>
              <a:rPr lang="sv-SE" sz="4000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!!</a:t>
            </a:r>
            <a:endParaRPr lang="sv-SE" sz="4000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503" y="5194869"/>
            <a:ext cx="3636801" cy="220890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70981" y="5202756"/>
            <a:ext cx="3159520" cy="222468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6508" y="5194868"/>
            <a:ext cx="1392397" cy="218523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509676" y="4584702"/>
            <a:ext cx="1132392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spc="-13" dirty="0">
                <a:solidFill>
                  <a:srgbClr val="FF0000"/>
                </a:solidFill>
                <a:latin typeface="Comic Sans MS"/>
                <a:cs typeface="Comic Sans MS"/>
              </a:rPr>
              <a:t>Lights</a:t>
            </a:r>
            <a:endParaRPr sz="2976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54377" y="4529614"/>
            <a:ext cx="1049394" cy="608278"/>
          </a:xfrm>
          <a:prstGeom prst="rect">
            <a:avLst/>
          </a:prstGeom>
        </p:spPr>
        <p:txBody>
          <a:bodyPr vert="horz" wrap="square" lIns="0" tIns="20544" rIns="0" bIns="0" rtlCol="0">
            <a:spAutoFit/>
          </a:bodyPr>
          <a:lstStyle/>
          <a:p>
            <a:pPr marL="16435" defTabSz="1183325">
              <a:spcBef>
                <a:spcPts val="162"/>
              </a:spcBef>
            </a:pPr>
            <a:r>
              <a:rPr sz="3818" spc="-26" dirty="0">
                <a:solidFill>
                  <a:srgbClr val="FF0000"/>
                </a:solidFill>
                <a:latin typeface="Comic Sans MS"/>
                <a:cs typeface="Comic Sans MS"/>
              </a:rPr>
              <a:t>Cars</a:t>
            </a:r>
            <a:endParaRPr sz="3818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21689" y="4661628"/>
            <a:ext cx="1046106" cy="426509"/>
          </a:xfrm>
          <a:prstGeom prst="rect">
            <a:avLst/>
          </a:prstGeom>
        </p:spPr>
        <p:txBody>
          <a:bodyPr vert="horz" wrap="square" lIns="0" tIns="18079" rIns="0" bIns="0" rtlCol="0">
            <a:spAutoFit/>
          </a:bodyPr>
          <a:lstStyle/>
          <a:p>
            <a:pPr marL="16435" defTabSz="1183325">
              <a:spcBef>
                <a:spcPts val="142"/>
              </a:spcBef>
            </a:pPr>
            <a:r>
              <a:rPr sz="2653" spc="-13" dirty="0">
                <a:solidFill>
                  <a:srgbClr val="FF0000"/>
                </a:solidFill>
                <a:latin typeface="Comic Sans MS"/>
                <a:cs typeface="Comic Sans MS"/>
              </a:rPr>
              <a:t>Shirts</a:t>
            </a:r>
            <a:endParaRPr sz="2653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087531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F7B64D-BE0C-A614-C812-1B1FB6CF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0594558-A943-C72D-8B03-D50CC7666E52}"/>
              </a:ext>
            </a:extLst>
          </p:cNvPr>
          <p:cNvSpPr txBox="1"/>
          <p:nvPr/>
        </p:nvSpPr>
        <p:spPr>
          <a:xfrm>
            <a:off x="381000" y="888075"/>
            <a:ext cx="12352767" cy="495731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Which Programming Language Is Better? (The Right Question to Ask)</a:t>
            </a:r>
          </a:p>
          <a:p>
            <a:endParaRPr lang="en-GB" sz="40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Asking </a:t>
            </a:r>
            <a:r>
              <a:rPr lang="en-GB" sz="2400" b="1" dirty="0">
                <a:latin typeface="Comic Sans MS" panose="030F0702030302020204" pitchFamily="66" charset="0"/>
              </a:rPr>
              <a:t>“Which programming language is better?”</a:t>
            </a:r>
            <a:r>
              <a:rPr lang="en-GB" sz="2400" dirty="0">
                <a:latin typeface="Comic Sans MS" panose="030F0702030302020204" pitchFamily="66" charset="0"/>
              </a:rPr>
              <a:t> is like asking </a:t>
            </a:r>
            <a:r>
              <a:rPr lang="en-GB" sz="2400" b="1" dirty="0">
                <a:latin typeface="Comic Sans MS" panose="030F0702030302020204" pitchFamily="66" charset="0"/>
              </a:rPr>
              <a:t>“What’s the best </a:t>
            </a:r>
            <a:r>
              <a:rPr lang="en-GB" sz="2400" b="1" dirty="0" err="1">
                <a:latin typeface="Comic Sans MS" panose="030F0702030302020204" pitchFamily="66" charset="0"/>
              </a:rPr>
              <a:t>color</a:t>
            </a:r>
            <a:r>
              <a:rPr lang="en-GB" sz="2400" b="1" dirty="0">
                <a:latin typeface="Comic Sans MS" panose="030F0702030302020204" pitchFamily="66" charset="0"/>
              </a:rPr>
              <a:t>?”</a:t>
            </a:r>
            <a:r>
              <a:rPr lang="en-GB" sz="2400" dirty="0">
                <a:latin typeface="Comic Sans MS" panose="030F0702030302020204" pitchFamily="66" charset="0"/>
              </a:rPr>
              <a:t> — it’s an </a:t>
            </a:r>
            <a:r>
              <a:rPr lang="en-GB" sz="2400" b="1" dirty="0">
                <a:latin typeface="Comic Sans MS" panose="030F0702030302020204" pitchFamily="66" charset="0"/>
              </a:rPr>
              <a:t>incomplete question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For example, </a:t>
            </a:r>
            <a:r>
              <a:rPr lang="en-GB" sz="2400" b="1" dirty="0">
                <a:latin typeface="Comic Sans MS" panose="030F0702030302020204" pitchFamily="66" charset="0"/>
              </a:rPr>
              <a:t>I like black cars but dislike white ones</a:t>
            </a:r>
            <a:r>
              <a:rPr lang="en-GB" sz="2400" dirty="0">
                <a:latin typeface="Comic Sans MS" panose="030F0702030302020204" pitchFamily="66" charset="0"/>
              </a:rPr>
              <a:t>, yet when it comes to clothing, </a:t>
            </a:r>
            <a:r>
              <a:rPr lang="en-GB" sz="2400" b="1" dirty="0">
                <a:latin typeface="Comic Sans MS" panose="030F0702030302020204" pitchFamily="66" charset="0"/>
              </a:rPr>
              <a:t>I prefer white shirts and dislike black ones</a:t>
            </a:r>
            <a:r>
              <a:rPr lang="en-GB" sz="2400" dirty="0">
                <a:latin typeface="Comic Sans MS" panose="030F0702030302020204" pitchFamily="66" charset="0"/>
              </a:rPr>
              <a:t>. So, can I really say that I hate the </a:t>
            </a:r>
            <a:r>
              <a:rPr lang="en-GB" sz="2400" dirty="0" err="1">
                <a:latin typeface="Comic Sans MS" panose="030F0702030302020204" pitchFamily="66" charset="0"/>
              </a:rPr>
              <a:t>color</a:t>
            </a:r>
            <a:r>
              <a:rPr lang="en-GB" sz="2400" dirty="0">
                <a:latin typeface="Comic Sans MS" panose="030F0702030302020204" pitchFamily="66" charset="0"/>
              </a:rPr>
              <a:t> white in general? Of course not!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The truth is, </a:t>
            </a:r>
            <a:r>
              <a:rPr lang="en-GB" sz="2400" b="1" dirty="0" err="1">
                <a:latin typeface="Comic Sans MS" panose="030F0702030302020204" pitchFamily="66" charset="0"/>
              </a:rPr>
              <a:t>color</a:t>
            </a:r>
            <a:r>
              <a:rPr lang="en-GB" sz="2400" b="1" dirty="0">
                <a:latin typeface="Comic Sans MS" panose="030F0702030302020204" pitchFamily="66" charset="0"/>
              </a:rPr>
              <a:t> alone means nothing without context</a:t>
            </a:r>
            <a:r>
              <a:rPr lang="en-GB" sz="2400" dirty="0">
                <a:latin typeface="Comic Sans MS" panose="030F0702030302020204" pitchFamily="66" charset="0"/>
              </a:rPr>
              <a:t> — it depends on </a:t>
            </a:r>
            <a:r>
              <a:rPr lang="en-GB" sz="2400" b="1" dirty="0">
                <a:latin typeface="Comic Sans MS" panose="030F0702030302020204" pitchFamily="66" charset="0"/>
              </a:rPr>
              <a:t>where and how it’s used</a:t>
            </a:r>
            <a:r>
              <a:rPr lang="en-GB" sz="2400" dirty="0">
                <a:latin typeface="Comic Sans MS" panose="030F0702030302020204" pitchFamily="66" charset="0"/>
              </a:rPr>
              <a:t>. The same applies to programming languages: there’s </a:t>
            </a:r>
            <a:r>
              <a:rPr lang="en-GB" sz="2400" b="1" dirty="0">
                <a:latin typeface="Comic Sans MS" panose="030F0702030302020204" pitchFamily="66" charset="0"/>
              </a:rPr>
              <a:t>no universally “best” language</a:t>
            </a:r>
            <a:r>
              <a:rPr lang="en-GB" sz="2400" dirty="0">
                <a:latin typeface="Comic Sans MS" panose="030F0702030302020204" pitchFamily="66" charset="0"/>
              </a:rPr>
              <a:t>, only the </a:t>
            </a:r>
            <a:r>
              <a:rPr lang="en-GB" sz="2400" b="1" dirty="0">
                <a:latin typeface="Comic Sans MS" panose="030F0702030302020204" pitchFamily="66" charset="0"/>
              </a:rPr>
              <a:t>best one for a specific purpose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0055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185C01E-5E94-D93B-8F57-E7715FE7D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AE7FE04-A497-CD9F-7412-ADFBA04B3D36}"/>
              </a:ext>
            </a:extLst>
          </p:cNvPr>
          <p:cNvSpPr txBox="1"/>
          <p:nvPr/>
        </p:nvSpPr>
        <p:spPr>
          <a:xfrm>
            <a:off x="381000" y="888075"/>
            <a:ext cx="12352767" cy="738926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r"/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</a:rPr>
              <a:t>Driving</a:t>
            </a:r>
            <a:r>
              <a:rPr lang="en-GB" sz="4000" spc="19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</a:rPr>
              <a:t>Is </a:t>
            </a:r>
            <a:r>
              <a:rPr lang="en-GB" sz="4000" spc="-13" dirty="0">
                <a:solidFill>
                  <a:srgbClr val="FF0000"/>
                </a:solidFill>
                <a:latin typeface="Comic Sans MS" panose="030F0702030302020204" pitchFamily="66" charset="0"/>
              </a:rPr>
              <a:t>Important</a:t>
            </a:r>
          </a:p>
          <a:p>
            <a:pPr algn="r"/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GB" sz="4000" spc="6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</a:rPr>
              <a:t>the</a:t>
            </a:r>
            <a:r>
              <a:rPr lang="en-GB" sz="4000" spc="-26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</a:rPr>
              <a:t>car</a:t>
            </a:r>
            <a:r>
              <a:rPr lang="en-GB" sz="4000" spc="6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spc="-13" dirty="0">
                <a:solidFill>
                  <a:srgbClr val="FF0000"/>
                </a:solidFill>
                <a:latin typeface="Comic Sans MS" panose="030F0702030302020204" pitchFamily="66" charset="0"/>
              </a:rPr>
              <a:t>itself!</a:t>
            </a:r>
          </a:p>
          <a:p>
            <a:endParaRPr lang="en-GB" sz="4000" spc="-13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GB" sz="4000" spc="-13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GB" sz="4000" spc="-13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GB" sz="4000" spc="-13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GB" sz="4000" spc="-13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GB" sz="4000" spc="-13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GB" sz="4000" spc="-13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784775" marR="147916" indent="-629462" defTabSz="1183325">
              <a:lnSpc>
                <a:spcPts val="4115"/>
              </a:lnSpc>
              <a:spcBef>
                <a:spcPts val="472"/>
              </a:spcBef>
              <a:tabLst>
                <a:tab pos="3169503" algn="l"/>
              </a:tabLst>
            </a:pPr>
            <a:r>
              <a:rPr lang="en-GB" sz="4000" spc="-13" dirty="0">
                <a:solidFill>
                  <a:srgbClr val="FF0000"/>
                </a:solidFill>
                <a:latin typeface="Comic Sans MS"/>
                <a:cs typeface="Comic Sans MS"/>
              </a:rPr>
              <a:t>Programming</a:t>
            </a:r>
            <a:r>
              <a:rPr lang="en-GB" sz="4000" dirty="0">
                <a:solidFill>
                  <a:srgbClr val="FF0000"/>
                </a:solidFill>
                <a:latin typeface="Comic Sans MS"/>
                <a:cs typeface="Comic Sans MS"/>
              </a:rPr>
              <a:t>	</a:t>
            </a:r>
            <a:r>
              <a:rPr lang="en-GB" sz="4000" spc="-32" dirty="0">
                <a:solidFill>
                  <a:srgbClr val="FF0000"/>
                </a:solidFill>
                <a:latin typeface="Comic Sans MS"/>
                <a:cs typeface="Comic Sans MS"/>
              </a:rPr>
              <a:t>Is</a:t>
            </a:r>
          </a:p>
          <a:p>
            <a:pPr marL="784775" marR="147916" indent="-629462" defTabSz="1183325">
              <a:lnSpc>
                <a:spcPts val="4115"/>
              </a:lnSpc>
              <a:spcBef>
                <a:spcPts val="472"/>
              </a:spcBef>
              <a:tabLst>
                <a:tab pos="3169503" algn="l"/>
              </a:tabLst>
            </a:pPr>
            <a:r>
              <a:rPr lang="en-GB" sz="4000" spc="-13" dirty="0">
                <a:solidFill>
                  <a:srgbClr val="FF0000"/>
                </a:solidFill>
                <a:latin typeface="Comic Sans MS"/>
                <a:cs typeface="Comic Sans MS"/>
              </a:rPr>
              <a:t>Important</a:t>
            </a:r>
            <a:endParaRPr lang="en-GB" sz="4000" dirty="0">
              <a:latin typeface="Comic Sans MS"/>
              <a:cs typeface="Comic Sans MS"/>
            </a:endParaRPr>
          </a:p>
          <a:p>
            <a:pPr marL="16435" defTabSz="1183325">
              <a:lnSpc>
                <a:spcPts val="4018"/>
              </a:lnSpc>
            </a:pPr>
            <a:r>
              <a:rPr lang="en-GB" sz="4000" dirty="0">
                <a:solidFill>
                  <a:srgbClr val="FF0000"/>
                </a:solidFill>
                <a:latin typeface="Comic Sans MS"/>
                <a:cs typeface="Comic Sans MS"/>
              </a:rPr>
              <a:t>not</a:t>
            </a:r>
            <a:r>
              <a:rPr lang="en-GB" sz="4000" spc="-3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4000" dirty="0">
                <a:solidFill>
                  <a:srgbClr val="FF0000"/>
                </a:solidFill>
                <a:latin typeface="Comic Sans MS"/>
                <a:cs typeface="Comic Sans MS"/>
              </a:rPr>
              <a:t>the</a:t>
            </a:r>
            <a:r>
              <a:rPr lang="en-GB" sz="4000" spc="-2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4000" spc="-13" dirty="0">
                <a:solidFill>
                  <a:srgbClr val="FF0000"/>
                </a:solidFill>
                <a:latin typeface="Comic Sans MS"/>
                <a:cs typeface="Comic Sans MS"/>
              </a:rPr>
              <a:t>Language!</a:t>
            </a:r>
            <a:endParaRPr lang="en-GB" sz="4000" dirty="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1861" y="3826137"/>
            <a:ext cx="3317298" cy="23509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1057" y="2102402"/>
            <a:ext cx="3632856" cy="22167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8109" y="5392091"/>
            <a:ext cx="4047026" cy="244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164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040FE46-D29A-8A07-3166-A117516DF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A1651FD-24B8-75F5-CBED-261554B13353}"/>
              </a:ext>
            </a:extLst>
          </p:cNvPr>
          <p:cNvSpPr txBox="1"/>
          <p:nvPr/>
        </p:nvSpPr>
        <p:spPr>
          <a:xfrm>
            <a:off x="381000" y="888075"/>
            <a:ext cx="12352767" cy="421865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If you ask, “Which is the best car?”, that’s actually an </a:t>
            </a:r>
            <a:r>
              <a:rPr lang="en-GB" sz="2400" b="1" dirty="0">
                <a:latin typeface="Comic Sans MS" panose="030F0702030302020204" pitchFamily="66" charset="0"/>
              </a:rPr>
              <a:t>incomplete question</a:t>
            </a:r>
            <a:r>
              <a:rPr lang="en-GB" sz="2400" dirty="0">
                <a:latin typeface="Comic Sans MS" panose="030F0702030302020204" pitchFamily="66" charset="0"/>
              </a:rPr>
              <a:t> — </a:t>
            </a:r>
            <a:r>
              <a:rPr lang="en-GB" sz="2400" b="1" dirty="0">
                <a:latin typeface="Comic Sans MS" panose="030F0702030302020204" pitchFamily="66" charset="0"/>
              </a:rPr>
              <a:t>best for what?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The answer will always depend on the purpose.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For example: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If you want the </a:t>
            </a:r>
            <a:r>
              <a:rPr lang="en-GB" sz="2400" b="1" dirty="0">
                <a:latin typeface="Comic Sans MS" panose="030F0702030302020204" pitchFamily="66" charset="0"/>
              </a:rPr>
              <a:t>best car for fuel efficiency</a:t>
            </a:r>
            <a:r>
              <a:rPr lang="en-GB" sz="2400" dirty="0">
                <a:latin typeface="Comic Sans MS" panose="030F0702030302020204" pitchFamily="66" charset="0"/>
              </a:rPr>
              <a:t>, I’ll say </a:t>
            </a:r>
            <a:r>
              <a:rPr lang="en-GB" sz="2400" b="1" dirty="0">
                <a:latin typeface="Comic Sans MS" panose="030F0702030302020204" pitchFamily="66" charset="0"/>
              </a:rPr>
              <a:t>small compact cars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If you ask for the </a:t>
            </a:r>
            <a:r>
              <a:rPr lang="en-GB" sz="2400" b="1" dirty="0">
                <a:latin typeface="Comic Sans MS" panose="030F0702030302020204" pitchFamily="66" charset="0"/>
              </a:rPr>
              <a:t>best car for off-road driving</a:t>
            </a:r>
            <a:r>
              <a:rPr lang="en-GB" sz="2400" dirty="0">
                <a:latin typeface="Comic Sans MS" panose="030F0702030302020204" pitchFamily="66" charset="0"/>
              </a:rPr>
              <a:t>, I’ll say </a:t>
            </a:r>
            <a:r>
              <a:rPr lang="en-GB" sz="2400" b="1" dirty="0">
                <a:latin typeface="Comic Sans MS" panose="030F0702030302020204" pitchFamily="66" charset="0"/>
              </a:rPr>
              <a:t>4x4 vehicles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If you want to </a:t>
            </a:r>
            <a:r>
              <a:rPr lang="en-GB" sz="2400" b="1" dirty="0">
                <a:latin typeface="Comic Sans MS" panose="030F0702030302020204" pitchFamily="66" charset="0"/>
              </a:rPr>
              <a:t>carry heavy loads</a:t>
            </a:r>
            <a:r>
              <a:rPr lang="en-GB" sz="2400" dirty="0">
                <a:latin typeface="Comic Sans MS" panose="030F0702030302020204" pitchFamily="66" charset="0"/>
              </a:rPr>
              <a:t>, I’ll recommend a </a:t>
            </a:r>
            <a:r>
              <a:rPr lang="en-GB" sz="2400" b="1" dirty="0">
                <a:latin typeface="Comic Sans MS" panose="030F0702030302020204" pitchFamily="66" charset="0"/>
              </a:rPr>
              <a:t>truck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If your goal is </a:t>
            </a:r>
            <a:r>
              <a:rPr lang="en-GB" sz="2400" b="1" dirty="0">
                <a:latin typeface="Comic Sans MS" panose="030F0702030302020204" pitchFamily="66" charset="0"/>
              </a:rPr>
              <a:t>speed</a:t>
            </a:r>
            <a:r>
              <a:rPr lang="en-GB" sz="2400" dirty="0">
                <a:latin typeface="Comic Sans MS" panose="030F0702030302020204" pitchFamily="66" charset="0"/>
              </a:rPr>
              <a:t>, then it’s a </a:t>
            </a:r>
            <a:r>
              <a:rPr lang="en-GB" sz="2400" b="1" dirty="0">
                <a:latin typeface="Comic Sans MS" panose="030F0702030302020204" pitchFamily="66" charset="0"/>
              </a:rPr>
              <a:t>Lamborghini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You see? There’s </a:t>
            </a:r>
            <a:r>
              <a:rPr lang="en-GB" sz="2400" b="1" dirty="0">
                <a:latin typeface="Comic Sans MS" panose="030F0702030302020204" pitchFamily="66" charset="0"/>
              </a:rPr>
              <a:t>no single best car</a:t>
            </a:r>
            <a:r>
              <a:rPr lang="en-GB" sz="2400" dirty="0">
                <a:latin typeface="Comic Sans MS" panose="030F0702030302020204" pitchFamily="66" charset="0"/>
              </a:rPr>
              <a:t> — each one excels in a </a:t>
            </a:r>
            <a:r>
              <a:rPr lang="en-GB" sz="2400" b="1" dirty="0">
                <a:latin typeface="Comic Sans MS" panose="030F0702030302020204" pitchFamily="66" charset="0"/>
              </a:rPr>
              <a:t>different context</a:t>
            </a:r>
            <a:r>
              <a:rPr lang="en-GB" sz="2400" dirty="0">
                <a:latin typeface="Comic Sans MS" panose="030F0702030302020204" pitchFamily="66" charset="0"/>
              </a:rPr>
              <a:t>. You can’t simply claim that a </a:t>
            </a:r>
            <a:r>
              <a:rPr lang="en-GB" sz="2400" b="1" dirty="0">
                <a:latin typeface="Comic Sans MS" panose="030F0702030302020204" pitchFamily="66" charset="0"/>
              </a:rPr>
              <a:t>4x4 is the best overall</a:t>
            </a:r>
            <a:r>
              <a:rPr lang="en-GB" sz="2400" dirty="0">
                <a:latin typeface="Comic Sans MS" panose="030F0702030302020204" pitchFamily="66" charset="0"/>
              </a:rPr>
              <a:t>, because while it’s great off-road, it’s </a:t>
            </a:r>
            <a:r>
              <a:rPr lang="en-GB" sz="2400" b="1" dirty="0">
                <a:latin typeface="Comic Sans MS" panose="030F0702030302020204" pitchFamily="66" charset="0"/>
              </a:rPr>
              <a:t>poor in fuel consumption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3922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4EFCF7-66F2-6E93-3294-C6889F859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168305C-9D84-82AA-5F56-F7E45D7316D8}"/>
              </a:ext>
            </a:extLst>
          </p:cNvPr>
          <p:cNvSpPr txBox="1"/>
          <p:nvPr/>
        </p:nvSpPr>
        <p:spPr>
          <a:xfrm>
            <a:off x="381000" y="888075"/>
            <a:ext cx="12352767" cy="40781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Which</a:t>
            </a:r>
            <a:r>
              <a:rPr lang="sv-SE" sz="4000" b="1" spc="39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sv-SE" sz="4000" b="1" dirty="0" err="1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Language</a:t>
            </a:r>
            <a:r>
              <a:rPr lang="sv-SE" sz="4000" b="1" spc="32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is</a:t>
            </a:r>
            <a:r>
              <a:rPr lang="sv-SE" sz="4000" b="1" spc="65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sv-SE" sz="4000" b="1" spc="-13" dirty="0" err="1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Better</a:t>
            </a:r>
            <a:r>
              <a:rPr lang="sv-SE" sz="4000" b="1" spc="-13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?</a:t>
            </a:r>
            <a:endParaRPr lang="en-GB" sz="4000" b="1" dirty="0">
              <a:latin typeface="Comic Sans MS" panose="030F0702030302020204" pitchFamily="66" charset="0"/>
            </a:endParaRPr>
          </a:p>
          <a:p>
            <a:pPr marR="347602" algn="ctr" defTabSz="1183325">
              <a:spcBef>
                <a:spcPts val="3209"/>
              </a:spcBef>
            </a:pPr>
            <a:r>
              <a:rPr lang="en-GB" sz="4000" dirty="0">
                <a:latin typeface="Comic Sans MS" panose="030F0702030302020204" pitchFamily="66" charset="0"/>
                <a:cs typeface="Comic Sans MS"/>
              </a:rPr>
              <a:t>This</a:t>
            </a:r>
            <a:r>
              <a:rPr lang="en-GB" sz="4000" spc="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is</a:t>
            </a:r>
            <a:r>
              <a:rPr lang="en-GB" sz="4000" spc="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incomplete</a:t>
            </a:r>
            <a:r>
              <a:rPr lang="en-GB" sz="40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spc="-13" dirty="0">
                <a:latin typeface="Comic Sans MS" panose="030F0702030302020204" pitchFamily="66" charset="0"/>
                <a:cs typeface="Comic Sans MS"/>
              </a:rPr>
              <a:t>question!!</a:t>
            </a:r>
            <a:endParaRPr lang="en-GB" sz="4000" dirty="0">
              <a:latin typeface="Comic Sans MS" panose="030F0702030302020204" pitchFamily="66" charset="0"/>
              <a:cs typeface="Comic Sans MS"/>
            </a:endParaRPr>
          </a:p>
          <a:p>
            <a:pPr marR="263783" algn="ctr" defTabSz="1183325">
              <a:spcBef>
                <a:spcPts val="3086"/>
              </a:spcBef>
            </a:pP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It</a:t>
            </a:r>
            <a:r>
              <a:rPr lang="en-GB" sz="4000" spc="6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Depends</a:t>
            </a:r>
            <a:r>
              <a:rPr lang="en-GB" sz="4000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on</a:t>
            </a:r>
            <a:r>
              <a:rPr lang="en-GB" sz="4000" spc="45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your</a:t>
            </a:r>
            <a:r>
              <a:rPr lang="en-GB" sz="4000" spc="19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spc="-26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need</a:t>
            </a:r>
            <a:endParaRPr lang="en-GB" sz="4000" dirty="0">
              <a:latin typeface="Comic Sans MS" panose="030F0702030302020204" pitchFamily="66" charset="0"/>
              <a:cs typeface="Comic Sans MS"/>
            </a:endParaRPr>
          </a:p>
          <a:p>
            <a:pPr marL="4334750" marR="6574" indent="-4319136" defTabSz="1183325">
              <a:lnSpc>
                <a:spcPct val="70100"/>
              </a:lnSpc>
              <a:spcBef>
                <a:spcPts val="3048"/>
              </a:spcBef>
            </a:pP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You</a:t>
            </a:r>
            <a:r>
              <a:rPr lang="en-GB" sz="4000" spc="-104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can</a:t>
            </a:r>
            <a:r>
              <a:rPr lang="en-GB" sz="4000" spc="-11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use</a:t>
            </a:r>
            <a:r>
              <a:rPr lang="en-GB" sz="4000" spc="-9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many</a:t>
            </a:r>
            <a:r>
              <a:rPr lang="en-GB" sz="4000" spc="-136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programming</a:t>
            </a:r>
            <a:r>
              <a:rPr lang="en-GB" sz="4000" spc="-97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languages</a:t>
            </a:r>
            <a:r>
              <a:rPr lang="en-GB" sz="4000" spc="-84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at</a:t>
            </a:r>
            <a:r>
              <a:rPr lang="en-GB" sz="4000" spc="-104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spc="-32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the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same</a:t>
            </a:r>
            <a:r>
              <a:rPr lang="en-GB" sz="4000" spc="-129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time.</a:t>
            </a:r>
          </a:p>
        </p:txBody>
      </p:sp>
    </p:spTree>
    <p:extLst>
      <p:ext uri="{BB962C8B-B14F-4D97-AF65-F5344CB8AC3E}">
        <p14:creationId xmlns:p14="http://schemas.microsoft.com/office/powerpoint/2010/main" val="4236760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8F05460-368D-D152-00FD-A85514287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60EF97A-A997-3406-0E8E-05013F0D1BD4}"/>
              </a:ext>
            </a:extLst>
          </p:cNvPr>
          <p:cNvSpPr txBox="1"/>
          <p:nvPr/>
        </p:nvSpPr>
        <p:spPr>
          <a:xfrm>
            <a:off x="381000" y="888075"/>
            <a:ext cx="12352767" cy="495731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The right answer is always </a:t>
            </a:r>
            <a:r>
              <a:rPr lang="en-GB" sz="2400" b="1" dirty="0">
                <a:latin typeface="Comic Sans MS" panose="030F0702030302020204" pitchFamily="66" charset="0"/>
              </a:rPr>
              <a:t>“It depends on your needs.”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You should </a:t>
            </a:r>
            <a:r>
              <a:rPr lang="en-GB" sz="2400" b="1" dirty="0">
                <a:latin typeface="Comic Sans MS" panose="030F0702030302020204" pitchFamily="66" charset="0"/>
              </a:rPr>
              <a:t>focus on mastering programming skills first</a:t>
            </a:r>
            <a:r>
              <a:rPr lang="en-GB" sz="2400" dirty="0">
                <a:latin typeface="Comic Sans MS" panose="030F0702030302020204" pitchFamily="66" charset="0"/>
              </a:rPr>
              <a:t>, because </a:t>
            </a:r>
            <a:r>
              <a:rPr lang="en-GB" sz="2400" b="1" dirty="0">
                <a:latin typeface="Comic Sans MS" panose="030F0702030302020204" pitchFamily="66" charset="0"/>
              </a:rPr>
              <a:t>the language is only a vehicle — not the destination.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A programming language is simply a </a:t>
            </a:r>
            <a:r>
              <a:rPr lang="en-GB" sz="2400" b="1" dirty="0">
                <a:latin typeface="Comic Sans MS" panose="030F0702030302020204" pitchFamily="66" charset="0"/>
              </a:rPr>
              <a:t>tool</a:t>
            </a:r>
            <a:r>
              <a:rPr lang="en-GB" sz="2400" dirty="0">
                <a:latin typeface="Comic Sans MS" panose="030F0702030302020204" pitchFamily="66" charset="0"/>
              </a:rPr>
              <a:t>, and the best tool depends on the job.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Sometimes </a:t>
            </a:r>
            <a:r>
              <a:rPr lang="en-GB" sz="2400" b="1" dirty="0">
                <a:latin typeface="Comic Sans MS" panose="030F0702030302020204" pitchFamily="66" charset="0"/>
              </a:rPr>
              <a:t>Visual Basic</a:t>
            </a:r>
            <a:r>
              <a:rPr lang="en-GB" sz="2400" dirty="0">
                <a:latin typeface="Comic Sans MS" panose="030F0702030302020204" pitchFamily="66" charset="0"/>
              </a:rPr>
              <a:t> is a far better choice than </a:t>
            </a:r>
            <a:r>
              <a:rPr lang="en-GB" sz="2400" b="1" dirty="0">
                <a:latin typeface="Comic Sans MS" panose="030F0702030302020204" pitchFamily="66" charset="0"/>
              </a:rPr>
              <a:t>C++</a:t>
            </a:r>
            <a:r>
              <a:rPr lang="en-GB" sz="2400" dirty="0">
                <a:latin typeface="Comic Sans MS" panose="030F0702030302020204" pitchFamily="66" charset="0"/>
              </a:rPr>
              <a:t> for certain tasks, while in other situations </a:t>
            </a:r>
            <a:r>
              <a:rPr lang="en-GB" sz="2400" b="1" dirty="0">
                <a:latin typeface="Comic Sans MS" panose="030F0702030302020204" pitchFamily="66" charset="0"/>
              </a:rPr>
              <a:t>C++</a:t>
            </a:r>
            <a:r>
              <a:rPr lang="en-GB" sz="2400" dirty="0">
                <a:latin typeface="Comic Sans MS" panose="030F0702030302020204" pitchFamily="66" charset="0"/>
              </a:rPr>
              <a:t> clearly outperforms </a:t>
            </a:r>
            <a:r>
              <a:rPr lang="en-GB" sz="2400" b="1" dirty="0">
                <a:latin typeface="Comic Sans MS" panose="030F0702030302020204" pitchFamily="66" charset="0"/>
              </a:rPr>
              <a:t>Visual Basic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“Best for </a:t>
            </a:r>
            <a:r>
              <a:rPr lang="en-GB" sz="2400" b="1" dirty="0">
                <a:latin typeface="Comic Sans MS" panose="030F0702030302020204" pitchFamily="66" charset="0"/>
              </a:rPr>
              <a:t>what</a:t>
            </a:r>
            <a:r>
              <a:rPr lang="en-GB" sz="2400" dirty="0">
                <a:latin typeface="Comic Sans MS" panose="030F0702030302020204" pitchFamily="66" charset="0"/>
              </a:rPr>
              <a:t>?” Web backend? Mobile app? Embedded device? Data science? Without context, “Which is better?” has </a:t>
            </a:r>
            <a:r>
              <a:rPr lang="en-GB" sz="2400" b="1" dirty="0">
                <a:latin typeface="Comic Sans MS" panose="030F0702030302020204" pitchFamily="66" charset="0"/>
              </a:rPr>
              <a:t>no useful answer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It’s not about which language is superior — it’s about </a:t>
            </a:r>
            <a:r>
              <a:rPr lang="en-GB" sz="2400" b="1" dirty="0">
                <a:latin typeface="Comic Sans MS" panose="030F0702030302020204" pitchFamily="66" charset="0"/>
              </a:rPr>
              <a:t>choosing the right one for the right situation.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You can even </a:t>
            </a:r>
            <a:r>
              <a:rPr lang="en-GB" sz="2400" b="1" dirty="0">
                <a:latin typeface="Comic Sans MS" panose="030F0702030302020204" pitchFamily="66" charset="0"/>
              </a:rPr>
              <a:t>use multiple languages</a:t>
            </a:r>
            <a:r>
              <a:rPr lang="en-GB" sz="2400" dirty="0">
                <a:latin typeface="Comic Sans MS" panose="030F0702030302020204" pitchFamily="66" charset="0"/>
              </a:rPr>
              <a:t> on the same project.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Choose by </a:t>
            </a:r>
            <a:r>
              <a:rPr lang="en-GB" sz="2400" b="1" dirty="0">
                <a:latin typeface="Comic Sans MS" panose="030F0702030302020204" pitchFamily="66" charset="0"/>
              </a:rPr>
              <a:t>domain &amp; constraints</a:t>
            </a:r>
            <a:r>
              <a:rPr lang="en-GB" sz="2400" dirty="0">
                <a:latin typeface="Comic Sans MS" panose="030F0702030302020204" pitchFamily="66" charset="0"/>
              </a:rPr>
              <a:t> (performance, team skills, libraries, hosting).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Many systems combine languages (e.g., </a:t>
            </a:r>
            <a:r>
              <a:rPr lang="en-GB" sz="2400" b="1" dirty="0">
                <a:latin typeface="Comic Sans MS" panose="030F0702030302020204" pitchFamily="66" charset="0"/>
              </a:rPr>
              <a:t>C++</a:t>
            </a:r>
            <a:r>
              <a:rPr lang="en-GB" sz="2400" dirty="0">
                <a:latin typeface="Comic Sans MS" panose="030F0702030302020204" pitchFamily="66" charset="0"/>
              </a:rPr>
              <a:t> core + </a:t>
            </a:r>
            <a:r>
              <a:rPr lang="en-GB" sz="2400" b="1" dirty="0">
                <a:latin typeface="Comic Sans MS" panose="030F0702030302020204" pitchFamily="66" charset="0"/>
              </a:rPr>
              <a:t>Python</a:t>
            </a:r>
            <a:r>
              <a:rPr lang="en-GB" sz="2400" dirty="0">
                <a:latin typeface="Comic Sans MS" panose="030F0702030302020204" pitchFamily="66" charset="0"/>
              </a:rPr>
              <a:t> glue + </a:t>
            </a:r>
            <a:r>
              <a:rPr lang="en-GB" sz="2400" b="1" dirty="0">
                <a:latin typeface="Comic Sans MS" panose="030F0702030302020204" pitchFamily="66" charset="0"/>
              </a:rPr>
              <a:t>JS/TS</a:t>
            </a:r>
            <a:r>
              <a:rPr lang="en-GB" sz="2400" dirty="0">
                <a:latin typeface="Comic Sans MS" panose="030F0702030302020204" pitchFamily="66" charset="0"/>
              </a:rPr>
              <a:t> frontend).</a:t>
            </a:r>
          </a:p>
        </p:txBody>
      </p:sp>
    </p:spTree>
    <p:extLst>
      <p:ext uri="{BB962C8B-B14F-4D97-AF65-F5344CB8AC3E}">
        <p14:creationId xmlns:p14="http://schemas.microsoft.com/office/powerpoint/2010/main" val="3256652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F7B784-753A-1570-06E5-41280B82B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DCEA1BE-0BFA-E6D4-C320-509249F30729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32F16DEF-AEAE-7B4C-FFC3-C5D8EC58408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9DC9A67-768C-10F2-DDAC-AE43989F18C0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F041C7BD-20AE-3CE1-D53F-29A791BE9AC0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1ECE73B4-9A99-9360-EA94-24A797AAB923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No Racism In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3019160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586D81-EA3A-1927-DF65-0F2CF9AF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197224" y="1368730"/>
            <a:ext cx="13016753" cy="7323567"/>
          </a:xfrm>
          <a:custGeom>
            <a:avLst/>
            <a:gdLst/>
            <a:ahLst/>
            <a:cxnLst/>
            <a:rect l="l" t="t" r="r" b="b"/>
            <a:pathLst>
              <a:path w="10058400" h="5659120">
                <a:moveTo>
                  <a:pt x="10058400" y="5658611"/>
                </a:moveTo>
                <a:lnTo>
                  <a:pt x="0" y="5658611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5658611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grpSp>
        <p:nvGrpSpPr>
          <p:cNvPr id="7" name="object 7"/>
          <p:cNvGrpSpPr/>
          <p:nvPr/>
        </p:nvGrpSpPr>
        <p:grpSpPr>
          <a:xfrm>
            <a:off x="197224" y="1368730"/>
            <a:ext cx="7680213" cy="7323567"/>
            <a:chOff x="0" y="1057655"/>
            <a:chExt cx="5934710" cy="5659120"/>
          </a:xfrm>
        </p:grpSpPr>
        <p:pic>
          <p:nvPicPr>
            <p:cNvPr id="6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7655"/>
              <a:ext cx="5934455" cy="5658611"/>
            </a:xfrm>
            <a:prstGeom prst="rect">
              <a:avLst/>
            </a:prstGeom>
          </p:spPr>
        </p:pic>
        <p:pic>
          <p:nvPicPr>
            <p:cNvPr id="10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64767"/>
              <a:ext cx="5798819" cy="5651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4186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74B9746-3785-C9B3-BB16-A0AB8FF2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3D861D8-C8F6-0CD5-F081-DB1E494D3955}"/>
              </a:ext>
            </a:extLst>
          </p:cNvPr>
          <p:cNvSpPr txBox="1"/>
          <p:nvPr/>
        </p:nvSpPr>
        <p:spPr>
          <a:xfrm>
            <a:off x="381000" y="888075"/>
            <a:ext cx="12352767" cy="347998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All </a:t>
            </a:r>
            <a:r>
              <a:rPr lang="en-GB" sz="2400" b="1" dirty="0">
                <a:latin typeface="Comic Sans MS" panose="030F0702030302020204" pitchFamily="66" charset="0"/>
              </a:rPr>
              <a:t>programming languages are great</a:t>
            </a:r>
            <a:r>
              <a:rPr lang="en-GB" sz="2400" dirty="0">
                <a:latin typeface="Comic Sans MS" panose="030F0702030302020204" pitchFamily="66" charset="0"/>
              </a:rPr>
              <a:t> — each one is simply a </a:t>
            </a:r>
            <a:r>
              <a:rPr lang="en-GB" sz="2400" b="1" dirty="0">
                <a:latin typeface="Comic Sans MS" panose="030F0702030302020204" pitchFamily="66" charset="0"/>
              </a:rPr>
              <a:t>tool in your hands</a:t>
            </a:r>
            <a:r>
              <a:rPr lang="en-GB" sz="2400" dirty="0">
                <a:latin typeface="Comic Sans MS" panose="030F0702030302020204" pitchFamily="66" charset="0"/>
              </a:rPr>
              <a:t> to help you achieve your goal.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Disliking</a:t>
            </a:r>
            <a:r>
              <a:rPr lang="en-GB" sz="2400" dirty="0">
                <a:latin typeface="Comic Sans MS" panose="030F0702030302020204" pitchFamily="66" charset="0"/>
              </a:rPr>
              <a:t> or being </a:t>
            </a:r>
            <a:r>
              <a:rPr lang="en-GB" sz="2400" b="1" dirty="0">
                <a:latin typeface="Comic Sans MS" panose="030F0702030302020204" pitchFamily="66" charset="0"/>
              </a:rPr>
              <a:t>biased</a:t>
            </a:r>
            <a:r>
              <a:rPr lang="en-GB" sz="2400" dirty="0">
                <a:latin typeface="Comic Sans MS" panose="030F0702030302020204" pitchFamily="66" charset="0"/>
              </a:rPr>
              <a:t> against a language doesn’t make you a stronger developer; it shows </a:t>
            </a:r>
            <a:r>
              <a:rPr lang="en-GB" sz="2400" b="1" dirty="0">
                <a:latin typeface="Comic Sans MS" panose="030F0702030302020204" pitchFamily="66" charset="0"/>
              </a:rPr>
              <a:t>limited understanding</a:t>
            </a:r>
            <a:r>
              <a:rPr lang="en-GB" sz="2400" dirty="0">
                <a:latin typeface="Comic Sans MS" panose="030F0702030302020204" pitchFamily="66" charset="0"/>
              </a:rPr>
              <a:t>. A truly skilled programmer appreciates the </a:t>
            </a:r>
            <a:r>
              <a:rPr lang="en-GB" sz="2400" b="1" dirty="0">
                <a:latin typeface="Comic Sans MS" panose="030F0702030302020204" pitchFamily="66" charset="0"/>
              </a:rPr>
              <a:t>value of every language</a:t>
            </a:r>
            <a:r>
              <a:rPr lang="en-GB" sz="2400" dirty="0">
                <a:latin typeface="Comic Sans MS" panose="030F0702030302020204" pitchFamily="66" charset="0"/>
              </a:rPr>
              <a:t> and chooses the right one for the task.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So, instead of being “language-racist,” it’s time to </a:t>
            </a:r>
            <a:r>
              <a:rPr lang="en-GB" sz="2400" b="1" dirty="0">
                <a:latin typeface="Comic Sans MS" panose="030F0702030302020204" pitchFamily="66" charset="0"/>
              </a:rPr>
              <a:t>grow as a professional</a:t>
            </a:r>
            <a:r>
              <a:rPr lang="en-GB" sz="2400" dirty="0">
                <a:latin typeface="Comic Sans MS" panose="030F0702030302020204" pitchFamily="66" charset="0"/>
              </a:rPr>
              <a:t> — focus on solving problems, not defending preferences.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Avoid fanboy wars. Languages are </a:t>
            </a:r>
            <a:r>
              <a:rPr lang="en-GB" sz="2400" b="1" dirty="0">
                <a:latin typeface="Comic Sans MS" panose="030F0702030302020204" pitchFamily="66" charset="0"/>
              </a:rPr>
              <a:t>tools</a:t>
            </a:r>
            <a:r>
              <a:rPr lang="en-GB" sz="2400" dirty="0">
                <a:latin typeface="Comic Sans MS" panose="030F0702030302020204" pitchFamily="66" charset="0"/>
              </a:rPr>
              <a:t>, not identities. Be </a:t>
            </a:r>
            <a:r>
              <a:rPr lang="en-GB" sz="2400" b="1" dirty="0">
                <a:latin typeface="Comic Sans MS" panose="030F0702030302020204" pitchFamily="66" charset="0"/>
              </a:rPr>
              <a:t>pragmatic</a:t>
            </a:r>
            <a:r>
              <a:rPr lang="en-GB" sz="2400" dirty="0">
                <a:latin typeface="Comic Sans MS" panose="030F0702030302020204" pitchFamily="66" charset="0"/>
              </a:rPr>
              <a:t> and respectful; use what solves the problem well.</a:t>
            </a:r>
          </a:p>
        </p:txBody>
      </p:sp>
    </p:spTree>
    <p:extLst>
      <p:ext uri="{BB962C8B-B14F-4D97-AF65-F5344CB8AC3E}">
        <p14:creationId xmlns:p14="http://schemas.microsoft.com/office/powerpoint/2010/main" val="985989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C67001-EB77-F72A-CD3B-BD7E05234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F599BC4-ED15-2E5C-D5D9-07FF3441CD65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D41A0D6-6EE9-4FEF-0B30-1C6E122577D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9104838-AB5E-506F-A786-3D2A02183CE2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3605FBF8-8A8E-78C1-0429-33B5EFA35ECF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8879F56-D90A-446F-08C0-0F7D425EA9BE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Why Many Languages Exist?</a:t>
            </a:r>
          </a:p>
        </p:txBody>
      </p:sp>
    </p:spTree>
    <p:extLst>
      <p:ext uri="{BB962C8B-B14F-4D97-AF65-F5344CB8AC3E}">
        <p14:creationId xmlns:p14="http://schemas.microsoft.com/office/powerpoint/2010/main" val="809342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D6743D-1F91-1FED-CEAF-99D005AC2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4A5164D-3BC0-7A5A-E9D0-34FAE91BB931}"/>
              </a:ext>
            </a:extLst>
          </p:cNvPr>
          <p:cNvSpPr txBox="1"/>
          <p:nvPr/>
        </p:nvSpPr>
        <p:spPr>
          <a:xfrm>
            <a:off x="529216" y="7162800"/>
            <a:ext cx="12352767" cy="163332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/>
              <a:t>Different problems require </a:t>
            </a:r>
            <a:r>
              <a:rPr lang="en-GB" sz="2400" b="1" dirty="0"/>
              <a:t>different trade-offs</a:t>
            </a:r>
            <a:r>
              <a:rPr lang="en-GB" sz="2400" dirty="0"/>
              <a:t> — such as </a:t>
            </a:r>
            <a:r>
              <a:rPr lang="en-GB" sz="2400" b="1" dirty="0"/>
              <a:t>speed, safety, ecosystem, tooling, or domain suitability</a:t>
            </a:r>
            <a:r>
              <a:rPr lang="en-GB" sz="2400" dirty="0"/>
              <a:t>. There’s no universal language that fits every situation. Just as a craftsman uses the </a:t>
            </a:r>
            <a:r>
              <a:rPr lang="en-GB" sz="2400" b="1" dirty="0"/>
              <a:t>right tool for each task</a:t>
            </a:r>
            <a:r>
              <a:rPr lang="en-GB" sz="2400" dirty="0"/>
              <a:t>, a good programmer chooses the </a:t>
            </a:r>
            <a:r>
              <a:rPr lang="en-GB" sz="2400" b="1" dirty="0"/>
              <a:t>right language for the job</a:t>
            </a:r>
            <a:r>
              <a:rPr lang="en-GB" sz="2400" dirty="0"/>
              <a:t>.</a:t>
            </a:r>
            <a:endParaRPr lang="en-GB" sz="2400" dirty="0">
              <a:latin typeface="Comic Sans MS" panose="030F0702030302020204" pitchFamily="66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4C2FAEE-7D96-B069-18CD-FDC15F15A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446" y="0"/>
            <a:ext cx="13411200" cy="6786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945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E4DE68-D30B-462E-88D5-6B440841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0EE09D6-64E4-A1CB-273D-FF2D7629F293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2F24A0D0-9A86-CE0F-BA93-2ADDE43D779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ABB6C2A-B937-78FD-C464-1D911345222B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DC348265-0268-6044-DF96-99235DA8A0E5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EE3638EA-8B7E-4A21-AFC4-0AD064447828}"/>
              </a:ext>
            </a:extLst>
          </p:cNvPr>
          <p:cNvSpPr txBox="1"/>
          <p:nvPr/>
        </p:nvSpPr>
        <p:spPr>
          <a:xfrm>
            <a:off x="106432" y="3084218"/>
            <a:ext cx="13304768" cy="240835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How long it takes to learn a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programming language?</a:t>
            </a:r>
          </a:p>
        </p:txBody>
      </p:sp>
    </p:spTree>
    <p:extLst>
      <p:ext uri="{BB962C8B-B14F-4D97-AF65-F5344CB8AC3E}">
        <p14:creationId xmlns:p14="http://schemas.microsoft.com/office/powerpoint/2010/main" val="2301401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07FD7B0-DC81-6F11-9AEA-DE5538019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B427303-DEAC-7EE1-1CC0-16B5B13E4444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ctr"/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Less</a:t>
            </a:r>
            <a:r>
              <a:rPr lang="en-GB" sz="4000" b="1" spc="-3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than</a:t>
            </a:r>
            <a:r>
              <a:rPr lang="en-GB" sz="4000" b="1" spc="-65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  <a:r>
              <a:rPr lang="en-GB" sz="4000" b="1" spc="-65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month’s</a:t>
            </a:r>
            <a:r>
              <a:rPr lang="en-GB" sz="4000" b="1" spc="-97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spc="-26" dirty="0">
                <a:solidFill>
                  <a:srgbClr val="000000"/>
                </a:solidFill>
                <a:latin typeface="Comic Sans MS" panose="030F0702030302020204" pitchFamily="66" charset="0"/>
              </a:rPr>
              <a:t>time</a:t>
            </a:r>
          </a:p>
          <a:p>
            <a:pPr algn="ctr"/>
            <a:endParaRPr lang="en-GB" sz="40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</a:rPr>
              <a:t>Learning</a:t>
            </a:r>
            <a:r>
              <a:rPr lang="en-GB" sz="4000" spc="-6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  <a:r>
              <a:rPr lang="en-GB" sz="4000" spc="32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</a:rPr>
              <a:t>Programming</a:t>
            </a:r>
            <a:r>
              <a:rPr lang="en-GB" sz="4000" spc="-6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Language </a:t>
            </a:r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</a:rPr>
              <a:t>Is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</a:rPr>
              <a:t>5%</a:t>
            </a:r>
            <a:r>
              <a:rPr lang="en-GB" sz="4000" spc="45" dirty="0">
                <a:latin typeface="Comic Sans MS" panose="030F0702030302020204" pitchFamily="66" charset="0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</a:rPr>
              <a:t>of</a:t>
            </a:r>
            <a:r>
              <a:rPr lang="en-GB" sz="4000" spc="58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</a:rPr>
              <a:t>Learn</a:t>
            </a:r>
            <a:r>
              <a:rPr lang="en-GB" sz="4000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 Programming</a:t>
            </a:r>
          </a:p>
          <a:p>
            <a:pPr algn="l"/>
            <a:endParaRPr lang="en-GB" sz="2400" dirty="0"/>
          </a:p>
          <a:p>
            <a:pPr algn="l"/>
            <a:r>
              <a:rPr lang="en-GB" sz="2400" dirty="0">
                <a:latin typeface="Comic Sans MS" panose="030F0702030302020204" pitchFamily="66" charset="0"/>
              </a:rPr>
              <a:t>Syntax is the easy part you can learn it </a:t>
            </a:r>
            <a:r>
              <a:rPr lang="en-GB" sz="2400" dirty="0" err="1">
                <a:latin typeface="Comic Sans MS" panose="030F0702030302020204" pitchFamily="66" charset="0"/>
              </a:rPr>
              <a:t>i</a:t>
            </a:r>
            <a:r>
              <a:rPr lang="en-GB" sz="2400" dirty="0">
                <a:latin typeface="Comic Sans MS" panose="030F0702030302020204" pitchFamily="66" charset="0"/>
              </a:rPr>
              <a:t> a very short time. The </a:t>
            </a:r>
            <a:r>
              <a:rPr lang="en-GB" sz="2400" b="1" dirty="0">
                <a:latin typeface="Comic Sans MS" panose="030F0702030302020204" pitchFamily="66" charset="0"/>
              </a:rPr>
              <a:t>95%</a:t>
            </a:r>
            <a:r>
              <a:rPr lang="en-GB" sz="2400" dirty="0">
                <a:latin typeface="Comic Sans MS" panose="030F0702030302020204" pitchFamily="66" charset="0"/>
              </a:rPr>
              <a:t> includes: Design, problem-solving, data structures, algorithms, architecture, testing, tooling, debugging, deployment, collaboration.</a:t>
            </a:r>
          </a:p>
        </p:txBody>
      </p:sp>
    </p:spTree>
    <p:extLst>
      <p:ext uri="{BB962C8B-B14F-4D97-AF65-F5344CB8AC3E}">
        <p14:creationId xmlns:p14="http://schemas.microsoft.com/office/powerpoint/2010/main" val="3832067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D1A43D-C1DD-38A0-2EC2-8D65F434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04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2E0C74-8B7A-B1CD-82A7-62F85A8D6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9ECCC46-68C8-A91A-4D6C-1BACCD4851DF}"/>
              </a:ext>
            </a:extLst>
          </p:cNvPr>
          <p:cNvSpPr txBox="1"/>
          <p:nvPr/>
        </p:nvSpPr>
        <p:spPr>
          <a:xfrm>
            <a:off x="381000" y="888075"/>
            <a:ext cx="12352767" cy="8946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/>
            <a:r>
              <a:rPr lang="en-GB" sz="2400" b="1" dirty="0">
                <a:latin typeface="Comic Sans MS" panose="030F0702030302020204" pitchFamily="66" charset="0"/>
              </a:rPr>
              <a:t>Learning programming is not the same as learning a programming language</a:t>
            </a:r>
            <a:r>
              <a:rPr lang="en-GB" sz="2400" dirty="0">
                <a:latin typeface="Comic Sans MS" panose="030F0702030302020204" pitchFamily="66" charset="0"/>
              </a:rPr>
              <a:t> — there’s a big difference.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9F00CF3-613C-1729-BBEA-8433EEEC4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100" y="1905000"/>
            <a:ext cx="8001000" cy="800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938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EF3B70-97D5-1FBA-3D79-77DC4743F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F856671-D066-28DF-D0A8-901749470BAB}"/>
              </a:ext>
            </a:extLst>
          </p:cNvPr>
          <p:cNvSpPr txBox="1"/>
          <p:nvPr/>
        </p:nvSpPr>
        <p:spPr>
          <a:xfrm>
            <a:off x="381000" y="888075"/>
            <a:ext cx="12352767" cy="717330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Imagine you want to become a </a:t>
            </a:r>
            <a:r>
              <a:rPr lang="en-GB" sz="2400" b="1" dirty="0">
                <a:latin typeface="Comic Sans MS" panose="030F0702030302020204" pitchFamily="66" charset="0"/>
              </a:rPr>
              <a:t>carpenter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  <a:br>
              <a:rPr lang="en-GB" sz="2400" dirty="0">
                <a:latin typeface="Comic Sans MS" panose="030F0702030302020204" pitchFamily="66" charset="0"/>
              </a:rPr>
            </a:b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You must learn how to use </a:t>
            </a:r>
            <a:r>
              <a:rPr lang="en-GB" sz="2400" b="1" dirty="0">
                <a:latin typeface="Comic Sans MS" panose="030F0702030302020204" pitchFamily="66" charset="0"/>
              </a:rPr>
              <a:t>carpentry tools</a:t>
            </a:r>
            <a:r>
              <a:rPr lang="en-GB" sz="2400" dirty="0">
                <a:latin typeface="Comic Sans MS" panose="030F0702030302020204" pitchFamily="66" charset="0"/>
              </a:rPr>
              <a:t>, but more importantly, you need to 		master the </a:t>
            </a:r>
            <a:r>
              <a:rPr lang="en-GB" sz="2400" b="1" dirty="0">
                <a:latin typeface="Comic Sans MS" panose="030F0702030302020204" pitchFamily="66" charset="0"/>
              </a:rPr>
              <a:t>craft of carpentry</a:t>
            </a:r>
            <a:r>
              <a:rPr lang="en-GB" sz="2400" dirty="0">
                <a:latin typeface="Comic Sans MS" panose="030F0702030302020204" pitchFamily="66" charset="0"/>
              </a:rPr>
              <a:t> itself.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Tools like the </a:t>
            </a:r>
            <a:r>
              <a:rPr lang="en-GB" sz="2400" b="1" dirty="0">
                <a:latin typeface="Comic Sans MS" panose="030F0702030302020204" pitchFamily="66" charset="0"/>
              </a:rPr>
              <a:t>hammer, saw, and screwdriver</a:t>
            </a:r>
            <a:r>
              <a:rPr lang="en-GB" sz="2400" dirty="0">
                <a:latin typeface="Comic Sans MS" panose="030F0702030302020204" pitchFamily="66" charset="0"/>
              </a:rPr>
              <a:t> can be learned in just ten 			minutes — but does that make you a carpenter?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Of course not, because tools alone don’t build a table.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Building a table requires </a:t>
            </a:r>
            <a:r>
              <a:rPr lang="en-GB" sz="2400" b="1" dirty="0">
                <a:latin typeface="Comic Sans MS" panose="030F0702030302020204" pitchFamily="66" charset="0"/>
              </a:rPr>
              <a:t>skill, practice, creativity, and understanding</a:t>
            </a:r>
            <a:r>
              <a:rPr lang="en-GB" sz="2400" dirty="0">
                <a:latin typeface="Comic Sans MS" panose="030F0702030302020204" pitchFamily="66" charset="0"/>
              </a:rPr>
              <a:t> — that’s 		the </a:t>
            </a:r>
            <a:r>
              <a:rPr lang="en-GB" sz="2400" b="1" dirty="0">
                <a:latin typeface="Comic Sans MS" panose="030F0702030302020204" pitchFamily="66" charset="0"/>
              </a:rPr>
              <a:t>craft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Similarly, in programming:</a:t>
            </a:r>
            <a:br>
              <a:rPr lang="en-GB" sz="2400" dirty="0">
                <a:latin typeface="Comic Sans MS" panose="030F0702030302020204" pitchFamily="66" charset="0"/>
              </a:rPr>
            </a:b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 </a:t>
            </a:r>
            <a:r>
              <a:rPr lang="en-GB" sz="2400" b="1" dirty="0">
                <a:latin typeface="Comic Sans MS" panose="030F0702030302020204" pitchFamily="66" charset="0"/>
              </a:rPr>
              <a:t>programming language is just a tool</a:t>
            </a:r>
            <a:r>
              <a:rPr lang="en-GB" sz="2400" dirty="0">
                <a:latin typeface="Comic Sans MS" panose="030F0702030302020204" pitchFamily="66" charset="0"/>
              </a:rPr>
              <a:t>, while </a:t>
            </a:r>
            <a:r>
              <a:rPr lang="en-GB" sz="2400" b="1" dirty="0">
                <a:latin typeface="Comic Sans MS" panose="030F0702030302020204" pitchFamily="66" charset="0"/>
              </a:rPr>
              <a:t>programming itself is the craft</a:t>
            </a:r>
            <a:r>
              <a:rPr lang="en-GB" sz="2400" dirty="0">
                <a:latin typeface="Comic Sans MS" panose="030F0702030302020204" pitchFamily="66" charset="0"/>
              </a:rPr>
              <a:t>. 		And mastering that craft takes </a:t>
            </a:r>
            <a:r>
              <a:rPr lang="en-GB" sz="2400" b="1" dirty="0">
                <a:latin typeface="Comic Sans MS" panose="030F0702030302020204" pitchFamily="66" charset="0"/>
              </a:rPr>
              <a:t>time, practice, and deep logical 			thinking.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A programming language is just a tool — programming is the craft.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Knowing the tools doesn’t make you a carpenter; mastering the craft does.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You use tools to build, but you use skill to create.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Programming is not about writing code; it’s about shaping logic.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92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3C821A-EF57-77D0-5193-84B76A161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B69FD92-2DC7-852D-15A1-55AA6637C0FE}"/>
              </a:ext>
            </a:extLst>
          </p:cNvPr>
          <p:cNvSpPr txBox="1"/>
          <p:nvPr/>
        </p:nvSpPr>
        <p:spPr>
          <a:xfrm>
            <a:off x="381000" y="888075"/>
            <a:ext cx="12352767" cy="754263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>
                <a:latin typeface="Comic Sans MS" panose="030F0702030302020204" pitchFamily="66" charset="0"/>
              </a:rPr>
              <a:t>What Is Programming?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Programming</a:t>
            </a:r>
            <a:r>
              <a:rPr lang="en-GB" sz="2400" dirty="0">
                <a:latin typeface="Comic Sans MS" panose="030F0702030302020204" pitchFamily="66" charset="0"/>
              </a:rPr>
              <a:t> is the art of </a:t>
            </a:r>
            <a:r>
              <a:rPr lang="en-GB" sz="2400" b="1" dirty="0">
                <a:latin typeface="Comic Sans MS" panose="030F0702030302020204" pitchFamily="66" charset="0"/>
              </a:rPr>
              <a:t>designing logical solutions</a:t>
            </a:r>
            <a:r>
              <a:rPr lang="en-GB" sz="2400" dirty="0">
                <a:latin typeface="Comic Sans MS" panose="030F0702030302020204" pitchFamily="66" charset="0"/>
              </a:rPr>
              <a:t> and expressing them 			precisely so that </a:t>
            </a:r>
            <a:r>
              <a:rPr lang="en-GB" sz="2400" b="1" dirty="0">
                <a:latin typeface="Comic Sans MS" panose="030F0702030302020204" pitchFamily="66" charset="0"/>
              </a:rPr>
              <a:t>computers can execute them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It’s </a:t>
            </a:r>
            <a:r>
              <a:rPr lang="en-GB" sz="2400" b="1" dirty="0">
                <a:latin typeface="Comic Sans MS" panose="030F0702030302020204" pitchFamily="66" charset="0"/>
              </a:rPr>
              <a:t>not just about writing code</a:t>
            </a:r>
            <a:r>
              <a:rPr lang="en-GB" sz="2400" dirty="0">
                <a:latin typeface="Comic Sans MS" panose="030F0702030302020204" pitchFamily="66" charset="0"/>
              </a:rPr>
              <a:t> — it’s about </a:t>
            </a:r>
            <a:r>
              <a:rPr lang="en-GB" sz="2400" b="1" dirty="0">
                <a:latin typeface="Comic Sans MS" panose="030F0702030302020204" pitchFamily="66" charset="0"/>
              </a:rPr>
              <a:t>thinking clearly</a:t>
            </a:r>
            <a:r>
              <a:rPr lang="en-GB" sz="2400" dirty="0">
                <a:latin typeface="Comic Sans MS" panose="030F0702030302020204" pitchFamily="66" charset="0"/>
              </a:rPr>
              <a:t> about 				requirements, logic, and trade-offs.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It’s your ability to </a:t>
            </a:r>
            <a:r>
              <a:rPr lang="en-GB" sz="2400" b="1" dirty="0">
                <a:latin typeface="Comic Sans MS" panose="030F0702030302020204" pitchFamily="66" charset="0"/>
              </a:rPr>
              <a:t>break down large problems into smaller, manageable parts</a:t>
            </a:r>
            <a:r>
              <a:rPr lang="en-GB" sz="2400" dirty="0">
                <a:latin typeface="Comic Sans MS" panose="030F0702030302020204" pitchFamily="66" charset="0"/>
              </a:rPr>
              <a:t>, 		solve each one efficiently, and then </a:t>
            </a:r>
            <a:r>
              <a:rPr lang="en-GB" sz="2400" b="1" dirty="0">
                <a:latin typeface="Comic Sans MS" panose="030F0702030302020204" pitchFamily="66" charset="0"/>
              </a:rPr>
              <a:t>assemble them into a complete, 			working program</a:t>
            </a:r>
            <a:r>
              <a:rPr lang="en-GB" sz="2400" dirty="0">
                <a:latin typeface="Comic Sans MS" panose="030F0702030302020204" pitchFamily="66" charset="0"/>
              </a:rPr>
              <a:t> that achieves the intended goal.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>
                <a:latin typeface="Comic Sans MS" panose="030F0702030302020204" pitchFamily="66" charset="0"/>
              </a:rPr>
              <a:t>What Is a Programming Language?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 </a:t>
            </a:r>
            <a:r>
              <a:rPr lang="en-GB" sz="2400" b="1" dirty="0">
                <a:latin typeface="Comic Sans MS" panose="030F0702030302020204" pitchFamily="66" charset="0"/>
              </a:rPr>
              <a:t>programming language</a:t>
            </a:r>
            <a:r>
              <a:rPr lang="en-GB" sz="2400" dirty="0">
                <a:latin typeface="Comic Sans MS" panose="030F0702030302020204" pitchFamily="66" charset="0"/>
              </a:rPr>
              <a:t> is simply a </a:t>
            </a:r>
            <a:r>
              <a:rPr lang="en-GB" sz="2400" b="1" dirty="0">
                <a:latin typeface="Comic Sans MS" panose="030F0702030302020204" pitchFamily="66" charset="0"/>
              </a:rPr>
              <a:t>tool</a:t>
            </a:r>
            <a:r>
              <a:rPr lang="en-GB" sz="2400" dirty="0">
                <a:latin typeface="Comic Sans MS" panose="030F0702030302020204" pitchFamily="66" charset="0"/>
              </a:rPr>
              <a:t> — a way to </a:t>
            </a:r>
            <a:r>
              <a:rPr lang="en-GB" sz="2400" b="1" dirty="0">
                <a:latin typeface="Comic Sans MS" panose="030F0702030302020204" pitchFamily="66" charset="0"/>
              </a:rPr>
              <a:t>communicate 				instructions</a:t>
            </a:r>
            <a:r>
              <a:rPr lang="en-GB" sz="2400" dirty="0">
                <a:latin typeface="Comic Sans MS" panose="030F0702030302020204" pitchFamily="66" charset="0"/>
              </a:rPr>
              <a:t> to a computer.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It provides the </a:t>
            </a:r>
            <a:r>
              <a:rPr lang="en-GB" sz="2400" b="1" dirty="0">
                <a:latin typeface="Comic Sans MS" panose="030F0702030302020204" pitchFamily="66" charset="0"/>
              </a:rPr>
              <a:t>syntax and structure</a:t>
            </a:r>
            <a:r>
              <a:rPr lang="en-GB" sz="2400" dirty="0">
                <a:latin typeface="Comic Sans MS" panose="030F0702030302020204" pitchFamily="66" charset="0"/>
              </a:rPr>
              <a:t> that programmers use to express their 		ideas and solutions.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Just like a </a:t>
            </a:r>
            <a:r>
              <a:rPr lang="en-GB" sz="2400" b="1" dirty="0">
                <a:latin typeface="Comic Sans MS" panose="030F0702030302020204" pitchFamily="66" charset="0"/>
              </a:rPr>
              <a:t>hammer or saw</a:t>
            </a:r>
            <a:r>
              <a:rPr lang="en-GB" sz="2400" dirty="0">
                <a:latin typeface="Comic Sans MS" panose="030F0702030302020204" pitchFamily="66" charset="0"/>
              </a:rPr>
              <a:t> helps a carpenter build furniture, a programming 			language helps a programmer </a:t>
            </a:r>
            <a:r>
              <a:rPr lang="en-GB" sz="2400" b="1" dirty="0">
                <a:latin typeface="Comic Sans MS" panose="030F0702030302020204" pitchFamily="66" charset="0"/>
              </a:rPr>
              <a:t>build software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The true power lies not in the tool itself, but in </a:t>
            </a:r>
            <a:r>
              <a:rPr lang="en-GB" sz="2400" b="1" dirty="0">
                <a:latin typeface="Comic Sans MS" panose="030F0702030302020204" pitchFamily="66" charset="0"/>
              </a:rPr>
              <a:t>how </a:t>
            </a:r>
            <a:r>
              <a:rPr lang="en-GB" sz="2400" b="1" dirty="0" err="1">
                <a:latin typeface="Comic Sans MS" panose="030F0702030302020204" pitchFamily="66" charset="0"/>
              </a:rPr>
              <a:t>skillfully</a:t>
            </a:r>
            <a:r>
              <a:rPr lang="en-GB" sz="2400" b="1" dirty="0">
                <a:latin typeface="Comic Sans MS" panose="030F0702030302020204" pitchFamily="66" charset="0"/>
              </a:rPr>
              <a:t> you use it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Driving is important, not the car itself.</a:t>
            </a:r>
            <a:r>
              <a:rPr lang="en-GB" sz="2400" dirty="0">
                <a:latin typeface="Comic Sans MS" panose="030F0702030302020204" pitchFamily="66" charset="0"/>
              </a:rPr>
              <a:t> Likewise, </a:t>
            </a:r>
            <a:r>
              <a:rPr lang="en-GB" sz="2400" b="1" dirty="0">
                <a:latin typeface="Comic Sans MS" panose="030F0702030302020204" pitchFamily="66" charset="0"/>
              </a:rPr>
              <a:t>Programming is important, not the language.</a:t>
            </a:r>
            <a:r>
              <a:rPr lang="en-GB" sz="2400" dirty="0">
                <a:latin typeface="Comic Sans MS" panose="030F0702030302020204" pitchFamily="66" charset="0"/>
              </a:rPr>
              <a:t> Strong fundamentals transfer across languages.</a:t>
            </a:r>
          </a:p>
        </p:txBody>
      </p:sp>
    </p:spTree>
    <p:extLst>
      <p:ext uri="{BB962C8B-B14F-4D97-AF65-F5344CB8AC3E}">
        <p14:creationId xmlns:p14="http://schemas.microsoft.com/office/powerpoint/2010/main" val="3396466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CDE4967-BE06-59A0-99B0-75DE68EF6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1CFB66CF-B685-5A57-500A-C42B0DA90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52400"/>
            <a:ext cx="9753600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536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D93390E-1D1B-8D52-4115-FFD51554A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5E2FD5D6-06C5-7F28-C705-52451822E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52400"/>
            <a:ext cx="9753600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27243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1850EB-16CC-426D-7564-E1C90F39D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AFC2080-949D-9743-D5B8-36DDB0D9F970}"/>
              </a:ext>
            </a:extLst>
          </p:cNvPr>
          <p:cNvSpPr txBox="1"/>
          <p:nvPr/>
        </p:nvSpPr>
        <p:spPr>
          <a:xfrm>
            <a:off x="381000" y="888075"/>
            <a:ext cx="12352767" cy="791197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Never start learning with </a:t>
            </a:r>
            <a:r>
              <a:rPr lang="en-GB" sz="2400" b="1" dirty="0">
                <a:latin typeface="Comic Sans MS" panose="030F0702030302020204" pitchFamily="66" charset="0"/>
              </a:rPr>
              <a:t>modern programming languages</a:t>
            </a:r>
            <a:r>
              <a:rPr lang="en-GB" sz="2400" dirty="0">
                <a:latin typeface="Comic Sans MS" panose="030F0702030302020204" pitchFamily="66" charset="0"/>
              </a:rPr>
              <a:t>, because they are full of </a:t>
            </a:r>
            <a:r>
              <a:rPr lang="en-GB" sz="2400" b="1" dirty="0">
                <a:latin typeface="Comic Sans MS" panose="030F0702030302020204" pitchFamily="66" charset="0"/>
              </a:rPr>
              <a:t>ready-made functions and tools</a:t>
            </a:r>
            <a:r>
              <a:rPr lang="en-GB" sz="2400" dirty="0">
                <a:latin typeface="Comic Sans MS" panose="030F0702030302020204" pitchFamily="66" charset="0"/>
              </a:rPr>
              <a:t> that can give you the </a:t>
            </a:r>
            <a:r>
              <a:rPr lang="en-GB" sz="2400" b="1" dirty="0">
                <a:latin typeface="Comic Sans MS" panose="030F0702030302020204" pitchFamily="66" charset="0"/>
              </a:rPr>
              <a:t>illusion</a:t>
            </a:r>
            <a:r>
              <a:rPr lang="en-GB" sz="2400" dirty="0">
                <a:latin typeface="Comic Sans MS" panose="030F0702030302020204" pitchFamily="66" charset="0"/>
              </a:rPr>
              <a:t> that you’re a good programmer — when you’re actually not building the real skills yet.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Think of it like </a:t>
            </a:r>
            <a:r>
              <a:rPr lang="en-GB" sz="2400" b="1" dirty="0">
                <a:latin typeface="Comic Sans MS" panose="030F0702030302020204" pitchFamily="66" charset="0"/>
              </a:rPr>
              <a:t>learning to drive</a:t>
            </a:r>
            <a:r>
              <a:rPr lang="en-GB" sz="2400" dirty="0">
                <a:latin typeface="Comic Sans MS" panose="030F0702030302020204" pitchFamily="66" charset="0"/>
              </a:rPr>
              <a:t>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The hardest part for beginners is </a:t>
            </a:r>
            <a:r>
              <a:rPr lang="en-GB" sz="2400" b="1" dirty="0">
                <a:latin typeface="Comic Sans MS" panose="030F0702030302020204" pitchFamily="66" charset="0"/>
              </a:rPr>
              <a:t>reversing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Now imagine I teach you using a </a:t>
            </a:r>
            <a:r>
              <a:rPr lang="en-GB" sz="2400" b="1" dirty="0">
                <a:latin typeface="Comic Sans MS" panose="030F0702030302020204" pitchFamily="66" charset="0"/>
              </a:rPr>
              <a:t>modern car</a:t>
            </a:r>
            <a:r>
              <a:rPr lang="en-GB" sz="2400" dirty="0">
                <a:latin typeface="Comic Sans MS" panose="030F0702030302020204" pitchFamily="66" charset="0"/>
              </a:rPr>
              <a:t> with </a:t>
            </a:r>
            <a:r>
              <a:rPr lang="en-GB" sz="2400" b="1" dirty="0">
                <a:latin typeface="Comic Sans MS" panose="030F0702030302020204" pitchFamily="66" charset="0"/>
              </a:rPr>
              <a:t>park assist, cameras, and sensors</a:t>
            </a:r>
            <a:r>
              <a:rPr lang="en-GB" sz="2400" dirty="0">
                <a:latin typeface="Comic Sans MS" panose="030F0702030302020204" pitchFamily="66" charset="0"/>
              </a:rPr>
              <a:t>. You’ll park perfectly every time — but does that make you a skilled driver?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❌ No! Because without those tools, you’d struggle.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To become a </a:t>
            </a:r>
            <a:r>
              <a:rPr lang="en-GB" sz="2400" b="1" dirty="0">
                <a:latin typeface="Comic Sans MS" panose="030F0702030302020204" pitchFamily="66" charset="0"/>
              </a:rPr>
              <a:t>real driver</a:t>
            </a:r>
            <a:r>
              <a:rPr lang="en-GB" sz="2400" dirty="0">
                <a:latin typeface="Comic Sans MS" panose="030F0702030302020204" pitchFamily="66" charset="0"/>
              </a:rPr>
              <a:t>, you must first learn </a:t>
            </a:r>
            <a:r>
              <a:rPr lang="en-GB" sz="2400" b="1" dirty="0">
                <a:latin typeface="Comic Sans MS" panose="030F0702030302020204" pitchFamily="66" charset="0"/>
              </a:rPr>
              <a:t>manual parking</a:t>
            </a:r>
            <a:r>
              <a:rPr lang="en-GB" sz="2400" dirty="0">
                <a:latin typeface="Comic Sans MS" panose="030F0702030302020204" pitchFamily="66" charset="0"/>
              </a:rPr>
              <a:t> — using </a:t>
            </a:r>
            <a:r>
              <a:rPr lang="en-GB" sz="2400" b="1" dirty="0">
                <a:latin typeface="Comic Sans MS" panose="030F0702030302020204" pitchFamily="66" charset="0"/>
              </a:rPr>
              <a:t>mirrors, judgment, and control</a:t>
            </a:r>
            <a:r>
              <a:rPr lang="en-GB" sz="2400" dirty="0">
                <a:latin typeface="Comic Sans MS" panose="030F0702030302020204" pitchFamily="66" charset="0"/>
              </a:rPr>
              <a:t>. Once you master that, you can use parking assistants as a </a:t>
            </a:r>
            <a:r>
              <a:rPr lang="en-GB" sz="2400" b="1" dirty="0">
                <a:latin typeface="Comic Sans MS" panose="030F0702030302020204" pitchFamily="66" charset="0"/>
              </a:rPr>
              <a:t>helpful feature</a:t>
            </a:r>
            <a:r>
              <a:rPr lang="en-GB" sz="2400" dirty="0">
                <a:latin typeface="Comic Sans MS" panose="030F0702030302020204" pitchFamily="66" charset="0"/>
              </a:rPr>
              <a:t>, not a crutch.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The same applies to programming.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Start with </a:t>
            </a:r>
            <a:r>
              <a:rPr lang="en-GB" sz="2400" b="1" dirty="0">
                <a:latin typeface="Comic Sans MS" panose="030F0702030302020204" pitchFamily="66" charset="0"/>
              </a:rPr>
              <a:t>C++</a:t>
            </a:r>
            <a:r>
              <a:rPr lang="en-GB" sz="2400" dirty="0">
                <a:latin typeface="Comic Sans MS" panose="030F0702030302020204" pitchFamily="66" charset="0"/>
              </a:rPr>
              <a:t> — it’s actually an </a:t>
            </a:r>
            <a:r>
              <a:rPr lang="en-GB" sz="2400" b="1" dirty="0">
                <a:latin typeface="Comic Sans MS" panose="030F0702030302020204" pitchFamily="66" charset="0"/>
              </a:rPr>
              <a:t>easy and powerful language</a:t>
            </a:r>
            <a:r>
              <a:rPr lang="en-GB" sz="2400" dirty="0">
                <a:latin typeface="Comic Sans MS" panose="030F0702030302020204" pitchFamily="66" charset="0"/>
              </a:rPr>
              <a:t> that teaches you </a:t>
            </a:r>
            <a:r>
              <a:rPr lang="en-GB" sz="2400" b="1" dirty="0">
                <a:latin typeface="Comic Sans MS" panose="030F0702030302020204" pitchFamily="66" charset="0"/>
              </a:rPr>
              <a:t>all the core programming concepts (10/10 fundamentals)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  <a:br>
              <a:rPr lang="en-GB" sz="2400" dirty="0">
                <a:latin typeface="Comic Sans MS" panose="030F0702030302020204" pitchFamily="66" charset="0"/>
              </a:rPr>
            </a:b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Once you master those basics, you can </a:t>
            </a:r>
            <a:r>
              <a:rPr lang="en-GB" sz="2400" b="1" dirty="0">
                <a:latin typeface="Comic Sans MS" panose="030F0702030302020204" pitchFamily="66" charset="0"/>
              </a:rPr>
              <a:t>learn any modern language easily</a:t>
            </a:r>
            <a:r>
              <a:rPr lang="en-GB" sz="2400" dirty="0">
                <a:latin typeface="Comic Sans MS" panose="030F0702030302020204" pitchFamily="66" charset="0"/>
              </a:rPr>
              <a:t> at any time. and this is not wasting your time because learning any other languages will not take time at all.</a:t>
            </a:r>
          </a:p>
        </p:txBody>
      </p:sp>
    </p:spTree>
    <p:extLst>
      <p:ext uri="{BB962C8B-B14F-4D97-AF65-F5344CB8AC3E}">
        <p14:creationId xmlns:p14="http://schemas.microsoft.com/office/powerpoint/2010/main" val="1950746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014A07A-BEB2-D124-02A0-F1CA58666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D7669007-5A11-000F-94DC-94AF49991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0"/>
            <a:ext cx="6705600" cy="1005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370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EFFAE0E-C715-E3AA-5596-2FAAE124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9938CCF-4E35-F346-B656-9B4CFCA77237}"/>
              </a:ext>
            </a:extLst>
          </p:cNvPr>
          <p:cNvSpPr txBox="1"/>
          <p:nvPr/>
        </p:nvSpPr>
        <p:spPr>
          <a:xfrm>
            <a:off x="381000" y="888075"/>
            <a:ext cx="12352767" cy="347998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Learning </a:t>
            </a:r>
            <a:r>
              <a:rPr lang="en-GB" sz="2400" b="1" dirty="0">
                <a:latin typeface="Comic Sans MS" panose="030F0702030302020204" pitchFamily="66" charset="0"/>
              </a:rPr>
              <a:t>C++</a:t>
            </a:r>
            <a:r>
              <a:rPr lang="en-GB" sz="2400" dirty="0">
                <a:latin typeface="Comic Sans MS" panose="030F0702030302020204" pitchFamily="66" charset="0"/>
              </a:rPr>
              <a:t> is one of the smartest investments you can make as a programmer.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Even if you don’t use it in your daily job, it will: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Build </a:t>
            </a:r>
            <a:r>
              <a:rPr lang="en-GB" sz="2400" b="1" dirty="0">
                <a:latin typeface="Comic Sans MS" panose="030F0702030302020204" pitchFamily="66" charset="0"/>
              </a:rPr>
              <a:t>strong programming fundamentals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Teach you how computers truly work — memory, logic, performance.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Give you the </a:t>
            </a:r>
            <a:r>
              <a:rPr lang="en-GB" sz="2400" b="1" dirty="0">
                <a:latin typeface="Comic Sans MS" panose="030F0702030302020204" pitchFamily="66" charset="0"/>
              </a:rPr>
              <a:t>key to learn any other programming language</a:t>
            </a:r>
            <a:r>
              <a:rPr lang="en-GB" sz="2400" dirty="0">
                <a:latin typeface="Comic Sans MS" panose="030F0702030302020204" pitchFamily="66" charset="0"/>
              </a:rPr>
              <a:t> quickly and easily.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Easy to learn by the way!.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C++ trains your mind to think like a </a:t>
            </a:r>
            <a:r>
              <a:rPr lang="en-GB" sz="2400" b="1" dirty="0">
                <a:latin typeface="Comic Sans MS" panose="030F0702030302020204" pitchFamily="66" charset="0"/>
              </a:rPr>
              <a:t>real programmer</a:t>
            </a:r>
            <a:r>
              <a:rPr lang="en-GB" sz="2400" dirty="0">
                <a:latin typeface="Comic Sans MS" panose="030F0702030302020204" pitchFamily="66" charset="0"/>
              </a:rPr>
              <a:t>, not just a code user — and that mindset will make you valuable in </a:t>
            </a:r>
            <a:r>
              <a:rPr lang="en-GB" sz="2400" b="1" dirty="0">
                <a:latin typeface="Comic Sans MS" panose="030F0702030302020204" pitchFamily="66" charset="0"/>
              </a:rPr>
              <a:t>any programming field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3024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1CEB9B-3202-DE7B-6E13-D9A0558B1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820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57F00DE-5AAF-0E26-81E7-61D42A5C4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783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8278CB2-1BB4-E44B-305B-494F866DD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1785" y="3964192"/>
            <a:ext cx="3632856" cy="22167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20770" y="4564912"/>
            <a:ext cx="2721685" cy="1003208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6435" defTabSz="1183325">
              <a:spcBef>
                <a:spcPts val="136"/>
              </a:spcBef>
            </a:pPr>
            <a:r>
              <a:rPr sz="6406" spc="-13" dirty="0">
                <a:solidFill>
                  <a:srgbClr val="FF0000"/>
                </a:solidFill>
                <a:latin typeface="Comic Sans MS"/>
                <a:cs typeface="Comic Sans MS"/>
              </a:rPr>
              <a:t>Driving</a:t>
            </a:r>
            <a:endParaRPr sz="6406">
              <a:latin typeface="Comic Sans MS"/>
              <a:cs typeface="Comic Sans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28978" y="3759080"/>
            <a:ext cx="2521873" cy="252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92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DB0F974-F3A1-6AE1-3D32-116538F5C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854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1EB00CE-449D-F5A5-7EC0-A0B2B5F9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464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FCC6F70-EAC6-61DF-35F2-86202865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81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D308A32-0328-5832-F18D-FA8248E19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6C90613-95EF-B849-45CB-F96E864A0639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FD85B1D-B2CF-CEA9-AFDA-1F4B43EB08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4675B4F-56DC-FD48-5795-8181B0EAB33C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FEDA03C3-0C1C-2C3C-F1F3-3CFCEDEA362C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5336B67-4FAB-F3CD-41D6-C39B71D676F5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Programming?</a:t>
            </a:r>
          </a:p>
        </p:txBody>
      </p:sp>
    </p:spTree>
    <p:extLst>
      <p:ext uri="{BB962C8B-B14F-4D97-AF65-F5344CB8AC3E}">
        <p14:creationId xmlns:p14="http://schemas.microsoft.com/office/powerpoint/2010/main" val="1174685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C703A77-2BDA-1A8E-57CD-3B67141DD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9097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8C715BF-F0C6-A568-678A-0E9BB2746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602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4B66A0E-463F-BABD-B3BF-D267A0810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9474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CA0BB7-F1BE-B150-A50C-47F8A20D7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5726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AE486E-2CFE-09FC-29CA-F809690D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0301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3500D6C-96A4-ECEE-2ABF-6DC104B51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046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65B4FCB-D05C-4A96-8D8E-838A0A72E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9273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A26A2F5-CFEC-0025-3453-BB5449D0F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0398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8E4A10-2A1C-EEBE-16A9-3438AA632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869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51998F2-73E3-D26B-5C0B-25B975ED1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741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C5F23BE-2AA7-0193-5C1F-3E92B20E5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97224" y="1368730"/>
            <a:ext cx="13016753" cy="7323567"/>
            <a:chOff x="0" y="1057655"/>
            <a:chExt cx="10058400" cy="56591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7655"/>
              <a:ext cx="10058400" cy="56586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30468" y="4524755"/>
              <a:ext cx="561340" cy="424180"/>
            </a:xfrm>
            <a:custGeom>
              <a:avLst/>
              <a:gdLst/>
              <a:ahLst/>
              <a:cxnLst/>
              <a:rect l="l" t="t" r="r" b="b"/>
              <a:pathLst>
                <a:path w="561340" h="424179">
                  <a:moveTo>
                    <a:pt x="498348" y="423671"/>
                  </a:moveTo>
                  <a:lnTo>
                    <a:pt x="490728" y="423671"/>
                  </a:lnTo>
                  <a:lnTo>
                    <a:pt x="472439" y="420623"/>
                  </a:lnTo>
                  <a:lnTo>
                    <a:pt x="463296" y="417575"/>
                  </a:lnTo>
                  <a:lnTo>
                    <a:pt x="452628" y="414527"/>
                  </a:lnTo>
                  <a:lnTo>
                    <a:pt x="443484" y="409955"/>
                  </a:lnTo>
                  <a:lnTo>
                    <a:pt x="422148" y="400812"/>
                  </a:lnTo>
                  <a:lnTo>
                    <a:pt x="413004" y="394716"/>
                  </a:lnTo>
                  <a:lnTo>
                    <a:pt x="402336" y="388619"/>
                  </a:lnTo>
                  <a:lnTo>
                    <a:pt x="393191" y="382523"/>
                  </a:lnTo>
                  <a:lnTo>
                    <a:pt x="385572" y="376427"/>
                  </a:lnTo>
                  <a:lnTo>
                    <a:pt x="377952" y="368808"/>
                  </a:lnTo>
                  <a:lnTo>
                    <a:pt x="370332" y="362712"/>
                  </a:lnTo>
                  <a:lnTo>
                    <a:pt x="364236" y="356616"/>
                  </a:lnTo>
                  <a:lnTo>
                    <a:pt x="359663" y="350519"/>
                  </a:lnTo>
                  <a:lnTo>
                    <a:pt x="356615" y="338327"/>
                  </a:lnTo>
                  <a:lnTo>
                    <a:pt x="356615" y="332231"/>
                  </a:lnTo>
                  <a:lnTo>
                    <a:pt x="367284" y="330708"/>
                  </a:lnTo>
                  <a:lnTo>
                    <a:pt x="382524" y="330708"/>
                  </a:lnTo>
                  <a:lnTo>
                    <a:pt x="422148" y="348995"/>
                  </a:lnTo>
                  <a:lnTo>
                    <a:pt x="426719" y="352043"/>
                  </a:lnTo>
                  <a:lnTo>
                    <a:pt x="431291" y="353567"/>
                  </a:lnTo>
                  <a:lnTo>
                    <a:pt x="437387" y="356616"/>
                  </a:lnTo>
                  <a:lnTo>
                    <a:pt x="443484" y="358140"/>
                  </a:lnTo>
                  <a:lnTo>
                    <a:pt x="449580" y="361188"/>
                  </a:lnTo>
                  <a:lnTo>
                    <a:pt x="457200" y="361188"/>
                  </a:lnTo>
                  <a:lnTo>
                    <a:pt x="451104" y="335279"/>
                  </a:lnTo>
                  <a:lnTo>
                    <a:pt x="441960" y="310896"/>
                  </a:lnTo>
                  <a:lnTo>
                    <a:pt x="434339" y="286511"/>
                  </a:lnTo>
                  <a:lnTo>
                    <a:pt x="413004" y="240791"/>
                  </a:lnTo>
                  <a:lnTo>
                    <a:pt x="387096" y="199643"/>
                  </a:lnTo>
                  <a:lnTo>
                    <a:pt x="356615" y="163067"/>
                  </a:lnTo>
                  <a:lnTo>
                    <a:pt x="341376" y="144779"/>
                  </a:lnTo>
                  <a:lnTo>
                    <a:pt x="304800" y="114299"/>
                  </a:lnTo>
                  <a:lnTo>
                    <a:pt x="242316" y="76199"/>
                  </a:lnTo>
                  <a:lnTo>
                    <a:pt x="195072" y="57911"/>
                  </a:lnTo>
                  <a:lnTo>
                    <a:pt x="170688" y="48767"/>
                  </a:lnTo>
                  <a:lnTo>
                    <a:pt x="144780" y="42671"/>
                  </a:lnTo>
                  <a:lnTo>
                    <a:pt x="118872" y="38099"/>
                  </a:lnTo>
                  <a:lnTo>
                    <a:pt x="60960" y="32003"/>
                  </a:lnTo>
                  <a:lnTo>
                    <a:pt x="32004" y="30479"/>
                  </a:lnTo>
                  <a:lnTo>
                    <a:pt x="1524" y="32003"/>
                  </a:lnTo>
                  <a:lnTo>
                    <a:pt x="0" y="22859"/>
                  </a:lnTo>
                  <a:lnTo>
                    <a:pt x="33528" y="4571"/>
                  </a:lnTo>
                  <a:lnTo>
                    <a:pt x="53340" y="1523"/>
                  </a:lnTo>
                  <a:lnTo>
                    <a:pt x="62484" y="0"/>
                  </a:lnTo>
                  <a:lnTo>
                    <a:pt x="83820" y="1523"/>
                  </a:lnTo>
                  <a:lnTo>
                    <a:pt x="92964" y="1523"/>
                  </a:lnTo>
                  <a:lnTo>
                    <a:pt x="111252" y="4571"/>
                  </a:lnTo>
                  <a:lnTo>
                    <a:pt x="118872" y="4571"/>
                  </a:lnTo>
                  <a:lnTo>
                    <a:pt x="146304" y="9143"/>
                  </a:lnTo>
                  <a:lnTo>
                    <a:pt x="196596" y="22859"/>
                  </a:lnTo>
                  <a:lnTo>
                    <a:pt x="243840" y="39623"/>
                  </a:lnTo>
                  <a:lnTo>
                    <a:pt x="286512" y="62483"/>
                  </a:lnTo>
                  <a:lnTo>
                    <a:pt x="326136" y="89915"/>
                  </a:lnTo>
                  <a:lnTo>
                    <a:pt x="379476" y="135635"/>
                  </a:lnTo>
                  <a:lnTo>
                    <a:pt x="394715" y="153923"/>
                  </a:lnTo>
                  <a:lnTo>
                    <a:pt x="409956" y="170687"/>
                  </a:lnTo>
                  <a:lnTo>
                    <a:pt x="423672" y="190499"/>
                  </a:lnTo>
                  <a:lnTo>
                    <a:pt x="437387" y="208787"/>
                  </a:lnTo>
                  <a:lnTo>
                    <a:pt x="451104" y="230123"/>
                  </a:lnTo>
                  <a:lnTo>
                    <a:pt x="463296" y="249935"/>
                  </a:lnTo>
                  <a:lnTo>
                    <a:pt x="495300" y="313943"/>
                  </a:lnTo>
                  <a:lnTo>
                    <a:pt x="504443" y="335279"/>
                  </a:lnTo>
                  <a:lnTo>
                    <a:pt x="509015" y="332231"/>
                  </a:lnTo>
                  <a:lnTo>
                    <a:pt x="515111" y="323087"/>
                  </a:lnTo>
                  <a:lnTo>
                    <a:pt x="516636" y="318515"/>
                  </a:lnTo>
                  <a:lnTo>
                    <a:pt x="522732" y="303275"/>
                  </a:lnTo>
                  <a:lnTo>
                    <a:pt x="524256" y="297179"/>
                  </a:lnTo>
                  <a:lnTo>
                    <a:pt x="530352" y="288035"/>
                  </a:lnTo>
                  <a:lnTo>
                    <a:pt x="537972" y="280415"/>
                  </a:lnTo>
                  <a:lnTo>
                    <a:pt x="544067" y="278891"/>
                  </a:lnTo>
                  <a:lnTo>
                    <a:pt x="551687" y="275843"/>
                  </a:lnTo>
                  <a:lnTo>
                    <a:pt x="560832" y="274320"/>
                  </a:lnTo>
                  <a:lnTo>
                    <a:pt x="559308" y="284987"/>
                  </a:lnTo>
                  <a:lnTo>
                    <a:pt x="559308" y="304799"/>
                  </a:lnTo>
                  <a:lnTo>
                    <a:pt x="557784" y="316991"/>
                  </a:lnTo>
                  <a:lnTo>
                    <a:pt x="556260" y="326135"/>
                  </a:lnTo>
                  <a:lnTo>
                    <a:pt x="556260" y="338327"/>
                  </a:lnTo>
                  <a:lnTo>
                    <a:pt x="554736" y="348995"/>
                  </a:lnTo>
                  <a:lnTo>
                    <a:pt x="551687" y="359664"/>
                  </a:lnTo>
                  <a:lnTo>
                    <a:pt x="550163" y="368808"/>
                  </a:lnTo>
                  <a:lnTo>
                    <a:pt x="547115" y="379475"/>
                  </a:lnTo>
                  <a:lnTo>
                    <a:pt x="542543" y="387095"/>
                  </a:lnTo>
                  <a:lnTo>
                    <a:pt x="537972" y="396240"/>
                  </a:lnTo>
                  <a:lnTo>
                    <a:pt x="504443" y="422147"/>
                  </a:lnTo>
                  <a:lnTo>
                    <a:pt x="498348" y="423671"/>
                  </a:lnTo>
                  <a:close/>
                </a:path>
              </a:pathLst>
            </a:custGeom>
            <a:solidFill>
              <a:srgbClr val="8EAADB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</p:spTree>
    <p:extLst>
      <p:ext uri="{BB962C8B-B14F-4D97-AF65-F5344CB8AC3E}">
        <p14:creationId xmlns:p14="http://schemas.microsoft.com/office/powerpoint/2010/main" val="3841683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A55B52-D749-51A0-B013-0517EBAE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B162AE0-C703-E3E8-FBC1-0CB15570AE27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dirty="0">
                <a:latin typeface="Comic Sans MS" panose="030F0702030302020204" pitchFamily="66" charset="0"/>
              </a:rPr>
              <a:t>🔗 </a:t>
            </a:r>
            <a:r>
              <a:rPr lang="en-GB" sz="4000" b="1" dirty="0">
                <a:latin typeface="Comic Sans MS" panose="030F0702030302020204" pitchFamily="66" charset="0"/>
              </a:rPr>
              <a:t>Interconnection</a:t>
            </a:r>
            <a:endParaRPr lang="en-GB" sz="4000" dirty="0">
              <a:latin typeface="Comic Sans MS" panose="030F0702030302020204" pitchFamily="66" charset="0"/>
            </a:endParaRPr>
          </a:p>
          <a:p>
            <a:br>
              <a:rPr lang="sv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/>
              <a:t>“Which is better?” → “Better for what?”</a:t>
            </a:r>
            <a:r>
              <a:rPr lang="en-GB" sz="2400" dirty="0"/>
              <a:t> Context first.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/>
              <a:t>Programming fundamentals</a:t>
            </a:r>
            <a:r>
              <a:rPr lang="en-GB" sz="2400" dirty="0"/>
              <a:t> outlast </a:t>
            </a:r>
            <a:r>
              <a:rPr lang="en-GB" sz="2400" b="1" dirty="0"/>
              <a:t>language trends</a:t>
            </a:r>
            <a:r>
              <a:rPr lang="en-GB" sz="2400" dirty="0"/>
              <a:t>; language choice is </a:t>
            </a:r>
            <a:r>
              <a:rPr lang="en-GB" sz="2400" b="1" dirty="0"/>
              <a:t>5%</a:t>
            </a:r>
            <a:r>
              <a:rPr lang="en-GB" sz="2400" dirty="0"/>
              <a:t> of the 	journey.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/>
              <a:t>Mixing languages</a:t>
            </a:r>
            <a:r>
              <a:rPr lang="en-GB" sz="2400" dirty="0"/>
              <a:t> is normal; pick by </a:t>
            </a:r>
            <a:r>
              <a:rPr lang="en-GB" sz="2400" b="1" dirty="0"/>
              <a:t>domain, ecosystem, and constraints</a:t>
            </a:r>
            <a:r>
              <a:rPr lang="en-GB" sz="2400" dirty="0"/>
              <a:t>.</a:t>
            </a:r>
          </a:p>
          <a:p>
            <a:r>
              <a:rPr lang="en-GB" sz="2400" dirty="0"/>
              <a:t>	C++ is the key for all programming languages and it is easy.</a:t>
            </a:r>
          </a:p>
          <a:p>
            <a:endParaRPr lang="en-GB" sz="2400" dirty="0"/>
          </a:p>
          <a:p>
            <a:r>
              <a:rPr lang="en-GB" sz="2400" b="1" dirty="0"/>
              <a:t>By focusing on principles, you’ll switch cars (languages) easily and drive anywhere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329019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F24F78-448E-2676-A6C0-4AFF138F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A459010-756A-4CD6-6C91-C23A3F615ECF}"/>
              </a:ext>
            </a:extLst>
          </p:cNvPr>
          <p:cNvSpPr txBox="1"/>
          <p:nvPr/>
        </p:nvSpPr>
        <p:spPr>
          <a:xfrm>
            <a:off x="381000" y="888075"/>
            <a:ext cx="12352767" cy="92661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Instructions: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1️⃣ Why is asking “Which programming language is better?” an incomplete 	question?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Explain using the </a:t>
            </a:r>
            <a:r>
              <a:rPr lang="en-GB" sz="2400" b="1" dirty="0" err="1">
                <a:latin typeface="Comic Sans MS" panose="030F0702030302020204" pitchFamily="66" charset="0"/>
              </a:rPr>
              <a:t>color</a:t>
            </a:r>
            <a:r>
              <a:rPr lang="en-GB" sz="2400" dirty="0">
                <a:latin typeface="Comic Sans MS" panose="030F0702030302020204" pitchFamily="66" charset="0"/>
              </a:rPr>
              <a:t> or </a:t>
            </a:r>
            <a:r>
              <a:rPr lang="en-GB" sz="2400" b="1" dirty="0">
                <a:latin typeface="Comic Sans MS" panose="030F0702030302020204" pitchFamily="66" charset="0"/>
              </a:rPr>
              <a:t>car</a:t>
            </a:r>
            <a:r>
              <a:rPr lang="en-GB" sz="2400" dirty="0">
                <a:latin typeface="Comic Sans MS" panose="030F0702030302020204" pitchFamily="66" charset="0"/>
              </a:rPr>
              <a:t> analogy.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2️⃣ What is the correct answer to “Which language is better?”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What does the phrase </a:t>
            </a:r>
            <a:r>
              <a:rPr lang="en-GB" sz="2400" b="1" dirty="0">
                <a:latin typeface="Comic Sans MS" panose="030F0702030302020204" pitchFamily="66" charset="0"/>
              </a:rPr>
              <a:t>“It depends on your needs”</a:t>
            </a:r>
            <a:r>
              <a:rPr lang="en-GB" sz="2400" dirty="0">
                <a:latin typeface="Comic Sans MS" panose="030F0702030302020204" pitchFamily="66" charset="0"/>
              </a:rPr>
              <a:t> really mean in programming?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3️⃣ Why do many programming languages exist?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List at least </a:t>
            </a:r>
            <a:r>
              <a:rPr lang="en-GB" sz="2400" b="1" dirty="0">
                <a:latin typeface="Comic Sans MS" panose="030F0702030302020204" pitchFamily="66" charset="0"/>
              </a:rPr>
              <a:t>three factors</a:t>
            </a:r>
            <a:r>
              <a:rPr lang="en-GB" sz="2400" dirty="0">
                <a:latin typeface="Comic Sans MS" panose="030F0702030302020204" pitchFamily="66" charset="0"/>
              </a:rPr>
              <a:t> that make different languages suitable for 	different situations (hint: speed, safety, ecosystem...).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4️⃣ What’s the difference between programming and a programming language?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Explain it using the </a:t>
            </a:r>
            <a:r>
              <a:rPr lang="en-GB" sz="2400" b="1" dirty="0">
                <a:latin typeface="Comic Sans MS" panose="030F0702030302020204" pitchFamily="66" charset="0"/>
              </a:rPr>
              <a:t>carpentry analogy</a:t>
            </a:r>
            <a:r>
              <a:rPr lang="en-GB" sz="2400" dirty="0">
                <a:latin typeface="Comic Sans MS" panose="030F0702030302020204" pitchFamily="66" charset="0"/>
              </a:rPr>
              <a:t> (tools vs craft).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5️⃣ Why should you focus on learning programming fundamentals before languages?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What part of programming is the “craft,” and what part is just “tools”?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6️⃣ Why is it not a good idea to start with modern languages?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Use the </a:t>
            </a:r>
            <a:r>
              <a:rPr lang="en-GB" sz="2400" b="1" dirty="0">
                <a:latin typeface="Comic Sans MS" panose="030F0702030302020204" pitchFamily="66" charset="0"/>
              </a:rPr>
              <a:t>driving analogy</a:t>
            </a:r>
            <a:r>
              <a:rPr lang="en-GB" sz="2400" dirty="0">
                <a:latin typeface="Comic Sans MS" panose="030F0702030302020204" pitchFamily="66" charset="0"/>
              </a:rPr>
              <a:t> (manual parking vs park assist) to explain.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7️⃣ Why is C++ recommended as the first language to learn?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List three reasons based on the lesson (hint: fundamentals, concepts, mindset).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8️⃣ What does “C++ = Salary ++” mean?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Explain why learning C++ adds long-term value — even if you don’t use it in daily 	work.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9️⃣ What makes a good programmer?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Is it the language they use, or something deeper?</a:t>
            </a:r>
          </a:p>
        </p:txBody>
      </p:sp>
    </p:spTree>
    <p:extLst>
      <p:ext uri="{BB962C8B-B14F-4D97-AF65-F5344CB8AC3E}">
        <p14:creationId xmlns:p14="http://schemas.microsoft.com/office/powerpoint/2010/main" val="35381472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7AA581-89A1-DA75-DD53-25B5AD31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DFD32E-F7C2-B657-91B9-4B68EDD1D595}"/>
              </a:ext>
            </a:extLst>
          </p:cNvPr>
          <p:cNvSpPr txBox="1"/>
          <p:nvPr/>
        </p:nvSpPr>
        <p:spPr>
          <a:xfrm>
            <a:off x="381000" y="888075"/>
            <a:ext cx="12352767" cy="77888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1️⃣ Why is asking “Which programming language is better?” an incomplete 	question?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Explain using the </a:t>
            </a:r>
            <a:r>
              <a:rPr lang="en-GB" sz="2400" dirty="0" err="1">
                <a:latin typeface="Comic Sans MS" panose="030F0702030302020204" pitchFamily="66" charset="0"/>
              </a:rPr>
              <a:t>color</a:t>
            </a:r>
            <a:r>
              <a:rPr lang="en-GB" sz="2400" dirty="0">
                <a:latin typeface="Comic Sans MS" panose="030F0702030302020204" pitchFamily="66" charset="0"/>
              </a:rPr>
              <a:t> or car analogy.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Because “better” depends on </a:t>
            </a:r>
            <a:r>
              <a:rPr lang="en-GB" sz="2400" b="1" dirty="0">
                <a:latin typeface="Comic Sans MS" panose="030F0702030302020204" pitchFamily="66" charset="0"/>
              </a:rPr>
              <a:t>context and purpose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It’s like asking “What’s the best </a:t>
            </a:r>
            <a:r>
              <a:rPr lang="en-GB" sz="2400" dirty="0" err="1">
                <a:latin typeface="Comic Sans MS" panose="030F0702030302020204" pitchFamily="66" charset="0"/>
              </a:rPr>
              <a:t>color</a:t>
            </a:r>
            <a:r>
              <a:rPr lang="en-GB" sz="2400" dirty="0">
                <a:latin typeface="Comic Sans MS" panose="030F0702030302020204" pitchFamily="66" charset="0"/>
              </a:rPr>
              <a:t>?” or “What’s the best car?” — it 			makes no sense without specifying what it’s used for.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Example: a </a:t>
            </a:r>
            <a:r>
              <a:rPr lang="en-GB" sz="2400" b="1" dirty="0">
                <a:latin typeface="Comic Sans MS" panose="030F0702030302020204" pitchFamily="66" charset="0"/>
              </a:rPr>
              <a:t>4x4</a:t>
            </a:r>
            <a:r>
              <a:rPr lang="en-GB" sz="2400" dirty="0">
                <a:latin typeface="Comic Sans MS" panose="030F0702030302020204" pitchFamily="66" charset="0"/>
              </a:rPr>
              <a:t> is great off-road but bad for fuel efficiency, just like 				some languages are fast but not easy to use.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2️⃣ What is the correct answer to “Which language is better?”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What does the phrase “It depends on your needs” really mean in 	programming?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The correct answer is </a:t>
            </a:r>
            <a:r>
              <a:rPr lang="en-GB" sz="2400" b="1" dirty="0">
                <a:latin typeface="Comic Sans MS" panose="030F0702030302020204" pitchFamily="66" charset="0"/>
              </a:rPr>
              <a:t>“It depends on your needs.”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Each language is designed to solve certain problems efficiently.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There is no single “best” language — only the </a:t>
            </a:r>
            <a:r>
              <a:rPr lang="en-GB" sz="2400" b="1" dirty="0">
                <a:latin typeface="Comic Sans MS" panose="030F0702030302020204" pitchFamily="66" charset="0"/>
              </a:rPr>
              <a:t>right language for a specific 			purpose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5167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86B3B1-D370-1E19-B601-77B5846B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7F774B2-A4D0-C82A-CF62-3AC7D59F85CC}"/>
              </a:ext>
            </a:extLst>
          </p:cNvPr>
          <p:cNvSpPr txBox="1"/>
          <p:nvPr/>
        </p:nvSpPr>
        <p:spPr>
          <a:xfrm>
            <a:off x="381000" y="888075"/>
            <a:ext cx="12352767" cy="717330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2400" b="1" dirty="0">
                <a:latin typeface="Comic Sans MS" panose="030F0702030302020204" pitchFamily="66" charset="0"/>
              </a:rPr>
              <a:t>3️⃣ </a:t>
            </a:r>
            <a:r>
              <a:rPr lang="sv-SE" sz="2400" b="1" dirty="0" err="1">
                <a:latin typeface="Comic Sans MS" panose="030F0702030302020204" pitchFamily="66" charset="0"/>
              </a:rPr>
              <a:t>Why</a:t>
            </a:r>
            <a:r>
              <a:rPr lang="sv-SE" sz="2400" b="1" dirty="0">
                <a:latin typeface="Comic Sans MS" panose="030F0702030302020204" pitchFamily="66" charset="0"/>
              </a:rPr>
              <a:t> do </a:t>
            </a:r>
            <a:r>
              <a:rPr lang="sv-SE" sz="2400" b="1" dirty="0" err="1">
                <a:latin typeface="Comic Sans MS" panose="030F0702030302020204" pitchFamily="66" charset="0"/>
              </a:rPr>
              <a:t>many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programming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languages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exist</a:t>
            </a:r>
            <a:r>
              <a:rPr lang="sv-SE" sz="2400" b="1" dirty="0">
                <a:latin typeface="Comic Sans MS" panose="030F0702030302020204" pitchFamily="66" charset="0"/>
              </a:rPr>
              <a:t>?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	List at </a:t>
            </a:r>
            <a:r>
              <a:rPr lang="sv-SE" sz="2400" b="1" dirty="0" err="1">
                <a:latin typeface="Comic Sans MS" panose="030F0702030302020204" pitchFamily="66" charset="0"/>
              </a:rPr>
              <a:t>least</a:t>
            </a:r>
            <a:r>
              <a:rPr lang="sv-SE" sz="2400" b="1" dirty="0">
                <a:latin typeface="Comic Sans MS" panose="030F0702030302020204" pitchFamily="66" charset="0"/>
              </a:rPr>
              <a:t> </a:t>
            </a:r>
            <a:r>
              <a:rPr lang="sv-SE" sz="2400" b="1" dirty="0" err="1">
                <a:latin typeface="Comic Sans MS" panose="030F0702030302020204" pitchFamily="66" charset="0"/>
              </a:rPr>
              <a:t>three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factors</a:t>
            </a:r>
            <a:r>
              <a:rPr lang="sv-SE" sz="2400" b="1" dirty="0">
                <a:latin typeface="Comic Sans MS" panose="030F0702030302020204" pitchFamily="66" charset="0"/>
              </a:rPr>
              <a:t> </a:t>
            </a:r>
            <a:r>
              <a:rPr lang="sv-SE" sz="2400" b="1" dirty="0" err="1">
                <a:latin typeface="Comic Sans MS" panose="030F0702030302020204" pitchFamily="66" charset="0"/>
              </a:rPr>
              <a:t>that</a:t>
            </a:r>
            <a:r>
              <a:rPr lang="sv-SE" sz="2400" b="1" dirty="0">
                <a:latin typeface="Comic Sans MS" panose="030F0702030302020204" pitchFamily="66" charset="0"/>
              </a:rPr>
              <a:t> make different </a:t>
            </a:r>
            <a:r>
              <a:rPr lang="sv-SE" sz="2400" b="1" dirty="0" err="1">
                <a:latin typeface="Comic Sans MS" panose="030F0702030302020204" pitchFamily="66" charset="0"/>
              </a:rPr>
              <a:t>languages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suitable</a:t>
            </a:r>
            <a:r>
              <a:rPr lang="sv-SE" sz="2400" b="1" dirty="0">
                <a:latin typeface="Comic Sans MS" panose="030F0702030302020204" pitchFamily="66" charset="0"/>
              </a:rPr>
              <a:t> for 			different situations (hint: speed, </a:t>
            </a:r>
            <a:r>
              <a:rPr lang="sv-SE" sz="2400" b="1" dirty="0" err="1">
                <a:latin typeface="Comic Sans MS" panose="030F0702030302020204" pitchFamily="66" charset="0"/>
              </a:rPr>
              <a:t>safety</a:t>
            </a:r>
            <a:r>
              <a:rPr lang="sv-SE" sz="2400" b="1" dirty="0">
                <a:latin typeface="Comic Sans MS" panose="030F0702030302020204" pitchFamily="66" charset="0"/>
              </a:rPr>
              <a:t>, </a:t>
            </a:r>
            <a:r>
              <a:rPr lang="sv-SE" sz="2400" b="1" dirty="0" err="1">
                <a:latin typeface="Comic Sans MS" panose="030F0702030302020204" pitchFamily="66" charset="0"/>
              </a:rPr>
              <a:t>ecosystem</a:t>
            </a:r>
            <a:r>
              <a:rPr lang="sv-SE" sz="2400" b="1" dirty="0">
                <a:latin typeface="Comic Sans MS" panose="030F0702030302020204" pitchFamily="66" charset="0"/>
              </a:rPr>
              <a:t>...).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sv-SE" sz="2400" dirty="0" err="1">
                <a:latin typeface="Comic Sans MS" panose="030F0702030302020204" pitchFamily="66" charset="0"/>
              </a:rPr>
              <a:t>Because</a:t>
            </a:r>
            <a:r>
              <a:rPr lang="sv-SE" sz="2400" dirty="0">
                <a:latin typeface="Comic Sans MS" panose="030F0702030302020204" pitchFamily="66" charset="0"/>
              </a:rPr>
              <a:t> different problems </a:t>
            </a:r>
            <a:r>
              <a:rPr lang="sv-SE" sz="2400" dirty="0" err="1">
                <a:latin typeface="Comic Sans MS" panose="030F0702030302020204" pitchFamily="66" charset="0"/>
              </a:rPr>
              <a:t>require</a:t>
            </a:r>
            <a:r>
              <a:rPr lang="sv-SE" sz="2400" dirty="0">
                <a:latin typeface="Comic Sans MS" panose="030F0702030302020204" pitchFamily="66" charset="0"/>
              </a:rPr>
              <a:t> different </a:t>
            </a:r>
            <a:r>
              <a:rPr lang="sv-SE" sz="2400" dirty="0" err="1">
                <a:latin typeface="Comic Sans MS" panose="030F0702030302020204" pitchFamily="66" charset="0"/>
              </a:rPr>
              <a:t>trade-offs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such</a:t>
            </a:r>
            <a:r>
              <a:rPr lang="sv-SE" sz="2400" dirty="0">
                <a:latin typeface="Comic Sans MS" panose="030F0702030302020204" pitchFamily="66" charset="0"/>
              </a:rPr>
              <a:t> as: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	Speed &amp; </a:t>
            </a:r>
            <a:r>
              <a:rPr lang="sv-SE" sz="2400" b="1" dirty="0" err="1">
                <a:latin typeface="Comic Sans MS" panose="030F0702030302020204" pitchFamily="66" charset="0"/>
              </a:rPr>
              <a:t>performance</a:t>
            </a:r>
            <a:r>
              <a:rPr lang="sv-SE" sz="2400" dirty="0">
                <a:latin typeface="Comic Sans MS" panose="030F0702030302020204" pitchFamily="66" charset="0"/>
              </a:rPr>
              <a:t> (C++, </a:t>
            </a:r>
            <a:r>
              <a:rPr lang="sv-SE" sz="2400" dirty="0" err="1">
                <a:latin typeface="Comic Sans MS" panose="030F0702030302020204" pitchFamily="66" charset="0"/>
              </a:rPr>
              <a:t>Rust</a:t>
            </a:r>
            <a:r>
              <a:rPr lang="sv-SE" sz="2400" dirty="0">
                <a:latin typeface="Comic Sans MS" panose="030F0702030302020204" pitchFamily="66" charset="0"/>
              </a:rPr>
              <a:t>)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	</a:t>
            </a:r>
            <a:r>
              <a:rPr lang="sv-SE" sz="2400" b="1" dirty="0" err="1">
                <a:latin typeface="Comic Sans MS" panose="030F0702030302020204" pitchFamily="66" charset="0"/>
              </a:rPr>
              <a:t>Safety</a:t>
            </a:r>
            <a:r>
              <a:rPr lang="sv-SE" sz="2400" b="1" dirty="0">
                <a:latin typeface="Comic Sans MS" panose="030F0702030302020204" pitchFamily="66" charset="0"/>
              </a:rPr>
              <a:t> &amp; </a:t>
            </a:r>
            <a:r>
              <a:rPr lang="sv-SE" sz="2400" b="1" dirty="0" err="1">
                <a:latin typeface="Comic Sans MS" panose="030F0702030302020204" pitchFamily="66" charset="0"/>
              </a:rPr>
              <a:t>reliability</a:t>
            </a:r>
            <a:r>
              <a:rPr lang="sv-SE" sz="2400" dirty="0">
                <a:latin typeface="Comic Sans MS" panose="030F0702030302020204" pitchFamily="66" charset="0"/>
              </a:rPr>
              <a:t> (Java, Ada)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	</a:t>
            </a:r>
            <a:r>
              <a:rPr lang="sv-SE" sz="2400" b="1" dirty="0" err="1">
                <a:latin typeface="Comic Sans MS" panose="030F0702030302020204" pitchFamily="66" charset="0"/>
              </a:rPr>
              <a:t>Ecosystem</a:t>
            </a:r>
            <a:r>
              <a:rPr lang="sv-SE" sz="2400" b="1" dirty="0">
                <a:latin typeface="Comic Sans MS" panose="030F0702030302020204" pitchFamily="66" charset="0"/>
              </a:rPr>
              <a:t> &amp; </a:t>
            </a:r>
            <a:r>
              <a:rPr lang="sv-SE" sz="2400" b="1" dirty="0" err="1">
                <a:latin typeface="Comic Sans MS" panose="030F0702030302020204" pitchFamily="66" charset="0"/>
              </a:rPr>
              <a:t>libraries</a:t>
            </a:r>
            <a:r>
              <a:rPr lang="sv-SE" sz="2400" dirty="0">
                <a:latin typeface="Comic Sans MS" panose="030F0702030302020204" pitchFamily="66" charset="0"/>
              </a:rPr>
              <a:t> (</a:t>
            </a:r>
            <a:r>
              <a:rPr lang="sv-SE" sz="2400" dirty="0" err="1">
                <a:latin typeface="Comic Sans MS" panose="030F0702030302020204" pitchFamily="66" charset="0"/>
              </a:rPr>
              <a:t>Python</a:t>
            </a:r>
            <a:r>
              <a:rPr lang="sv-SE" sz="2400" dirty="0">
                <a:latin typeface="Comic Sans MS" panose="030F0702030302020204" pitchFamily="66" charset="0"/>
              </a:rPr>
              <a:t>, JavaScript)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	</a:t>
            </a:r>
            <a:r>
              <a:rPr lang="sv-SE" sz="2400" b="1" dirty="0" err="1">
                <a:latin typeface="Comic Sans MS" panose="030F0702030302020204" pitchFamily="66" charset="0"/>
              </a:rPr>
              <a:t>Tooling</a:t>
            </a:r>
            <a:r>
              <a:rPr lang="sv-SE" sz="2400" b="1" dirty="0">
                <a:latin typeface="Comic Sans MS" panose="030F0702030302020204" pitchFamily="66" charset="0"/>
              </a:rPr>
              <a:t> or </a:t>
            </a:r>
            <a:r>
              <a:rPr lang="sv-SE" sz="2400" b="1" dirty="0" err="1">
                <a:latin typeface="Comic Sans MS" panose="030F0702030302020204" pitchFamily="66" charset="0"/>
              </a:rPr>
              <a:t>platform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compatibility</a:t>
            </a:r>
            <a:r>
              <a:rPr lang="sv-SE" sz="2400" dirty="0">
                <a:latin typeface="Comic Sans MS" panose="030F0702030302020204" pitchFamily="66" charset="0"/>
              </a:rPr>
              <a:t> (C#, Swift)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	</a:t>
            </a:r>
            <a:r>
              <a:rPr lang="sv-SE" sz="2400" b="1" dirty="0" err="1">
                <a:latin typeface="Comic Sans MS" panose="030F0702030302020204" pitchFamily="66" charset="0"/>
              </a:rPr>
              <a:t>Domain</a:t>
            </a:r>
            <a:r>
              <a:rPr lang="sv-SE" sz="2400" b="1" dirty="0">
                <a:latin typeface="Comic Sans MS" panose="030F0702030302020204" pitchFamily="66" charset="0"/>
              </a:rPr>
              <a:t> fit</a:t>
            </a:r>
            <a:r>
              <a:rPr lang="sv-SE" sz="2400" dirty="0">
                <a:latin typeface="Comic Sans MS" panose="030F0702030302020204" pitchFamily="66" charset="0"/>
              </a:rPr>
              <a:t> (SQL for </a:t>
            </a:r>
            <a:r>
              <a:rPr lang="sv-SE" sz="2400" dirty="0" err="1">
                <a:latin typeface="Comic Sans MS" panose="030F0702030302020204" pitchFamily="66" charset="0"/>
              </a:rPr>
              <a:t>databases</a:t>
            </a:r>
            <a:r>
              <a:rPr lang="sv-SE" sz="2400" dirty="0">
                <a:latin typeface="Comic Sans MS" panose="030F0702030302020204" pitchFamily="66" charset="0"/>
              </a:rPr>
              <a:t>, HTML for web pages)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	Just like </a:t>
            </a:r>
            <a:r>
              <a:rPr lang="sv-SE" sz="2400" dirty="0" err="1">
                <a:latin typeface="Comic Sans MS" panose="030F0702030302020204" pitchFamily="66" charset="0"/>
              </a:rPr>
              <a:t>tools</a:t>
            </a:r>
            <a:r>
              <a:rPr lang="sv-SE" sz="2400" dirty="0">
                <a:latin typeface="Comic Sans MS" panose="030F0702030302020204" pitchFamily="66" charset="0"/>
              </a:rPr>
              <a:t> in a </a:t>
            </a:r>
            <a:r>
              <a:rPr lang="sv-SE" sz="2400" dirty="0" err="1">
                <a:latin typeface="Comic Sans MS" panose="030F0702030302020204" pitchFamily="66" charset="0"/>
              </a:rPr>
              <a:t>toolbox</a:t>
            </a:r>
            <a:r>
              <a:rPr lang="sv-SE" sz="2400" dirty="0">
                <a:latin typeface="Comic Sans MS" panose="030F0702030302020204" pitchFamily="66" charset="0"/>
              </a:rPr>
              <a:t> — </a:t>
            </a:r>
            <a:r>
              <a:rPr lang="sv-SE" sz="2400" dirty="0" err="1">
                <a:latin typeface="Comic Sans MS" panose="030F0702030302020204" pitchFamily="66" charset="0"/>
              </a:rPr>
              <a:t>each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one</a:t>
            </a:r>
            <a:r>
              <a:rPr lang="sv-SE" sz="2400" dirty="0">
                <a:latin typeface="Comic Sans MS" panose="030F0702030302020204" pitchFamily="66" charset="0"/>
              </a:rPr>
              <a:t> is </a:t>
            </a:r>
            <a:r>
              <a:rPr lang="sv-SE" sz="2400" dirty="0" err="1">
                <a:latin typeface="Comic Sans MS" panose="030F0702030302020204" pitchFamily="66" charset="0"/>
              </a:rPr>
              <a:t>specialized</a:t>
            </a:r>
            <a:r>
              <a:rPr lang="sv-SE" sz="2400" dirty="0">
                <a:latin typeface="Comic Sans MS" panose="030F0702030302020204" pitchFamily="66" charset="0"/>
              </a:rPr>
              <a:t> for a </a:t>
            </a:r>
            <a:r>
              <a:rPr lang="sv-SE" sz="2400" dirty="0" err="1">
                <a:latin typeface="Comic Sans MS" panose="030F0702030302020204" pitchFamily="66" charset="0"/>
              </a:rPr>
              <a:t>certain</a:t>
            </a:r>
            <a:r>
              <a:rPr lang="sv-SE" sz="2400" dirty="0">
                <a:latin typeface="Comic Sans MS" panose="030F0702030302020204" pitchFamily="66" charset="0"/>
              </a:rPr>
              <a:t> 			</a:t>
            </a:r>
            <a:r>
              <a:rPr lang="sv-SE" sz="2400" dirty="0" err="1">
                <a:latin typeface="Comic Sans MS" panose="030F0702030302020204" pitchFamily="66" charset="0"/>
              </a:rPr>
              <a:t>job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4️⃣ What’s the difference between programming and a programming language?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Explain it using the carpentry analogy (tools vs craft).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	A </a:t>
            </a:r>
            <a:r>
              <a:rPr lang="en-GB" sz="2400" b="1" dirty="0">
                <a:latin typeface="Comic Sans MS" panose="030F0702030302020204" pitchFamily="66" charset="0"/>
              </a:rPr>
              <a:t>programming language</a:t>
            </a:r>
            <a:r>
              <a:rPr lang="en-GB" sz="2400" dirty="0">
                <a:latin typeface="Comic Sans MS" panose="030F0702030302020204" pitchFamily="66" charset="0"/>
              </a:rPr>
              <a:t> is just a </a:t>
            </a:r>
            <a:r>
              <a:rPr lang="en-GB" sz="2400" b="1" dirty="0">
                <a:latin typeface="Comic Sans MS" panose="030F0702030302020204" pitchFamily="66" charset="0"/>
              </a:rPr>
              <a:t>tool</a:t>
            </a:r>
            <a:r>
              <a:rPr lang="en-GB" sz="2400" dirty="0">
                <a:latin typeface="Comic Sans MS" panose="030F0702030302020204" pitchFamily="66" charset="0"/>
              </a:rPr>
              <a:t> to express instructions, 					while </a:t>
            </a:r>
            <a:r>
              <a:rPr lang="en-GB" sz="2400" b="1" dirty="0">
                <a:latin typeface="Comic Sans MS" panose="030F0702030302020204" pitchFamily="66" charset="0"/>
              </a:rPr>
              <a:t>programming</a:t>
            </a:r>
            <a:r>
              <a:rPr lang="en-GB" sz="2400" dirty="0">
                <a:latin typeface="Comic Sans MS" panose="030F0702030302020204" pitchFamily="66" charset="0"/>
              </a:rPr>
              <a:t> is the </a:t>
            </a:r>
            <a:r>
              <a:rPr lang="en-GB" sz="2400" b="1" dirty="0">
                <a:latin typeface="Comic Sans MS" panose="030F0702030302020204" pitchFamily="66" charset="0"/>
              </a:rPr>
              <a:t>craft of problem-solving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Learning syntax is easy — like learning to use a hammer or saw.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Becoming a programmer means mastering how to design, plan, and combine 			those tools to build complete solutions — like crafting a perfect 			piece of furniture.</a:t>
            </a:r>
          </a:p>
        </p:txBody>
      </p:sp>
    </p:spTree>
    <p:extLst>
      <p:ext uri="{BB962C8B-B14F-4D97-AF65-F5344CB8AC3E}">
        <p14:creationId xmlns:p14="http://schemas.microsoft.com/office/powerpoint/2010/main" val="40546228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AC0151-98F4-87F3-130D-00301FEE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4062E9B-4D79-E5B4-483A-156180D7B397}"/>
              </a:ext>
            </a:extLst>
          </p:cNvPr>
          <p:cNvSpPr txBox="1"/>
          <p:nvPr/>
        </p:nvSpPr>
        <p:spPr>
          <a:xfrm>
            <a:off x="381000" y="888075"/>
            <a:ext cx="12352767" cy="643464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b="1" dirty="0">
                <a:latin typeface="Comic Sans MS" panose="030F0702030302020204" pitchFamily="66" charset="0"/>
              </a:rPr>
              <a:t>5️⃣ Why should you focus on learning programming fundamentals before languages?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What part of programming is the “craft,” and what part is just “tools”?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	Because the fundamentals — </a:t>
            </a:r>
            <a:r>
              <a:rPr lang="en-GB" sz="2400" b="1" dirty="0">
                <a:latin typeface="Comic Sans MS" panose="030F0702030302020204" pitchFamily="66" charset="0"/>
              </a:rPr>
              <a:t>logic, algorithms, data structures, and 			problem-solving</a:t>
            </a:r>
            <a:r>
              <a:rPr lang="en-GB" sz="2400" dirty="0">
                <a:latin typeface="Comic Sans MS" panose="030F0702030302020204" pitchFamily="66" charset="0"/>
              </a:rPr>
              <a:t> — are what make you a real programmer.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Once you understand those concepts, you can switch between any 				language easily.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Languages change, but the </a:t>
            </a:r>
            <a:r>
              <a:rPr lang="en-GB" sz="2400" b="1" dirty="0">
                <a:latin typeface="Comic Sans MS" panose="030F0702030302020204" pitchFamily="66" charset="0"/>
              </a:rPr>
              <a:t>thinking skills</a:t>
            </a:r>
            <a:r>
              <a:rPr lang="en-GB" sz="2400" dirty="0">
                <a:latin typeface="Comic Sans MS" panose="030F0702030302020204" pitchFamily="66" charset="0"/>
              </a:rPr>
              <a:t> never go out of date.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6️⃣ Why is it not a good idea to start with modern languages?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Use the driving analogy (manual parking vs park assist) to explain.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	Modern languages have many built-in functions and helpers that hide 				complexity.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They make you feel skilled, but you’re relying on the tools — not your 				understanding.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It’s like learning to drive using </a:t>
            </a:r>
            <a:r>
              <a:rPr lang="en-GB" sz="2400" b="1" dirty="0">
                <a:latin typeface="Comic Sans MS" panose="030F0702030302020204" pitchFamily="66" charset="0"/>
              </a:rPr>
              <a:t>automatic parking sensors</a:t>
            </a:r>
            <a:r>
              <a:rPr lang="en-GB" sz="2400" dirty="0">
                <a:latin typeface="Comic Sans MS" panose="030F0702030302020204" pitchFamily="66" charset="0"/>
              </a:rPr>
              <a:t> — you’ll park 			perfectly, but without them, you’ll struggle.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Start with </a:t>
            </a:r>
            <a:r>
              <a:rPr lang="en-GB" sz="2400" b="1" dirty="0">
                <a:latin typeface="Comic Sans MS" panose="030F0702030302020204" pitchFamily="66" charset="0"/>
              </a:rPr>
              <a:t>C++</a:t>
            </a:r>
            <a:r>
              <a:rPr lang="en-GB" sz="2400" dirty="0">
                <a:latin typeface="Comic Sans MS" panose="030F0702030302020204" pitchFamily="66" charset="0"/>
              </a:rPr>
              <a:t>, which forces you to think logically and learn the true 				mechanics of programming.</a:t>
            </a:r>
          </a:p>
        </p:txBody>
      </p:sp>
    </p:spTree>
    <p:extLst>
      <p:ext uri="{BB962C8B-B14F-4D97-AF65-F5344CB8AC3E}">
        <p14:creationId xmlns:p14="http://schemas.microsoft.com/office/powerpoint/2010/main" val="33893029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0A9040-3377-EE5B-CFDD-5F219DBB6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BD98DC4-3BA6-E29D-7E17-1C561447E590}"/>
              </a:ext>
            </a:extLst>
          </p:cNvPr>
          <p:cNvSpPr txBox="1"/>
          <p:nvPr/>
        </p:nvSpPr>
        <p:spPr>
          <a:xfrm>
            <a:off x="381000" y="888075"/>
            <a:ext cx="12352767" cy="643464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b="1" dirty="0">
                <a:latin typeface="Comic Sans MS" panose="030F0702030302020204" pitchFamily="66" charset="0"/>
              </a:rPr>
              <a:t>7️⃣ Why is C++ recommended as the first language to learn?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List three reasons based on the lesson (hint: fundamentals, concepts, 			mindset).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Because </a:t>
            </a:r>
            <a:r>
              <a:rPr lang="en-GB" sz="2400" b="1" dirty="0">
                <a:latin typeface="Comic Sans MS" panose="030F0702030302020204" pitchFamily="66" charset="0"/>
              </a:rPr>
              <a:t>C++ teaches you all the fundamentals (10/10 concepts)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It’s: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	Powerful yet easy to learn</a:t>
            </a:r>
            <a:r>
              <a:rPr lang="en-GB" sz="2400" dirty="0">
                <a:latin typeface="Comic Sans MS" panose="030F0702030302020204" pitchFamily="66" charset="0"/>
              </a:rPr>
              <a:t> once guided correctly.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Helps you understand how </a:t>
            </a:r>
            <a:r>
              <a:rPr lang="en-GB" sz="2400" b="1" dirty="0">
                <a:latin typeface="Comic Sans MS" panose="030F0702030302020204" pitchFamily="66" charset="0"/>
              </a:rPr>
              <a:t>computers truly work</a:t>
            </a:r>
            <a:r>
              <a:rPr lang="en-GB" sz="2400" dirty="0">
                <a:latin typeface="Comic Sans MS" panose="030F0702030302020204" pitchFamily="66" charset="0"/>
              </a:rPr>
              <a:t> (memory, logic, speed).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Gives you the </a:t>
            </a:r>
            <a:r>
              <a:rPr lang="en-GB" sz="2400" b="1" dirty="0">
                <a:latin typeface="Comic Sans MS" panose="030F0702030302020204" pitchFamily="66" charset="0"/>
              </a:rPr>
              <a:t>foundation</a:t>
            </a:r>
            <a:r>
              <a:rPr lang="en-GB" sz="2400" dirty="0">
                <a:latin typeface="Comic Sans MS" panose="030F0702030302020204" pitchFamily="66" charset="0"/>
              </a:rPr>
              <a:t> to learn any modern language quickly.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Once you master C++, every other language feels simple.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8️⃣ What does “C++ = Salary ++” mean?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Explain why learning C++ adds long-term value — even if you don’t use it in 		daily work.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It means learning C++ increases your </a:t>
            </a:r>
            <a:r>
              <a:rPr lang="en-GB" sz="2400" b="1" dirty="0">
                <a:latin typeface="Comic Sans MS" panose="030F0702030302020204" pitchFamily="66" charset="0"/>
              </a:rPr>
              <a:t>value and career potential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Even if you don’t use it daily, it builds </a:t>
            </a:r>
            <a:r>
              <a:rPr lang="en-GB" sz="2400" b="1" dirty="0">
                <a:latin typeface="Comic Sans MS" panose="030F0702030302020204" pitchFamily="66" charset="0"/>
              </a:rPr>
              <a:t>strong fundamentals</a:t>
            </a:r>
            <a:r>
              <a:rPr lang="en-GB" sz="2400" dirty="0">
                <a:latin typeface="Comic Sans MS" panose="030F0702030302020204" pitchFamily="66" charset="0"/>
              </a:rPr>
              <a:t> that make you 			adaptable and capable in any programming field.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C++ teaches </a:t>
            </a:r>
            <a:r>
              <a:rPr lang="en-GB" sz="2400" b="1" dirty="0">
                <a:latin typeface="Comic Sans MS" panose="030F0702030302020204" pitchFamily="66" charset="0"/>
              </a:rPr>
              <a:t>discipline, structure, and performance thinking</a:t>
            </a:r>
            <a:r>
              <a:rPr lang="en-GB" sz="2400" dirty="0">
                <a:latin typeface="Comic Sans MS" panose="030F0702030302020204" pitchFamily="66" charset="0"/>
              </a:rPr>
              <a:t> — qualities that 		employers reward highly.</a:t>
            </a:r>
          </a:p>
        </p:txBody>
      </p:sp>
    </p:spTree>
    <p:extLst>
      <p:ext uri="{BB962C8B-B14F-4D97-AF65-F5344CB8AC3E}">
        <p14:creationId xmlns:p14="http://schemas.microsoft.com/office/powerpoint/2010/main" val="4148651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3A0491-4114-04D8-B76E-D1A491A74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668C98E-1057-D9DD-D866-DC8ED30837E1}"/>
              </a:ext>
            </a:extLst>
          </p:cNvPr>
          <p:cNvSpPr txBox="1"/>
          <p:nvPr/>
        </p:nvSpPr>
        <p:spPr>
          <a:xfrm>
            <a:off x="381000" y="888075"/>
            <a:ext cx="12352767" cy="458798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b="1" dirty="0">
                <a:latin typeface="Comic Sans MS" panose="030F0702030302020204" pitchFamily="66" charset="0"/>
              </a:rPr>
              <a:t>9️⃣ What makes a good programmer?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Is it the language they use, or something deeper?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	A good programmer is defined by </a:t>
            </a:r>
            <a:r>
              <a:rPr lang="en-GB" sz="2400" b="1" dirty="0">
                <a:latin typeface="Comic Sans MS" panose="030F0702030302020204" pitchFamily="66" charset="0"/>
              </a:rPr>
              <a:t>how they think, </a:t>
            </a:r>
            <a:r>
              <a:rPr lang="en-GB" sz="2400" b="1" dirty="0" err="1">
                <a:latin typeface="Comic Sans MS" panose="030F0702030302020204" pitchFamily="66" charset="0"/>
              </a:rPr>
              <a:t>analyze</a:t>
            </a:r>
            <a:r>
              <a:rPr lang="en-GB" sz="2400" b="1" dirty="0">
                <a:latin typeface="Comic Sans MS" panose="030F0702030302020204" pitchFamily="66" charset="0"/>
              </a:rPr>
              <a:t>, and solve 			problems</a:t>
            </a:r>
            <a:r>
              <a:rPr lang="en-GB" sz="2400" dirty="0">
                <a:latin typeface="Comic Sans MS" panose="030F0702030302020204" pitchFamily="66" charset="0"/>
              </a:rPr>
              <a:t>, not by which language they use.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Programming is about </a:t>
            </a:r>
            <a:r>
              <a:rPr lang="en-GB" sz="2400" b="1" dirty="0">
                <a:latin typeface="Comic Sans MS" panose="030F0702030302020204" pitchFamily="66" charset="0"/>
              </a:rPr>
              <a:t>logic, design, and creativity</a:t>
            </a:r>
            <a:r>
              <a:rPr lang="en-GB" sz="2400" dirty="0">
                <a:latin typeface="Comic Sans MS" panose="030F0702030302020204" pitchFamily="66" charset="0"/>
              </a:rPr>
              <a:t> — the language is just 			the medium used to express those ideas.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 </a:t>
            </a:r>
            <a:r>
              <a:rPr lang="en-GB" sz="2400" b="1" dirty="0">
                <a:latin typeface="Comic Sans MS" panose="030F0702030302020204" pitchFamily="66" charset="0"/>
              </a:rPr>
              <a:t>Final Summary: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There’s no “best language” — </a:t>
            </a:r>
            <a:r>
              <a:rPr lang="en-GB" sz="2400" b="1" dirty="0">
                <a:latin typeface="Comic Sans MS" panose="030F0702030302020204" pitchFamily="66" charset="0"/>
              </a:rPr>
              <a:t>only the best for the task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Focus on </a:t>
            </a:r>
            <a:r>
              <a:rPr lang="en-GB" sz="2400" b="1" dirty="0">
                <a:latin typeface="Comic Sans MS" panose="030F0702030302020204" pitchFamily="66" charset="0"/>
              </a:rPr>
              <a:t>programming concepts</a:t>
            </a:r>
            <a:r>
              <a:rPr lang="en-GB" sz="2400" dirty="0">
                <a:latin typeface="Comic Sans MS" panose="030F0702030302020204" pitchFamily="66" charset="0"/>
              </a:rPr>
              <a:t>, not syntax.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C++ builds fundamentals</a:t>
            </a:r>
            <a:r>
              <a:rPr lang="en-GB" sz="2400" dirty="0">
                <a:latin typeface="Comic Sans MS" panose="030F0702030302020204" pitchFamily="66" charset="0"/>
              </a:rPr>
              <a:t> that unlock every other language.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Languages are </a:t>
            </a:r>
            <a:r>
              <a:rPr lang="en-GB" sz="2400" b="1" dirty="0">
                <a:latin typeface="Comic Sans MS" panose="030F0702030302020204" pitchFamily="66" charset="0"/>
              </a:rPr>
              <a:t>tools</a:t>
            </a:r>
            <a:r>
              <a:rPr lang="en-GB" sz="2400" dirty="0">
                <a:latin typeface="Comic Sans MS" panose="030F0702030302020204" pitchFamily="66" charset="0"/>
              </a:rPr>
              <a:t> — programmers are the </a:t>
            </a:r>
            <a:r>
              <a:rPr lang="en-GB" sz="2400" b="1" dirty="0">
                <a:latin typeface="Comic Sans MS" panose="030F0702030302020204" pitchFamily="66" charset="0"/>
              </a:rPr>
              <a:t>craftsmen</a:t>
            </a:r>
            <a:r>
              <a:rPr lang="en-GB" sz="2400" dirty="0">
                <a:latin typeface="Comic Sans MS" panose="030F0702030302020204" pitchFamily="66" charset="0"/>
              </a:rPr>
              <a:t> who use them to build 		solutions.</a:t>
            </a:r>
          </a:p>
        </p:txBody>
      </p:sp>
    </p:spTree>
    <p:extLst>
      <p:ext uri="{BB962C8B-B14F-4D97-AF65-F5344CB8AC3E}">
        <p14:creationId xmlns:p14="http://schemas.microsoft.com/office/powerpoint/2010/main" val="39060243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212E39-4E28-41C3-A740-153DBCD4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668543-7EAE-9776-A80B-3240223674A9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🏁 Conclusion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“Which language is better?” → </a:t>
            </a:r>
            <a:r>
              <a:rPr lang="en-GB" sz="2400" b="1" dirty="0">
                <a:latin typeface="Comic Sans MS" panose="030F0702030302020204" pitchFamily="66" charset="0"/>
              </a:rPr>
              <a:t>Clarify the goal first.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Prioritize </a:t>
            </a:r>
            <a:r>
              <a:rPr lang="en-GB" sz="2400" b="1" dirty="0">
                <a:latin typeface="Comic Sans MS" panose="030F0702030302020204" pitchFamily="66" charset="0"/>
              </a:rPr>
              <a:t>programming fundamentals</a:t>
            </a:r>
            <a:r>
              <a:rPr lang="en-GB" sz="2400" dirty="0">
                <a:latin typeface="Comic Sans MS" panose="030F0702030302020204" pitchFamily="66" charset="0"/>
              </a:rPr>
              <a:t>; languages are </a:t>
            </a:r>
            <a:r>
              <a:rPr lang="en-GB" sz="2400" b="1" dirty="0">
                <a:latin typeface="Comic Sans MS" panose="030F0702030302020204" pitchFamily="66" charset="0"/>
              </a:rPr>
              <a:t>interchangeable tools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Choose per </a:t>
            </a:r>
            <a:r>
              <a:rPr lang="en-GB" sz="2400" b="1" dirty="0">
                <a:latin typeface="Comic Sans MS" panose="030F0702030302020204" pitchFamily="66" charset="0"/>
              </a:rPr>
              <a:t>domain fit, ecosystem, performance, team, and market</a:t>
            </a:r>
            <a:r>
              <a:rPr lang="en-GB" sz="2400" dirty="0">
                <a:latin typeface="Comic Sans MS" panose="030F0702030302020204" pitchFamily="66" charset="0"/>
              </a:rPr>
              <a:t> — and </a:t>
            </a:r>
            <a:r>
              <a:rPr lang="en-GB" sz="2400">
                <a:latin typeface="Comic Sans MS" panose="030F0702030302020204" pitchFamily="66" charset="0"/>
              </a:rPr>
              <a:t>don’t 	be </a:t>
            </a:r>
            <a:r>
              <a:rPr lang="en-GB" sz="2400" dirty="0">
                <a:latin typeface="Comic Sans MS" panose="030F0702030302020204" pitchFamily="66" charset="0"/>
              </a:rPr>
              <a:t>afraid to </a:t>
            </a:r>
            <a:r>
              <a:rPr lang="en-GB" sz="2400" b="1" dirty="0">
                <a:latin typeface="Comic Sans MS" panose="030F0702030302020204" pitchFamily="66" charset="0"/>
              </a:rPr>
              <a:t>mix languages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br>
              <a:rPr lang="en-GB" sz="2400" dirty="0">
                <a:latin typeface="Comic Sans MS" panose="030F0702030302020204" pitchFamily="66" charset="0"/>
              </a:rPr>
            </a:b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This mindset keeps you flexible, effective, and employable across fast-changing tech stacks.</a:t>
            </a:r>
          </a:p>
        </p:txBody>
      </p:sp>
    </p:spTree>
    <p:extLst>
      <p:ext uri="{BB962C8B-B14F-4D97-AF65-F5344CB8AC3E}">
        <p14:creationId xmlns:p14="http://schemas.microsoft.com/office/powerpoint/2010/main" val="10647921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E4C6-4671-7ABB-DEC7-C93D3D3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36B4F463-11B6-D65B-4C5F-167F42EC86FA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25178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3894</TotalTime>
  <Words>2887</Words>
  <Application>Microsoft Office PowerPoint</Application>
  <PresentationFormat>Custom</PresentationFormat>
  <Paragraphs>219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393</cp:revision>
  <dcterms:created xsi:type="dcterms:W3CDTF">2025-12-09T17:44:59Z</dcterms:created>
  <dcterms:modified xsi:type="dcterms:W3CDTF">2026-01-16T18:05:33Z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