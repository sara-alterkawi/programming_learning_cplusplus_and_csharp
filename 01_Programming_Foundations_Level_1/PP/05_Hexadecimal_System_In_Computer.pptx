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89" r:id="rId2"/>
    <p:sldId id="257" r:id="rId3"/>
    <p:sldId id="460" r:id="rId4"/>
    <p:sldId id="333" r:id="rId5"/>
    <p:sldId id="483" r:id="rId6"/>
    <p:sldId id="484" r:id="rId7"/>
    <p:sldId id="461" r:id="rId8"/>
    <p:sldId id="463" r:id="rId9"/>
    <p:sldId id="464" r:id="rId10"/>
    <p:sldId id="485" r:id="rId11"/>
    <p:sldId id="465" r:id="rId12"/>
    <p:sldId id="466" r:id="rId13"/>
    <p:sldId id="448" r:id="rId14"/>
    <p:sldId id="429" r:id="rId15"/>
    <p:sldId id="390" r:id="rId16"/>
    <p:sldId id="467" r:id="rId17"/>
    <p:sldId id="468" r:id="rId18"/>
    <p:sldId id="392" r:id="rId19"/>
    <p:sldId id="469" r:id="rId20"/>
    <p:sldId id="470" r:id="rId21"/>
    <p:sldId id="471" r:id="rId22"/>
    <p:sldId id="472" r:id="rId23"/>
    <p:sldId id="393" r:id="rId24"/>
    <p:sldId id="473" r:id="rId25"/>
    <p:sldId id="474" r:id="rId26"/>
    <p:sldId id="475" r:id="rId27"/>
    <p:sldId id="476" r:id="rId28"/>
    <p:sldId id="450" r:id="rId29"/>
    <p:sldId id="478" r:id="rId30"/>
    <p:sldId id="479" r:id="rId31"/>
    <p:sldId id="480" r:id="rId32"/>
    <p:sldId id="481" r:id="rId33"/>
    <p:sldId id="482" r:id="rId34"/>
    <p:sldId id="486" r:id="rId35"/>
    <p:sldId id="477" r:id="rId36"/>
    <p:sldId id="349" r:id="rId37"/>
    <p:sldId id="487" r:id="rId38"/>
    <p:sldId id="488" r:id="rId39"/>
    <p:sldId id="438" r:id="rId40"/>
    <p:sldId id="425" r:id="rId4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Hexadecimal System In 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AD20D8-4876-00B4-CB47-2DBBA0DD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8C242F7-248F-6C35-28F5-7208D34415C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67FF71D-B415-D30C-9D65-68631AB184D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AE1FFD-A835-79CE-CAA2-A9FB651FE22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B9C214C-33F3-2A54-FC9C-F1142895FB21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D684A2F-157C-D593-3F62-E6A5CDF8DE37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</a:t>
            </a:r>
            <a:r>
              <a:rPr lang="en-GB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isHexadecimal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System?</a:t>
            </a:r>
          </a:p>
        </p:txBody>
      </p:sp>
    </p:spTree>
    <p:extLst>
      <p:ext uri="{BB962C8B-B14F-4D97-AF65-F5344CB8AC3E}">
        <p14:creationId xmlns:p14="http://schemas.microsoft.com/office/powerpoint/2010/main" val="569555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 Is the Hexadecimal System (Base-16)?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Computers speak binary (base-2), but long strings of 0/1 are hard for humans to read. Hexadecimal (base-16) gives a compact, human-friendly way to view the same bits: every 4 binary bits (a nibble) map to one hex digit. One byte (8 bits) maps neatly to 2 hex digits — perfect for memory dumps, </a:t>
            </a:r>
            <a:r>
              <a:rPr lang="en-GB" sz="2400" dirty="0" err="1">
                <a:latin typeface="Comic Sans MS" panose="030F0702030302020204" pitchFamily="66" charset="0"/>
              </a:rPr>
              <a:t>colors</a:t>
            </a:r>
            <a:r>
              <a:rPr lang="en-GB" sz="2400" dirty="0">
                <a:latin typeface="Comic Sans MS" panose="030F0702030302020204" pitchFamily="66" charset="0"/>
              </a:rPr>
              <a:t>, Unicode, and machine code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2756A2-6CCC-3CDB-9986-5A0B70FE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366FB6C-440E-EA84-3A56-68EEE2AEED56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s-ES" sz="4000" b="1" dirty="0">
                <a:latin typeface="Comic Sans MS" panose="030F0702030302020204" pitchFamily="66" charset="0"/>
              </a:rPr>
              <a:t>Decimal</a:t>
            </a:r>
            <a:r>
              <a:rPr lang="es-ES" sz="4000" b="1" spc="10" dirty="0">
                <a:latin typeface="Comic Sans MS" panose="030F0702030302020204" pitchFamily="66" charset="0"/>
              </a:rPr>
              <a:t> </a:t>
            </a:r>
            <a:r>
              <a:rPr lang="es-ES" sz="4000" b="1" dirty="0">
                <a:latin typeface="Comic Sans MS" panose="030F0702030302020204" pitchFamily="66" charset="0"/>
              </a:rPr>
              <a:t>vs</a:t>
            </a:r>
            <a:r>
              <a:rPr lang="es-ES" sz="4000" b="1" spc="35" dirty="0">
                <a:latin typeface="Comic Sans MS" panose="030F0702030302020204" pitchFamily="66" charset="0"/>
              </a:rPr>
              <a:t> </a:t>
            </a:r>
            <a:r>
              <a:rPr lang="es-ES" sz="4000" b="1" dirty="0" err="1">
                <a:latin typeface="Comic Sans MS" panose="030F0702030302020204" pitchFamily="66" charset="0"/>
              </a:rPr>
              <a:t>Binary</a:t>
            </a:r>
            <a:r>
              <a:rPr lang="es-ES" sz="4000" b="1" spc="-15" dirty="0">
                <a:latin typeface="Comic Sans MS" panose="030F0702030302020204" pitchFamily="66" charset="0"/>
              </a:rPr>
              <a:t> </a:t>
            </a:r>
            <a:r>
              <a:rPr lang="es-ES" sz="4000" b="1" dirty="0">
                <a:latin typeface="Comic Sans MS" panose="030F0702030302020204" pitchFamily="66" charset="0"/>
              </a:rPr>
              <a:t>vs </a:t>
            </a:r>
            <a:r>
              <a:rPr lang="es-ES" sz="4000" b="1" spc="-10" dirty="0">
                <a:latin typeface="Comic Sans MS" panose="030F0702030302020204" pitchFamily="66" charset="0"/>
              </a:rPr>
              <a:t>Hexadecimal?</a:t>
            </a:r>
            <a:endParaRPr lang="en-GB" sz="4000" b="1" dirty="0">
              <a:latin typeface="Comic Sans MS" panose="030F0702030302020204" pitchFamily="66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42BFD7-4406-CCA1-EE38-4D89489F2A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91" y="2438400"/>
            <a:ext cx="12208018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19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69CEA2-1142-F63B-47C5-52AD4690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66A746A-ADF5-23F3-B6AE-3082A7BCCA8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 Is the Hexadecimal System (Base-16)?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Decimal (base-10):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digits</a:t>
            </a:r>
            <a:r>
              <a:rPr lang="sv-SE" sz="2400" dirty="0">
                <a:latin typeface="Comic Sans MS" panose="030F0702030302020204" pitchFamily="66" charset="0"/>
              </a:rPr>
              <a:t> 0–9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(base-2):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digits</a:t>
            </a:r>
            <a:r>
              <a:rPr lang="sv-SE" sz="2400" dirty="0">
                <a:latin typeface="Comic Sans MS" panose="030F0702030302020204" pitchFamily="66" charset="0"/>
              </a:rPr>
              <a:t> 0–1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Hexadecimal (base-16):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digits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0–9 + A, B, C, D, E, F</a:t>
            </a:r>
            <a:r>
              <a:rPr lang="sv-SE" sz="2400" dirty="0">
                <a:latin typeface="Comic Sans MS" panose="030F0702030302020204" pitchFamily="66" charset="0"/>
              </a:rPr>
              <a:t> (A=10 … F=15) </a:t>
            </a:r>
          </a:p>
        </p:txBody>
      </p:sp>
    </p:spTree>
    <p:extLst>
      <p:ext uri="{BB962C8B-B14F-4D97-AF65-F5344CB8AC3E}">
        <p14:creationId xmlns:p14="http://schemas.microsoft.com/office/powerpoint/2010/main" val="11847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4A6000-37C8-14DB-769C-8145CBF2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230361"/>
              </p:ext>
            </p:extLst>
          </p:nvPr>
        </p:nvGraphicFramePr>
        <p:xfrm>
          <a:off x="3962400" y="2286000"/>
          <a:ext cx="5867400" cy="7152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3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8477">
                <a:tc>
                  <a:txBody>
                    <a:bodyPr/>
                    <a:lstStyle/>
                    <a:p>
                      <a:pPr marR="29972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Decimal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6458" marB="0"/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Binary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6458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Hexadecimal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6458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99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5"/>
                        </a:lnSpc>
                        <a:spcBef>
                          <a:spcPts val="45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38237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5"/>
                        </a:lnSpc>
                        <a:spcBef>
                          <a:spcPts val="45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0000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138237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5"/>
                        </a:lnSpc>
                        <a:spcBef>
                          <a:spcPts val="45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38237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035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0001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225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0010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418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0011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0100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0101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0110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6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418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7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0111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7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1000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8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0990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9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1001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9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289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25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1010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1620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A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418">
                <a:tc>
                  <a:txBody>
                    <a:bodyPr/>
                    <a:lstStyle/>
                    <a:p>
                      <a:pPr marR="301625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25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1011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262255" algn="ctr">
                        <a:lnSpc>
                          <a:spcPts val="1375"/>
                        </a:lnSpc>
                        <a:spcBef>
                          <a:spcPts val="100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B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289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5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12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1100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350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C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289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5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13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1101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2890" algn="ctr">
                        <a:lnSpc>
                          <a:spcPts val="1375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D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304">
                <a:tc>
                  <a:txBody>
                    <a:bodyPr/>
                    <a:lstStyle/>
                    <a:p>
                      <a:pPr marR="30289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25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1110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tc>
                  <a:txBody>
                    <a:bodyPr/>
                    <a:lstStyle/>
                    <a:p>
                      <a:pPr marL="260350" algn="ctr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1901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615302">
                <a:tc>
                  <a:txBody>
                    <a:bodyPr/>
                    <a:lstStyle/>
                    <a:p>
                      <a:pPr marR="30289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400" spc="-25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15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400" spc="-2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1111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tc>
                  <a:txBody>
                    <a:bodyPr/>
                    <a:lstStyle/>
                    <a:p>
                      <a:pPr marL="26098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400" spc="-50" dirty="0">
                          <a:solidFill>
                            <a:srgbClr val="231F1F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30382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8EE63E6E-D50B-D036-BB9E-5FC8058BC06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Key 4-bit mapping: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287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5A911B-7C98-EBD4-D110-8177BA2D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ECCDF8B3-AB07-F353-667D-90898F81B432}"/>
              </a:ext>
            </a:extLst>
          </p:cNvPr>
          <p:cNvSpPr txBox="1"/>
          <p:nvPr/>
        </p:nvSpPr>
        <p:spPr>
          <a:xfrm>
            <a:off x="381000" y="888075"/>
            <a:ext cx="12352767" cy="24361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/>
            <a:r>
              <a:rPr lang="sv-SE" sz="4000" b="1" dirty="0" err="1">
                <a:latin typeface="Comic Sans MS" panose="030F0702030302020204" pitchFamily="66" charset="0"/>
              </a:rPr>
              <a:t>Why</a:t>
            </a:r>
            <a:r>
              <a:rPr lang="sv-SE" sz="4000" b="1" spc="-50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>
                <a:latin typeface="Comic Sans MS" panose="030F0702030302020204" pitchFamily="66" charset="0"/>
              </a:rPr>
              <a:t>Hexadecimal?</a:t>
            </a:r>
            <a:endParaRPr lang="en-GB" sz="4000" b="1" dirty="0">
              <a:latin typeface="Comic Sans MS" panose="030F0702030302020204" pitchFamily="66" charset="0"/>
            </a:endParaRPr>
          </a:p>
          <a:p>
            <a:r>
              <a:rPr lang="sv-SE" sz="4000" b="1" dirty="0" err="1">
                <a:latin typeface="Comic Sans MS" panose="030F0702030302020204" pitchFamily="66" charset="0"/>
              </a:rPr>
              <a:t>It’s</a:t>
            </a:r>
            <a:r>
              <a:rPr lang="sv-SE" sz="4000" b="1" dirty="0">
                <a:latin typeface="Comic Sans MS" panose="030F0702030302020204" pitchFamily="66" charset="0"/>
              </a:rPr>
              <a:t> hard to human to read </a:t>
            </a:r>
            <a:r>
              <a:rPr lang="sv-SE" sz="4000" b="1" dirty="0" err="1">
                <a:latin typeface="Comic Sans MS" panose="030F0702030302020204" pitchFamily="66" charset="0"/>
              </a:rPr>
              <a:t>binary</a:t>
            </a:r>
            <a:r>
              <a:rPr lang="sv-SE" sz="4000" b="1" dirty="0">
                <a:latin typeface="Comic Sans MS" panose="030F0702030302020204" pitchFamily="66" charset="0"/>
              </a:rPr>
              <a:t>!</a:t>
            </a:r>
            <a:endParaRPr lang="en-GB" sz="4000" b="1" spc="-10" dirty="0">
              <a:latin typeface="Comic Sans MS" panose="030F0702030302020204" pitchFamily="66" charset="0"/>
            </a:endParaRPr>
          </a:p>
          <a:p>
            <a:r>
              <a:rPr lang="en-GB" sz="2400" b="1" spc="-10" dirty="0">
                <a:solidFill>
                  <a:schemeClr val="tx1"/>
                </a:solidFill>
                <a:latin typeface="Comic Sans MS" panose="030F0702030302020204" pitchFamily="66" charset="0"/>
              </a:rPr>
              <a:t>What does this mean ?</a:t>
            </a:r>
            <a:endParaRPr lang="en-GB" sz="2400" b="1" spc="-1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12700">
              <a:lnSpc>
                <a:spcPts val="2630"/>
              </a:lnSpc>
              <a:spcBef>
                <a:spcPts val="114"/>
              </a:spcBef>
            </a:pPr>
            <a:r>
              <a:rPr lang="en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01001001 00100000 01001100 01101111 01110110 01100101</a:t>
            </a:r>
            <a:r>
              <a:rPr lang="sv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 </a:t>
            </a:r>
            <a:r>
              <a:rPr lang="en-SE" sz="2400" b="1" u="sng" dirty="0">
                <a:solidFill>
                  <a:schemeClr val="accent1"/>
                </a:solidFill>
                <a:latin typeface="Comic Sans MS" panose="030F0702030302020204" pitchFamily="66" charset="0"/>
              </a:rPr>
              <a:t>00100000 01011001 01101111 01110101 00100001</a:t>
            </a:r>
          </a:p>
        </p:txBody>
      </p:sp>
      <p:pic>
        <p:nvPicPr>
          <p:cNvPr id="4" name="Picture 3" descr="A close up of a message&#10;&#10;AI-generated content may be incorrect.">
            <a:extLst>
              <a:ext uri="{FF2B5EF4-FFF2-40B4-BE49-F238E27FC236}">
                <a16:creationId xmlns:a16="http://schemas.microsoft.com/office/drawing/2014/main" id="{E2288289-5D20-5C92-CAF1-8DED778833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091" y="4038590"/>
            <a:ext cx="6653017" cy="198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6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270FCC-A9DD-1FD7-0AF0-3F174899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A6697D3-58EE-F275-247C-C04D83F456EC}"/>
              </a:ext>
            </a:extLst>
          </p:cNvPr>
          <p:cNvSpPr txBox="1"/>
          <p:nvPr/>
        </p:nvSpPr>
        <p:spPr>
          <a:xfrm>
            <a:off x="529216" y="3376409"/>
            <a:ext cx="12352767" cy="33055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4000" dirty="0">
                <a:latin typeface="Comic Sans MS" panose="030F0702030302020204" pitchFamily="66" charset="0"/>
              </a:rPr>
              <a:t>Hexadecimal</a:t>
            </a:r>
            <a:r>
              <a:rPr lang="en-GB" sz="4000" spc="-135" dirty="0">
                <a:latin typeface="Comic Sans MS" panose="030F0702030302020204" pitchFamily="66" charset="0"/>
              </a:rPr>
              <a:t> </a:t>
            </a:r>
            <a:r>
              <a:rPr lang="en-GB" sz="4000" spc="-10" dirty="0">
                <a:latin typeface="Comic Sans MS" panose="030F0702030302020204" pitchFamily="66" charset="0"/>
              </a:rPr>
              <a:t>System</a:t>
            </a:r>
            <a:endParaRPr lang="en-GB" sz="4000" dirty="0">
              <a:latin typeface="Comic Sans MS" panose="030F0702030302020204" pitchFamily="66" charset="0"/>
            </a:endParaRPr>
          </a:p>
          <a:p>
            <a:pPr algn="ctr">
              <a:lnSpc>
                <a:spcPct val="100000"/>
              </a:lnSpc>
            </a:pPr>
            <a:r>
              <a:rPr lang="en-GB" sz="4000" dirty="0">
                <a:latin typeface="Comic Sans MS" panose="030F0702030302020204" pitchFamily="66" charset="0"/>
              </a:rPr>
              <a:t>Provides</a:t>
            </a:r>
            <a:r>
              <a:rPr lang="en-GB" sz="4000" spc="-35" dirty="0">
                <a:latin typeface="Comic Sans MS" panose="030F0702030302020204" pitchFamily="66" charset="0"/>
              </a:rPr>
              <a:t> </a:t>
            </a:r>
            <a:r>
              <a:rPr lang="en-GB" sz="4000" dirty="0">
                <a:latin typeface="Comic Sans MS" panose="030F0702030302020204" pitchFamily="66" charset="0"/>
              </a:rPr>
              <a:t>a</a:t>
            </a:r>
            <a:r>
              <a:rPr lang="en-GB" sz="4000" spc="-35" dirty="0">
                <a:latin typeface="Comic Sans MS" panose="030F0702030302020204" pitchFamily="66" charset="0"/>
              </a:rPr>
              <a:t> </a:t>
            </a:r>
            <a:r>
              <a:rPr lang="en-GB" sz="4000" spc="-10" dirty="0">
                <a:solidFill>
                  <a:srgbClr val="FF0000"/>
                </a:solidFill>
                <a:latin typeface="Comic Sans MS" panose="030F0702030302020204" pitchFamily="66" charset="0"/>
              </a:rPr>
              <a:t>human-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friendly</a:t>
            </a:r>
            <a:r>
              <a:rPr lang="en-GB" sz="4000" spc="-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spc="-10" dirty="0">
                <a:solidFill>
                  <a:srgbClr val="FF0000"/>
                </a:solidFill>
                <a:latin typeface="Comic Sans MS" panose="030F0702030302020204" pitchFamily="66" charset="0"/>
              </a:rPr>
              <a:t>representation</a:t>
            </a:r>
          </a:p>
          <a:p>
            <a:pPr marL="191770" algn="ctr">
              <a:lnSpc>
                <a:spcPct val="100000"/>
              </a:lnSpc>
              <a:spcBef>
                <a:spcPts val="100"/>
              </a:spcBef>
            </a:pPr>
            <a:r>
              <a:rPr lang="en-GB" sz="4000" dirty="0">
                <a:latin typeface="Comic Sans MS" panose="030F0702030302020204" pitchFamily="66" charset="0"/>
                <a:cs typeface="Comic Sans MS"/>
              </a:rPr>
              <a:t>11010100</a:t>
            </a:r>
            <a:r>
              <a:rPr lang="en-GB" sz="4000" spc="-10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30" dirty="0">
                <a:latin typeface="Comic Sans MS" panose="030F0702030302020204" pitchFamily="66" charset="0"/>
                <a:cs typeface="MingLiU_HKSCS-ExtB"/>
              </a:rPr>
              <a:t>➔</a:t>
            </a:r>
            <a:r>
              <a:rPr lang="en-GB" sz="4000" spc="30" dirty="0">
                <a:latin typeface="Comic Sans MS" panose="030F0702030302020204" pitchFamily="66" charset="0"/>
                <a:cs typeface="Comic Sans MS"/>
              </a:rPr>
              <a:t>D4</a:t>
            </a: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334"/>
              </a:spcBef>
            </a:pP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Each</a:t>
            </a:r>
            <a:r>
              <a:rPr lang="en-GB" sz="4000" u="sng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Byte</a:t>
            </a:r>
            <a:r>
              <a:rPr lang="en-GB" sz="4000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4000" spc="-5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represented</a:t>
            </a:r>
            <a:r>
              <a:rPr lang="en-GB" sz="4000" spc="-8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with</a:t>
            </a:r>
            <a:r>
              <a:rPr lang="en-GB" sz="4000" spc="-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2</a:t>
            </a:r>
            <a:r>
              <a:rPr lang="en-GB" sz="4000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letters</a:t>
            </a:r>
            <a:r>
              <a:rPr lang="en-GB" sz="4000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only</a:t>
            </a:r>
            <a:r>
              <a:rPr lang="en-GB" sz="4000" spc="-10" dirty="0">
                <a:latin typeface="Comic Sans MS" panose="030F0702030302020204" pitchFamily="66" charset="0"/>
                <a:cs typeface="Comic Sans MS"/>
              </a:rPr>
              <a:t>.</a:t>
            </a:r>
            <a:endParaRPr lang="en-GB" sz="40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24453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CBC27D-ED21-7619-3680-4FF2943E7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12E570-D282-0618-22D8-21937EDB9812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What Is the Hexadecimal System (Base-16)?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dirty="0">
                <a:latin typeface="Comic Sans MS" panose="030F0702030302020204" pitchFamily="66" charset="0"/>
              </a:rPr>
              <a:t>Humans </a:t>
            </a:r>
            <a:r>
              <a:rPr lang="sv-SE" sz="2400" dirty="0" err="1">
                <a:latin typeface="Comic Sans MS" panose="030F0702030302020204" pitchFamily="66" charset="0"/>
              </a:rPr>
              <a:t>struggle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with</a:t>
            </a:r>
            <a:r>
              <a:rPr lang="sv-SE" sz="2400" dirty="0">
                <a:latin typeface="Comic Sans MS" panose="030F0702030302020204" pitchFamily="66" charset="0"/>
              </a:rPr>
              <a:t> long </a:t>
            </a:r>
            <a:r>
              <a:rPr lang="sv-SE" sz="2400" dirty="0" err="1">
                <a:latin typeface="Comic Sans MS" panose="030F0702030302020204" pitchFamily="66" charset="0"/>
              </a:rPr>
              <a:t>binary</a:t>
            </a:r>
            <a:r>
              <a:rPr lang="sv-SE" sz="2400" dirty="0">
                <a:latin typeface="Comic Sans MS" panose="030F0702030302020204" pitchFamily="66" charset="0"/>
              </a:rPr>
              <a:t> strings (</a:t>
            </a:r>
            <a:r>
              <a:rPr lang="sv-SE" sz="2400" dirty="0" err="1">
                <a:latin typeface="Comic Sans MS" panose="030F0702030302020204" pitchFamily="66" charset="0"/>
              </a:rPr>
              <a:t>e.g</a:t>
            </a:r>
            <a:r>
              <a:rPr lang="sv-SE" sz="2400" dirty="0">
                <a:latin typeface="Comic Sans MS" panose="030F0702030302020204" pitchFamily="66" charset="0"/>
              </a:rPr>
              <a:t>., “I Love </a:t>
            </a:r>
            <a:r>
              <a:rPr lang="sv-SE" sz="2400" dirty="0" err="1">
                <a:latin typeface="Comic Sans MS" panose="030F0702030302020204" pitchFamily="66" charset="0"/>
              </a:rPr>
              <a:t>You</a:t>
            </a:r>
            <a:r>
              <a:rPr lang="sv-SE" sz="2400" dirty="0">
                <a:latin typeface="Comic Sans MS" panose="030F0702030302020204" pitchFamily="66" charset="0"/>
              </a:rPr>
              <a:t>!” in ASCII bits).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compresses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binary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pPr lvl="1"/>
            <a:r>
              <a:rPr lang="sv-SE" sz="2400" dirty="0">
                <a:latin typeface="Comic Sans MS" panose="030F0702030302020204" pitchFamily="66" charset="0"/>
              </a:rPr>
              <a:t>	🟩 11010100 → </a:t>
            </a:r>
            <a:r>
              <a:rPr lang="sv-SE" sz="2400" b="1" dirty="0">
                <a:latin typeface="Comic Sans MS" panose="030F0702030302020204" pitchFamily="66" charset="0"/>
              </a:rPr>
              <a:t>D4</a:t>
            </a:r>
            <a:endParaRPr lang="sv-SE" sz="2400" dirty="0">
              <a:latin typeface="Comic Sans MS" panose="030F0702030302020204" pitchFamily="66" charset="0"/>
            </a:endParaRPr>
          </a:p>
          <a:p>
            <a:pPr lvl="1"/>
            <a:r>
              <a:rPr lang="sv-SE" sz="2400" dirty="0">
                <a:latin typeface="Comic Sans MS" panose="030F0702030302020204" pitchFamily="66" charset="0"/>
              </a:rPr>
              <a:t>	🟩 1111 1111 1111 1111 1111 → </a:t>
            </a:r>
            <a:r>
              <a:rPr lang="sv-SE" sz="2400" b="1" dirty="0">
                <a:latin typeface="Comic Sans MS" panose="030F0702030302020204" pitchFamily="66" charset="0"/>
              </a:rPr>
              <a:t>FFFFFF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grouped</a:t>
            </a:r>
            <a:r>
              <a:rPr lang="sv-SE" sz="2400" dirty="0">
                <a:latin typeface="Comic Sans MS" panose="030F0702030302020204" pitchFamily="66" charset="0"/>
              </a:rPr>
              <a:t> by 4 bits)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Each</a:t>
            </a:r>
            <a:r>
              <a:rPr lang="sv-SE" sz="2400" b="1" dirty="0">
                <a:latin typeface="Comic Sans MS" panose="030F0702030302020204" pitchFamily="66" charset="0"/>
              </a:rPr>
              <a:t> byte = 2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digits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clean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readable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dumps</a:t>
            </a:r>
            <a:r>
              <a:rPr lang="sv-SE" sz="2400" dirty="0">
                <a:latin typeface="Comic Sans MS" panose="030F0702030302020204" pitchFamily="66" charset="0"/>
              </a:rPr>
              <a:t> and color </a:t>
            </a:r>
            <a:r>
              <a:rPr lang="sv-SE" sz="2400" dirty="0" err="1">
                <a:latin typeface="Comic Sans MS" panose="030F0702030302020204" pitchFamily="66" charset="0"/>
              </a:rPr>
              <a:t>codes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9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E24CFC-0D44-D6AC-432D-5079495A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ABF0E9A5-D526-E940-271B-C2A292F70ED2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94C878C9-38DA-50CE-2503-ACC3B4071E4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957" y="1256851"/>
            <a:ext cx="13411198" cy="754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40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85F4BF-2663-4398-BC29-4F15C503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3689B83E-9D22-14D6-9D27-84AD474DCA7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866ADB26-92C2-01E1-7E0D-52FAAE3CE38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957" y="1256851"/>
            <a:ext cx="13411197" cy="754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76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C6089A-9399-7B6C-1DF0-B5FD0BB67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68B6C98-DF7D-1E74-4ECD-DAABA058C2C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C71BFE6-1ECE-2491-22AB-7BE8A393D9B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50C70FE-339F-A4ED-3C8F-741EE094099F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FFBD4F6-4C5B-7C83-CD38-3813161573B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23E59231-254E-DD14-1CE8-B129EB58A98D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Hexadecimal </a:t>
            </a:r>
            <a:r>
              <a:rPr lang="en-GB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Prefex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244055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4ACECE-324C-7BED-23E8-E3919313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3B6F73-CA80-FF78-505A-971DCD9B0887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0" dirty="0">
                <a:latin typeface="Comic Sans MS" panose="030F0702030302020204" pitchFamily="66" charset="0"/>
              </a:rPr>
              <a:t>Prefix:</a:t>
            </a:r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950963"/>
              </p:ext>
            </p:extLst>
          </p:nvPr>
        </p:nvGraphicFramePr>
        <p:xfrm>
          <a:off x="2719388" y="3001159"/>
          <a:ext cx="7972424" cy="20339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5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0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Technology/Language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Prefix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761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u="sng" spc="-10" dirty="0">
                          <a:solidFill>
                            <a:srgbClr val="70AC46"/>
                          </a:solidFill>
                          <a:uFill>
                            <a:solidFill>
                              <a:srgbClr val="70AC46"/>
                            </a:solidFill>
                          </a:uFill>
                          <a:latin typeface="Comic Sans MS"/>
                          <a:cs typeface="Comic Sans MS"/>
                        </a:rPr>
                        <a:t>Example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HTML</a:t>
                      </a:r>
                      <a:r>
                        <a:rPr sz="2400" spc="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400" dirty="0">
                          <a:latin typeface="Comic Sans MS"/>
                          <a:cs typeface="Comic Sans MS"/>
                        </a:rPr>
                        <a:t>&amp;</a:t>
                      </a:r>
                      <a:r>
                        <a:rPr sz="2400" spc="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400" spc="-25" dirty="0">
                          <a:latin typeface="Comic Sans MS"/>
                          <a:cs typeface="Comic Sans MS"/>
                        </a:rPr>
                        <a:t>CSS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#</a:t>
                      </a:r>
                      <a:r>
                        <a:rPr sz="2400" spc="-10" dirty="0">
                          <a:latin typeface="Comic Sans MS"/>
                          <a:cs typeface="Comic Sans MS"/>
                        </a:rPr>
                        <a:t>Code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7620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#FFFFFF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71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C,C++,Java..etc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0x</a:t>
                      </a:r>
                      <a:r>
                        <a:rPr sz="2400" spc="-10" dirty="0">
                          <a:latin typeface="Comic Sans MS"/>
                          <a:cs typeface="Comic Sans MS"/>
                        </a:rPr>
                        <a:t>Code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7607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0xC2A4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spc="-25" dirty="0">
                          <a:latin typeface="Comic Sans MS"/>
                          <a:cs typeface="Comic Sans MS"/>
                        </a:rPr>
                        <a:t>XML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&amp;#</a:t>
                      </a:r>
                      <a:r>
                        <a:rPr sz="2400" spc="-10" dirty="0">
                          <a:latin typeface="Comic Sans MS"/>
                          <a:cs typeface="Comic Sans MS"/>
                        </a:rPr>
                        <a:t>Code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76073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&amp;#C2A4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571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Unicode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U+</a:t>
                      </a:r>
                      <a:r>
                        <a:rPr sz="2400" spc="-10" dirty="0">
                          <a:latin typeface="Comic Sans MS"/>
                          <a:cs typeface="Comic Sans MS"/>
                        </a:rPr>
                        <a:t>Code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7600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U+C2A4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444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F1E68AAC-155C-BA75-17AF-EF940DB28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91200"/>
            <a:ext cx="961072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348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CD78B5-29E7-0D11-5018-D9280761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BCE7C08-BB39-2036-3E52-5A3F85BE4BCF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7D2DAA9-83A3-C176-45F2-7F811183B1B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E96370A-1203-5C9B-8B28-6849D8399F8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F04998E-3658-1BB0-DBFF-B05D6691297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40AE7CE-88B5-4FA9-1013-C682262A030D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 Hexadecimal works?</a:t>
            </a:r>
          </a:p>
        </p:txBody>
      </p:sp>
    </p:spTree>
    <p:extLst>
      <p:ext uri="{BB962C8B-B14F-4D97-AF65-F5344CB8AC3E}">
        <p14:creationId xmlns:p14="http://schemas.microsoft.com/office/powerpoint/2010/main" val="3456207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B13C0B-7753-5440-9C82-E5E4CEEB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902A57-BBDF-6BBF-4A8B-050C7352A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3870" y="3733800"/>
            <a:ext cx="9823460" cy="129540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9F10522D-B9D0-A1EC-F98E-BF90E422D260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GB" sz="4000" b="1" dirty="0">
                <a:latin typeface="Comic Sans MS" panose="030F0702030302020204" pitchFamily="66" charset="0"/>
              </a:rPr>
              <a:t>Remember that binary</a:t>
            </a:r>
            <a:r>
              <a:rPr lang="en-GB" sz="4000" b="1" spc="4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was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base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spc="-25" dirty="0">
                <a:latin typeface="Comic Sans MS" panose="030F0702030302020204" pitchFamily="66" charset="0"/>
              </a:rPr>
              <a:t>2.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10728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F3C1BE-A880-4D65-AC79-6679B891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C805129-A717-62DA-C5A9-489587B131F8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GB" sz="4000" b="1" dirty="0">
                <a:latin typeface="Comic Sans MS" panose="030F0702030302020204" pitchFamily="66" charset="0"/>
              </a:rPr>
              <a:t>Remember that binary</a:t>
            </a:r>
            <a:r>
              <a:rPr lang="en-GB" sz="4000" b="1" spc="4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was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base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spc="-25" dirty="0">
                <a:latin typeface="Comic Sans MS" panose="030F0702030302020204" pitchFamily="66" charset="0"/>
              </a:rPr>
              <a:t>2.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B96FAD-C06C-92BE-3AB0-D2EC286BF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14800" y="3200400"/>
            <a:ext cx="7772400" cy="195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6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03BD65-47DB-72B6-E216-47CB3B29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A4C9874-FD57-FC3F-4821-462A995AC57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9DFB3CA-C96A-E988-DB5C-BE851242E2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A80191-AEAC-C1E1-1C06-927F9293B32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BD05E7A-C5C4-CF98-1FF5-CC6E33AB22F3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188D959A-DD9C-9A70-0BBA-AEF826CB716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Decimal to Hex</a:t>
            </a:r>
          </a:p>
        </p:txBody>
      </p:sp>
    </p:spTree>
    <p:extLst>
      <p:ext uri="{BB962C8B-B14F-4D97-AF65-F5344CB8AC3E}">
        <p14:creationId xmlns:p14="http://schemas.microsoft.com/office/powerpoint/2010/main" val="3873552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597BEC-65A9-A23E-C5A2-AF6DC4A0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5E82B60-27CC-4C3C-6FCB-15D5FED36453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spc="-10" dirty="0" err="1">
                <a:latin typeface="Comic Sans MS" panose="030F0702030302020204" pitchFamily="66" charset="0"/>
              </a:rPr>
              <a:t>Remember</a:t>
            </a:r>
            <a:r>
              <a:rPr lang="sv-SE" sz="4000" b="1" spc="-10" dirty="0">
                <a:latin typeface="Comic Sans MS" panose="030F0702030302020204" pitchFamily="66" charset="0"/>
              </a:rPr>
              <a:t>..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7FD5C5-0886-3EDA-2283-54D21B6963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9083" y="3450511"/>
            <a:ext cx="10953034" cy="142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76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0E61D4-0407-6249-7486-00C2C5895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130DD72-5DCE-C109-3C26-0FF1EAD0862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469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 err="1">
                <a:latin typeface="Comic Sans MS" panose="030F0702030302020204" pitchFamily="66" charset="0"/>
              </a:rPr>
              <a:t>Hex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BC1C6A-02A0-20E3-A465-EC7CF74A2C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814" y="3255088"/>
            <a:ext cx="11179572" cy="4060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CF7B17-E6E8-C723-5FC4-4565384B88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888075"/>
            <a:ext cx="6625338" cy="8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50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635C59-17BF-EA3A-6110-50E836F3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1F2DF3C0-7A3A-8A6E-3288-CAD6CE94C8FD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en-SE" sz="4000" b="1" dirty="0">
                <a:latin typeface="Comic Sans MS" panose="030F0702030302020204" pitchFamily="66" charset="0"/>
              </a:rPr>
              <a:t>1513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 err="1">
                <a:latin typeface="Comic Sans MS" panose="030F0702030302020204" pitchFamily="66" charset="0"/>
              </a:rPr>
              <a:t>Hex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A7C6E6-7970-056C-E716-64C0B92CEF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814" y="3263674"/>
            <a:ext cx="11179572" cy="4042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945DEE-322F-34AC-FC72-FE1ED37110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888075"/>
            <a:ext cx="6625338" cy="8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0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6E4D5B-0421-491D-5634-630DB421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852B8323-433C-5686-976E-1BA959B3E87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479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 err="1">
                <a:latin typeface="Comic Sans MS" panose="030F0702030302020204" pitchFamily="66" charset="0"/>
              </a:rPr>
              <a:t>Hex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AC529F-98C2-AF44-DA3D-BF234D4DD0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815" y="3263674"/>
            <a:ext cx="11179570" cy="4042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0AED35-16F1-93B1-0036-CFFC8348C7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888075"/>
            <a:ext cx="6625338" cy="8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30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62688E-5B37-9EA3-88D1-9E5A9EE8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969635-3629-A81F-3808-7886DA2FE3C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80E8A09-12F4-1B05-2D73-78614CD984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516C81-F62D-540D-069E-E6D788490CC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E5132E3-8847-4F76-28F9-F7DDE63AFA1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1CC4FA4-64D7-CACE-1EB3-8C85B80A9FD8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Hex to Decimal</a:t>
            </a:r>
          </a:p>
        </p:txBody>
      </p:sp>
    </p:spTree>
    <p:extLst>
      <p:ext uri="{BB962C8B-B14F-4D97-AF65-F5344CB8AC3E}">
        <p14:creationId xmlns:p14="http://schemas.microsoft.com/office/powerpoint/2010/main" val="1834281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36BE59-0CA2-EF3D-A31E-E246D0B92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050C9162-0357-F0F4-D269-BF203351ECBE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1D5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>
                <a:latin typeface="Comic Sans MS" panose="030F0702030302020204" pitchFamily="66" charset="0"/>
              </a:rPr>
              <a:t>Decimal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A127D-31A6-B07A-18C3-CC793D3E5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888075"/>
            <a:ext cx="6625338" cy="862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FD3B15-ECE2-3DD2-0BF4-A157B17DFB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0806" y="3263674"/>
            <a:ext cx="5049587" cy="404293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0A13F54E-ECF0-3240-2A57-A506A8C00BE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1129" y="1676400"/>
            <a:ext cx="195071" cy="2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24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EC9603-F9DE-38A9-5822-AF8BF23D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5E90EDF0-C947-BFCA-230F-2A3EBD6BAF6E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5E9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>
                <a:latin typeface="Comic Sans MS" panose="030F0702030302020204" pitchFamily="66" charset="0"/>
              </a:rPr>
              <a:t>Decimal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0BA96-BBEC-3B35-B5E3-F89FE67C68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888075"/>
            <a:ext cx="6625338" cy="862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35C5C9-EC7A-0DC9-368B-9CC3E7CC7B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0806" y="3324939"/>
            <a:ext cx="5049587" cy="392040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7284EA12-64AE-CD5E-731D-6837B7571F6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1676400"/>
            <a:ext cx="195071" cy="2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60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BA8CF2-26C7-0698-6121-91926986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6D29E96-B91C-AC85-6DEC-04B64AAEAE3C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1DF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>
                <a:latin typeface="Comic Sans MS" panose="030F0702030302020204" pitchFamily="66" charset="0"/>
              </a:rPr>
              <a:t>Decimal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A9F20-0991-1946-4101-2E9264F9B1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888075"/>
            <a:ext cx="6625338" cy="862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A6E042-B380-CEF7-65FF-484E4D682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7601" y="3324939"/>
            <a:ext cx="5035996" cy="392040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E502BD6A-FABE-75DC-D939-B54CD392D5F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600" y="1676400"/>
            <a:ext cx="195071" cy="216407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B97E1F36-E838-485C-4708-E5F147C8A56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5600" y="1676400"/>
            <a:ext cx="195071" cy="2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28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A952A9-4E7C-1386-1367-37E869CB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25DB14A-3BF2-697E-F20B-A70FA58DF0B9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9DD508C-812A-63B5-0D1B-740A29E845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4E96E4-A8C4-FD58-A52B-AE971A055EFA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8047B92-09A2-CC37-9518-FA8DC5818DB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A50C92D-6326-967A-C674-BF1DCAB2EB3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Hex to Binary</a:t>
            </a:r>
          </a:p>
        </p:txBody>
      </p:sp>
    </p:spTree>
    <p:extLst>
      <p:ext uri="{BB962C8B-B14F-4D97-AF65-F5344CB8AC3E}">
        <p14:creationId xmlns:p14="http://schemas.microsoft.com/office/powerpoint/2010/main" val="1355456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F75602-A41A-A8BA-568B-9F69A760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2AD391-6CFC-94A5-E515-D389941E09A4}"/>
              </a:ext>
            </a:extLst>
          </p:cNvPr>
          <p:cNvSpPr txBox="1"/>
          <p:nvPr/>
        </p:nvSpPr>
        <p:spPr>
          <a:xfrm>
            <a:off x="381000" y="888075"/>
            <a:ext cx="12352767" cy="325685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Convert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Hexa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Binary?</a:t>
            </a:r>
          </a:p>
          <a:p>
            <a:pPr marL="200660" indent="-187960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00660" algn="l"/>
              </a:tabLst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00660" indent="-187960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Two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steps: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767715" lvl="1" indent="-377190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767715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 err="1">
                <a:latin typeface="Comic Sans MS" panose="030F0702030302020204" pitchFamily="66" charset="0"/>
                <a:cs typeface="Comic Sans MS"/>
              </a:rPr>
              <a:t>hexa</a:t>
            </a:r>
            <a:r>
              <a:rPr lang="en-GB" sz="2400" spc="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decimal.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767715" lvl="1" indent="-37719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767715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decimal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binary.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That’s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 it.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928944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37A38C-9622-5840-40EE-451C60C5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59F4B8C-518E-80D0-3556-811C16DE74AE}"/>
              </a:ext>
            </a:extLst>
          </p:cNvPr>
          <p:cNvSpPr txBox="1"/>
          <p:nvPr/>
        </p:nvSpPr>
        <p:spPr>
          <a:xfrm>
            <a:off x="381000" y="888075"/>
            <a:ext cx="12352767" cy="32183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2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1D5</a:t>
            </a:r>
            <a:r>
              <a:rPr lang="sv-SE" sz="4000" b="1" spc="1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10" dirty="0" err="1">
                <a:latin typeface="Comic Sans MS" panose="030F0702030302020204" pitchFamily="66" charset="0"/>
              </a:rPr>
              <a:t>Binary</a:t>
            </a:r>
            <a:endParaRPr lang="sv-SE" sz="4000" b="1" spc="-1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00660" indent="-187960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Two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steps: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767715" lvl="1" indent="-377190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767715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1D5</a:t>
            </a:r>
            <a:r>
              <a:rPr lang="en-GB" sz="2400" spc="2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decimal.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767715" lvl="1" indent="-37719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767715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decimal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binary.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That’s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 it.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897680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90BE83-378D-BE8C-690E-3B0EF3A2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D2760BBA-5014-D250-6B5A-8C03139CD95D}"/>
              </a:ext>
            </a:extLst>
          </p:cNvPr>
          <p:cNvSpPr txBox="1"/>
          <p:nvPr/>
        </p:nvSpPr>
        <p:spPr>
          <a:xfrm>
            <a:off x="381000" y="888075"/>
            <a:ext cx="12352767" cy="13999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Step1: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1D5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>
                <a:latin typeface="Comic Sans MS" panose="030F0702030302020204" pitchFamily="66" charset="0"/>
              </a:rPr>
              <a:t>Decimal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B2FF1-FC7F-6E06-31EC-0C0AC4641A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3200" y="888075"/>
            <a:ext cx="6625338" cy="862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3FBCAA3-3DA5-8EAE-D0ED-ECCE43F727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0806" y="3263674"/>
            <a:ext cx="5049587" cy="4042939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02DAC9FB-D075-3A1A-32B0-1F5BE6DBDD8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1129" y="1676400"/>
            <a:ext cx="195071" cy="216407"/>
          </a:xfrm>
          <a:prstGeom prst="rect">
            <a:avLst/>
          </a:prstGeom>
        </p:spPr>
      </p:pic>
      <p:sp>
        <p:nvSpPr>
          <p:cNvPr id="6" name="object 20">
            <a:extLst>
              <a:ext uri="{FF2B5EF4-FFF2-40B4-BE49-F238E27FC236}">
                <a16:creationId xmlns:a16="http://schemas.microsoft.com/office/drawing/2014/main" id="{8FD04BCC-7A72-38CB-3B0F-90CF5202EA38}"/>
              </a:ext>
            </a:extLst>
          </p:cNvPr>
          <p:cNvSpPr txBox="1"/>
          <p:nvPr/>
        </p:nvSpPr>
        <p:spPr>
          <a:xfrm>
            <a:off x="10134600" y="6552047"/>
            <a:ext cx="2047207" cy="7545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Now</a:t>
            </a:r>
            <a:r>
              <a:rPr sz="2400" spc="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convert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this</a:t>
            </a:r>
            <a:r>
              <a:rPr sz="2400" spc="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to</a:t>
            </a:r>
            <a:r>
              <a:rPr sz="24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binary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9FD563FC-D904-3FA0-6577-FFB5A7F0C80B}"/>
              </a:ext>
            </a:extLst>
          </p:cNvPr>
          <p:cNvSpPr/>
          <p:nvPr/>
        </p:nvSpPr>
        <p:spPr>
          <a:xfrm>
            <a:off x="9334500" y="6781800"/>
            <a:ext cx="342900" cy="228600"/>
          </a:xfrm>
          <a:custGeom>
            <a:avLst/>
            <a:gdLst/>
            <a:ahLst/>
            <a:cxnLst/>
            <a:rect l="l" t="t" r="r" b="b"/>
            <a:pathLst>
              <a:path w="342900" h="228600">
                <a:moveTo>
                  <a:pt x="260604" y="228600"/>
                </a:moveTo>
                <a:lnTo>
                  <a:pt x="256031" y="228600"/>
                </a:lnTo>
                <a:lnTo>
                  <a:pt x="256031" y="225552"/>
                </a:lnTo>
                <a:lnTo>
                  <a:pt x="254507" y="224028"/>
                </a:lnTo>
                <a:lnTo>
                  <a:pt x="256031" y="211836"/>
                </a:lnTo>
                <a:lnTo>
                  <a:pt x="256031" y="208788"/>
                </a:lnTo>
                <a:lnTo>
                  <a:pt x="254507" y="205740"/>
                </a:lnTo>
                <a:lnTo>
                  <a:pt x="249936" y="205740"/>
                </a:lnTo>
                <a:lnTo>
                  <a:pt x="246888" y="207264"/>
                </a:lnTo>
                <a:lnTo>
                  <a:pt x="245364" y="208788"/>
                </a:lnTo>
                <a:lnTo>
                  <a:pt x="245364" y="217932"/>
                </a:lnTo>
                <a:lnTo>
                  <a:pt x="243840" y="220980"/>
                </a:lnTo>
                <a:lnTo>
                  <a:pt x="242316" y="222504"/>
                </a:lnTo>
                <a:lnTo>
                  <a:pt x="237743" y="220980"/>
                </a:lnTo>
                <a:lnTo>
                  <a:pt x="234695" y="208788"/>
                </a:lnTo>
                <a:lnTo>
                  <a:pt x="230124" y="193548"/>
                </a:lnTo>
                <a:lnTo>
                  <a:pt x="230124" y="175260"/>
                </a:lnTo>
                <a:lnTo>
                  <a:pt x="236219" y="167640"/>
                </a:lnTo>
                <a:lnTo>
                  <a:pt x="249936" y="153924"/>
                </a:lnTo>
                <a:lnTo>
                  <a:pt x="256031" y="146304"/>
                </a:lnTo>
                <a:lnTo>
                  <a:pt x="260604" y="137160"/>
                </a:lnTo>
                <a:lnTo>
                  <a:pt x="227076" y="135636"/>
                </a:lnTo>
                <a:lnTo>
                  <a:pt x="192024" y="135636"/>
                </a:lnTo>
                <a:lnTo>
                  <a:pt x="92964" y="141732"/>
                </a:lnTo>
                <a:lnTo>
                  <a:pt x="60960" y="140208"/>
                </a:lnTo>
                <a:lnTo>
                  <a:pt x="30480" y="137160"/>
                </a:lnTo>
                <a:lnTo>
                  <a:pt x="1524" y="128016"/>
                </a:lnTo>
                <a:lnTo>
                  <a:pt x="0" y="115824"/>
                </a:lnTo>
                <a:lnTo>
                  <a:pt x="1524" y="106680"/>
                </a:lnTo>
                <a:lnTo>
                  <a:pt x="3048" y="99060"/>
                </a:lnTo>
                <a:lnTo>
                  <a:pt x="7620" y="83820"/>
                </a:lnTo>
                <a:lnTo>
                  <a:pt x="10668" y="77724"/>
                </a:lnTo>
                <a:lnTo>
                  <a:pt x="103632" y="82296"/>
                </a:lnTo>
                <a:lnTo>
                  <a:pt x="137160" y="85344"/>
                </a:lnTo>
                <a:lnTo>
                  <a:pt x="198119" y="82296"/>
                </a:lnTo>
                <a:lnTo>
                  <a:pt x="227076" y="76200"/>
                </a:lnTo>
                <a:lnTo>
                  <a:pt x="192024" y="41148"/>
                </a:lnTo>
                <a:lnTo>
                  <a:pt x="195072" y="25908"/>
                </a:lnTo>
                <a:lnTo>
                  <a:pt x="198119" y="15240"/>
                </a:lnTo>
                <a:lnTo>
                  <a:pt x="202692" y="6096"/>
                </a:lnTo>
                <a:lnTo>
                  <a:pt x="208788" y="1524"/>
                </a:lnTo>
                <a:lnTo>
                  <a:pt x="216407" y="0"/>
                </a:lnTo>
                <a:lnTo>
                  <a:pt x="224028" y="1524"/>
                </a:lnTo>
                <a:lnTo>
                  <a:pt x="242316" y="10668"/>
                </a:lnTo>
                <a:lnTo>
                  <a:pt x="262128" y="25908"/>
                </a:lnTo>
                <a:lnTo>
                  <a:pt x="283464" y="41148"/>
                </a:lnTo>
                <a:lnTo>
                  <a:pt x="294131" y="50292"/>
                </a:lnTo>
                <a:lnTo>
                  <a:pt x="304800" y="56388"/>
                </a:lnTo>
                <a:lnTo>
                  <a:pt x="315467" y="60960"/>
                </a:lnTo>
                <a:lnTo>
                  <a:pt x="326136" y="64008"/>
                </a:lnTo>
                <a:lnTo>
                  <a:pt x="335280" y="67056"/>
                </a:lnTo>
                <a:lnTo>
                  <a:pt x="341376" y="80772"/>
                </a:lnTo>
                <a:lnTo>
                  <a:pt x="342900" y="92964"/>
                </a:lnTo>
                <a:lnTo>
                  <a:pt x="342900" y="105156"/>
                </a:lnTo>
                <a:lnTo>
                  <a:pt x="336804" y="123444"/>
                </a:lnTo>
                <a:lnTo>
                  <a:pt x="330708" y="131064"/>
                </a:lnTo>
                <a:lnTo>
                  <a:pt x="324612" y="140208"/>
                </a:lnTo>
                <a:lnTo>
                  <a:pt x="316991" y="147828"/>
                </a:lnTo>
                <a:lnTo>
                  <a:pt x="310895" y="155448"/>
                </a:lnTo>
                <a:lnTo>
                  <a:pt x="303276" y="163068"/>
                </a:lnTo>
                <a:lnTo>
                  <a:pt x="297180" y="172212"/>
                </a:lnTo>
                <a:lnTo>
                  <a:pt x="289559" y="184404"/>
                </a:lnTo>
                <a:lnTo>
                  <a:pt x="278892" y="208788"/>
                </a:lnTo>
                <a:lnTo>
                  <a:pt x="272795" y="219456"/>
                </a:lnTo>
                <a:lnTo>
                  <a:pt x="268224" y="225552"/>
                </a:lnTo>
                <a:lnTo>
                  <a:pt x="260604" y="22860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0952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03C9C7-D505-1BF2-CA1C-423A3901C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13695518-E82A-1EE0-F0A5-9BC020E019BF}"/>
              </a:ext>
            </a:extLst>
          </p:cNvPr>
          <p:cNvSpPr txBox="1"/>
          <p:nvPr/>
        </p:nvSpPr>
        <p:spPr>
          <a:xfrm>
            <a:off x="381000" y="888075"/>
            <a:ext cx="12352767" cy="13999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Step2: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Convert</a:t>
            </a:r>
            <a:r>
              <a:rPr lang="sv-SE" sz="4000" b="1" spc="-15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469</a:t>
            </a:r>
            <a:r>
              <a:rPr lang="sv-SE" sz="4000" b="1" spc="30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to</a:t>
            </a:r>
            <a:r>
              <a:rPr lang="sv-SE" sz="4000" b="1" spc="10" dirty="0">
                <a:latin typeface="Comic Sans MS" panose="030F0702030302020204" pitchFamily="66" charset="0"/>
              </a:rPr>
              <a:t> </a:t>
            </a:r>
            <a:r>
              <a:rPr lang="sv-SE" sz="4000" b="1" spc="-25" dirty="0" err="1">
                <a:latin typeface="Comic Sans MS" panose="030F0702030302020204" pitchFamily="66" charset="0"/>
              </a:rPr>
              <a:t>Binary</a:t>
            </a:r>
            <a:endParaRPr lang="en-GB" sz="40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6CCEBC-0573-7C81-D3E8-D27CA8C71E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2901" y="2564819"/>
            <a:ext cx="10025397" cy="492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13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708D56-7804-3C53-4B24-8D3D4836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F27C8DE-BAE4-34AB-BA16-D30F04BF7118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240DE79-D700-4C39-C81D-61B4A79C55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16181A7-C6CE-4F8F-58FC-21630C36C38D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BBC1D7B-A6E3-55F4-DA8A-67889338B75C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70EDC454-E1EC-A58B-3AC8-B27A0561C596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Binary to Hexa</a:t>
            </a:r>
          </a:p>
        </p:txBody>
      </p:sp>
    </p:spTree>
    <p:extLst>
      <p:ext uri="{BB962C8B-B14F-4D97-AF65-F5344CB8AC3E}">
        <p14:creationId xmlns:p14="http://schemas.microsoft.com/office/powerpoint/2010/main" val="458078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16D013-39E6-815B-05DF-ADD634C8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F708B9F-F173-106E-D56C-EFA0A4BDFA6F}"/>
              </a:ext>
            </a:extLst>
          </p:cNvPr>
          <p:cNvSpPr txBox="1"/>
          <p:nvPr/>
        </p:nvSpPr>
        <p:spPr>
          <a:xfrm>
            <a:off x="381000" y="888075"/>
            <a:ext cx="12352767" cy="325685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Convert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Hexa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Binary?</a:t>
            </a:r>
          </a:p>
          <a:p>
            <a:pPr marL="200660" indent="-187960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00660" algn="l"/>
              </a:tabLst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00660" indent="-187960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Two</a:t>
            </a:r>
            <a:r>
              <a:rPr lang="en-GB" sz="2400" spc="-2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steps: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767715" lvl="1" indent="-377190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767715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binary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1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decimal.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767715" lvl="1" indent="-37719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767715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Convert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decimal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40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 err="1">
                <a:latin typeface="Comic Sans MS" panose="030F0702030302020204" pitchFamily="66" charset="0"/>
                <a:cs typeface="Comic Sans MS"/>
              </a:rPr>
              <a:t>hexa</a:t>
            </a:r>
            <a:r>
              <a:rPr lang="en-GB" sz="2400" spc="-10" dirty="0">
                <a:latin typeface="Comic Sans MS" panose="030F0702030302020204" pitchFamily="66" charset="0"/>
                <a:cs typeface="Comic Sans MS"/>
              </a:rPr>
              <a:t>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That’s</a:t>
            </a:r>
            <a:r>
              <a:rPr lang="en-GB" sz="2400" spc="-25" dirty="0">
                <a:latin typeface="Comic Sans MS" panose="030F0702030302020204" pitchFamily="66" charset="0"/>
                <a:cs typeface="Comic Sans MS"/>
              </a:rPr>
              <a:t> it.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73817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AADF45-ADA5-DC17-1833-380A128E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63AD4AE-9F43-161D-391E-4E8BED0FDEFC}"/>
              </a:ext>
            </a:extLst>
          </p:cNvPr>
          <p:cNvSpPr txBox="1"/>
          <p:nvPr/>
        </p:nvSpPr>
        <p:spPr>
          <a:xfrm>
            <a:off x="381000" y="888075"/>
            <a:ext cx="12352767" cy="35877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  <a:cs typeface="Comic Sans MS"/>
              </a:rPr>
              <a:t>🔗 Interconnection: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00660" algn="l"/>
              </a:tabLst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 4 bits ↔ 1 hex digit → compact human view of binary.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 1 byte ↔ 2 hex digits → easy memory/ASCII/</a:t>
            </a:r>
            <a:r>
              <a:rPr lang="en-GB" sz="2400" dirty="0" err="1">
                <a:latin typeface="Comic Sans MS" panose="030F0702030302020204" pitchFamily="66" charset="0"/>
                <a:cs typeface="Comic Sans MS"/>
              </a:rPr>
              <a:t>color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 dumps.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 Powers of 16 (1,16,256,4096…) → drive </a:t>
            </a:r>
            <a:r>
              <a:rPr lang="en-GB" sz="2400" dirty="0" err="1">
                <a:latin typeface="Comic Sans MS" panose="030F0702030302020204" pitchFamily="66" charset="0"/>
                <a:cs typeface="Comic Sans MS"/>
              </a:rPr>
              <a:t>decimal↔hex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 math.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 Prefixes (#, 0x, &amp;#, U+) → tell tools to interpret as hex.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00660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By mastering hex, you read/write low-level data confidently — firmware, encodings, </a:t>
            </a:r>
            <a:r>
              <a:rPr lang="en-GB" sz="2400" dirty="0" err="1">
                <a:latin typeface="Comic Sans MS" panose="030F0702030302020204" pitchFamily="66" charset="0"/>
                <a:cs typeface="Comic Sans MS"/>
              </a:rPr>
              <a:t>colors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, addresses — without drowning in 0/1. 🚀</a:t>
            </a:r>
          </a:p>
        </p:txBody>
      </p:sp>
    </p:spTree>
    <p:extLst>
      <p:ext uri="{BB962C8B-B14F-4D97-AF65-F5344CB8AC3E}">
        <p14:creationId xmlns:p14="http://schemas.microsoft.com/office/powerpoint/2010/main" val="3240998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967247-52CF-855F-2655-B81971E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844576B-230D-31A4-0484-A2FF3FBB07E8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Convert </a:t>
            </a:r>
            <a:r>
              <a:rPr lang="en-GB" sz="2400" b="1" dirty="0">
                <a:latin typeface="Comic Sans MS" panose="030F0702030302020204" pitchFamily="66" charset="0"/>
              </a:rPr>
              <a:t>469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1513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479</a:t>
            </a:r>
            <a:r>
              <a:rPr lang="en-GB" sz="2400" dirty="0">
                <a:latin typeface="Comic Sans MS" panose="030F0702030302020204" pitchFamily="66" charset="0"/>
              </a:rPr>
              <a:t> to hex (show steps).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Convert </a:t>
            </a:r>
            <a:r>
              <a:rPr lang="en-GB" sz="2400" b="1" dirty="0">
                <a:latin typeface="Comic Sans MS" panose="030F0702030302020204" pitchFamily="66" charset="0"/>
              </a:rPr>
              <a:t>1D5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5E9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1DF</a:t>
            </a:r>
            <a:r>
              <a:rPr lang="en-GB" sz="2400" dirty="0">
                <a:latin typeface="Comic Sans MS" panose="030F0702030302020204" pitchFamily="66" charset="0"/>
              </a:rPr>
              <a:t> to decimal (expand by 16n16^n16n).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Convert </a:t>
            </a:r>
            <a:r>
              <a:rPr lang="en-GB" sz="2400" b="1" dirty="0">
                <a:latin typeface="Comic Sans MS" panose="030F0702030302020204" pitchFamily="66" charset="0"/>
              </a:rPr>
              <a:t>13B4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A5</a:t>
            </a:r>
            <a:r>
              <a:rPr lang="en-GB" sz="2400" dirty="0">
                <a:latin typeface="Comic Sans MS" panose="030F0702030302020204" pitchFamily="66" charset="0"/>
              </a:rPr>
              <a:t> to </a:t>
            </a:r>
            <a:r>
              <a:rPr lang="en-GB" sz="2400" b="1" dirty="0">
                <a:latin typeface="Comic Sans MS" panose="030F0702030302020204" pitchFamily="66" charset="0"/>
              </a:rPr>
              <a:t>binary</a:t>
            </a:r>
            <a:r>
              <a:rPr lang="en-GB" sz="2400" dirty="0">
                <a:latin typeface="Comic Sans MS" panose="030F0702030302020204" pitchFamily="66" charset="0"/>
              </a:rPr>
              <a:t> using nibble mapping</a:t>
            </a:r>
            <a:endParaRPr lang="en-SE" sz="2400" spc="-2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286009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8896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1️⃣ </a:t>
            </a:r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469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1513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479</a:t>
            </a:r>
            <a:r>
              <a:rPr lang="sv-SE" sz="2400" dirty="0">
                <a:latin typeface="Comic Sans MS" panose="030F0702030302020204" pitchFamily="66" charset="0"/>
              </a:rPr>
              <a:t> to 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 (show steps)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469 →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469 ÷ 16 = </a:t>
            </a:r>
            <a:r>
              <a:rPr lang="sv-SE" sz="2400" b="1" dirty="0">
                <a:latin typeface="Comic Sans MS" panose="030F0702030302020204" pitchFamily="66" charset="0"/>
              </a:rPr>
              <a:t>29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5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29 ÷ 16 =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13 → D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1 ÷ 16 =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Read </a:t>
            </a:r>
            <a:r>
              <a:rPr lang="sv-SE" sz="2400" dirty="0" err="1">
                <a:latin typeface="Comic Sans MS" panose="030F0702030302020204" pitchFamily="66" charset="0"/>
              </a:rPr>
              <a:t>remainders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bottom→top</a:t>
            </a:r>
            <a:r>
              <a:rPr lang="sv-SE" sz="2400" dirty="0">
                <a:latin typeface="Comic Sans MS" panose="030F0702030302020204" pitchFamily="66" charset="0"/>
              </a:rPr>
              <a:t> → </a:t>
            </a:r>
            <a:r>
              <a:rPr lang="sv-SE" sz="2400" b="1" dirty="0">
                <a:latin typeface="Comic Sans MS" panose="030F0702030302020204" pitchFamily="66" charset="0"/>
              </a:rPr>
              <a:t>1 D 5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➡️ </a:t>
            </a:r>
            <a:r>
              <a:rPr lang="en-SE" sz="2400" b="1" dirty="0">
                <a:latin typeface="Comic Sans MS" panose="030F0702030302020204" pitchFamily="66" charset="0"/>
              </a:rPr>
              <a:t>469₁₀ = 1</a:t>
            </a:r>
            <a:r>
              <a:rPr lang="sv-SE" sz="2400" b="1" dirty="0">
                <a:latin typeface="Comic Sans MS" panose="030F0702030302020204" pitchFamily="66" charset="0"/>
              </a:rPr>
              <a:t>D5₁₆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1513 →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1513 ÷ 16 = </a:t>
            </a:r>
            <a:r>
              <a:rPr lang="sv-SE" sz="2400" b="1" dirty="0">
                <a:latin typeface="Comic Sans MS" panose="030F0702030302020204" pitchFamily="66" charset="0"/>
              </a:rPr>
              <a:t>94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9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94 ÷ 16 = </a:t>
            </a:r>
            <a:r>
              <a:rPr lang="sv-SE" sz="2400" b="1" dirty="0">
                <a:latin typeface="Comic Sans MS" panose="030F0702030302020204" pitchFamily="66" charset="0"/>
              </a:rPr>
              <a:t>5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14 → 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5 ÷ 16 =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5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Read </a:t>
            </a:r>
            <a:r>
              <a:rPr lang="sv-SE" sz="2400" dirty="0" err="1">
                <a:latin typeface="Comic Sans MS" panose="030F0702030302020204" pitchFamily="66" charset="0"/>
              </a:rPr>
              <a:t>remainders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bottom→top</a:t>
            </a:r>
            <a:r>
              <a:rPr lang="sv-SE" sz="2400" dirty="0">
                <a:latin typeface="Comic Sans MS" panose="030F0702030302020204" pitchFamily="66" charset="0"/>
              </a:rPr>
              <a:t> → </a:t>
            </a:r>
            <a:r>
              <a:rPr lang="sv-SE" sz="2400" b="1" dirty="0">
                <a:latin typeface="Comic Sans MS" panose="030F0702030302020204" pitchFamily="66" charset="0"/>
              </a:rPr>
              <a:t>5 E 9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➡️ </a:t>
            </a:r>
            <a:r>
              <a:rPr lang="en-SE" sz="2400" b="1" dirty="0">
                <a:latin typeface="Comic Sans MS" panose="030F0702030302020204" pitchFamily="66" charset="0"/>
              </a:rPr>
              <a:t>1513₁₀ = 5</a:t>
            </a:r>
            <a:r>
              <a:rPr lang="sv-SE" sz="2400" b="1" dirty="0">
                <a:latin typeface="Comic Sans MS" panose="030F0702030302020204" pitchFamily="66" charset="0"/>
              </a:rPr>
              <a:t>E9₁₆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479 →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479 ÷ 16 = </a:t>
            </a:r>
            <a:r>
              <a:rPr lang="sv-SE" sz="2400" b="1" dirty="0">
                <a:latin typeface="Comic Sans MS" panose="030F0702030302020204" pitchFamily="66" charset="0"/>
              </a:rPr>
              <a:t>29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15 → F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29 ÷ 16 =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13 → D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1 ÷ 16 = </a:t>
            </a:r>
            <a:r>
              <a:rPr lang="sv-SE" sz="2400" b="1" dirty="0">
                <a:latin typeface="Comic Sans MS" panose="030F0702030302020204" pitchFamily="66" charset="0"/>
              </a:rPr>
              <a:t>0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remainder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1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Read </a:t>
            </a:r>
            <a:r>
              <a:rPr lang="sv-SE" sz="2400" dirty="0" err="1">
                <a:latin typeface="Comic Sans MS" panose="030F0702030302020204" pitchFamily="66" charset="0"/>
              </a:rPr>
              <a:t>remainders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bottom→top</a:t>
            </a:r>
            <a:r>
              <a:rPr lang="sv-SE" sz="2400" dirty="0">
                <a:latin typeface="Comic Sans MS" panose="030F0702030302020204" pitchFamily="66" charset="0"/>
              </a:rPr>
              <a:t> → </a:t>
            </a:r>
            <a:r>
              <a:rPr lang="sv-SE" sz="2400" b="1" dirty="0">
                <a:latin typeface="Comic Sans MS" panose="030F0702030302020204" pitchFamily="66" charset="0"/>
              </a:rPr>
              <a:t>1 D F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➡️ </a:t>
            </a:r>
            <a:r>
              <a:rPr lang="en-SE" sz="2400" b="1" dirty="0">
                <a:latin typeface="Comic Sans MS" panose="030F0702030302020204" pitchFamily="66" charset="0"/>
              </a:rPr>
              <a:t>479₁₀ = 1</a:t>
            </a:r>
            <a:r>
              <a:rPr lang="sv-SE" sz="2400" b="1" dirty="0">
                <a:latin typeface="Comic Sans MS" panose="030F0702030302020204" pitchFamily="66" charset="0"/>
              </a:rPr>
              <a:t>DF₁₆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71A05C-B4FE-28B0-9B1C-25118398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0606BB-7846-E3EB-429D-55ACB587B744}"/>
              </a:ext>
            </a:extLst>
          </p:cNvPr>
          <p:cNvSpPr txBox="1"/>
          <p:nvPr/>
        </p:nvSpPr>
        <p:spPr>
          <a:xfrm>
            <a:off x="381000" y="888075"/>
            <a:ext cx="12352767" cy="8650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pt-BR" sz="2400" dirty="0">
                <a:latin typeface="Comic Sans MS" panose="030F0702030302020204" pitchFamily="66" charset="0"/>
              </a:rPr>
              <a:t>2️⃣ Convert </a:t>
            </a:r>
            <a:r>
              <a:rPr lang="pt-BR" sz="2400" b="1" dirty="0">
                <a:latin typeface="Comic Sans MS" panose="030F0702030302020204" pitchFamily="66" charset="0"/>
              </a:rPr>
              <a:t>1D5</a:t>
            </a:r>
            <a:r>
              <a:rPr lang="pt-BR" sz="2400" dirty="0">
                <a:latin typeface="Comic Sans MS" panose="030F0702030302020204" pitchFamily="66" charset="0"/>
              </a:rPr>
              <a:t>, </a:t>
            </a:r>
            <a:r>
              <a:rPr lang="pt-BR" sz="2400" b="1" dirty="0">
                <a:latin typeface="Comic Sans MS" panose="030F0702030302020204" pitchFamily="66" charset="0"/>
              </a:rPr>
              <a:t>5E9</a:t>
            </a:r>
            <a:r>
              <a:rPr lang="pt-BR" sz="2400" dirty="0">
                <a:latin typeface="Comic Sans MS" panose="030F0702030302020204" pitchFamily="66" charset="0"/>
              </a:rPr>
              <a:t>, </a:t>
            </a:r>
            <a:r>
              <a:rPr lang="pt-BR" sz="2400" b="1" dirty="0">
                <a:latin typeface="Comic Sans MS" panose="030F0702030302020204" pitchFamily="66" charset="0"/>
              </a:rPr>
              <a:t>1DF</a:t>
            </a:r>
            <a:r>
              <a:rPr lang="pt-BR" sz="2400" dirty="0">
                <a:latin typeface="Comic Sans MS" panose="030F0702030302020204" pitchFamily="66" charset="0"/>
              </a:rPr>
              <a:t> to decimal (expand by 16n16^n16n).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Convert 1D5₁₆ → Decimal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Hex		Decimal		Power		Calculation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1		1			16</a:t>
            </a:r>
            <a:r>
              <a:rPr lang="pt-BR" sz="2400" dirty="0">
                <a:latin typeface="Comic Sans MS" panose="030F0702030302020204" pitchFamily="66" charset="0"/>
              </a:rPr>
              <a:t> ^2= 256		1x256=256</a:t>
            </a:r>
            <a:endParaRPr lang="pt-BR" sz="2400" b="1" dirty="0">
              <a:latin typeface="Comic Sans MS" panose="030F0702030302020204" pitchFamily="66" charset="0"/>
            </a:endParaRPr>
          </a:p>
          <a:p>
            <a:r>
              <a:rPr lang="pt-BR" sz="2400" b="1" dirty="0">
                <a:latin typeface="Comic Sans MS" panose="030F0702030302020204" pitchFamily="66" charset="0"/>
              </a:rPr>
              <a:t>	D		13			16</a:t>
            </a:r>
            <a:r>
              <a:rPr lang="pt-BR" sz="2400" dirty="0">
                <a:latin typeface="Comic Sans MS" panose="030F0702030302020204" pitchFamily="66" charset="0"/>
              </a:rPr>
              <a:t> ^1=16		13x16=208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5		5			16</a:t>
            </a:r>
            <a:r>
              <a:rPr lang="pt-BR" sz="2400" dirty="0">
                <a:latin typeface="Comic Sans MS" panose="030F0702030302020204" pitchFamily="66" charset="0"/>
              </a:rPr>
              <a:t> ^0=1		5x1=5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256+208+1280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➡️ </a:t>
            </a:r>
            <a:r>
              <a:rPr lang="pt-BR" sz="2400" b="1" dirty="0">
                <a:latin typeface="Comic Sans MS" panose="030F0702030302020204" pitchFamily="66" charset="0"/>
              </a:rPr>
              <a:t> 1D5₁₆ </a:t>
            </a:r>
            <a:r>
              <a:rPr lang="en-SE" sz="2400" b="1" dirty="0">
                <a:latin typeface="Comic Sans MS" panose="030F0702030302020204" pitchFamily="66" charset="0"/>
              </a:rPr>
              <a:t>= </a:t>
            </a:r>
            <a:r>
              <a:rPr lang="sv-SE" sz="2400" b="1" dirty="0">
                <a:latin typeface="Comic Sans MS" panose="030F0702030302020204" pitchFamily="66" charset="0"/>
              </a:rPr>
              <a:t>1513</a:t>
            </a:r>
            <a:r>
              <a:rPr lang="en-SE" sz="2400" b="1" dirty="0">
                <a:latin typeface="Comic Sans MS" panose="030F0702030302020204" pitchFamily="66" charset="0"/>
              </a:rPr>
              <a:t>₁₀</a:t>
            </a:r>
            <a:endParaRPr lang="pt-BR" sz="2400" b="1" dirty="0">
              <a:latin typeface="Comic Sans MS" panose="030F0702030302020204" pitchFamily="66" charset="0"/>
            </a:endParaRPr>
          </a:p>
          <a:p>
            <a:r>
              <a:rPr lang="sv-SE" sz="2400" b="1" dirty="0" err="1">
                <a:latin typeface="Comic Sans MS" panose="030F0702030302020204" pitchFamily="66" charset="0"/>
              </a:rPr>
              <a:t>Convert</a:t>
            </a:r>
            <a:r>
              <a:rPr lang="sv-SE" sz="2400" b="1" dirty="0">
                <a:latin typeface="Comic Sans MS" panose="030F0702030302020204" pitchFamily="66" charset="0"/>
              </a:rPr>
              <a:t> 5E9₁₆ → Decimal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Hex		Decimal		Power		Calculation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5		5			16</a:t>
            </a:r>
            <a:r>
              <a:rPr lang="pt-BR" sz="2400" dirty="0">
                <a:latin typeface="Comic Sans MS" panose="030F0702030302020204" pitchFamily="66" charset="0"/>
              </a:rPr>
              <a:t> ^2= 256		5x256=1280</a:t>
            </a:r>
            <a:endParaRPr lang="pt-BR" sz="2400" b="1" dirty="0">
              <a:latin typeface="Comic Sans MS" panose="030F0702030302020204" pitchFamily="66" charset="0"/>
            </a:endParaRPr>
          </a:p>
          <a:p>
            <a:r>
              <a:rPr lang="pt-BR" sz="2400" b="1" dirty="0">
                <a:latin typeface="Comic Sans MS" panose="030F0702030302020204" pitchFamily="66" charset="0"/>
              </a:rPr>
              <a:t>	E		14			16</a:t>
            </a:r>
            <a:r>
              <a:rPr lang="pt-BR" sz="2400" dirty="0">
                <a:latin typeface="Comic Sans MS" panose="030F0702030302020204" pitchFamily="66" charset="0"/>
              </a:rPr>
              <a:t> ^1=16		14x16=224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9		9			16</a:t>
            </a:r>
            <a:r>
              <a:rPr lang="pt-BR" sz="2400" dirty="0">
                <a:latin typeface="Comic Sans MS" panose="030F0702030302020204" pitchFamily="66" charset="0"/>
              </a:rPr>
              <a:t> ^0=1		9x1=9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1280+224+9=1513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➡️ </a:t>
            </a:r>
            <a:r>
              <a:rPr lang="pt-BR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>
                <a:latin typeface="Comic Sans MS" panose="030F0702030302020204" pitchFamily="66" charset="0"/>
              </a:rPr>
              <a:t>5E9</a:t>
            </a:r>
            <a:r>
              <a:rPr lang="pt-BR" sz="2400" b="1" dirty="0">
                <a:latin typeface="Comic Sans MS" panose="030F0702030302020204" pitchFamily="66" charset="0"/>
              </a:rPr>
              <a:t>₁₆ </a:t>
            </a:r>
            <a:r>
              <a:rPr lang="en-SE" sz="2400" b="1" dirty="0">
                <a:latin typeface="Comic Sans MS" panose="030F0702030302020204" pitchFamily="66" charset="0"/>
              </a:rPr>
              <a:t>= </a:t>
            </a:r>
            <a:r>
              <a:rPr lang="sv-SE" sz="2400" b="1" dirty="0">
                <a:latin typeface="Comic Sans MS" panose="030F0702030302020204" pitchFamily="66" charset="0"/>
              </a:rPr>
              <a:t>1513</a:t>
            </a:r>
            <a:r>
              <a:rPr lang="en-SE" sz="2400" b="1" dirty="0">
                <a:latin typeface="Comic Sans MS" panose="030F0702030302020204" pitchFamily="66" charset="0"/>
              </a:rPr>
              <a:t>₁₀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b="1" dirty="0" err="1">
                <a:latin typeface="Comic Sans MS" panose="030F0702030302020204" pitchFamily="66" charset="0"/>
              </a:rPr>
              <a:t>Convert</a:t>
            </a:r>
            <a:r>
              <a:rPr lang="sv-SE" sz="2400" b="1" dirty="0">
                <a:latin typeface="Comic Sans MS" panose="030F0702030302020204" pitchFamily="66" charset="0"/>
              </a:rPr>
              <a:t> 1DF₁₆ → Decimal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pt-BR" sz="2400" b="1" dirty="0">
                <a:latin typeface="Comic Sans MS" panose="030F0702030302020204" pitchFamily="66" charset="0"/>
              </a:rPr>
              <a:t>Hex		Decimal		Power		Calculation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1		1			16</a:t>
            </a:r>
            <a:r>
              <a:rPr lang="pt-BR" sz="2400" dirty="0">
                <a:latin typeface="Comic Sans MS" panose="030F0702030302020204" pitchFamily="66" charset="0"/>
              </a:rPr>
              <a:t> ^2= 256		1x256=256</a:t>
            </a:r>
            <a:endParaRPr lang="pt-BR" sz="2400" b="1" dirty="0">
              <a:latin typeface="Comic Sans MS" panose="030F0702030302020204" pitchFamily="66" charset="0"/>
            </a:endParaRPr>
          </a:p>
          <a:p>
            <a:r>
              <a:rPr lang="pt-BR" sz="2400" b="1" dirty="0">
                <a:latin typeface="Comic Sans MS" panose="030F0702030302020204" pitchFamily="66" charset="0"/>
              </a:rPr>
              <a:t>	D		13			16</a:t>
            </a:r>
            <a:r>
              <a:rPr lang="pt-BR" sz="2400" dirty="0">
                <a:latin typeface="Comic Sans MS" panose="030F0702030302020204" pitchFamily="66" charset="0"/>
              </a:rPr>
              <a:t> ^1=16		13x16=208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F		15			16</a:t>
            </a:r>
            <a:r>
              <a:rPr lang="pt-BR" sz="2400" dirty="0">
                <a:latin typeface="Comic Sans MS" panose="030F0702030302020204" pitchFamily="66" charset="0"/>
              </a:rPr>
              <a:t> ^0=1		15x1=15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1280+224+9=1513</a:t>
            </a:r>
          </a:p>
          <a:p>
            <a:r>
              <a:rPr lang="pt-BR" sz="2400" b="1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➡️ </a:t>
            </a:r>
            <a:r>
              <a:rPr lang="pt-BR" sz="2400" b="1" dirty="0">
                <a:latin typeface="Comic Sans MS" panose="030F0702030302020204" pitchFamily="66" charset="0"/>
              </a:rPr>
              <a:t> 1D5₁₆ </a:t>
            </a:r>
            <a:r>
              <a:rPr lang="en-SE" sz="2400" b="1" dirty="0">
                <a:latin typeface="Comic Sans MS" panose="030F0702030302020204" pitchFamily="66" charset="0"/>
              </a:rPr>
              <a:t>= </a:t>
            </a:r>
            <a:r>
              <a:rPr lang="sv-SE" sz="2400" b="1" dirty="0">
                <a:latin typeface="Comic Sans MS" panose="030F0702030302020204" pitchFamily="66" charset="0"/>
              </a:rPr>
              <a:t>1513</a:t>
            </a:r>
            <a:r>
              <a:rPr lang="en-SE" sz="2400" b="1" dirty="0">
                <a:latin typeface="Comic Sans MS" panose="030F0702030302020204" pitchFamily="66" charset="0"/>
              </a:rPr>
              <a:t>₁₀</a:t>
            </a:r>
            <a:endParaRPr lang="sv-SE" sz="2400" dirty="0">
              <a:latin typeface="Comic Sans MS" panose="030F0702030302020204" pitchFamily="66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9459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E7E47D-54E5-6A50-3B4B-43DF9489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29CA4AE-C2DE-7A10-9E7A-8B1087352021}"/>
              </a:ext>
            </a:extLst>
          </p:cNvPr>
          <p:cNvSpPr txBox="1"/>
          <p:nvPr/>
        </p:nvSpPr>
        <p:spPr>
          <a:xfrm>
            <a:off x="381000" y="888075"/>
            <a:ext cx="12352767" cy="8946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3️⃣ Convert </a:t>
            </a:r>
            <a:r>
              <a:rPr lang="en-GB" sz="2400" b="1" dirty="0">
                <a:latin typeface="Comic Sans MS" panose="030F0702030302020204" pitchFamily="66" charset="0"/>
              </a:rPr>
              <a:t>13B4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A5</a:t>
            </a:r>
            <a:r>
              <a:rPr lang="en-GB" sz="2400" dirty="0">
                <a:latin typeface="Comic Sans MS" panose="030F0702030302020204" pitchFamily="66" charset="0"/>
              </a:rPr>
              <a:t> to </a:t>
            </a:r>
            <a:r>
              <a:rPr lang="en-GB" sz="2400" b="1" dirty="0">
                <a:latin typeface="Comic Sans MS" panose="030F0702030302020204" pitchFamily="66" charset="0"/>
              </a:rPr>
              <a:t>binary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Answers: 13B4 → 0001 0011 1011 0100, A5 → 1010 0101.</a:t>
            </a:r>
          </a:p>
        </p:txBody>
      </p:sp>
    </p:spTree>
    <p:extLst>
      <p:ext uri="{BB962C8B-B14F-4D97-AF65-F5344CB8AC3E}">
        <p14:creationId xmlns:p14="http://schemas.microsoft.com/office/powerpoint/2010/main" val="27457549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Hex</a:t>
            </a:r>
            <a:r>
              <a:rPr lang="en-GB" sz="2400" dirty="0">
                <a:latin typeface="Comic Sans MS" panose="030F0702030302020204" pitchFamily="66" charset="0"/>
              </a:rPr>
              <a:t> compresses binary while staying </a:t>
            </a:r>
            <a:r>
              <a:rPr lang="en-GB" sz="2400" b="1" dirty="0">
                <a:latin typeface="Comic Sans MS" panose="030F0702030302020204" pitchFamily="66" charset="0"/>
              </a:rPr>
              <a:t>bit-accurate</a:t>
            </a:r>
            <a:r>
              <a:rPr lang="en-GB" sz="2400" dirty="0">
                <a:latin typeface="Comic Sans MS" panose="030F0702030302020204" pitchFamily="66" charset="0"/>
              </a:rPr>
              <a:t>: </a:t>
            </a:r>
            <a:r>
              <a:rPr lang="en-GB" sz="2400" b="1" dirty="0">
                <a:latin typeface="Comic Sans MS" panose="030F0702030302020204" pitchFamily="66" charset="0"/>
              </a:rPr>
              <a:t>4 bits ↔ 1 hex digit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Reading bytes</a:t>
            </a:r>
            <a:r>
              <a:rPr lang="en-GB" sz="2400" dirty="0">
                <a:latin typeface="Comic Sans MS" panose="030F0702030302020204" pitchFamily="66" charset="0"/>
              </a:rPr>
              <a:t> as </a:t>
            </a:r>
            <a:r>
              <a:rPr lang="en-GB" sz="2400" b="1" dirty="0">
                <a:latin typeface="Comic Sans MS" panose="030F0702030302020204" pitchFamily="66" charset="0"/>
              </a:rPr>
              <a:t>two hex digits</a:t>
            </a:r>
            <a:r>
              <a:rPr lang="en-GB" sz="2400" dirty="0">
                <a:latin typeface="Comic Sans MS" panose="030F0702030302020204" pitchFamily="66" charset="0"/>
              </a:rPr>
              <a:t> is the de-facto standard in systems work.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With </a:t>
            </a:r>
            <a:r>
              <a:rPr lang="en-GB" sz="2400" b="1" dirty="0">
                <a:latin typeface="Comic Sans MS" panose="030F0702030302020204" pitchFamily="66" charset="0"/>
              </a:rPr>
              <a:t>base-16 powers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nibble mapping</a:t>
            </a:r>
            <a:r>
              <a:rPr lang="en-GB" sz="2400" dirty="0">
                <a:latin typeface="Comic Sans MS" panose="030F0702030302020204" pitchFamily="66" charset="0"/>
              </a:rPr>
              <a:t>, you can convert decimal/hex/binary 	fluently and read real-world artifacts (</a:t>
            </a:r>
            <a:r>
              <a:rPr lang="en-GB" sz="2400" dirty="0" err="1">
                <a:latin typeface="Comic Sans MS" panose="030F0702030302020204" pitchFamily="66" charset="0"/>
              </a:rPr>
              <a:t>colors</a:t>
            </a:r>
            <a:r>
              <a:rPr lang="en-GB" sz="2400" dirty="0">
                <a:latin typeface="Comic Sans MS" panose="030F0702030302020204" pitchFamily="66" charset="0"/>
              </a:rPr>
              <a:t>, encodings, addresses) </a:t>
            </a:r>
            <a:r>
              <a:rPr lang="en-GB" sz="2400">
                <a:latin typeface="Comic Sans MS" panose="030F0702030302020204" pitchFamily="66" charset="0"/>
              </a:rPr>
              <a:t>with 	confidence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3182</TotalTime>
  <Words>1160</Words>
  <Application>Microsoft Office PowerPoint</Application>
  <PresentationFormat>Custom</PresentationFormat>
  <Paragraphs>228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316</cp:revision>
  <dcterms:created xsi:type="dcterms:W3CDTF">2025-12-09T17:44:59Z</dcterms:created>
  <dcterms:modified xsi:type="dcterms:W3CDTF">2026-01-16T17:48:21Z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