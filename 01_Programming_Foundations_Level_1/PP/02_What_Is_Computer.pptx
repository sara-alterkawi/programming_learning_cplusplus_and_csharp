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51" r:id="rId4"/>
    <p:sldId id="333" r:id="rId5"/>
    <p:sldId id="354" r:id="rId6"/>
    <p:sldId id="352" r:id="rId7"/>
    <p:sldId id="381" r:id="rId8"/>
    <p:sldId id="353" r:id="rId9"/>
    <p:sldId id="343" r:id="rId10"/>
    <p:sldId id="382" r:id="rId11"/>
    <p:sldId id="380" r:id="rId12"/>
    <p:sldId id="355" r:id="rId13"/>
    <p:sldId id="345" r:id="rId14"/>
    <p:sldId id="356" r:id="rId15"/>
    <p:sldId id="357" r:id="rId16"/>
    <p:sldId id="358" r:id="rId17"/>
    <p:sldId id="359" r:id="rId18"/>
    <p:sldId id="360" r:id="rId19"/>
    <p:sldId id="361" r:id="rId20"/>
    <p:sldId id="368" r:id="rId21"/>
    <p:sldId id="383" r:id="rId22"/>
    <p:sldId id="363" r:id="rId23"/>
    <p:sldId id="364" r:id="rId24"/>
    <p:sldId id="365" r:id="rId25"/>
    <p:sldId id="366" r:id="rId26"/>
    <p:sldId id="367" r:id="rId27"/>
    <p:sldId id="362" r:id="rId28"/>
    <p:sldId id="369" r:id="rId29"/>
    <p:sldId id="370" r:id="rId30"/>
    <p:sldId id="371" r:id="rId31"/>
    <p:sldId id="372" r:id="rId32"/>
    <p:sldId id="373" r:id="rId33"/>
    <p:sldId id="374" r:id="rId34"/>
    <p:sldId id="384" r:id="rId35"/>
    <p:sldId id="375" r:id="rId36"/>
    <p:sldId id="376" r:id="rId37"/>
    <p:sldId id="377" r:id="rId38"/>
    <p:sldId id="378" r:id="rId39"/>
    <p:sldId id="379" r:id="rId40"/>
    <p:sldId id="385" r:id="rId41"/>
    <p:sldId id="386" r:id="rId42"/>
    <p:sldId id="387" r:id="rId43"/>
    <p:sldId id="348" r:id="rId44"/>
    <p:sldId id="349" r:id="rId45"/>
    <p:sldId id="388" r:id="rId46"/>
    <p:sldId id="389" r:id="rId47"/>
    <p:sldId id="350" r:id="rId48"/>
    <p:sldId id="313" r:id="rId4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131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 What 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is Computer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857CBF-F427-C556-32CE-65B7DB01C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19362B-6629-6D44-197F-756AFF734E67}"/>
              </a:ext>
            </a:extLst>
          </p:cNvPr>
          <p:cNvSpPr txBox="1"/>
          <p:nvPr/>
        </p:nvSpPr>
        <p:spPr>
          <a:xfrm>
            <a:off x="381000" y="888075"/>
            <a:ext cx="12352767" cy="13871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Before</a:t>
            </a:r>
            <a:r>
              <a:rPr lang="en-GB" sz="4000" b="1" spc="1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we</a:t>
            </a:r>
            <a:r>
              <a:rPr lang="en-GB" sz="4000" b="1" spc="1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know</a:t>
            </a:r>
            <a:r>
              <a:rPr lang="en-GB" sz="4000" b="1" spc="3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what</a:t>
            </a:r>
            <a:r>
              <a:rPr lang="en-GB" sz="4000" b="1" spc="4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is</a:t>
            </a:r>
            <a:r>
              <a:rPr lang="en-GB" sz="4000" b="1" spc="20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latin typeface="Comic Sans MS" panose="030F0702030302020204" pitchFamily="66" charset="0"/>
              </a:rPr>
              <a:t>computer?</a:t>
            </a:r>
          </a:p>
          <a:p>
            <a:r>
              <a:rPr lang="sv-SE" sz="4000" dirty="0" err="1">
                <a:latin typeface="Comic Sans MS" panose="030F0702030302020204" pitchFamily="66" charset="0"/>
                <a:cs typeface="Comic Sans MS"/>
              </a:rPr>
              <a:t>Let</a:t>
            </a:r>
            <a:r>
              <a:rPr lang="sv-SE" sz="4000" spc="-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dirty="0" err="1">
                <a:latin typeface="Comic Sans MS" panose="030F0702030302020204" pitchFamily="66" charset="0"/>
                <a:cs typeface="Comic Sans MS"/>
              </a:rPr>
              <a:t>us</a:t>
            </a:r>
            <a:r>
              <a:rPr lang="sv-SE" sz="4000" spc="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spc="-10" dirty="0" err="1">
                <a:latin typeface="Comic Sans MS" panose="030F0702030302020204" pitchFamily="66" charset="0"/>
                <a:cs typeface="Comic Sans MS"/>
              </a:rPr>
              <a:t>remember</a:t>
            </a:r>
            <a:r>
              <a:rPr lang="sv-SE" sz="4000" spc="-10" dirty="0">
                <a:latin typeface="Comic Sans MS" panose="030F0702030302020204" pitchFamily="66" charset="0"/>
                <a:cs typeface="Comic Sans MS"/>
              </a:rPr>
              <a:t>...</a:t>
            </a:r>
            <a:endParaRPr lang="sv-SE" sz="4000" dirty="0"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21339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What</a:t>
            </a:r>
            <a:r>
              <a:rPr lang="en-GB" sz="4000" b="1" spc="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is</a:t>
            </a:r>
            <a:r>
              <a:rPr lang="en-GB" sz="4000" b="1" spc="7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the</a:t>
            </a:r>
            <a:r>
              <a:rPr lang="en-GB" sz="4000" b="1" spc="2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difference</a:t>
            </a:r>
            <a:r>
              <a:rPr lang="en-GB" sz="4000" b="1" spc="-15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latin typeface="Comic Sans MS" panose="030F0702030302020204" pitchFamily="66" charset="0"/>
              </a:rPr>
              <a:t>between…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19" name="Picture 18" descr="A diagram of different types of information&#10;&#10;AI-generated content may be incorrect.">
            <a:extLst>
              <a:ext uri="{FF2B5EF4-FFF2-40B4-BE49-F238E27FC236}">
                <a16:creationId xmlns:a16="http://schemas.microsoft.com/office/drawing/2014/main" id="{69481888-0F2C-9AAA-31B2-F01B436EC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90" y="3527891"/>
            <a:ext cx="12374020" cy="300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29C053-8DF0-1464-BC8A-284E28E1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3735E17-B84D-7E81-C097-3920965F6340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0" dirty="0">
                <a:solidFill>
                  <a:srgbClr val="161F28"/>
                </a:solidFill>
                <a:latin typeface="Comic Sans MS" panose="030F0702030302020204" pitchFamily="66" charset="0"/>
              </a:rPr>
              <a:t>Computer is:</a:t>
            </a:r>
          </a:p>
          <a:p>
            <a:endParaRPr lang="sv-SE" sz="2400" spc="-10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computer</a:t>
            </a:r>
            <a:r>
              <a:rPr lang="en-GB" sz="2400" dirty="0">
                <a:latin typeface="Comic Sans MS" panose="030F0702030302020204" pitchFamily="66" charset="0"/>
              </a:rPr>
              <a:t> is more than a box on a desk—it’s an </a:t>
            </a:r>
            <a:r>
              <a:rPr lang="en-GB" sz="2400" b="1" dirty="0">
                <a:latin typeface="Comic Sans MS" panose="030F0702030302020204" pitchFamily="66" charset="0"/>
              </a:rPr>
              <a:t>electronic device</a:t>
            </a:r>
            <a:r>
              <a:rPr lang="en-GB" sz="2400" dirty="0">
                <a:latin typeface="Comic Sans MS" panose="030F0702030302020204" pitchFamily="66" charset="0"/>
              </a:rPr>
              <a:t> that accepts </a:t>
            </a:r>
            <a:r>
              <a:rPr lang="en-GB" sz="2400" b="1" dirty="0">
                <a:latin typeface="Comic Sans MS" panose="030F0702030302020204" pitchFamily="66" charset="0"/>
              </a:rPr>
              <a:t>data (input)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processes</a:t>
            </a:r>
            <a:r>
              <a:rPr lang="en-GB" sz="2400" dirty="0">
                <a:latin typeface="Comic Sans MS" panose="030F0702030302020204" pitchFamily="66" charset="0"/>
              </a:rPr>
              <a:t> it under </a:t>
            </a:r>
            <a:r>
              <a:rPr lang="en-GB" sz="2400" b="1" dirty="0">
                <a:latin typeface="Comic Sans MS" panose="030F0702030302020204" pitchFamily="66" charset="0"/>
              </a:rPr>
              <a:t>control of instructions</a:t>
            </a:r>
            <a:r>
              <a:rPr lang="en-GB" sz="2400" dirty="0">
                <a:latin typeface="Comic Sans MS" panose="030F0702030302020204" pitchFamily="66" charset="0"/>
              </a:rPr>
              <a:t>, produces </a:t>
            </a:r>
            <a:r>
              <a:rPr lang="en-GB" sz="2400" b="1" dirty="0">
                <a:latin typeface="Comic Sans MS" panose="030F0702030302020204" pitchFamily="66" charset="0"/>
              </a:rPr>
              <a:t>information (output)</a:t>
            </a:r>
            <a:r>
              <a:rPr lang="en-GB" sz="2400" dirty="0">
                <a:latin typeface="Comic Sans MS" panose="030F0702030302020204" pitchFamily="66" charset="0"/>
              </a:rPr>
              <a:t>, and </a:t>
            </a:r>
            <a:r>
              <a:rPr lang="en-GB" sz="2400" b="1" dirty="0">
                <a:latin typeface="Comic Sans MS" panose="030F0702030302020204" pitchFamily="66" charset="0"/>
              </a:rPr>
              <a:t>stores</a:t>
            </a:r>
            <a:r>
              <a:rPr lang="en-GB" sz="2400" dirty="0">
                <a:latin typeface="Comic Sans MS" panose="030F0702030302020204" pitchFamily="66" charset="0"/>
              </a:rPr>
              <a:t> that information for future use.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We’ll unpack what that means, then tour the </a:t>
            </a:r>
            <a:r>
              <a:rPr lang="en-GB" sz="2400" b="1" dirty="0">
                <a:latin typeface="Comic Sans MS" panose="030F0702030302020204" pitchFamily="66" charset="0"/>
              </a:rPr>
              <a:t>core units</a:t>
            </a:r>
            <a:r>
              <a:rPr lang="en-GB" sz="2400" dirty="0">
                <a:latin typeface="Comic Sans MS" panose="030F0702030302020204" pitchFamily="66" charset="0"/>
              </a:rPr>
              <a:t> (Input, Output, Memory, CPU), explain </a:t>
            </a:r>
            <a:r>
              <a:rPr lang="en-GB" sz="2400" b="1" dirty="0">
                <a:latin typeface="Comic Sans MS" panose="030F0702030302020204" pitchFamily="66" charset="0"/>
              </a:rPr>
              <a:t>software vs hardware</a:t>
            </a:r>
            <a:r>
              <a:rPr lang="en-GB" sz="2400" dirty="0">
                <a:latin typeface="Comic Sans MS" panose="030F0702030302020204" pitchFamily="66" charset="0"/>
              </a:rPr>
              <a:t>, compare </a:t>
            </a:r>
            <a:r>
              <a:rPr lang="en-GB" sz="2400" b="1" dirty="0">
                <a:latin typeface="Comic Sans MS" panose="030F0702030302020204" pitchFamily="66" charset="0"/>
              </a:rPr>
              <a:t>CPU vs GPU</a:t>
            </a:r>
            <a:r>
              <a:rPr lang="en-GB" sz="2400" dirty="0">
                <a:latin typeface="Comic Sans MS" panose="030F0702030302020204" pitchFamily="66" charset="0"/>
              </a:rPr>
              <a:t>, and demystify </a:t>
            </a:r>
            <a:r>
              <a:rPr lang="en-GB" sz="2400" b="1" dirty="0">
                <a:latin typeface="Comic Sans MS" panose="030F0702030302020204" pitchFamily="66" charset="0"/>
              </a:rPr>
              <a:t>32-bit vs 64-bit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006321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9809B4-A2EE-8E96-E760-D16548992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04448D0-F1C5-6A98-2D1F-0715A4800953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What</a:t>
            </a:r>
            <a:r>
              <a:rPr lang="en-GB" sz="4000" b="1" spc="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is</a:t>
            </a:r>
            <a:r>
              <a:rPr lang="en-GB" sz="4000" b="1" spc="70" dirty="0">
                <a:latin typeface="Comic Sans MS" panose="030F0702030302020204" pitchFamily="66" charset="0"/>
              </a:rPr>
              <a:t> computer?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62FF8A9-3A04-6824-8C7D-5EC74489B0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0"/>
          <a:stretch>
            <a:fillRect/>
          </a:stretch>
        </p:blipFill>
        <p:spPr bwMode="auto">
          <a:xfrm>
            <a:off x="29308" y="1981199"/>
            <a:ext cx="13411200" cy="718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88D22C-40ED-3662-02CE-53EC49FE4574}"/>
              </a:ext>
            </a:extLst>
          </p:cNvPr>
          <p:cNvSpPr/>
          <p:nvPr/>
        </p:nvSpPr>
        <p:spPr>
          <a:xfrm>
            <a:off x="381000" y="2133600"/>
            <a:ext cx="6248400" cy="12192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086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B04FF1-808B-C24D-E9B7-B52EBE2B0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84A712E-0B1F-FD1C-18D3-FAA848FBA8C7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0" dirty="0">
                <a:solidFill>
                  <a:srgbClr val="161F28"/>
                </a:solidFill>
                <a:latin typeface="Comic Sans MS" panose="030F0702030302020204" pitchFamily="66" charset="0"/>
              </a:rPr>
              <a:t>Computer is:</a:t>
            </a:r>
          </a:p>
          <a:p>
            <a:endParaRPr lang="sv-SE" sz="2400" spc="-10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A </a:t>
            </a:r>
            <a:r>
              <a:rPr lang="sv-SE" sz="2400" b="1" dirty="0">
                <a:latin typeface="Comic Sans MS" panose="030F0702030302020204" pitchFamily="66" charset="0"/>
              </a:rPr>
              <a:t>computer is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pPr lvl="1"/>
            <a:r>
              <a:rPr lang="sv-SE" sz="2400" dirty="0">
                <a:latin typeface="Comic Sans MS" panose="030F0702030302020204" pitchFamily="66" charset="0"/>
              </a:rPr>
              <a:t>an </a:t>
            </a:r>
            <a:r>
              <a:rPr lang="sv-SE" sz="2400" b="1" dirty="0">
                <a:latin typeface="Comic Sans MS" panose="030F0702030302020204" pitchFamily="66" charset="0"/>
              </a:rPr>
              <a:t>Electronic </a:t>
            </a:r>
            <a:r>
              <a:rPr lang="sv-SE" sz="2400" b="1" dirty="0" err="1">
                <a:latin typeface="Comic Sans MS" panose="030F0702030302020204" pitchFamily="66" charset="0"/>
              </a:rPr>
              <a:t>Device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en-SE" sz="2400" dirty="0">
                <a:latin typeface="Comic Sans MS" panose="030F0702030302020204" pitchFamily="66" charset="0"/>
              </a:rPr>
              <a:t>🧲</a:t>
            </a:r>
          </a:p>
          <a:p>
            <a:pPr lvl="1"/>
            <a:r>
              <a:rPr lang="sv-SE" sz="2400" b="1" dirty="0">
                <a:latin typeface="Comic Sans MS" panose="030F0702030302020204" pitchFamily="66" charset="0"/>
              </a:rPr>
              <a:t>operating under the </a:t>
            </a:r>
            <a:r>
              <a:rPr lang="sv-SE" sz="2400" b="1" dirty="0" err="1">
                <a:latin typeface="Comic Sans MS" panose="030F0702030302020204" pitchFamily="66" charset="0"/>
              </a:rPr>
              <a:t>control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of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instructions</a:t>
            </a:r>
            <a:r>
              <a:rPr lang="sv-SE" sz="2400" dirty="0">
                <a:latin typeface="Comic Sans MS" panose="030F0702030302020204" pitchFamily="66" charset="0"/>
              </a:rPr>
              <a:t> (programs) </a:t>
            </a:r>
            <a:r>
              <a:rPr lang="en-SE" sz="2400" dirty="0">
                <a:latin typeface="Comic Sans MS" panose="030F0702030302020204" pitchFamily="66" charset="0"/>
              </a:rPr>
              <a:t>📜</a:t>
            </a:r>
          </a:p>
          <a:p>
            <a:pPr lvl="1"/>
            <a:r>
              <a:rPr lang="sv-SE" sz="2400" dirty="0" err="1">
                <a:latin typeface="Comic Sans MS" panose="030F0702030302020204" pitchFamily="66" charset="0"/>
              </a:rPr>
              <a:t>that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accepts data (input)</a:t>
            </a:r>
            <a:r>
              <a:rPr lang="sv-SE" sz="2400" dirty="0">
                <a:latin typeface="Comic Sans MS" panose="030F0702030302020204" pitchFamily="66" charset="0"/>
              </a:rPr>
              <a:t>, </a:t>
            </a:r>
            <a:r>
              <a:rPr lang="sv-SE" sz="2400" b="1" dirty="0" err="1">
                <a:latin typeface="Comic Sans MS" panose="030F0702030302020204" pitchFamily="66" charset="0"/>
              </a:rPr>
              <a:t>processes</a:t>
            </a:r>
            <a:r>
              <a:rPr lang="sv-SE" sz="2400" b="1" dirty="0">
                <a:latin typeface="Comic Sans MS" panose="030F0702030302020204" pitchFamily="66" charset="0"/>
              </a:rPr>
              <a:t> data </a:t>
            </a:r>
            <a:r>
              <a:rPr lang="sv-SE" sz="2400" b="1" dirty="0" err="1">
                <a:latin typeface="Comic Sans MS" panose="030F0702030302020204" pitchFamily="66" charset="0"/>
              </a:rPr>
              <a:t>according</a:t>
            </a:r>
            <a:r>
              <a:rPr lang="sv-SE" sz="2400" b="1" dirty="0">
                <a:latin typeface="Comic Sans MS" panose="030F0702030302020204" pitchFamily="66" charset="0"/>
              </a:rPr>
              <a:t> to </a:t>
            </a:r>
            <a:r>
              <a:rPr lang="sv-SE" sz="2400" b="1" dirty="0" err="1">
                <a:latin typeface="Comic Sans MS" panose="030F0702030302020204" pitchFamily="66" charset="0"/>
              </a:rPr>
              <a:t>rules</a:t>
            </a:r>
            <a:r>
              <a:rPr lang="sv-SE" sz="2400" dirty="0">
                <a:latin typeface="Comic Sans MS" panose="030F0702030302020204" pitchFamily="66" charset="0"/>
              </a:rPr>
              <a:t>, </a:t>
            </a:r>
            <a:r>
              <a:rPr lang="sv-SE" sz="2400" b="1" dirty="0" err="1">
                <a:latin typeface="Comic Sans MS" panose="030F0702030302020204" pitchFamily="66" charset="0"/>
              </a:rPr>
              <a:t>produces</a:t>
            </a:r>
            <a:r>
              <a:rPr lang="sv-SE" sz="2400" b="1" dirty="0">
                <a:latin typeface="Comic Sans MS" panose="030F0702030302020204" pitchFamily="66" charset="0"/>
              </a:rPr>
              <a:t> information (output)</a:t>
            </a:r>
            <a:r>
              <a:rPr lang="sv-SE" sz="2400" dirty="0">
                <a:latin typeface="Comic Sans MS" panose="030F0702030302020204" pitchFamily="66" charset="0"/>
              </a:rPr>
              <a:t>, and </a:t>
            </a:r>
            <a:r>
              <a:rPr lang="sv-SE" sz="2400" b="1" dirty="0">
                <a:latin typeface="Comic Sans MS" panose="030F0702030302020204" pitchFamily="66" charset="0"/>
              </a:rPr>
              <a:t>stores information for </a:t>
            </a:r>
            <a:r>
              <a:rPr lang="sv-SE" sz="2400" b="1" dirty="0" err="1">
                <a:latin typeface="Comic Sans MS" panose="030F0702030302020204" pitchFamily="66" charset="0"/>
              </a:rPr>
              <a:t>future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use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en-SE" sz="2400" dirty="0">
                <a:latin typeface="Comic Sans MS" panose="030F0702030302020204" pitchFamily="66" charset="0"/>
              </a:rPr>
              <a:t>💾.</a:t>
            </a:r>
          </a:p>
          <a:p>
            <a:br>
              <a:rPr lang="en-SE" sz="2400" dirty="0">
                <a:latin typeface="Comic Sans MS" panose="030F0702030302020204" pitchFamily="66" charset="0"/>
              </a:rPr>
            </a:br>
            <a:endParaRPr lang="en-SE" sz="2400" dirty="0">
              <a:latin typeface="Comic Sans MS" panose="030F0702030302020204" pitchFamily="66" charset="0"/>
            </a:endParaRPr>
          </a:p>
          <a:p>
            <a:r>
              <a:rPr lang="sv-SE" sz="2400" b="1" dirty="0" err="1">
                <a:latin typeface="Comic Sans MS" panose="030F0702030302020204" pitchFamily="66" charset="0"/>
              </a:rPr>
              <a:t>Processing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Model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Input → </a:t>
            </a:r>
            <a:r>
              <a:rPr lang="sv-SE" sz="2400" b="1" dirty="0" err="1">
                <a:latin typeface="Comic Sans MS" panose="030F0702030302020204" pitchFamily="66" charset="0"/>
              </a:rPr>
              <a:t>Processing</a:t>
            </a:r>
            <a:r>
              <a:rPr lang="sv-SE" sz="2400" b="1" dirty="0">
                <a:latin typeface="Comic Sans MS" panose="030F0702030302020204" pitchFamily="66" charset="0"/>
              </a:rPr>
              <a:t> → Output</a:t>
            </a:r>
            <a:r>
              <a:rPr lang="sv-SE" sz="2400" dirty="0">
                <a:latin typeface="Comic Sans MS" panose="030F0702030302020204" pitchFamily="66" charset="0"/>
              </a:rPr>
              <a:t> (Data → Information → </a:t>
            </a:r>
            <a:r>
              <a:rPr lang="sv-SE" sz="2400" dirty="0" err="1">
                <a:latin typeface="Comic Sans MS" panose="030F0702030302020204" pitchFamily="66" charset="0"/>
              </a:rPr>
              <a:t>Knowledge</a:t>
            </a:r>
            <a:r>
              <a:rPr lang="sv-SE" sz="2400" dirty="0">
                <a:latin typeface="Comic Sans MS" panose="030F0702030302020204" pitchFamily="66" charset="0"/>
              </a:rPr>
              <a:t> → </a:t>
            </a:r>
            <a:r>
              <a:rPr lang="sv-SE" sz="2400" dirty="0" err="1">
                <a:latin typeface="Comic Sans MS" panose="030F0702030302020204" pitchFamily="66" charset="0"/>
              </a:rPr>
              <a:t>Wisdom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perspective</a:t>
            </a:r>
            <a:r>
              <a:rPr lang="sv-SE" sz="2400" dirty="0">
                <a:latin typeface="Comic Sans MS" panose="030F0702030302020204" pitchFamily="66" charset="0"/>
              </a:rPr>
              <a:t>).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131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261124-5A0D-0219-2053-A6E499688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5590FBE-7F76-F0E6-0B39-8F95AEBED4C3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46B371B-1A9F-6567-6015-4D731F45E11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858B3EC-8067-0168-6933-7E39EBFA4C60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0F60D01D-CDCF-C098-F7A2-A05E9279BD1C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22D57A20-5A59-F3A3-197D-0E2A7F7C4829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Computer Functions</a:t>
            </a:r>
          </a:p>
        </p:txBody>
      </p:sp>
    </p:spTree>
    <p:extLst>
      <p:ext uri="{BB962C8B-B14F-4D97-AF65-F5344CB8AC3E}">
        <p14:creationId xmlns:p14="http://schemas.microsoft.com/office/powerpoint/2010/main" val="406749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CB63F1-6596-9FA8-DBFE-BCC968954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B6A1DB6-8A92-5A37-B528-148708901749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Functionalities</a:t>
            </a:r>
            <a:r>
              <a:rPr lang="sv-SE" sz="4000" b="1" spc="5" dirty="0">
                <a:solidFill>
                  <a:srgbClr val="161F28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of</a:t>
            </a:r>
            <a:r>
              <a:rPr lang="sv-SE" sz="4000" b="1" spc="40" dirty="0">
                <a:solidFill>
                  <a:srgbClr val="161F28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10" dirty="0">
                <a:solidFill>
                  <a:srgbClr val="161F28"/>
                </a:solidFill>
                <a:latin typeface="Comic Sans MS" panose="030F0702030302020204" pitchFamily="66" charset="0"/>
              </a:rPr>
              <a:t>Computer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4" name="Slide">
            <a:extLst>
              <a:ext uri="{FF2B5EF4-FFF2-40B4-BE49-F238E27FC236}">
                <a16:creationId xmlns:a16="http://schemas.microsoft.com/office/drawing/2014/main" id="{133E6C63-2BF0-3D06-10FA-E44DEFD62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05" t="3251" r="39450" b="78947"/>
          <a:stretch>
            <a:fillRect/>
          </a:stretch>
        </p:blipFill>
        <p:spPr>
          <a:xfrm>
            <a:off x="42620" y="2743200"/>
            <a:ext cx="13325959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82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5DD4B4-A909-5469-61C2-E3F690518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89D6200-5DA0-3BBF-A3D4-D32F80D3BB7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0" dirty="0">
                <a:solidFill>
                  <a:srgbClr val="161F28"/>
                </a:solidFill>
                <a:latin typeface="Comic Sans MS" panose="030F0702030302020204" pitchFamily="66" charset="0"/>
              </a:rPr>
              <a:t>Computer is:</a:t>
            </a:r>
          </a:p>
          <a:p>
            <a:endParaRPr lang="sv-SE" sz="2400" spc="-10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1️⃣ </a:t>
            </a:r>
            <a:r>
              <a:rPr lang="sv-SE" sz="2400" b="1" dirty="0">
                <a:latin typeface="Comic Sans MS" panose="030F0702030302020204" pitchFamily="66" charset="0"/>
              </a:rPr>
              <a:t>Input data</a:t>
            </a:r>
            <a:r>
              <a:rPr lang="sv-SE" sz="2400" dirty="0">
                <a:latin typeface="Comic Sans MS" panose="030F0702030302020204" pitchFamily="66" charset="0"/>
              </a:rPr>
              <a:t> – </a:t>
            </a:r>
            <a:r>
              <a:rPr lang="sv-SE" sz="2400" dirty="0" err="1">
                <a:latin typeface="Comic Sans MS" panose="030F0702030302020204" pitchFamily="66" charset="0"/>
              </a:rPr>
              <a:t>Takes</a:t>
            </a:r>
            <a:r>
              <a:rPr lang="sv-SE" sz="2400" dirty="0">
                <a:latin typeface="Comic Sans MS" panose="030F0702030302020204" pitchFamily="66" charset="0"/>
              </a:rPr>
              <a:t> data in.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2️⃣ </a:t>
            </a:r>
            <a:r>
              <a:rPr lang="sv-SE" sz="2400" b="1" dirty="0">
                <a:latin typeface="Comic Sans MS" panose="030F0702030302020204" pitchFamily="66" charset="0"/>
              </a:rPr>
              <a:t>Stores data</a:t>
            </a:r>
            <a:r>
              <a:rPr lang="sv-SE" sz="2400" dirty="0">
                <a:latin typeface="Comic Sans MS" panose="030F0702030302020204" pitchFamily="66" charset="0"/>
              </a:rPr>
              <a:t> – </a:t>
            </a:r>
            <a:r>
              <a:rPr lang="sv-SE" sz="2400" dirty="0" err="1">
                <a:latin typeface="Comic Sans MS" panose="030F0702030302020204" pitchFamily="66" charset="0"/>
              </a:rPr>
              <a:t>Keeps</a:t>
            </a:r>
            <a:r>
              <a:rPr lang="sv-SE" sz="2400" dirty="0">
                <a:latin typeface="Comic Sans MS" panose="030F0702030302020204" pitchFamily="66" charset="0"/>
              </a:rPr>
              <a:t> data/</a:t>
            </a:r>
            <a:r>
              <a:rPr lang="sv-SE" sz="2400" dirty="0" err="1">
                <a:latin typeface="Comic Sans MS" panose="030F0702030302020204" pitchFamily="66" charset="0"/>
              </a:rPr>
              <a:t>instructions</a:t>
            </a:r>
            <a:r>
              <a:rPr lang="sv-SE" sz="2400" dirty="0">
                <a:latin typeface="Comic Sans MS" panose="030F0702030302020204" pitchFamily="66" charset="0"/>
              </a:rPr>
              <a:t> in </a:t>
            </a:r>
            <a:r>
              <a:rPr lang="sv-SE" sz="2400" dirty="0" err="1">
                <a:latin typeface="Comic Sans MS" panose="030F0702030302020204" pitchFamily="66" charset="0"/>
              </a:rPr>
              <a:t>memory</a:t>
            </a:r>
            <a:r>
              <a:rPr lang="sv-SE" sz="2400" dirty="0">
                <a:latin typeface="Comic Sans MS" panose="030F0702030302020204" pitchFamily="66" charset="0"/>
              </a:rPr>
              <a:t> for later.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3️⃣ </a:t>
            </a:r>
            <a:r>
              <a:rPr lang="sv-SE" sz="2400" b="1" dirty="0">
                <a:latin typeface="Comic Sans MS" panose="030F0702030302020204" pitchFamily="66" charset="0"/>
              </a:rPr>
              <a:t>Process data</a:t>
            </a:r>
            <a:r>
              <a:rPr lang="sv-SE" sz="2400" dirty="0">
                <a:latin typeface="Comic Sans MS" panose="030F0702030302020204" pitchFamily="66" charset="0"/>
              </a:rPr>
              <a:t> – </a:t>
            </a:r>
            <a:r>
              <a:rPr lang="sv-SE" sz="2400" dirty="0" err="1">
                <a:latin typeface="Comic Sans MS" panose="030F0702030302020204" pitchFamily="66" charset="0"/>
              </a:rPr>
              <a:t>Converts</a:t>
            </a:r>
            <a:r>
              <a:rPr lang="sv-SE" sz="2400" dirty="0">
                <a:latin typeface="Comic Sans MS" panose="030F0702030302020204" pitchFamily="66" charset="0"/>
              </a:rPr>
              <a:t> data </a:t>
            </a:r>
            <a:r>
              <a:rPr lang="sv-SE" sz="2400" dirty="0" err="1">
                <a:latin typeface="Comic Sans MS" panose="030F0702030302020204" pitchFamily="66" charset="0"/>
              </a:rPr>
              <a:t>into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useful</a:t>
            </a:r>
            <a:r>
              <a:rPr lang="sv-SE" sz="2400" dirty="0">
                <a:latin typeface="Comic Sans MS" panose="030F0702030302020204" pitchFamily="66" charset="0"/>
              </a:rPr>
              <a:t> information.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4️⃣ </a:t>
            </a:r>
            <a:r>
              <a:rPr lang="sv-SE" sz="2400" b="1" dirty="0">
                <a:latin typeface="Comic Sans MS" panose="030F0702030302020204" pitchFamily="66" charset="0"/>
              </a:rPr>
              <a:t>Output information</a:t>
            </a:r>
            <a:r>
              <a:rPr lang="sv-SE" sz="2400" dirty="0">
                <a:latin typeface="Comic Sans MS" panose="030F0702030302020204" pitchFamily="66" charset="0"/>
              </a:rPr>
              <a:t> – Presents </a:t>
            </a:r>
            <a:r>
              <a:rPr lang="sv-SE" sz="2400" dirty="0" err="1">
                <a:latin typeface="Comic Sans MS" panose="030F0702030302020204" pitchFamily="66" charset="0"/>
              </a:rPr>
              <a:t>results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5️⃣ </a:t>
            </a:r>
            <a:r>
              <a:rPr lang="sv-SE" sz="2400" b="1" dirty="0">
                <a:latin typeface="Comic Sans MS" panose="030F0702030302020204" pitchFamily="66" charset="0"/>
              </a:rPr>
              <a:t>Control</a:t>
            </a:r>
            <a:r>
              <a:rPr lang="sv-SE" sz="2400" dirty="0">
                <a:latin typeface="Comic Sans MS" panose="030F0702030302020204" pitchFamily="66" charset="0"/>
              </a:rPr>
              <a:t> – </a:t>
            </a:r>
            <a:r>
              <a:rPr lang="sv-SE" sz="2400" dirty="0" err="1">
                <a:latin typeface="Comic Sans MS" panose="030F0702030302020204" pitchFamily="66" charset="0"/>
              </a:rPr>
              <a:t>Coordinates</a:t>
            </a:r>
            <a:r>
              <a:rPr lang="sv-SE" sz="2400" dirty="0">
                <a:latin typeface="Comic Sans MS" panose="030F0702030302020204" pitchFamily="66" charset="0"/>
              </a:rPr>
              <a:t> and </a:t>
            </a:r>
            <a:r>
              <a:rPr lang="sv-SE" sz="2400" dirty="0" err="1">
                <a:latin typeface="Comic Sans MS" panose="030F0702030302020204" pitchFamily="66" charset="0"/>
              </a:rPr>
              <a:t>controls</a:t>
            </a:r>
            <a:r>
              <a:rPr lang="sv-SE" sz="2400" dirty="0">
                <a:latin typeface="Comic Sans MS" panose="030F0702030302020204" pitchFamily="66" charset="0"/>
              </a:rPr>
              <a:t> all </a:t>
            </a:r>
            <a:r>
              <a:rPr lang="sv-SE" sz="2400" dirty="0" err="1">
                <a:latin typeface="Comic Sans MS" panose="030F0702030302020204" pitchFamily="66" charset="0"/>
              </a:rPr>
              <a:t>previous</a:t>
            </a:r>
            <a:r>
              <a:rPr lang="sv-SE" sz="2400" dirty="0">
                <a:latin typeface="Comic Sans MS" panose="030F0702030302020204" pitchFamily="66" charset="0"/>
              </a:rPr>
              <a:t> steps.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07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D7B5CE-A291-5B6F-C635-8392822B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5C0CFF1-671E-2846-02A2-15852D8271A0}"/>
              </a:ext>
            </a:extLst>
          </p:cNvPr>
          <p:cNvSpPr txBox="1"/>
          <p:nvPr/>
        </p:nvSpPr>
        <p:spPr>
          <a:xfrm>
            <a:off x="381000" y="888075"/>
            <a:ext cx="12352767" cy="42006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0" dirty="0">
                <a:solidFill>
                  <a:srgbClr val="161F28"/>
                </a:solidFill>
                <a:latin typeface="Comic Sans MS" panose="030F0702030302020204" pitchFamily="66" charset="0"/>
              </a:rPr>
              <a:t>Computer is:</a:t>
            </a:r>
          </a:p>
          <a:p>
            <a:endParaRPr lang="sv-SE" sz="2400" spc="-10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00660" algn="l"/>
              </a:tabLst>
            </a:pPr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Electronic</a:t>
            </a:r>
            <a:r>
              <a:rPr lang="en-GB" sz="2400" spc="-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Device.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  <a:tabLst>
                <a:tab pos="200660" algn="l"/>
              </a:tabLst>
            </a:pPr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Operating</a:t>
            </a:r>
            <a:r>
              <a:rPr lang="en-GB" sz="2400" spc="-2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under</a:t>
            </a:r>
            <a:r>
              <a:rPr lang="en-GB" sz="2400" spc="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2400" spc="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control</a:t>
            </a:r>
            <a:r>
              <a:rPr lang="en-GB" sz="2400" spc="-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of</a:t>
            </a:r>
            <a:r>
              <a:rPr lang="en-GB" sz="2400" spc="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instructions.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200660" algn="l"/>
              </a:tabLst>
            </a:pPr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Accepts</a:t>
            </a:r>
            <a:r>
              <a:rPr lang="en-GB" sz="2400" spc="-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Data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(Input).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200660" algn="l"/>
              </a:tabLst>
            </a:pPr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Processes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Data</a:t>
            </a:r>
            <a:r>
              <a:rPr lang="en-GB" sz="2400" spc="-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according</a:t>
            </a:r>
            <a:r>
              <a:rPr lang="en-GB" sz="2400" spc="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-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certain</a:t>
            </a:r>
            <a:r>
              <a:rPr lang="en-GB" sz="2400" spc="-2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rules.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  <a:tabLst>
                <a:tab pos="200660" algn="l"/>
              </a:tabLst>
            </a:pPr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Produces</a:t>
            </a:r>
            <a:r>
              <a:rPr lang="en-GB" sz="2400" spc="-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Information</a:t>
            </a:r>
            <a:r>
              <a:rPr lang="en-GB" sz="2400" spc="-2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(Output).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200660" algn="l"/>
              </a:tabLst>
            </a:pPr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Stores</a:t>
            </a:r>
            <a:r>
              <a:rPr lang="en-GB" sz="2400" spc="-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information</a:t>
            </a:r>
            <a:r>
              <a:rPr lang="en-GB" sz="2400" spc="-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for future</a:t>
            </a:r>
            <a:r>
              <a:rPr lang="en-GB" sz="2400" spc="-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20" dirty="0">
                <a:latin typeface="Comic Sans MS" panose="030F0702030302020204" pitchFamily="66" charset="0"/>
                <a:cs typeface="Comic Sans MS"/>
              </a:rPr>
              <a:t>use.</a:t>
            </a:r>
            <a:endParaRPr lang="sv-SE" sz="2400" spc="-10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898244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DA64FF-7F66-CEC3-7299-5BE3F124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CDF1FBC-392D-2FB5-4BA1-B47301F6CC62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F77E42F-C649-25B2-88D8-8414F4DC0E2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63D97CB-6374-3744-2162-A980540E1A5A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C00B36A-F13F-3B99-A6DC-D7C46903D5A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F7EC6FD4-0AD7-43FF-E60B-7E996E581D45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Computer Components</a:t>
            </a:r>
          </a:p>
        </p:txBody>
      </p:sp>
    </p:spTree>
    <p:extLst>
      <p:ext uri="{BB962C8B-B14F-4D97-AF65-F5344CB8AC3E}">
        <p14:creationId xmlns:p14="http://schemas.microsoft.com/office/powerpoint/2010/main" val="3696037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5FD1830-0D9C-F9B8-87BD-31D21087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40B2769F-2964-E285-F501-8AB457DDD4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6985" y="3660205"/>
            <a:ext cx="3922713" cy="3776936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54499C48-C4FC-2F7D-C3BB-F9B45D06F38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0" y="3657600"/>
            <a:ext cx="5053585" cy="3746014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9CAF83B4-0ABC-292E-5154-51FF3420EEC8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Functionalities</a:t>
            </a:r>
            <a:r>
              <a:rPr lang="sv-SE" sz="4000" b="1" spc="5" dirty="0">
                <a:solidFill>
                  <a:srgbClr val="161F28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of</a:t>
            </a:r>
            <a:r>
              <a:rPr lang="sv-SE" sz="4000" b="1" spc="40" dirty="0">
                <a:solidFill>
                  <a:srgbClr val="161F28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10" dirty="0">
                <a:solidFill>
                  <a:srgbClr val="161F28"/>
                </a:solidFill>
                <a:latin typeface="Comic Sans MS" panose="030F0702030302020204" pitchFamily="66" charset="0"/>
              </a:rPr>
              <a:t>Computer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959034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8AA4D4F-2D73-045B-F55A-0A27F6556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68C7D29-2892-D3EE-AF47-D4FC92245381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9E219ED-7748-829A-DE71-0D9730EBEF3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062CF4F-C3F1-FFBE-0265-B5F89852E271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26BCCD9-EF9E-4F3B-F51E-450A47A69CBF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148F3057-8262-6757-4DB8-0CF52EF73B4C}"/>
              </a:ext>
            </a:extLst>
          </p:cNvPr>
          <p:cNvSpPr txBox="1"/>
          <p:nvPr/>
        </p:nvSpPr>
        <p:spPr>
          <a:xfrm>
            <a:off x="106432" y="3084218"/>
            <a:ext cx="13304768" cy="24083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Computer Components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Software</a:t>
            </a:r>
          </a:p>
        </p:txBody>
      </p:sp>
    </p:spTree>
    <p:extLst>
      <p:ext uri="{BB962C8B-B14F-4D97-AF65-F5344CB8AC3E}">
        <p14:creationId xmlns:p14="http://schemas.microsoft.com/office/powerpoint/2010/main" val="3349855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A831D38-0F82-8BE2-6CDB-3C554E35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B04B03A6-BF12-5EEE-F8BE-34435EFAD8BF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Software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6" name="Picture 5" descr="A diagram of software application software&#10;&#10;AI-generated content may be incorrect.">
            <a:extLst>
              <a:ext uri="{FF2B5EF4-FFF2-40B4-BE49-F238E27FC236}">
                <a16:creationId xmlns:a16="http://schemas.microsoft.com/office/drawing/2014/main" id="{1403596F-BD0E-1B4A-B35F-122C353A77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56" y="3070853"/>
            <a:ext cx="11856488" cy="391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431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8B8DAE-A493-BADC-E3AA-CD3C7CDA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049390F-E894-35A0-4C7B-12BF484C2911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DA0D9BE-161D-5D3C-371C-0FD3679077B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29A91D8-77AC-9CF2-75A8-6AC329609711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40291B7-2548-E3D4-91E1-9153A8A7FF7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75BA4B27-7BC1-279D-E17F-EEBC1292F68A}"/>
              </a:ext>
            </a:extLst>
          </p:cNvPr>
          <p:cNvSpPr txBox="1"/>
          <p:nvPr/>
        </p:nvSpPr>
        <p:spPr>
          <a:xfrm>
            <a:off x="106432" y="3084218"/>
            <a:ext cx="13304768" cy="24083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Computer Components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434093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630AF5-6383-483E-F9B8-AAB1AC7BE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507A8AA-9A38-396F-3F8E-9B6D6E60551C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Hardware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B434D0-21D0-2714-5C88-63AD67AE8E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554" y="2438400"/>
            <a:ext cx="11865953" cy="454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43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B16253-AD2C-B092-B394-32BB01F2F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3CE85DB-8FDC-FC4A-7A7A-4E2F0D1B788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8B4EF51-5010-C118-C0FB-BABE1428457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44FDEAA-5B6F-E030-921D-2DF251EA1451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557D495F-5087-0E07-8F00-6723148FA30B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75ACCC5E-2A2B-9B2F-FABF-D22259DB74C4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Computer Units</a:t>
            </a:r>
          </a:p>
        </p:txBody>
      </p:sp>
    </p:spTree>
    <p:extLst>
      <p:ext uri="{BB962C8B-B14F-4D97-AF65-F5344CB8AC3E}">
        <p14:creationId xmlns:p14="http://schemas.microsoft.com/office/powerpoint/2010/main" val="456419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B8E20B-BFDD-1D73-7607-129F54B80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28A9FF90-E10F-71A0-9402-8779ED6BEE46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Computer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Units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0BE757-9B3F-B2F5-EAC0-939D8EF1BC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554" y="3614136"/>
            <a:ext cx="11865953" cy="219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0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055B12-3B5C-CB2A-C38C-95429EFD8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E18CBE84-845B-537C-CE72-843352BA81E8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Computer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Units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2" name="Slide">
            <a:extLst>
              <a:ext uri="{FF2B5EF4-FFF2-40B4-BE49-F238E27FC236}">
                <a16:creationId xmlns:a16="http://schemas.microsoft.com/office/drawing/2014/main" id="{00839A79-458C-D6E6-B733-823ECE8853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33" t="11394" r="45988" b="68283"/>
          <a:stretch>
            <a:fillRect/>
          </a:stretch>
        </p:blipFill>
        <p:spPr>
          <a:xfrm>
            <a:off x="213689" y="1828800"/>
            <a:ext cx="12983821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77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42990E-110E-6E8F-2D13-B088F4992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A47B6C5-369D-42F0-DCCB-B6A5DE4E0B8E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0" dirty="0">
                <a:solidFill>
                  <a:srgbClr val="161F28"/>
                </a:solidFill>
                <a:latin typeface="Comic Sans MS" panose="030F0702030302020204" pitchFamily="66" charset="0"/>
              </a:rPr>
              <a:t>Computer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Units</a:t>
            </a:r>
            <a:r>
              <a:rPr lang="sv-SE" sz="4000" b="1" spc="-10" dirty="0">
                <a:solidFill>
                  <a:srgbClr val="161F28"/>
                </a:solidFill>
                <a:latin typeface="Comic Sans MS" panose="030F0702030302020204" pitchFamily="66" charset="0"/>
              </a:rPr>
              <a:t>:</a:t>
            </a:r>
          </a:p>
          <a:p>
            <a:endParaRPr lang="sv-SE" sz="2400" spc="-10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Input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Output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Primary Memory</a:t>
            </a:r>
            <a:r>
              <a:rPr lang="en-GB" sz="2400" dirty="0">
                <a:latin typeface="Comic Sans MS" panose="030F0702030302020204" pitchFamily="66" charset="0"/>
              </a:rPr>
              <a:t> (RAM/ROM)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Secondary Storage</a:t>
            </a:r>
            <a:r>
              <a:rPr lang="en-GB" sz="2400" dirty="0">
                <a:latin typeface="Comic Sans MS" panose="030F0702030302020204" pitchFamily="66" charset="0"/>
              </a:rPr>
              <a:t> (long-term)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Central Processing Unit (CPU)</a:t>
            </a:r>
            <a:r>
              <a:rPr lang="en-GB" sz="2400" dirty="0">
                <a:latin typeface="Comic Sans MS" panose="030F0702030302020204" pitchFamily="66" charset="0"/>
              </a:rPr>
              <a:t> (ALU, Control, Cache &amp; Registers)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 more detailed view shows </a:t>
            </a:r>
            <a:r>
              <a:rPr lang="en-GB" sz="2400" b="1" dirty="0">
                <a:latin typeface="Comic Sans MS" panose="030F0702030302020204" pitchFamily="66" charset="0"/>
              </a:rPr>
              <a:t>CPU</a:t>
            </a:r>
            <a:r>
              <a:rPr lang="en-GB" sz="2400" dirty="0">
                <a:latin typeface="Comic Sans MS" panose="030F0702030302020204" pitchFamily="66" charset="0"/>
              </a:rPr>
              <a:t> at the </a:t>
            </a:r>
            <a:r>
              <a:rPr lang="en-GB" sz="2400" dirty="0" err="1">
                <a:latin typeface="Comic Sans MS" panose="030F0702030302020204" pitchFamily="66" charset="0"/>
              </a:rPr>
              <a:t>center</a:t>
            </a:r>
            <a:r>
              <a:rPr lang="en-GB" sz="2400" dirty="0">
                <a:latin typeface="Comic Sans MS" panose="030F0702030302020204" pitchFamily="66" charset="0"/>
              </a:rPr>
              <a:t> with </a:t>
            </a:r>
            <a:r>
              <a:rPr lang="en-GB" sz="2400" b="1" dirty="0">
                <a:latin typeface="Comic Sans MS" panose="030F0702030302020204" pitchFamily="66" charset="0"/>
              </a:rPr>
              <a:t>ALU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Control Unit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Cache/Registers</a:t>
            </a:r>
            <a:r>
              <a:rPr lang="en-GB" sz="2400" dirty="0">
                <a:latin typeface="Comic Sans MS" panose="030F0702030302020204" pitchFamily="66" charset="0"/>
              </a:rPr>
              <a:t>, connected to </a:t>
            </a:r>
            <a:r>
              <a:rPr lang="en-GB" sz="2400" b="1" dirty="0">
                <a:latin typeface="Comic Sans MS" panose="030F0702030302020204" pitchFamily="66" charset="0"/>
              </a:rPr>
              <a:t>Input/Output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Primary/Secondary Memory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103121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C24156-E754-E3CC-5214-42848EDF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C753C540-6CE8-80A1-569A-4D29C949440A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Computer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Units</a:t>
            </a:r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 Input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🎙️ Input</a:t>
            </a:r>
            <a:r>
              <a:rPr lang="en-GB" sz="2400" dirty="0">
                <a:latin typeface="Comic Sans MS" panose="030F0702030302020204" pitchFamily="66" charset="0"/>
              </a:rPr>
              <a:t>: any device that provides </a:t>
            </a:r>
            <a:r>
              <a:rPr lang="en-GB" sz="2400" b="1" dirty="0">
                <a:latin typeface="Comic Sans MS" panose="030F0702030302020204" pitchFamily="66" charset="0"/>
              </a:rPr>
              <a:t>data or signals</a:t>
            </a:r>
            <a:r>
              <a:rPr lang="en-GB" sz="2400" dirty="0">
                <a:latin typeface="Comic Sans MS" panose="030F0702030302020204" pitchFamily="66" charset="0"/>
              </a:rPr>
              <a:t> to the computer.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76DBC6-8A57-5F38-6EC8-EFB605E2D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" y="2442211"/>
            <a:ext cx="11653135" cy="489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47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9A53C5-4E2B-AE59-24C3-5FF2DC42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880511E-6619-8883-D463-930CFD3CD6DC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Computer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Units</a:t>
            </a:r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 Output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🖥️ Output</a:t>
            </a:r>
            <a:r>
              <a:rPr lang="en-GB" sz="2400" dirty="0">
                <a:latin typeface="Comic Sans MS" panose="030F0702030302020204" pitchFamily="66" charset="0"/>
              </a:rPr>
              <a:t>: any device used to </a:t>
            </a:r>
            <a:r>
              <a:rPr lang="en-GB" sz="2400" b="1" dirty="0">
                <a:latin typeface="Comic Sans MS" panose="030F0702030302020204" pitchFamily="66" charset="0"/>
              </a:rPr>
              <a:t>communicate results</a:t>
            </a:r>
            <a:r>
              <a:rPr lang="en-GB" sz="2400" dirty="0">
                <a:latin typeface="Comic Sans MS" panose="030F0702030302020204" pitchFamily="66" charset="0"/>
              </a:rPr>
              <a:t> (monitor, printer, speakers).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A6A3C2-FA35-EB19-786E-3F4B6B7BD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442211"/>
            <a:ext cx="12115800" cy="481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31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48408C-1DAF-B5F0-DE29-CE9EF2E3A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FDEC29E-74CE-9BC7-3FE7-59D0F7C2ACA9}"/>
              </a:ext>
            </a:extLst>
          </p:cNvPr>
          <p:cNvSpPr txBox="1"/>
          <p:nvPr/>
        </p:nvSpPr>
        <p:spPr>
          <a:xfrm>
            <a:off x="381000" y="888075"/>
            <a:ext cx="12352767" cy="76657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Computer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Units</a:t>
            </a:r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Primary</a:t>
            </a:r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Memory</a:t>
            </a:r>
            <a:endParaRPr lang="sv-SE" sz="4000" b="1" dirty="0">
              <a:solidFill>
                <a:srgbClr val="161F28"/>
              </a:solidFill>
              <a:latin typeface="Comic Sans MS" panose="030F0702030302020204" pitchFamily="66" charset="0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SE" sz="2400" dirty="0"/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RAM (Random Access Memory)</a:t>
            </a:r>
            <a:r>
              <a:rPr lang="en-GB" sz="2400" dirty="0">
                <a:latin typeface="Comic Sans MS" panose="030F0702030302020204" pitchFamily="66" charset="0"/>
              </a:rPr>
              <a:t>: </a:t>
            </a:r>
            <a:r>
              <a:rPr lang="en-GB" sz="2400" b="1" dirty="0">
                <a:latin typeface="Comic Sans MS" panose="030F0702030302020204" pitchFamily="66" charset="0"/>
              </a:rPr>
              <a:t>temporary</a:t>
            </a:r>
            <a:r>
              <a:rPr lang="en-GB" sz="2400" dirty="0">
                <a:latin typeface="Comic Sans MS" panose="030F0702030302020204" pitchFamily="66" charset="0"/>
              </a:rPr>
              <a:t> working memory.</a:t>
            </a:r>
          </a:p>
          <a:p>
            <a:r>
              <a:rPr lang="en-SE" sz="2400" dirty="0"/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ROM (Read-Only Memory)</a:t>
            </a:r>
            <a:r>
              <a:rPr lang="en-GB" sz="2400" dirty="0">
                <a:latin typeface="Comic Sans MS" panose="030F0702030302020204" pitchFamily="66" charset="0"/>
              </a:rPr>
              <a:t>: </a:t>
            </a:r>
            <a:r>
              <a:rPr lang="en-GB" sz="2400" b="1" dirty="0">
                <a:latin typeface="Comic Sans MS" panose="030F0702030302020204" pitchFamily="66" charset="0"/>
              </a:rPr>
              <a:t>permanent</a:t>
            </a:r>
            <a:r>
              <a:rPr lang="en-GB" sz="2400" dirty="0">
                <a:latin typeface="Comic Sans MS" panose="030F0702030302020204" pitchFamily="66" charset="0"/>
              </a:rPr>
              <a:t>—stores startup/boot instructions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A77DC8-0E3F-0691-27C6-CBCCC30B15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21" y="2438400"/>
            <a:ext cx="13345079" cy="534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769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E44432-5590-82E2-F52A-525E5B7A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120C92C-33E2-3271-7DFD-A3FA0387A35C}"/>
              </a:ext>
            </a:extLst>
          </p:cNvPr>
          <p:cNvSpPr txBox="1"/>
          <p:nvPr/>
        </p:nvSpPr>
        <p:spPr>
          <a:xfrm>
            <a:off x="381000" y="888075"/>
            <a:ext cx="12352767" cy="791197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Computer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Units</a:t>
            </a:r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Secondary</a:t>
            </a:r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Storage</a:t>
            </a:r>
            <a:endParaRPr lang="sv-SE" sz="4000" b="1" dirty="0">
              <a:solidFill>
                <a:srgbClr val="161F28"/>
              </a:solidFill>
              <a:latin typeface="Comic Sans MS" panose="030F0702030302020204" pitchFamily="66" charset="0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40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SE" sz="2400" dirty="0"/>
              <a:t>🟨 </a:t>
            </a:r>
            <a:r>
              <a:rPr lang="en-GB" sz="2400" b="0" dirty="0">
                <a:effectLst/>
                <a:latin typeface="Comic Sans MS" panose="030F0702030302020204" pitchFamily="66" charset="0"/>
              </a:rPr>
              <a:t>Long-term storage; </a:t>
            </a:r>
            <a:r>
              <a:rPr lang="en-GB" sz="2400" b="1" dirty="0">
                <a:effectLst/>
                <a:latin typeface="Comic Sans MS" panose="030F0702030302020204" pitchFamily="66" charset="0"/>
              </a:rPr>
              <a:t>stores data permanently</a:t>
            </a:r>
            <a:r>
              <a:rPr lang="en-GB" sz="2400" b="0" dirty="0">
                <a:effectLst/>
                <a:latin typeface="Comic Sans MS" panose="030F0702030302020204" pitchFamily="66" charset="0"/>
              </a:rPr>
              <a:t> (e.g., SSD/HDD).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B1860-767A-7528-CBDC-D2F248EAB4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068" y="2438400"/>
            <a:ext cx="9393132" cy="505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475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1C7AC4-9BA6-9820-DFE7-A832D016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095F54F-7E74-3D08-A55F-F41D6E22459F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Computer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Units</a:t>
            </a:r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 CPU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8" name="Picture 7" descr="A computer chip with a blue square&#10;&#10;AI-generated content may be incorrect.">
            <a:extLst>
              <a:ext uri="{FF2B5EF4-FFF2-40B4-BE49-F238E27FC236}">
                <a16:creationId xmlns:a16="http://schemas.microsoft.com/office/drawing/2014/main" id="{B9848DBC-5CCC-5D86-28FF-DF5F222F43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1" y="1066800"/>
            <a:ext cx="12560279" cy="723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15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367603-89AC-03CE-B998-AD83AF68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7878536B-EE1C-185F-091C-2DCE5B327DF5}"/>
              </a:ext>
            </a:extLst>
          </p:cNvPr>
          <p:cNvSpPr txBox="1"/>
          <p:nvPr/>
        </p:nvSpPr>
        <p:spPr>
          <a:xfrm>
            <a:off x="381000" y="888075"/>
            <a:ext cx="12352767" cy="92661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solidFill>
                  <a:srgbClr val="161F28"/>
                </a:solidFill>
                <a:latin typeface="Comic Sans MS" panose="030F0702030302020204" pitchFamily="66" charset="0"/>
              </a:rPr>
              <a:t>Computer </a:t>
            </a:r>
            <a:r>
              <a:rPr lang="sv-SE" sz="4000" b="1" dirty="0" err="1">
                <a:solidFill>
                  <a:srgbClr val="161F28"/>
                </a:solidFill>
                <a:latin typeface="Comic Sans MS" panose="030F0702030302020204" pitchFamily="66" charset="0"/>
              </a:rPr>
              <a:t>Units</a:t>
            </a:r>
            <a:endParaRPr lang="sv-SE" sz="4000" b="1" dirty="0">
              <a:solidFill>
                <a:srgbClr val="161F28"/>
              </a:solidFill>
              <a:latin typeface="Comic Sans MS" panose="030F0702030302020204" pitchFamily="66" charset="0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sv-SE" sz="2400" b="1" spc="-17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</a:rPr>
              <a:t>Also called </a:t>
            </a:r>
            <a:r>
              <a:rPr lang="en-GB" sz="2400" b="1" dirty="0">
                <a:latin typeface="Comic Sans MS" panose="030F0702030302020204" pitchFamily="66" charset="0"/>
              </a:rPr>
              <a:t>microprocessor/processor</a:t>
            </a:r>
            <a:r>
              <a:rPr lang="en-GB" sz="2400" dirty="0">
                <a:latin typeface="Comic Sans MS" panose="030F0702030302020204" pitchFamily="66" charset="0"/>
              </a:rPr>
              <a:t>; responsible for </a:t>
            </a:r>
            <a:r>
              <a:rPr lang="en-GB" sz="2400" b="1" dirty="0">
                <a:latin typeface="Comic Sans MS" panose="030F0702030302020204" pitchFamily="66" charset="0"/>
              </a:rPr>
              <a:t>all functions and 	processes</a:t>
            </a:r>
            <a:r>
              <a:rPr lang="en-GB" sz="2400" dirty="0">
                <a:latin typeface="Comic Sans MS" panose="030F0702030302020204" pitchFamily="66" charset="0"/>
              </a:rPr>
              <a:t> at the instruction level.</a:t>
            </a:r>
          </a:p>
          <a:p>
            <a:r>
              <a:rPr lang="en-SE" sz="2400" dirty="0"/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ALU (Arithmetic Logic Unit)</a:t>
            </a:r>
            <a:r>
              <a:rPr lang="en-GB" sz="2400" dirty="0">
                <a:latin typeface="Comic Sans MS" panose="030F0702030302020204" pitchFamily="66" charset="0"/>
              </a:rPr>
              <a:t>: arithmetic (add, sub, </a:t>
            </a:r>
            <a:r>
              <a:rPr lang="en-GB" sz="2400" dirty="0" err="1">
                <a:latin typeface="Comic Sans MS" panose="030F0702030302020204" pitchFamily="66" charset="0"/>
              </a:rPr>
              <a:t>mul</a:t>
            </a:r>
            <a:r>
              <a:rPr lang="en-GB" sz="2400" dirty="0">
                <a:latin typeface="Comic Sans MS" panose="030F0702030302020204" pitchFamily="66" charset="0"/>
              </a:rPr>
              <a:t>, div) + logical operations 	(compare numbers/letters/characters).</a:t>
            </a:r>
          </a:p>
        </p:txBody>
      </p:sp>
      <p:pic>
        <p:nvPicPr>
          <p:cNvPr id="2" name="Slide">
            <a:extLst>
              <a:ext uri="{FF2B5EF4-FFF2-40B4-BE49-F238E27FC236}">
                <a16:creationId xmlns:a16="http://schemas.microsoft.com/office/drawing/2014/main" id="{E5C7A0B2-2364-2456-1E58-38DD62E2FE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33" t="11394" r="45988" b="68283"/>
          <a:stretch>
            <a:fillRect/>
          </a:stretch>
        </p:blipFill>
        <p:spPr>
          <a:xfrm>
            <a:off x="213689" y="1828800"/>
            <a:ext cx="11597311" cy="673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49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399218B-E846-5BD6-5C19-FFCD1E3AD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3805C9-8BED-06C4-85D1-CEACD14E8420}"/>
              </a:ext>
            </a:extLst>
          </p:cNvPr>
          <p:cNvSpPr txBox="1"/>
          <p:nvPr/>
        </p:nvSpPr>
        <p:spPr>
          <a:xfrm>
            <a:off x="381000" y="888075"/>
            <a:ext cx="12352767" cy="39955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0" dirty="0">
                <a:solidFill>
                  <a:srgbClr val="161F28"/>
                </a:solidFill>
                <a:latin typeface="Comic Sans MS" panose="030F0702030302020204" pitchFamily="66" charset="0"/>
              </a:rPr>
              <a:t>Arithmetic and logical Unit - ALU:</a:t>
            </a:r>
            <a:endParaRPr lang="sv-SE" sz="4000" b="1" spc="-10" dirty="0">
              <a:solidFill>
                <a:srgbClr val="161F28"/>
              </a:solidFill>
              <a:latin typeface="Comic Sans MS" panose="030F0702030302020204" pitchFamily="66" charset="0"/>
            </a:endParaRPr>
          </a:p>
          <a:p>
            <a:endParaRPr lang="sv-SE" sz="2400" spc="-10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00660" algn="l"/>
              </a:tabLst>
            </a:pP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</a:rPr>
              <a:t>Executes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Arithmetic</a:t>
            </a:r>
            <a:r>
              <a:rPr lang="en-GB" sz="2400" dirty="0">
                <a:latin typeface="Comic Sans MS" panose="030F0702030302020204" pitchFamily="66" charset="0"/>
              </a:rPr>
              <a:t> and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logical</a:t>
            </a:r>
            <a:r>
              <a:rPr lang="en-GB" sz="2400" dirty="0">
                <a:latin typeface="Comic Sans MS" panose="030F0702030302020204" pitchFamily="66" charset="0"/>
              </a:rPr>
              <a:t> operations.</a:t>
            </a: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00660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en-GB" sz="2400" dirty="0">
                <a:latin typeface="Comic Sans MS" panose="030F0702030302020204" pitchFamily="66" charset="0"/>
              </a:rPr>
              <a:t>Arithmetic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calculations</a:t>
            </a:r>
            <a:r>
              <a:rPr lang="en-GB" sz="2400" dirty="0">
                <a:latin typeface="Comic Sans MS" panose="030F0702030302020204" pitchFamily="66" charset="0"/>
              </a:rPr>
              <a:t> (Addition, Subtraction, Multiplication, 					Division).Logical</a:t>
            </a: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00660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en-GB" sz="2400" dirty="0">
                <a:latin typeface="Comic Sans MS" panose="030F0702030302020204" pitchFamily="66" charset="0"/>
              </a:rPr>
              <a:t>Operations (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Compare</a:t>
            </a:r>
            <a:r>
              <a:rPr lang="en-GB" sz="2400" dirty="0">
                <a:latin typeface="Comic Sans MS" panose="030F0702030302020204" pitchFamily="66" charset="0"/>
              </a:rPr>
              <a:t> numbers, letters, characters).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Control Unit (CU)</a:t>
            </a:r>
            <a:r>
              <a:rPr lang="en-GB" sz="2400" dirty="0">
                <a:latin typeface="Comic Sans MS" panose="030F0702030302020204" pitchFamily="66" charset="0"/>
              </a:rPr>
              <a:t>: controls &amp; coordinates components, reads data from memory, 	sends to ALU/registers, instructs hardware to perform operations.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157296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9DFF117-9BBA-D263-CA32-47C4F248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31DB61A-5268-C41B-5B93-242630CD9B6E}"/>
              </a:ext>
            </a:extLst>
          </p:cNvPr>
          <p:cNvSpPr txBox="1"/>
          <p:nvPr/>
        </p:nvSpPr>
        <p:spPr>
          <a:xfrm>
            <a:off x="381000" y="888075"/>
            <a:ext cx="12352767" cy="371595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0" dirty="0">
                <a:solidFill>
                  <a:srgbClr val="161F28"/>
                </a:solidFill>
                <a:latin typeface="Comic Sans MS" panose="030F0702030302020204" pitchFamily="66" charset="0"/>
              </a:rPr>
              <a:t>Control Unit - CU:</a:t>
            </a:r>
            <a:endParaRPr lang="sv-SE" sz="4000" b="1" spc="-10" dirty="0">
              <a:solidFill>
                <a:srgbClr val="161F28"/>
              </a:solidFill>
              <a:latin typeface="Comic Sans MS" panose="030F0702030302020204" pitchFamily="66" charset="0"/>
            </a:endParaRPr>
          </a:p>
          <a:p>
            <a:endParaRPr lang="sv-SE" sz="2400" spc="-10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00660" algn="l"/>
              </a:tabLst>
            </a:pP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Controls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coordinates</a:t>
            </a:r>
            <a:r>
              <a:rPr lang="en-GB" sz="2400" spc="1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computer</a:t>
            </a:r>
            <a:r>
              <a:rPr lang="en-GB" sz="2400" spc="-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components.</a:t>
            </a: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00660" algn="l"/>
              </a:tabLst>
            </a:pPr>
            <a:r>
              <a:rPr lang="en-GB" sz="2400" spc="-1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Reads</a:t>
            </a:r>
            <a:r>
              <a:rPr lang="en-GB" sz="2400" spc="3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data</a:t>
            </a:r>
            <a:r>
              <a:rPr lang="en-GB" sz="2400" spc="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from</a:t>
            </a:r>
            <a:r>
              <a:rPr lang="en-GB" sz="2400" spc="3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memory</a:t>
            </a: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00660" algn="l"/>
              </a:tabLst>
            </a:pPr>
            <a:r>
              <a:rPr lang="en-GB" sz="2400" spc="-1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Sends</a:t>
            </a:r>
            <a:r>
              <a:rPr lang="en-GB" sz="2400" spc="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data</a:t>
            </a:r>
            <a:r>
              <a:rPr lang="en-GB" sz="2400" spc="3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ALU</a:t>
            </a:r>
            <a:r>
              <a:rPr lang="en-GB" sz="2400" spc="4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or</a:t>
            </a:r>
            <a:r>
              <a:rPr lang="en-GB" sz="2400" spc="3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register</a:t>
            </a: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00660" algn="l"/>
              </a:tabLst>
            </a:pPr>
            <a:r>
              <a:rPr lang="en-GB" sz="2400" spc="-1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Instructs</a:t>
            </a:r>
            <a:r>
              <a:rPr lang="en-GB" sz="2400" spc="4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hardware</a:t>
            </a:r>
            <a:r>
              <a:rPr lang="en-GB" sz="2400" spc="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7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perform</a:t>
            </a:r>
            <a:r>
              <a:rPr lang="en-GB" sz="2400" spc="6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2400" spc="2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requested</a:t>
            </a:r>
            <a:r>
              <a:rPr lang="en-GB" sz="2400" spc="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operation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Cache &amp; Registers</a:t>
            </a:r>
            <a:r>
              <a:rPr lang="en-GB" sz="2400" dirty="0">
                <a:latin typeface="Comic Sans MS" panose="030F0702030302020204" pitchFamily="66" charset="0"/>
              </a:rPr>
              <a:t>: </a:t>
            </a:r>
            <a:r>
              <a:rPr lang="en-GB" sz="2400" b="1" dirty="0">
                <a:latin typeface="Comic Sans MS" panose="030F0702030302020204" pitchFamily="66" charset="0"/>
              </a:rPr>
              <a:t>high-speed</a:t>
            </a:r>
            <a:r>
              <a:rPr lang="en-GB" sz="2400" dirty="0">
                <a:latin typeface="Comic Sans MS" panose="030F0702030302020204" pitchFamily="66" charset="0"/>
              </a:rPr>
              <a:t> memory locations inside the CPU, directly 	accessible by the processor.</a:t>
            </a:r>
          </a:p>
        </p:txBody>
      </p:sp>
    </p:spTree>
    <p:extLst>
      <p:ext uri="{BB962C8B-B14F-4D97-AF65-F5344CB8AC3E}">
        <p14:creationId xmlns:p14="http://schemas.microsoft.com/office/powerpoint/2010/main" val="1150881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FC7391-3352-C529-FD83-D8419AAF5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5F7EDDA-7DCA-91AA-AF1E-C817520F2021}"/>
              </a:ext>
            </a:extLst>
          </p:cNvPr>
          <p:cNvSpPr txBox="1"/>
          <p:nvPr/>
        </p:nvSpPr>
        <p:spPr>
          <a:xfrm>
            <a:off x="381000" y="888075"/>
            <a:ext cx="12352767" cy="26464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0" dirty="0">
                <a:solidFill>
                  <a:srgbClr val="161F28"/>
                </a:solidFill>
                <a:latin typeface="Comic Sans MS" panose="030F0702030302020204" pitchFamily="66" charset="0"/>
                <a:cs typeface="Comic Sans MS"/>
              </a:rPr>
              <a:t>Cache &amp; Registers:</a:t>
            </a:r>
            <a:endParaRPr lang="sv-SE" sz="2400" spc="-10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00660" algn="l"/>
              </a:tabLst>
            </a:pPr>
            <a:endParaRPr lang="sv-SE" sz="2400" dirty="0"/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00660" algn="l"/>
              </a:tabLst>
            </a:pPr>
            <a:r>
              <a:rPr lang="en-SE" sz="2400" dirty="0"/>
              <a:t>🟨 </a:t>
            </a:r>
            <a:r>
              <a:rPr lang="en-GB" sz="2300" b="1" dirty="0">
                <a:latin typeface="Comic Sans MS"/>
                <a:cs typeface="Comic Sans MS"/>
              </a:rPr>
              <a:t>Cache</a:t>
            </a:r>
            <a:r>
              <a:rPr lang="en-GB" sz="2300" b="1" spc="-30" dirty="0">
                <a:latin typeface="Comic Sans MS"/>
                <a:cs typeface="Comic Sans MS"/>
              </a:rPr>
              <a:t> </a:t>
            </a:r>
            <a:r>
              <a:rPr lang="en-GB" sz="2300" dirty="0">
                <a:latin typeface="Comic Sans MS"/>
                <a:cs typeface="Comic Sans MS"/>
              </a:rPr>
              <a:t>is</a:t>
            </a:r>
            <a:r>
              <a:rPr lang="en-GB" sz="2300" spc="5" dirty="0">
                <a:latin typeface="Comic Sans MS"/>
                <a:cs typeface="Comic Sans MS"/>
              </a:rPr>
              <a:t> </a:t>
            </a:r>
            <a:r>
              <a:rPr lang="en-GB" sz="2300" dirty="0">
                <a:latin typeface="Comic Sans MS"/>
                <a:cs typeface="Comic Sans MS"/>
              </a:rPr>
              <a:t>a</a:t>
            </a:r>
            <a:r>
              <a:rPr lang="en-GB" sz="2300" spc="-20" dirty="0">
                <a:latin typeface="Comic Sans MS"/>
                <a:cs typeface="Comic Sans MS"/>
              </a:rPr>
              <a:t> </a:t>
            </a:r>
            <a:r>
              <a:rPr lang="en-GB" sz="2300" spc="-10" dirty="0" err="1">
                <a:solidFill>
                  <a:srgbClr val="FF0000"/>
                </a:solidFill>
                <a:latin typeface="Comic Sans MS"/>
                <a:cs typeface="Comic Sans MS"/>
              </a:rPr>
              <a:t>Highigh</a:t>
            </a:r>
            <a:r>
              <a:rPr lang="en-GB" sz="2300" spc="-10" dirty="0">
                <a:solidFill>
                  <a:srgbClr val="FF0000"/>
                </a:solidFill>
                <a:latin typeface="Comic Sans MS"/>
                <a:cs typeface="Comic Sans MS"/>
              </a:rPr>
              <a:t>-</a:t>
            </a:r>
            <a:r>
              <a:rPr lang="en-GB" sz="2300" dirty="0">
                <a:solidFill>
                  <a:srgbClr val="FF0000"/>
                </a:solidFill>
                <a:latin typeface="Comic Sans MS"/>
                <a:cs typeface="Comic Sans MS"/>
              </a:rPr>
              <a:t>Speed memory</a:t>
            </a:r>
            <a:r>
              <a:rPr lang="en-GB" sz="2300" spc="-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300" dirty="0">
                <a:latin typeface="Comic Sans MS"/>
                <a:cs typeface="Comic Sans MS"/>
              </a:rPr>
              <a:t>inside</a:t>
            </a:r>
            <a:r>
              <a:rPr lang="en-GB" sz="2300" spc="-25" dirty="0">
                <a:latin typeface="Comic Sans MS"/>
                <a:cs typeface="Comic Sans MS"/>
              </a:rPr>
              <a:t> </a:t>
            </a:r>
            <a:r>
              <a:rPr lang="en-GB" sz="2300" dirty="0">
                <a:latin typeface="Comic Sans MS"/>
                <a:cs typeface="Comic Sans MS"/>
              </a:rPr>
              <a:t>the</a:t>
            </a:r>
            <a:r>
              <a:rPr lang="en-GB" sz="2300" spc="5" dirty="0">
                <a:latin typeface="Comic Sans MS"/>
                <a:cs typeface="Comic Sans MS"/>
              </a:rPr>
              <a:t> </a:t>
            </a:r>
            <a:r>
              <a:rPr lang="en-GB" sz="2300" dirty="0">
                <a:latin typeface="Comic Sans MS"/>
                <a:cs typeface="Comic Sans MS"/>
              </a:rPr>
              <a:t>CPU</a:t>
            </a:r>
            <a:r>
              <a:rPr lang="en-GB" sz="2300" spc="-20" dirty="0">
                <a:latin typeface="Comic Sans MS"/>
                <a:cs typeface="Comic Sans MS"/>
              </a:rPr>
              <a:t> </a:t>
            </a:r>
            <a:r>
              <a:rPr lang="en-GB" sz="2300" spc="-10" dirty="0">
                <a:latin typeface="Comic Sans MS"/>
                <a:cs typeface="Comic Sans MS"/>
              </a:rPr>
              <a:t>chip.</a:t>
            </a: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00660" algn="l"/>
              </a:tabLst>
            </a:pPr>
            <a:r>
              <a:rPr lang="en-SE" sz="2400" dirty="0"/>
              <a:t>🟨 </a:t>
            </a:r>
            <a:r>
              <a:rPr lang="en-GB" sz="2400" b="1" spc="-10" dirty="0">
                <a:latin typeface="Comic Sans MS"/>
                <a:cs typeface="Comic Sans MS"/>
              </a:rPr>
              <a:t>Registers</a:t>
            </a:r>
            <a:r>
              <a:rPr lang="en-GB" sz="2400" b="1" spc="-32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are</a:t>
            </a:r>
            <a:r>
              <a:rPr lang="en-GB" sz="2400" spc="25" dirty="0">
                <a:latin typeface="Comic Sans MS"/>
                <a:cs typeface="Comic Sans MS"/>
              </a:rPr>
              <a:t> </a:t>
            </a:r>
            <a:r>
              <a:rPr lang="en-GB" sz="2400" spc="-10" dirty="0" err="1">
                <a:solidFill>
                  <a:srgbClr val="FF0000"/>
                </a:solidFill>
                <a:latin typeface="Comic Sans MS"/>
                <a:cs typeface="Comic Sans MS"/>
              </a:rPr>
              <a:t>Highigher</a:t>
            </a:r>
            <a:r>
              <a:rPr lang="en-GB"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-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Speed</a:t>
            </a:r>
            <a:r>
              <a:rPr lang="en-GB"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memory</a:t>
            </a:r>
            <a:r>
              <a:rPr lang="en-GB" sz="2400" spc="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inside the CPU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chip.</a:t>
            </a:r>
            <a:endParaRPr lang="en-GB" sz="24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r>
              <a:rPr lang="en-GB" sz="2400" dirty="0">
                <a:latin typeface="Comic Sans MS"/>
                <a:cs typeface="Comic Sans MS"/>
              </a:rPr>
              <a:t>These</a:t>
            </a:r>
            <a:r>
              <a:rPr lang="en-GB" sz="2400" spc="-2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are</a:t>
            </a:r>
            <a:r>
              <a:rPr lang="en-GB" sz="2400" spc="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memory</a:t>
            </a:r>
            <a:r>
              <a:rPr lang="en-GB" sz="2400" spc="-2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locations</a:t>
            </a:r>
            <a:r>
              <a:rPr lang="en-GB" sz="2400" spc="-1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that</a:t>
            </a:r>
            <a:r>
              <a:rPr lang="en-GB" sz="2400" spc="2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can</a:t>
            </a:r>
            <a:r>
              <a:rPr lang="en-GB" sz="2400" spc="-1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be</a:t>
            </a:r>
            <a:r>
              <a:rPr lang="en-GB" sz="2400" spc="-5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directly</a:t>
            </a:r>
            <a:r>
              <a:rPr lang="en-GB" sz="24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accessible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by</a:t>
            </a:r>
            <a:r>
              <a:rPr lang="en-GB" sz="24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processor</a:t>
            </a:r>
            <a:r>
              <a:rPr lang="en-GB" sz="2300" spc="-10" dirty="0">
                <a:latin typeface="Comic Sans MS"/>
                <a:cs typeface="Comic Sans MS"/>
              </a:rPr>
              <a:t>.</a:t>
            </a:r>
            <a:endParaRPr lang="en-GB" sz="23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496837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4BDFB93-076E-0E55-E4EB-578E2826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0480" y="2667000"/>
            <a:ext cx="13476677" cy="762000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79F43420-4C21-6417-FB5E-27C26676D8EA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0" dirty="0">
                <a:solidFill>
                  <a:srgbClr val="161F28"/>
                </a:solidFill>
                <a:latin typeface="Comic Sans MS" panose="030F0702030302020204" pitchFamily="66" charset="0"/>
              </a:rPr>
              <a:t>CPU </a:t>
            </a:r>
            <a:r>
              <a:rPr lang="en-GB" sz="4000" b="1" dirty="0">
                <a:latin typeface="Comic Sans MS" panose="030F0702030302020204" pitchFamily="66" charset="0"/>
              </a:rPr>
              <a:t>internal architecture: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at this level of your learning journey just take a look on this picture, don't dive into details.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9568590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65C3F9-15CD-30D1-5237-895A4B48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86704E1-AC1E-F611-3BA3-258F7EA155ED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3D290BE-0B06-BE4B-0235-87E0923D54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304AC53-9850-16A3-2069-889F513747AA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54F7DB79-32B3-64D7-E003-E42B1EA7B32A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B8C0F947-C3F7-79E3-118C-FB82D6ABD0F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CPU Access to Memory</a:t>
            </a:r>
          </a:p>
        </p:txBody>
      </p:sp>
    </p:spTree>
    <p:extLst>
      <p:ext uri="{BB962C8B-B14F-4D97-AF65-F5344CB8AC3E}">
        <p14:creationId xmlns:p14="http://schemas.microsoft.com/office/powerpoint/2010/main" val="1955382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753B5F-5991-480F-718A-3E5695658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">
            <a:extLst>
              <a:ext uri="{FF2B5EF4-FFF2-40B4-BE49-F238E27FC236}">
                <a16:creationId xmlns:a16="http://schemas.microsoft.com/office/drawing/2014/main" id="{809CBC4B-52B9-5DC3-1912-6AF63EA657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9" t="43982" r="45703" b="35227"/>
          <a:stretch>
            <a:fillRect/>
          </a:stretch>
        </p:blipFill>
        <p:spPr>
          <a:xfrm>
            <a:off x="0" y="2219354"/>
            <a:ext cx="13416830" cy="7839046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661A8E9A-B6EA-71B4-28F7-529D4DF5734E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CPU Access to Memory: Types &amp; Speed</a:t>
            </a:r>
            <a:endParaRPr lang="en-GB"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6839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4F58BD-7847-2E68-0DA8-C263A72A1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48B6055-4992-8F1E-0A9D-4809CE500B07}"/>
              </a:ext>
            </a:extLst>
          </p:cNvPr>
          <p:cNvSpPr txBox="1"/>
          <p:nvPr/>
        </p:nvSpPr>
        <p:spPr>
          <a:xfrm>
            <a:off x="381000" y="888075"/>
            <a:ext cx="12352767" cy="34466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CPU Access to Memory: Types &amp; Speed</a:t>
            </a:r>
            <a:endParaRPr lang="en-GB" sz="4000" dirty="0">
              <a:latin typeface="Comic Sans MS" panose="030F0702030302020204" pitchFamily="66" charset="0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00660" algn="l"/>
              </a:tabLst>
            </a:pPr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Registers</a:t>
            </a:r>
            <a:r>
              <a:rPr lang="sv-SE" sz="2400" dirty="0">
                <a:latin typeface="Comic Sans MS" panose="030F0702030302020204" pitchFamily="66" charset="0"/>
              </a:rPr>
              <a:t> (inside CPU) → </a:t>
            </a:r>
            <a:r>
              <a:rPr lang="sv-SE" sz="2400" b="1" dirty="0" err="1">
                <a:latin typeface="Comic Sans MS" panose="030F0702030302020204" pitchFamily="66" charset="0"/>
              </a:rPr>
              <a:t>instant</a:t>
            </a:r>
            <a:r>
              <a:rPr lang="sv-SE" sz="2400" dirty="0">
                <a:latin typeface="Comic Sans MS" panose="030F0702030302020204" pitchFamily="66" charset="0"/>
              </a:rPr>
              <a:t> data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Cache (L1…)</a:t>
            </a:r>
            <a:r>
              <a:rPr lang="sv-SE" sz="2400" dirty="0">
                <a:latin typeface="Comic Sans MS" panose="030F0702030302020204" pitchFamily="66" charset="0"/>
              </a:rPr>
              <a:t> → </a:t>
            </a:r>
            <a:r>
              <a:rPr lang="sv-SE" sz="2400" b="1" dirty="0" err="1">
                <a:latin typeface="Comic Sans MS" panose="030F0702030302020204" pitchFamily="66" charset="0"/>
              </a:rPr>
              <a:t>very</a:t>
            </a:r>
            <a:r>
              <a:rPr lang="sv-SE" sz="2400" b="1" dirty="0">
                <a:latin typeface="Comic Sans MS" panose="030F0702030302020204" pitchFamily="66" charset="0"/>
              </a:rPr>
              <a:t> fast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Main </a:t>
            </a:r>
            <a:r>
              <a:rPr lang="sv-SE" sz="2400" b="1" dirty="0" err="1">
                <a:latin typeface="Comic Sans MS" panose="030F0702030302020204" pitchFamily="66" charset="0"/>
              </a:rPr>
              <a:t>Memory</a:t>
            </a:r>
            <a:r>
              <a:rPr lang="sv-SE" sz="2400" b="1" dirty="0">
                <a:latin typeface="Comic Sans MS" panose="030F0702030302020204" pitchFamily="66" charset="0"/>
              </a:rPr>
              <a:t> (RAM)</a:t>
            </a:r>
            <a:r>
              <a:rPr lang="sv-SE" sz="2400" dirty="0">
                <a:latin typeface="Comic Sans MS" panose="030F0702030302020204" pitchFamily="66" charset="0"/>
              </a:rPr>
              <a:t> → fast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 err="1">
                <a:latin typeface="Comic Sans MS" panose="030F0702030302020204" pitchFamily="66" charset="0"/>
              </a:rPr>
              <a:t>Secondary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Storage</a:t>
            </a:r>
            <a:r>
              <a:rPr lang="sv-SE" sz="2400" dirty="0">
                <a:latin typeface="Comic Sans MS" panose="030F0702030302020204" pitchFamily="66" charset="0"/>
              </a:rPr>
              <a:t> → </a:t>
            </a:r>
            <a:r>
              <a:rPr lang="sv-SE" sz="2400" dirty="0" err="1">
                <a:latin typeface="Comic Sans MS" panose="030F0702030302020204" pitchFamily="66" charset="0"/>
              </a:rPr>
              <a:t>slower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“</a:t>
            </a:r>
            <a:r>
              <a:rPr lang="sv-SE" sz="2400" dirty="0" err="1">
                <a:latin typeface="Comic Sans MS" panose="030F0702030302020204" pitchFamily="66" charset="0"/>
              </a:rPr>
              <a:t>Instantly</a:t>
            </a:r>
            <a:r>
              <a:rPr lang="sv-SE" sz="2400" dirty="0">
                <a:latin typeface="Comic Sans MS" panose="030F0702030302020204" pitchFamily="66" charset="0"/>
              </a:rPr>
              <a:t>/</a:t>
            </a:r>
            <a:r>
              <a:rPr lang="sv-SE" sz="2400" dirty="0" err="1">
                <a:latin typeface="Comic Sans MS" panose="030F0702030302020204" pitchFamily="66" charset="0"/>
              </a:rPr>
              <a:t>simi-instantly</a:t>
            </a:r>
            <a:r>
              <a:rPr lang="sv-SE" sz="2400" dirty="0">
                <a:latin typeface="Comic Sans MS" panose="030F0702030302020204" pitchFamily="66" charset="0"/>
              </a:rPr>
              <a:t>” </a:t>
            </a:r>
            <a:r>
              <a:rPr lang="sv-SE" sz="2400" dirty="0" err="1">
                <a:latin typeface="Comic Sans MS" panose="030F0702030302020204" pitchFamily="66" charset="0"/>
              </a:rPr>
              <a:t>available</a:t>
            </a:r>
            <a:r>
              <a:rPr lang="sv-SE" sz="2400" dirty="0">
                <a:latin typeface="Comic Sans MS" panose="030F0702030302020204" pitchFamily="66" charset="0"/>
              </a:rPr>
              <a:t> data </a:t>
            </a:r>
            <a:r>
              <a:rPr lang="sv-SE" sz="2400" dirty="0" err="1">
                <a:latin typeface="Comic Sans MS" panose="030F0702030302020204" pitchFamily="66" charset="0"/>
              </a:rPr>
              <a:t>increases</a:t>
            </a:r>
            <a:r>
              <a:rPr lang="sv-SE" sz="2400" dirty="0">
                <a:latin typeface="Comic Sans MS" panose="030F0702030302020204" pitchFamily="66" charset="0"/>
              </a:rPr>
              <a:t> as </a:t>
            </a:r>
            <a:r>
              <a:rPr lang="sv-SE" sz="2400" dirty="0" err="1">
                <a:latin typeface="Comic Sans MS" panose="030F0702030302020204" pitchFamily="66" charset="0"/>
              </a:rPr>
              <a:t>you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move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closer</a:t>
            </a:r>
            <a:r>
              <a:rPr lang="sv-SE" sz="2400" dirty="0">
                <a:latin typeface="Comic Sans MS" panose="030F0702030302020204" pitchFamily="66" charset="0"/>
              </a:rPr>
              <a:t> to the CPU 	(Registers/Cache).</a:t>
            </a:r>
          </a:p>
        </p:txBody>
      </p:sp>
    </p:spTree>
    <p:extLst>
      <p:ext uri="{BB962C8B-B14F-4D97-AF65-F5344CB8AC3E}">
        <p14:creationId xmlns:p14="http://schemas.microsoft.com/office/powerpoint/2010/main" val="117837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3D3D78-A0A7-3435-8A09-E6986A2A4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028713E-4958-BAE6-32AE-39AFC14DE6C4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CEC3B28-3829-2F58-957D-2053212D91B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C200ECE-B6F5-7147-115A-6526E9AD876D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718B5A5-D726-378B-5F26-13D85B685700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C0466A38-4482-5881-B117-512A53EAA240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GPU Graphics Processing Unit</a:t>
            </a:r>
          </a:p>
        </p:txBody>
      </p:sp>
    </p:spTree>
    <p:extLst>
      <p:ext uri="{BB962C8B-B14F-4D97-AF65-F5344CB8AC3E}">
        <p14:creationId xmlns:p14="http://schemas.microsoft.com/office/powerpoint/2010/main" val="35988656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6DA595-F065-0CFE-AD4A-E84F8D724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72FD574-07B4-FE07-A45A-2877DC550300}"/>
              </a:ext>
            </a:extLst>
          </p:cNvPr>
          <p:cNvSpPr txBox="1"/>
          <p:nvPr/>
        </p:nvSpPr>
        <p:spPr>
          <a:xfrm>
            <a:off x="381000" y="888075"/>
            <a:ext cx="12352767" cy="32081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0" dirty="0" err="1">
                <a:solidFill>
                  <a:srgbClr val="161F28"/>
                </a:solidFill>
                <a:latin typeface="Comic Sans MS" panose="030F0702030302020204" pitchFamily="66" charset="0"/>
              </a:rPr>
              <a:t>What</a:t>
            </a:r>
            <a:r>
              <a:rPr lang="sv-SE" sz="4000" b="1" spc="-10" dirty="0">
                <a:solidFill>
                  <a:srgbClr val="161F28"/>
                </a:solidFill>
                <a:latin typeface="Comic Sans MS" panose="030F0702030302020204" pitchFamily="66" charset="0"/>
              </a:rPr>
              <a:t> is GPU?</a:t>
            </a:r>
          </a:p>
          <a:p>
            <a:endParaRPr lang="sv-SE" sz="2400" spc="-10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00660" algn="l"/>
              </a:tabLst>
            </a:pP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GPU</a:t>
            </a:r>
            <a:r>
              <a:rPr lang="en-GB" sz="2400" spc="-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stands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for</a:t>
            </a:r>
            <a:r>
              <a:rPr lang="en-GB" sz="2400" spc="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graphics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processing</a:t>
            </a:r>
            <a:r>
              <a:rPr lang="en-GB" sz="2400" spc="-2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unit.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065" marR="5080">
              <a:lnSpc>
                <a:spcPts val="2500"/>
              </a:lnSpc>
              <a:spcBef>
                <a:spcPts val="850"/>
              </a:spcBef>
              <a:tabLst>
                <a:tab pos="201295" algn="l"/>
              </a:tabLst>
            </a:pP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You'll</a:t>
            </a:r>
            <a:r>
              <a:rPr lang="en-GB" sz="2400" spc="-3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also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see</a:t>
            </a:r>
            <a:r>
              <a:rPr lang="en-GB" sz="2400" spc="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GPUs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commonly</a:t>
            </a:r>
            <a:r>
              <a:rPr lang="en-GB" sz="2400" spc="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referred</a:t>
            </a:r>
            <a:r>
              <a:rPr lang="en-GB" sz="2400" spc="-3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as</a:t>
            </a:r>
            <a:r>
              <a:rPr lang="en-GB" sz="2400" spc="-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graphics</a:t>
            </a:r>
            <a:r>
              <a:rPr lang="en-GB" sz="2400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cards</a:t>
            </a:r>
            <a:r>
              <a:rPr lang="en-GB" sz="2400" spc="-1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or</a:t>
            </a:r>
            <a:r>
              <a:rPr lang="en-GB" sz="2400" spc="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video</a:t>
            </a:r>
            <a:r>
              <a:rPr lang="en-GB" sz="2400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cards!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200660" algn="l"/>
              </a:tabLst>
            </a:pP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But</a:t>
            </a:r>
            <a:r>
              <a:rPr lang="en-GB" sz="2400" spc="-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it is</a:t>
            </a:r>
            <a:r>
              <a:rPr lang="en-GB" sz="2400" spc="-1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not</a:t>
            </a:r>
            <a:r>
              <a:rPr lang="en-GB" sz="2400" spc="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graphic</a:t>
            </a:r>
            <a:r>
              <a:rPr lang="en-GB" sz="2400" spc="-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card,</a:t>
            </a:r>
            <a:r>
              <a:rPr lang="en-GB" sz="2400" spc="-1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it’s</a:t>
            </a:r>
            <a:r>
              <a:rPr lang="en-GB" sz="2400" spc="-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only</a:t>
            </a:r>
            <a:r>
              <a:rPr lang="en-GB" sz="2400" spc="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one</a:t>
            </a:r>
            <a:r>
              <a:rPr lang="en-GB" sz="2400" spc="-1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part</a:t>
            </a:r>
            <a:r>
              <a:rPr lang="en-GB" sz="2400" spc="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of</a:t>
            </a:r>
            <a:r>
              <a:rPr lang="en-GB" sz="2400" spc="-1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2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it.</a:t>
            </a:r>
            <a:endParaRPr lang="en-GB" sz="2400" spc="-10" dirty="0">
              <a:solidFill>
                <a:srgbClr val="FF0000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GPU (Graphics Processing Unit)</a:t>
            </a:r>
            <a:r>
              <a:rPr lang="en-GB" sz="2400" dirty="0">
                <a:latin typeface="Comic Sans MS" panose="030F0702030302020204" pitchFamily="66" charset="0"/>
              </a:rPr>
              <a:t>: often called “graphics/video card,” but the </a:t>
            </a:r>
            <a:r>
              <a:rPr lang="en-GB" sz="2400" b="1" dirty="0">
                <a:latin typeface="Comic Sans MS" panose="030F0702030302020204" pitchFamily="66" charset="0"/>
              </a:rPr>
              <a:t>GPU</a:t>
            </a:r>
            <a:r>
              <a:rPr lang="en-GB" sz="2400" dirty="0">
                <a:latin typeface="Comic Sans MS" panose="030F0702030302020204" pitchFamily="66" charset="0"/>
              </a:rPr>
              <a:t> is just </a:t>
            </a:r>
            <a:r>
              <a:rPr lang="en-GB" sz="2400" b="1" dirty="0">
                <a:latin typeface="Comic Sans MS" panose="030F0702030302020204" pitchFamily="66" charset="0"/>
              </a:rPr>
              <a:t>one part</a:t>
            </a:r>
            <a:r>
              <a:rPr lang="en-GB" sz="2400" dirty="0">
                <a:latin typeface="Comic Sans MS" panose="030F0702030302020204" pitchFamily="66" charset="0"/>
              </a:rPr>
              <a:t> of the card.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349FCFC-28BF-F465-DA19-C70B63099C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8227" y="4308348"/>
            <a:ext cx="5105622" cy="346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93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AEAFE2-808F-40ED-7727-6BB4C3B29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60C7A38-B8EB-EB94-598C-0EFFED07CAD8}"/>
              </a:ext>
            </a:extLst>
          </p:cNvPr>
          <p:cNvSpPr txBox="1"/>
          <p:nvPr/>
        </p:nvSpPr>
        <p:spPr>
          <a:xfrm>
            <a:off x="381000" y="888075"/>
            <a:ext cx="12352767" cy="40057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0" dirty="0">
                <a:solidFill>
                  <a:srgbClr val="161F28"/>
                </a:solidFill>
                <a:latin typeface="Comic Sans MS" panose="030F0702030302020204" pitchFamily="66" charset="0"/>
              </a:rPr>
              <a:t>GPU vs CPU</a:t>
            </a:r>
          </a:p>
          <a:p>
            <a:endParaRPr lang="sv-SE" sz="2400" spc="-10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pPr marL="12065" marR="172720">
              <a:lnSpc>
                <a:spcPts val="2500"/>
              </a:lnSpc>
              <a:spcBef>
                <a:spcPts val="415"/>
              </a:spcBef>
              <a:tabLst>
                <a:tab pos="201295" algn="l"/>
                <a:tab pos="289560" algn="l"/>
              </a:tabLst>
            </a:pP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u="none" dirty="0">
                <a:solidFill>
                  <a:srgbClr val="000000"/>
                </a:solidFill>
                <a:latin typeface="Comic Sans MS" panose="030F0702030302020204" pitchFamily="66" charset="0"/>
              </a:rPr>
              <a:t>CPU</a:t>
            </a:r>
            <a:r>
              <a:rPr lang="en-GB" sz="2400" u="none" spc="-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u="none" dirty="0">
                <a:solidFill>
                  <a:srgbClr val="000000"/>
                </a:solidFill>
                <a:latin typeface="Comic Sans MS" panose="030F0702030302020204" pitchFamily="66" charset="0"/>
              </a:rPr>
              <a:t>is</a:t>
            </a:r>
            <a:r>
              <a:rPr lang="en-GB" sz="2400" u="none" spc="-1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u="none" dirty="0">
                <a:solidFill>
                  <a:srgbClr val="000000"/>
                </a:solidFill>
                <a:latin typeface="Comic Sans MS" panose="030F0702030302020204" pitchFamily="66" charset="0"/>
              </a:rPr>
              <a:t>designed</a:t>
            </a:r>
            <a:r>
              <a:rPr lang="en-GB" sz="2400" u="none" spc="-20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u="none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en-GB" sz="2400" u="none" spc="-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handle tasks</a:t>
            </a:r>
            <a:r>
              <a:rPr lang="en-GB" sz="2400" spc="-2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quickly</a:t>
            </a:r>
            <a:r>
              <a:rPr lang="en-GB" sz="2400" spc="-20" dirty="0">
                <a:latin typeface="Comic Sans MS" panose="030F0702030302020204" pitchFamily="66" charset="0"/>
              </a:rPr>
              <a:t> </a:t>
            </a:r>
            <a:r>
              <a:rPr lang="en-GB" sz="2400" u="none" dirty="0">
                <a:solidFill>
                  <a:srgbClr val="000000"/>
                </a:solidFill>
                <a:latin typeface="Comic Sans MS" panose="030F0702030302020204" pitchFamily="66" charset="0"/>
              </a:rPr>
              <a:t>but</a:t>
            </a:r>
            <a:r>
              <a:rPr lang="en-GB" sz="2400" u="none" spc="-10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u="none" dirty="0">
                <a:solidFill>
                  <a:srgbClr val="000000"/>
                </a:solidFill>
                <a:latin typeface="Comic Sans MS" panose="030F0702030302020204" pitchFamily="66" charset="0"/>
              </a:rPr>
              <a:t>are</a:t>
            </a:r>
            <a:r>
              <a:rPr lang="en-GB" sz="2400" u="none" spc="-10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limited</a:t>
            </a:r>
            <a:r>
              <a:rPr lang="en-GB" sz="2400" spc="-20" dirty="0">
                <a:latin typeface="Comic Sans MS" panose="030F0702030302020204" pitchFamily="66" charset="0"/>
              </a:rPr>
              <a:t> </a:t>
            </a:r>
            <a:r>
              <a:rPr lang="en-GB" sz="2400" spc="-25" dirty="0">
                <a:latin typeface="Comic Sans MS" panose="030F0702030302020204" pitchFamily="66" charset="0"/>
              </a:rPr>
              <a:t>in</a:t>
            </a:r>
            <a:r>
              <a:rPr lang="en-GB" sz="2400" u="none" spc="-25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the</a:t>
            </a:r>
            <a:r>
              <a:rPr lang="en-GB" sz="2400" spc="-15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concurrency</a:t>
            </a:r>
            <a:r>
              <a:rPr lang="en-GB" sz="2400" spc="-2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of</a:t>
            </a:r>
            <a:r>
              <a:rPr lang="en-GB" sz="2400" spc="10" dirty="0">
                <a:latin typeface="Comic Sans MS" panose="030F0702030302020204" pitchFamily="66" charset="0"/>
              </a:rPr>
              <a:t> 				</a:t>
            </a:r>
            <a:r>
              <a:rPr lang="en-GB" sz="2400" dirty="0">
                <a:latin typeface="Comic Sans MS" panose="030F0702030302020204" pitchFamily="66" charset="0"/>
              </a:rPr>
              <a:t>tasks </a:t>
            </a:r>
            <a:r>
              <a:rPr lang="en-GB" sz="2400" u="none" dirty="0">
                <a:solidFill>
                  <a:srgbClr val="000000"/>
                </a:solidFill>
                <a:latin typeface="Comic Sans MS" panose="030F0702030302020204" pitchFamily="66" charset="0"/>
              </a:rPr>
              <a:t>that can</a:t>
            </a:r>
            <a:r>
              <a:rPr lang="en-GB" sz="2400" u="none" spc="-2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u="none" dirty="0">
                <a:solidFill>
                  <a:srgbClr val="000000"/>
                </a:solidFill>
                <a:latin typeface="Comic Sans MS" panose="030F0702030302020204" pitchFamily="66" charset="0"/>
              </a:rPr>
              <a:t>be</a:t>
            </a:r>
            <a:r>
              <a:rPr lang="en-GB" sz="2400" u="none" spc="1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u="none" spc="-10" dirty="0">
                <a:solidFill>
                  <a:srgbClr val="000000"/>
                </a:solidFill>
                <a:latin typeface="Comic Sans MS" panose="030F0702030302020204" pitchFamily="66" charset="0"/>
              </a:rPr>
              <a:t>running.</a:t>
            </a:r>
          </a:p>
          <a:p>
            <a:pPr marL="12065" marR="172720">
              <a:lnSpc>
                <a:spcPts val="2500"/>
              </a:lnSpc>
              <a:spcBef>
                <a:spcPts val="415"/>
              </a:spcBef>
              <a:tabLst>
                <a:tab pos="201295" algn="l"/>
                <a:tab pos="289560" algn="l"/>
              </a:tabLst>
            </a:pP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u="none" dirty="0">
                <a:solidFill>
                  <a:srgbClr val="000000"/>
                </a:solidFill>
                <a:latin typeface="Comic Sans MS" panose="030F0702030302020204" pitchFamily="66" charset="0"/>
              </a:rPr>
              <a:t>A GPU</a:t>
            </a:r>
            <a:r>
              <a:rPr lang="en-GB" sz="2400" u="none" spc="-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u="none" dirty="0">
                <a:solidFill>
                  <a:srgbClr val="000000"/>
                </a:solidFill>
                <a:latin typeface="Comic Sans MS" panose="030F0702030302020204" pitchFamily="66" charset="0"/>
              </a:rPr>
              <a:t>is</a:t>
            </a:r>
            <a:r>
              <a:rPr lang="en-GB" sz="2400" u="none" spc="-10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u="none" dirty="0">
                <a:solidFill>
                  <a:srgbClr val="000000"/>
                </a:solidFill>
                <a:latin typeface="Comic Sans MS" panose="030F0702030302020204" pitchFamily="66" charset="0"/>
              </a:rPr>
              <a:t>designed</a:t>
            </a:r>
            <a:r>
              <a:rPr lang="en-GB" sz="2400" u="none" spc="1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u="none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en-GB" sz="2400" u="none" spc="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quickly</a:t>
            </a:r>
            <a:r>
              <a:rPr lang="en-GB" sz="2400" spc="1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render</a:t>
            </a:r>
            <a:r>
              <a:rPr lang="en-GB" sz="2400" spc="-20" dirty="0">
                <a:latin typeface="Comic Sans MS" panose="030F0702030302020204" pitchFamily="66" charset="0"/>
              </a:rPr>
              <a:t> high-</a:t>
            </a:r>
            <a:r>
              <a:rPr lang="en-GB" sz="2400" dirty="0">
                <a:latin typeface="Comic Sans MS" panose="030F0702030302020204" pitchFamily="66" charset="0"/>
              </a:rPr>
              <a:t>resolution </a:t>
            </a:r>
            <a:r>
              <a:rPr lang="en-GB" sz="2400" spc="-10" dirty="0">
                <a:latin typeface="Comic Sans MS" panose="030F0702030302020204" pitchFamily="66" charset="0"/>
              </a:rPr>
              <a:t>images</a:t>
            </a:r>
            <a:r>
              <a:rPr lang="en-GB" sz="2400" u="none" spc="-10" dirty="0">
                <a:latin typeface="Comic Sans MS" panose="030F0702030302020204" pitchFamily="66" charset="0"/>
              </a:rPr>
              <a:t> 	</a:t>
            </a:r>
            <a:r>
              <a:rPr lang="en-GB" sz="2400" dirty="0">
                <a:latin typeface="Comic Sans MS" panose="030F0702030302020204" pitchFamily="66" charset="0"/>
              </a:rPr>
              <a:t>and</a:t>
            </a:r>
            <a:r>
              <a:rPr lang="en-GB" sz="2400" spc="-5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video 					</a:t>
            </a:r>
            <a:r>
              <a:rPr lang="en-GB" sz="2400" spc="-10" dirty="0">
                <a:latin typeface="Comic Sans MS" panose="030F0702030302020204" pitchFamily="66" charset="0"/>
              </a:rPr>
              <a:t>concurrently</a:t>
            </a:r>
            <a:r>
              <a:rPr lang="en-GB" sz="2400" u="none" spc="-10" dirty="0">
                <a:solidFill>
                  <a:srgbClr val="000000"/>
                </a:solidFill>
                <a:latin typeface="Comic Sans MS" panose="030F0702030302020204" pitchFamily="66" charset="0"/>
              </a:rPr>
              <a:t>.</a:t>
            </a:r>
          </a:p>
          <a:p>
            <a:pPr marL="12065" marR="172720">
              <a:lnSpc>
                <a:spcPts val="2500"/>
              </a:lnSpc>
              <a:spcBef>
                <a:spcPts val="415"/>
              </a:spcBef>
              <a:tabLst>
                <a:tab pos="201295" algn="l"/>
                <a:tab pos="289560" algn="l"/>
              </a:tabLst>
            </a:pPr>
            <a:endParaRPr lang="en-GB" sz="2400" spc="-1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CPU</a:t>
            </a:r>
            <a:r>
              <a:rPr lang="en-GB" sz="2400" dirty="0">
                <a:latin typeface="Comic Sans MS" panose="030F0702030302020204" pitchFamily="66" charset="0"/>
              </a:rPr>
              <a:t>: designed to handle tasks quickly but with limited </a:t>
            </a:r>
            <a:r>
              <a:rPr lang="en-GB" sz="2400" b="1" dirty="0">
                <a:latin typeface="Comic Sans MS" panose="030F0702030302020204" pitchFamily="66" charset="0"/>
              </a:rPr>
              <a:t>concurrency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GPU</a:t>
            </a:r>
            <a:r>
              <a:rPr lang="en-GB" sz="2400" dirty="0">
                <a:latin typeface="Comic Sans MS" panose="030F0702030302020204" pitchFamily="66" charset="0"/>
              </a:rPr>
              <a:t>: designed to </a:t>
            </a:r>
            <a:r>
              <a:rPr lang="en-GB" sz="2400" b="1" dirty="0">
                <a:latin typeface="Comic Sans MS" panose="030F0702030302020204" pitchFamily="66" charset="0"/>
              </a:rPr>
              <a:t>render high-resolution images/video concurrently</a:t>
            </a:r>
            <a:r>
              <a:rPr lang="en-GB" sz="2400" dirty="0">
                <a:latin typeface="Comic Sans MS" panose="030F0702030302020204" pitchFamily="66" charset="0"/>
              </a:rPr>
              <a:t> (high 	parallelism).</a:t>
            </a:r>
          </a:p>
        </p:txBody>
      </p:sp>
    </p:spTree>
    <p:extLst>
      <p:ext uri="{BB962C8B-B14F-4D97-AF65-F5344CB8AC3E}">
        <p14:creationId xmlns:p14="http://schemas.microsoft.com/office/powerpoint/2010/main" val="4134798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09A837-1232-33F0-A25F-22B425407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6744D10-5E14-8833-8457-4CA4556A9A03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AA2F6EC-2592-ECBB-6EBD-2736A2F96D3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3A2A28D-F94D-00E9-C379-B4F74B2B52D1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6391BA2-EE1D-949D-82DA-F10FAD1C4D0B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01470F89-5032-988A-CD71-DE2CA83E3971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How Computer Deals with data?</a:t>
            </a:r>
          </a:p>
        </p:txBody>
      </p:sp>
    </p:spTree>
    <p:extLst>
      <p:ext uri="{BB962C8B-B14F-4D97-AF65-F5344CB8AC3E}">
        <p14:creationId xmlns:p14="http://schemas.microsoft.com/office/powerpoint/2010/main" val="1482716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1262C7-FC05-8211-44BD-9CEB8684A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86BFD6F-E78A-88B2-2965-2FD5FD6FFCAD}"/>
              </a:ext>
            </a:extLst>
          </p:cNvPr>
          <p:cNvSpPr txBox="1"/>
          <p:nvPr/>
        </p:nvSpPr>
        <p:spPr>
          <a:xfrm>
            <a:off x="381000" y="888075"/>
            <a:ext cx="12352767" cy="868141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Computers Come in 32-bit and 64-bit Versions (x86 vs x64)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sv-SE" sz="2400" spc="-10" dirty="0">
              <a:solidFill>
                <a:srgbClr val="161F28"/>
              </a:solidFill>
              <a:latin typeface="Comic Sans MS" panose="030F0702030302020204" pitchFamily="66" charset="0"/>
              <a:cs typeface="Comic Sans MS"/>
            </a:endParaRPr>
          </a:p>
          <a:p>
            <a:pPr marL="12065" marR="172720">
              <a:lnSpc>
                <a:spcPts val="2500"/>
              </a:lnSpc>
              <a:spcBef>
                <a:spcPts val="415"/>
              </a:spcBef>
              <a:tabLst>
                <a:tab pos="201295" algn="l"/>
                <a:tab pos="289560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Modern computers are designed with </a:t>
            </a:r>
            <a:r>
              <a:rPr lang="en-GB" sz="2400" b="1" dirty="0">
                <a:latin typeface="Comic Sans MS" panose="030F0702030302020204" pitchFamily="66" charset="0"/>
              </a:rPr>
              <a:t>different architectures</a:t>
            </a:r>
            <a:r>
              <a:rPr lang="en-GB" sz="2400" dirty="0">
                <a:latin typeface="Comic Sans MS" panose="030F0702030302020204" pitchFamily="66" charset="0"/>
              </a:rPr>
              <a:t> that define how much data they can handle at once and how much memory they can address. The two most common are </a:t>
            </a:r>
            <a:r>
              <a:rPr lang="en-GB" sz="2400" b="1" dirty="0">
                <a:latin typeface="Comic Sans MS" panose="030F0702030302020204" pitchFamily="66" charset="0"/>
              </a:rPr>
              <a:t>32-bit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64-bit</a:t>
            </a:r>
            <a:r>
              <a:rPr lang="en-GB" sz="2400" dirty="0">
                <a:latin typeface="Comic Sans MS" panose="030F0702030302020204" pitchFamily="66" charset="0"/>
              </a:rPr>
              <a:t>. </a:t>
            </a:r>
          </a:p>
          <a:p>
            <a:pPr marL="12065" marR="172720">
              <a:lnSpc>
                <a:spcPts val="2500"/>
              </a:lnSpc>
              <a:spcBef>
                <a:spcPts val="415"/>
              </a:spcBef>
              <a:tabLst>
                <a:tab pos="201295" algn="l"/>
                <a:tab pos="289560" algn="l"/>
              </a:tabLst>
            </a:pP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💡 </a:t>
            </a:r>
            <a:r>
              <a:rPr lang="en-GB" sz="2400" b="1" dirty="0">
                <a:latin typeface="Comic Sans MS" panose="030F0702030302020204" pitchFamily="66" charset="0"/>
              </a:rPr>
              <a:t>Address Space Capacity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🧮 </a:t>
            </a:r>
            <a:r>
              <a:rPr lang="en-GB" sz="2400" b="1" dirty="0">
                <a:latin typeface="Comic Sans MS" panose="030F0702030302020204" pitchFamily="66" charset="0"/>
              </a:rPr>
              <a:t>2³² = 4,294,967,296 bytes ≈ 4 GB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👉 This is the </a:t>
            </a:r>
            <a:r>
              <a:rPr lang="en-GB" sz="2400" b="1" dirty="0">
                <a:latin typeface="Comic Sans MS" panose="030F0702030302020204" pitchFamily="66" charset="0"/>
              </a:rPr>
              <a:t>maximum memory (RAM)</a:t>
            </a:r>
            <a:r>
              <a:rPr lang="en-GB" sz="2400" dirty="0">
                <a:latin typeface="Comic Sans MS" panose="030F0702030302020204" pitchFamily="66" charset="0"/>
              </a:rPr>
              <a:t> a 32-bit system can address.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🧮 </a:t>
            </a:r>
            <a:r>
              <a:rPr lang="en-GB" sz="2400" b="1" dirty="0">
                <a:latin typeface="Comic Sans MS" panose="030F0702030302020204" pitchFamily="66" charset="0"/>
              </a:rPr>
              <a:t>2⁶⁴ = 18,446,744,073,709,551,616 bytes ≈ 16 Exabytes (EB)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👉 This shows the </a:t>
            </a:r>
            <a:r>
              <a:rPr lang="en-GB" sz="2400" b="1" dirty="0">
                <a:latin typeface="Comic Sans MS" panose="030F0702030302020204" pitchFamily="66" charset="0"/>
              </a:rPr>
              <a:t>massive difference in capacity</a:t>
            </a:r>
            <a:r>
              <a:rPr lang="en-GB" sz="2400" dirty="0">
                <a:latin typeface="Comic Sans MS" panose="030F0702030302020204" pitchFamily="66" charset="0"/>
              </a:rPr>
              <a:t> between 32-bit and 			64-bit systems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🏷️ </a:t>
            </a:r>
            <a:r>
              <a:rPr lang="en-GB" sz="2400" b="1" dirty="0">
                <a:latin typeface="Comic Sans MS" panose="030F0702030302020204" pitchFamily="66" charset="0"/>
              </a:rPr>
              <a:t>Naming Conventions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32-bit</a:t>
            </a:r>
            <a:r>
              <a:rPr lang="en-GB" sz="2400" dirty="0">
                <a:latin typeface="Comic Sans MS" panose="030F0702030302020204" pitchFamily="66" charset="0"/>
              </a:rPr>
              <a:t> → often called </a:t>
            </a:r>
            <a:r>
              <a:rPr lang="en-GB" sz="2400" b="1" dirty="0">
                <a:latin typeface="Comic Sans MS" panose="030F0702030302020204" pitchFamily="66" charset="0"/>
              </a:rPr>
              <a:t>x86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x86-32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64-bit</a:t>
            </a:r>
            <a:r>
              <a:rPr lang="en-GB" sz="2400" dirty="0">
                <a:latin typeface="Comic Sans MS" panose="030F0702030302020204" pitchFamily="66" charset="0"/>
              </a:rPr>
              <a:t> → often called </a:t>
            </a:r>
            <a:r>
              <a:rPr lang="en-GB" sz="2400" b="1" dirty="0">
                <a:latin typeface="Comic Sans MS" panose="030F0702030302020204" pitchFamily="66" charset="0"/>
              </a:rPr>
              <a:t>x64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x86-64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⚙️ </a:t>
            </a:r>
            <a:r>
              <a:rPr lang="en-GB" sz="2400" b="1" dirty="0">
                <a:latin typeface="Comic Sans MS" panose="030F0702030302020204" pitchFamily="66" charset="0"/>
              </a:rPr>
              <a:t>Performance Difference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64-bit CPU</a:t>
            </a:r>
            <a:r>
              <a:rPr lang="en-GB" sz="2400" dirty="0">
                <a:latin typeface="Comic Sans MS" panose="030F0702030302020204" pitchFamily="66" charset="0"/>
              </a:rPr>
              <a:t> can process </a:t>
            </a:r>
            <a:r>
              <a:rPr lang="en-GB" sz="2400" b="1" dirty="0">
                <a:latin typeface="Comic Sans MS" panose="030F0702030302020204" pitchFamily="66" charset="0"/>
              </a:rPr>
              <a:t>twice as many bits per instruction cycle</a:t>
            </a:r>
            <a:r>
              <a:rPr lang="en-GB" sz="2400" dirty="0">
                <a:latin typeface="Comic Sans MS" panose="030F0702030302020204" pitchFamily="66" charset="0"/>
              </a:rPr>
              <a:t> as a 		32-bit CPU.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</a:rPr>
              <a:t>It can handle </a:t>
            </a:r>
            <a:r>
              <a:rPr lang="en-GB" sz="2400" b="1" dirty="0">
                <a:latin typeface="Comic Sans MS" panose="030F0702030302020204" pitchFamily="66" charset="0"/>
              </a:rPr>
              <a:t>larger data types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larger files</a:t>
            </a:r>
            <a:r>
              <a:rPr lang="en-GB" sz="2400" dirty="0">
                <a:latin typeface="Comic Sans MS" panose="030F0702030302020204" pitchFamily="66" charset="0"/>
              </a:rPr>
              <a:t>, and </a:t>
            </a:r>
            <a:r>
              <a:rPr lang="en-GB" sz="2400" b="1" dirty="0">
                <a:latin typeface="Comic Sans MS" panose="030F0702030302020204" pitchFamily="66" charset="0"/>
              </a:rPr>
              <a:t>more RAM</a:t>
            </a:r>
            <a:r>
              <a:rPr lang="en-GB" sz="2400" dirty="0">
                <a:latin typeface="Comic Sans MS" panose="030F0702030302020204" pitchFamily="66" charset="0"/>
              </a:rPr>
              <a:t> efficiently.</a:t>
            </a:r>
          </a:p>
        </p:txBody>
      </p:sp>
    </p:spTree>
    <p:extLst>
      <p:ext uri="{BB962C8B-B14F-4D97-AF65-F5344CB8AC3E}">
        <p14:creationId xmlns:p14="http://schemas.microsoft.com/office/powerpoint/2010/main" val="511601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BFC1DB-348E-D208-3F4E-1104EC98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BFD2AF3-3358-22B7-AA9B-CB5D8BF3A347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/>
              <a:t>📌 </a:t>
            </a:r>
            <a:r>
              <a:rPr lang="en-GB" sz="4000" dirty="0">
                <a:latin typeface="Comic Sans MS" panose="030F0702030302020204" pitchFamily="66" charset="0"/>
              </a:rPr>
              <a:t> </a:t>
            </a:r>
            <a:r>
              <a:rPr lang="en-GB" sz="4000" b="1" dirty="0">
                <a:latin typeface="Comic Sans MS" panose="030F0702030302020204" pitchFamily="66" charset="0"/>
              </a:rPr>
              <a:t>Note:</a:t>
            </a:r>
          </a:p>
          <a:p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If you install a </a:t>
            </a:r>
            <a:r>
              <a:rPr lang="en-GB" sz="2400" b="1" dirty="0">
                <a:latin typeface="Comic Sans MS" panose="030F0702030302020204" pitchFamily="66" charset="0"/>
              </a:rPr>
              <a:t>32-bit Operating System</a:t>
            </a:r>
            <a:r>
              <a:rPr lang="en-GB" sz="2400" dirty="0">
                <a:latin typeface="Comic Sans MS" panose="030F0702030302020204" pitchFamily="66" charset="0"/>
              </a:rPr>
              <a:t> on a </a:t>
            </a:r>
            <a:r>
              <a:rPr lang="en-GB" sz="2400" b="1" dirty="0">
                <a:latin typeface="Comic Sans MS" panose="030F0702030302020204" pitchFamily="66" charset="0"/>
              </a:rPr>
              <a:t>64-bit CPU</a:t>
            </a:r>
            <a:r>
              <a:rPr lang="en-GB" sz="2400" dirty="0">
                <a:latin typeface="Comic Sans MS" panose="030F0702030302020204" pitchFamily="66" charset="0"/>
              </a:rPr>
              <a:t>, the system will still work — but you’ll be limited to </a:t>
            </a:r>
            <a:r>
              <a:rPr lang="en-GB" sz="2400" b="1" dirty="0">
                <a:latin typeface="Comic Sans MS" panose="030F0702030302020204" pitchFamily="66" charset="0"/>
              </a:rPr>
              <a:t>running 32-bit software only</a:t>
            </a:r>
            <a:r>
              <a:rPr lang="en-GB" sz="2400" dirty="0">
                <a:latin typeface="Comic Sans MS" panose="030F0702030302020204" pitchFamily="66" charset="0"/>
              </a:rPr>
              <a:t>, and your system </a:t>
            </a:r>
            <a:r>
              <a:rPr lang="en-GB" sz="2400" b="1" dirty="0">
                <a:latin typeface="Comic Sans MS" panose="030F0702030302020204" pitchFamily="66" charset="0"/>
              </a:rPr>
              <a:t>can’t use all available memory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19195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684DD9-A265-07BC-38FE-94BB3BD9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08144CD-0C07-CE57-118D-FC14ED6729A0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dirty="0">
                <a:latin typeface="Comic Sans MS" panose="030F0702030302020204" pitchFamily="66" charset="0"/>
              </a:rPr>
              <a:t>💾 </a:t>
            </a:r>
            <a:r>
              <a:rPr lang="en-GB" sz="4000" b="1" dirty="0">
                <a:latin typeface="Comic Sans MS" panose="030F0702030302020204" pitchFamily="66" charset="0"/>
              </a:rPr>
              <a:t>RAM Limitations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🧠 </a:t>
            </a:r>
            <a:r>
              <a:rPr lang="en-GB" sz="2400" b="1" dirty="0">
                <a:latin typeface="Comic Sans MS" panose="030F0702030302020204" pitchFamily="66" charset="0"/>
              </a:rPr>
              <a:t>32-bit OS:</a:t>
            </a:r>
            <a:r>
              <a:rPr lang="en-GB" sz="2400" dirty="0">
                <a:latin typeface="Comic Sans MS" panose="030F0702030302020204" pitchFamily="66" charset="0"/>
              </a:rPr>
              <a:t> can address up to </a:t>
            </a:r>
            <a:r>
              <a:rPr lang="en-GB" sz="2400" b="1" dirty="0">
                <a:latin typeface="Comic Sans MS" panose="030F0702030302020204" pitchFamily="66" charset="0"/>
              </a:rPr>
              <a:t>2³² = 4,294,967,296 bytes ≈ 4 GB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🚀 </a:t>
            </a:r>
            <a:r>
              <a:rPr lang="en-GB" sz="2400" b="1" dirty="0">
                <a:latin typeface="Comic Sans MS" panose="030F0702030302020204" pitchFamily="66" charset="0"/>
              </a:rPr>
              <a:t>64-bit OS:</a:t>
            </a:r>
            <a:r>
              <a:rPr lang="en-GB" sz="2400" dirty="0">
                <a:latin typeface="Comic Sans MS" panose="030F0702030302020204" pitchFamily="66" charset="0"/>
              </a:rPr>
              <a:t> can theoretically address </a:t>
            </a:r>
            <a:r>
              <a:rPr lang="en-GB" sz="2400" b="1" dirty="0">
                <a:latin typeface="Comic Sans MS" panose="030F0702030302020204" pitchFamily="66" charset="0"/>
              </a:rPr>
              <a:t>2⁶⁴ bytes ≈ 16 Exabytes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📌 If your computer has </a:t>
            </a:r>
            <a:r>
              <a:rPr lang="en-GB" sz="2400" b="1" dirty="0">
                <a:latin typeface="Comic Sans MS" panose="030F0702030302020204" pitchFamily="66" charset="0"/>
              </a:rPr>
              <a:t>4 GB RAM or more</a:t>
            </a:r>
            <a:r>
              <a:rPr lang="en-GB" sz="2400" dirty="0">
                <a:latin typeface="Comic Sans MS" panose="030F0702030302020204" pitchFamily="66" charset="0"/>
              </a:rPr>
              <a:t>, you </a:t>
            </a:r>
            <a:r>
              <a:rPr lang="en-GB" sz="2400" b="1" dirty="0">
                <a:latin typeface="Comic Sans MS" panose="030F0702030302020204" pitchFamily="66" charset="0"/>
              </a:rPr>
              <a:t>must</a:t>
            </a:r>
            <a:r>
              <a:rPr lang="en-GB" sz="2400" dirty="0">
                <a:latin typeface="Comic Sans MS" panose="030F0702030302020204" pitchFamily="66" charset="0"/>
              </a:rPr>
              <a:t> use a </a:t>
            </a:r>
            <a:r>
              <a:rPr lang="en-GB" sz="2400" b="1" dirty="0">
                <a:latin typeface="Comic Sans MS" panose="030F0702030302020204" pitchFamily="66" charset="0"/>
              </a:rPr>
              <a:t>64-bit CPU and 64-bit OS</a:t>
            </a:r>
            <a:r>
              <a:rPr lang="en-GB" sz="2400" dirty="0">
                <a:latin typeface="Comic Sans MS" panose="030F0702030302020204" pitchFamily="66" charset="0"/>
              </a:rPr>
              <a:t> to utilize it fully.</a:t>
            </a:r>
          </a:p>
        </p:txBody>
      </p:sp>
    </p:spTree>
    <p:extLst>
      <p:ext uri="{BB962C8B-B14F-4D97-AF65-F5344CB8AC3E}">
        <p14:creationId xmlns:p14="http://schemas.microsoft.com/office/powerpoint/2010/main" val="29266212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56B724-3E89-8B6B-C561-7361241F8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E6E0278-8A85-826D-2872-DD3DA0D37F2B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/>
              <a:t>✨ </a:t>
            </a:r>
            <a:r>
              <a:rPr lang="en-GB" sz="4000" b="1" dirty="0">
                <a:latin typeface="Comic Sans MS" panose="030F0702030302020204" pitchFamily="66" charset="0"/>
              </a:rPr>
              <a:t>Summary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SE" sz="2400" dirty="0"/>
              <a:t>✅ </a:t>
            </a:r>
            <a:r>
              <a:rPr lang="en-GB" sz="2400" dirty="0">
                <a:latin typeface="Comic Sans MS" panose="030F0702030302020204" pitchFamily="66" charset="0"/>
              </a:rPr>
              <a:t>Computers are built on either </a:t>
            </a:r>
            <a:r>
              <a:rPr lang="en-GB" sz="2400" b="1" dirty="0">
                <a:latin typeface="Comic Sans MS" panose="030F0702030302020204" pitchFamily="66" charset="0"/>
              </a:rPr>
              <a:t>32-bit (x86)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64-bit (x64)</a:t>
            </a:r>
            <a:r>
              <a:rPr lang="en-GB" sz="2400" dirty="0">
                <a:latin typeface="Comic Sans MS" panose="030F0702030302020204" pitchFamily="66" charset="0"/>
              </a:rPr>
              <a:t> architecture.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/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64-bit systems</a:t>
            </a:r>
            <a:r>
              <a:rPr lang="en-GB" sz="2400" dirty="0">
                <a:latin typeface="Comic Sans MS" panose="030F0702030302020204" pitchFamily="66" charset="0"/>
              </a:rPr>
              <a:t> support more RAM, larger files, and faster performance.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/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Compatibility matters</a:t>
            </a:r>
            <a:r>
              <a:rPr lang="en-GB" sz="2400" dirty="0">
                <a:latin typeface="Comic Sans MS" panose="030F0702030302020204" pitchFamily="66" charset="0"/>
              </a:rPr>
              <a:t> — choose your OS and apps according to your CPU type</a:t>
            </a:r>
          </a:p>
        </p:txBody>
      </p:sp>
    </p:spTree>
    <p:extLst>
      <p:ext uri="{BB962C8B-B14F-4D97-AF65-F5344CB8AC3E}">
        <p14:creationId xmlns:p14="http://schemas.microsoft.com/office/powerpoint/2010/main" val="5719015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552950-8953-E3AB-95A9-484A59C9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48982E6-9DA6-81D9-35A7-372D03C5EB83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Draw a block diagram with </a:t>
            </a:r>
            <a:r>
              <a:rPr lang="en-GB" sz="2400" b="1" dirty="0">
                <a:latin typeface="Comic Sans MS" panose="030F0702030302020204" pitchFamily="66" charset="0"/>
              </a:rPr>
              <a:t>Input, Output, Primary Memory, Secondary Storage, 	CPU (ALU, CU, Cache/Registers)</a:t>
            </a:r>
            <a:r>
              <a:rPr lang="en-GB" sz="2400" dirty="0">
                <a:latin typeface="Comic Sans MS" panose="030F0702030302020204" pitchFamily="66" charset="0"/>
              </a:rPr>
              <a:t> and label each.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2️⃣ Given: “Load image from SSD → process filter → display on monitor.” Map each 	step to </a:t>
            </a:r>
            <a:r>
              <a:rPr lang="en-GB" sz="2400" b="1" dirty="0">
                <a:latin typeface="Comic Sans MS" panose="030F0702030302020204" pitchFamily="66" charset="0"/>
              </a:rPr>
              <a:t>units</a:t>
            </a:r>
            <a:r>
              <a:rPr lang="en-GB" sz="2400" dirty="0">
                <a:latin typeface="Comic Sans MS" panose="030F0702030302020204" pitchFamily="66" charset="0"/>
              </a:rPr>
              <a:t> and indicate </a:t>
            </a:r>
            <a:r>
              <a:rPr lang="en-GB" sz="2400" b="1" dirty="0">
                <a:latin typeface="Comic Sans MS" panose="030F0702030302020204" pitchFamily="66" charset="0"/>
              </a:rPr>
              <a:t>where the data resides</a:t>
            </a:r>
            <a:r>
              <a:rPr lang="en-GB" sz="2400" dirty="0">
                <a:latin typeface="Comic Sans MS" panose="030F0702030302020204" pitchFamily="66" charset="0"/>
              </a:rPr>
              <a:t> at each step.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3️⃣ Your PC has </a:t>
            </a:r>
            <a:r>
              <a:rPr lang="en-GB" sz="2400" b="1" dirty="0">
                <a:latin typeface="Comic Sans MS" panose="030F0702030302020204" pitchFamily="66" charset="0"/>
              </a:rPr>
              <a:t>8 GB RAM</a:t>
            </a:r>
            <a:r>
              <a:rPr lang="en-GB" sz="2400" dirty="0">
                <a:latin typeface="Comic Sans MS" panose="030F0702030302020204" pitchFamily="66" charset="0"/>
              </a:rPr>
              <a:t>—explain </a:t>
            </a:r>
            <a:r>
              <a:rPr lang="en-GB" sz="2400" b="1" dirty="0">
                <a:latin typeface="Comic Sans MS" panose="030F0702030302020204" pitchFamily="66" charset="0"/>
              </a:rPr>
              <a:t>why</a:t>
            </a:r>
            <a:r>
              <a:rPr lang="en-GB" sz="2400" dirty="0">
                <a:latin typeface="Comic Sans MS" panose="030F0702030302020204" pitchFamily="66" charset="0"/>
              </a:rPr>
              <a:t> a </a:t>
            </a:r>
            <a:r>
              <a:rPr lang="en-GB" sz="2400" b="1" dirty="0">
                <a:latin typeface="Comic Sans MS" panose="030F0702030302020204" pitchFamily="66" charset="0"/>
              </a:rPr>
              <a:t>64-bit OS</a:t>
            </a:r>
            <a:r>
              <a:rPr lang="en-GB" sz="2400" dirty="0">
                <a:latin typeface="Comic Sans MS" panose="030F0702030302020204" pitchFamily="66" charset="0"/>
              </a:rPr>
              <a:t> is recommended and what 	happens if a 32-bit OS is installed.</a:t>
            </a:r>
          </a:p>
        </p:txBody>
      </p:sp>
    </p:spTree>
    <p:extLst>
      <p:ext uri="{BB962C8B-B14F-4D97-AF65-F5344CB8AC3E}">
        <p14:creationId xmlns:p14="http://schemas.microsoft.com/office/powerpoint/2010/main" val="37992454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Draw a block diagram with Input, Output, Primary Memory, Secondary Storage, 	CPU (ALU, CU, Cache/Registers) and label each.</a:t>
            </a:r>
          </a:p>
          <a:p>
            <a:br>
              <a:rPr lang="en-GB" sz="2400" dirty="0">
                <a:latin typeface="Comic Sans MS" panose="030F0702030302020204" pitchFamily="66" charset="0"/>
              </a:rPr>
            </a:br>
            <a:endParaRPr lang="sv-SE" sz="2400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75A75A-5BC2-AC61-BC7C-0063B2ED3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3550920"/>
            <a:ext cx="6477000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A596E9-BB95-2C3F-79D8-7FFD2CC3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5CA1098-FD7A-E78C-6FFF-0B1DB667D501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2️⃣ Given: “</a:t>
            </a:r>
            <a:r>
              <a:rPr lang="sv-SE" sz="2400" dirty="0" err="1">
                <a:latin typeface="Comic Sans MS" panose="030F0702030302020204" pitchFamily="66" charset="0"/>
              </a:rPr>
              <a:t>Load</a:t>
            </a:r>
            <a:r>
              <a:rPr lang="sv-SE" sz="2400" dirty="0">
                <a:latin typeface="Comic Sans MS" panose="030F0702030302020204" pitchFamily="66" charset="0"/>
              </a:rPr>
              <a:t> image from SSD → process filter → display on monitor.” </a:t>
            </a:r>
            <a:r>
              <a:rPr lang="sv-SE" sz="2400" dirty="0" err="1">
                <a:latin typeface="Comic Sans MS" panose="030F0702030302020204" pitchFamily="66" charset="0"/>
              </a:rPr>
              <a:t>Map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each</a:t>
            </a:r>
            <a:r>
              <a:rPr lang="sv-SE" sz="2400" dirty="0">
                <a:latin typeface="Comic Sans MS" panose="030F0702030302020204" pitchFamily="66" charset="0"/>
              </a:rPr>
              <a:t> step to </a:t>
            </a:r>
            <a:r>
              <a:rPr lang="sv-SE" sz="2400" dirty="0" err="1">
                <a:latin typeface="Comic Sans MS" panose="030F0702030302020204" pitchFamily="66" charset="0"/>
              </a:rPr>
              <a:t>units</a:t>
            </a:r>
            <a:r>
              <a:rPr lang="sv-SE" sz="2400" dirty="0">
                <a:latin typeface="Comic Sans MS" panose="030F0702030302020204" pitchFamily="66" charset="0"/>
              </a:rPr>
              <a:t> and </a:t>
            </a:r>
            <a:r>
              <a:rPr lang="sv-SE" sz="2400" dirty="0" err="1">
                <a:latin typeface="Comic Sans MS" panose="030F0702030302020204" pitchFamily="66" charset="0"/>
              </a:rPr>
              <a:t>indicate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where</a:t>
            </a:r>
            <a:r>
              <a:rPr lang="sv-SE" sz="2400" dirty="0">
                <a:latin typeface="Comic Sans MS" panose="030F0702030302020204" pitchFamily="66" charset="0"/>
              </a:rPr>
              <a:t> the data </a:t>
            </a:r>
            <a:r>
              <a:rPr lang="sv-SE" sz="2400" dirty="0" err="1">
                <a:latin typeface="Comic Sans MS" panose="030F0702030302020204" pitchFamily="66" charset="0"/>
              </a:rPr>
              <a:t>resides</a:t>
            </a:r>
            <a:r>
              <a:rPr lang="sv-SE" sz="2400" dirty="0">
                <a:latin typeface="Comic Sans MS" panose="030F0702030302020204" pitchFamily="66" charset="0"/>
              </a:rPr>
              <a:t> at </a:t>
            </a:r>
            <a:r>
              <a:rPr lang="sv-SE" sz="2400" dirty="0" err="1">
                <a:latin typeface="Comic Sans MS" panose="030F0702030302020204" pitchFamily="66" charset="0"/>
              </a:rPr>
              <a:t>each</a:t>
            </a:r>
            <a:r>
              <a:rPr lang="sv-SE" sz="2400" dirty="0">
                <a:latin typeface="Comic Sans MS" panose="030F0702030302020204" pitchFamily="66" charset="0"/>
              </a:rPr>
              <a:t> step.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SSD</a:t>
            </a:r>
            <a:r>
              <a:rPr lang="sv-SE" sz="2400" dirty="0">
                <a:latin typeface="Comic Sans MS" panose="030F0702030302020204" pitchFamily="66" charset="0"/>
              </a:rPr>
              <a:t> (</a:t>
            </a:r>
            <a:r>
              <a:rPr lang="sv-SE" sz="2400" dirty="0" err="1">
                <a:latin typeface="Comic Sans MS" panose="030F0702030302020204" pitchFamily="66" charset="0"/>
              </a:rPr>
              <a:t>secondary</a:t>
            </a:r>
            <a:r>
              <a:rPr lang="sv-SE" sz="2400" dirty="0">
                <a:latin typeface="Comic Sans MS" panose="030F0702030302020204" pitchFamily="66" charset="0"/>
              </a:rPr>
              <a:t>) → </a:t>
            </a:r>
            <a:r>
              <a:rPr lang="sv-SE" sz="2400" b="1" dirty="0">
                <a:latin typeface="Comic Sans MS" panose="030F0702030302020204" pitchFamily="66" charset="0"/>
              </a:rPr>
              <a:t>RAM</a:t>
            </a:r>
            <a:r>
              <a:rPr lang="sv-SE" sz="2400" dirty="0">
                <a:latin typeface="Comic Sans MS" panose="030F0702030302020204" pitchFamily="66" charset="0"/>
              </a:rPr>
              <a:t> (</a:t>
            </a:r>
            <a:r>
              <a:rPr lang="sv-SE" sz="2400" dirty="0" err="1">
                <a:latin typeface="Comic Sans MS" panose="030F0702030302020204" pitchFamily="66" charset="0"/>
              </a:rPr>
              <a:t>primary</a:t>
            </a:r>
            <a:r>
              <a:rPr lang="sv-SE" sz="2400" dirty="0">
                <a:latin typeface="Comic Sans MS" panose="030F0702030302020204" pitchFamily="66" charset="0"/>
              </a:rPr>
              <a:t>) → </a:t>
            </a:r>
            <a:r>
              <a:rPr lang="sv-SE" sz="2400" b="1" dirty="0">
                <a:latin typeface="Comic Sans MS" panose="030F0702030302020204" pitchFamily="66" charset="0"/>
              </a:rPr>
              <a:t>CPU/Cache/Registers</a:t>
            </a:r>
            <a:r>
              <a:rPr lang="sv-SE" sz="2400" dirty="0">
                <a:latin typeface="Comic Sans MS" panose="030F0702030302020204" pitchFamily="66" charset="0"/>
              </a:rPr>
              <a:t> for filter 	→ </a:t>
            </a:r>
            <a:r>
              <a:rPr lang="sv-SE" sz="2400" b="1" dirty="0">
                <a:latin typeface="Comic Sans MS" panose="030F0702030302020204" pitchFamily="66" charset="0"/>
              </a:rPr>
              <a:t>GPU/CPU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renders</a:t>
            </a:r>
            <a:r>
              <a:rPr lang="sv-SE" sz="2400" dirty="0">
                <a:latin typeface="Comic Sans MS" panose="030F0702030302020204" pitchFamily="66" charset="0"/>
              </a:rPr>
              <a:t> → </a:t>
            </a:r>
            <a:r>
              <a:rPr lang="sv-SE" sz="2400" b="1" dirty="0">
                <a:latin typeface="Comic Sans MS" panose="030F0702030302020204" pitchFamily="66" charset="0"/>
              </a:rPr>
              <a:t>Monitor</a:t>
            </a:r>
            <a:r>
              <a:rPr lang="sv-SE" sz="2400" dirty="0">
                <a:latin typeface="Comic Sans MS" panose="030F0702030302020204" pitchFamily="66" charset="0"/>
              </a:rPr>
              <a:t> outputs.</a:t>
            </a:r>
            <a:endParaRPr lang="en-GB" sz="2400" dirty="0">
              <a:latin typeface="Comic Sans MS" panose="030F0702030302020204" pitchFamily="66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3F68C10-8921-A092-E667-546402A546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94" r="5682" b="28693"/>
          <a:stretch>
            <a:fillRect/>
          </a:stretch>
        </p:blipFill>
        <p:spPr bwMode="auto">
          <a:xfrm>
            <a:off x="0" y="5486400"/>
            <a:ext cx="126492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0521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8B8492-E512-74B1-245A-B38A91AE6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C414CA8-20C7-E9D9-85FF-F8B08922B673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3️⃣</a:t>
            </a:r>
            <a:r>
              <a:rPr lang="en-GB" sz="2400" b="1" dirty="0">
                <a:latin typeface="Comic Sans MS" panose="030F0702030302020204" pitchFamily="66" charset="0"/>
              </a:rPr>
              <a:t> Your PC has 8 GB RAM—explain why a 64-bit OS is recommended and what 	happens if a 32-bit OS is installed.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64-bit OS</a:t>
            </a:r>
            <a:r>
              <a:rPr lang="en-GB" sz="2400" dirty="0">
                <a:latin typeface="Comic Sans MS" panose="030F0702030302020204" pitchFamily="66" charset="0"/>
              </a:rPr>
              <a:t>: can address &gt;4 GB; </a:t>
            </a:r>
            <a:r>
              <a:rPr lang="en-GB" sz="2400" b="1" dirty="0">
                <a:latin typeface="Comic Sans MS" panose="030F0702030302020204" pitchFamily="66" charset="0"/>
              </a:rPr>
              <a:t>32-bit OS</a:t>
            </a:r>
            <a:r>
              <a:rPr lang="en-GB" sz="2400" dirty="0">
                <a:latin typeface="Comic Sans MS" panose="030F0702030302020204" pitchFamily="66" charset="0"/>
              </a:rPr>
              <a:t> limited to ~</a:t>
            </a:r>
            <a:r>
              <a:rPr lang="en-GB" sz="2400" b="1" dirty="0">
                <a:latin typeface="Comic Sans MS" panose="030F0702030302020204" pitchFamily="66" charset="0"/>
              </a:rPr>
              <a:t>4 GB</a:t>
            </a:r>
            <a:r>
              <a:rPr lang="en-GB" sz="2400" dirty="0">
                <a:latin typeface="Comic Sans MS" panose="030F0702030302020204" pitchFamily="66" charset="0"/>
              </a:rPr>
              <a:t>, so it can’t fully 	utilize </a:t>
            </a:r>
            <a:r>
              <a:rPr lang="en-GB" sz="2400" b="1" dirty="0">
                <a:latin typeface="Comic Sans MS" panose="030F0702030302020204" pitchFamily="66" charset="0"/>
              </a:rPr>
              <a:t>8 GB</a:t>
            </a:r>
            <a:r>
              <a:rPr lang="en-GB" sz="2400" dirty="0">
                <a:latin typeface="Comic Sans MS" panose="030F0702030302020204" pitchFamily="66" charset="0"/>
              </a:rPr>
              <a:t>. A </a:t>
            </a:r>
            <a:r>
              <a:rPr lang="en-GB" sz="2400" b="1" dirty="0">
                <a:latin typeface="Comic Sans MS" panose="030F0702030302020204" pitchFamily="66" charset="0"/>
              </a:rPr>
              <a:t>64-bit CPU + 64-bit OS</a:t>
            </a:r>
            <a:r>
              <a:rPr lang="en-GB" sz="2400" dirty="0">
                <a:latin typeface="Comic Sans MS" panose="030F0702030302020204" pitchFamily="66" charset="0"/>
              </a:rPr>
              <a:t> uses the memory effectively. </a:t>
            </a:r>
          </a:p>
        </p:txBody>
      </p:sp>
    </p:spTree>
    <p:extLst>
      <p:ext uri="{BB962C8B-B14F-4D97-AF65-F5344CB8AC3E}">
        <p14:creationId xmlns:p14="http://schemas.microsoft.com/office/powerpoint/2010/main" val="39175420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45A6634-93EA-8101-D4D4-7877A0E9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BF87FB5-66A5-F554-533C-11024F2583D0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computer</a:t>
            </a:r>
            <a:r>
              <a:rPr lang="en-GB" sz="2400" dirty="0">
                <a:latin typeface="Comic Sans MS" panose="030F0702030302020204" pitchFamily="66" charset="0"/>
              </a:rPr>
              <a:t> is an </a:t>
            </a:r>
            <a:r>
              <a:rPr lang="en-GB" sz="2400" b="1" dirty="0">
                <a:latin typeface="Comic Sans MS" panose="030F0702030302020204" pitchFamily="66" charset="0"/>
              </a:rPr>
              <a:t>electronic device</a:t>
            </a:r>
            <a:r>
              <a:rPr lang="en-GB" sz="2400" dirty="0">
                <a:latin typeface="Comic Sans MS" panose="030F0702030302020204" pitchFamily="66" charset="0"/>
              </a:rPr>
              <a:t> guided by </a:t>
            </a:r>
            <a:r>
              <a:rPr lang="en-GB" sz="2400" b="1" dirty="0">
                <a:latin typeface="Comic Sans MS" panose="030F0702030302020204" pitchFamily="66" charset="0"/>
              </a:rPr>
              <a:t>programs</a:t>
            </a:r>
            <a:r>
              <a:rPr lang="en-GB" sz="2400" dirty="0">
                <a:latin typeface="Comic Sans MS" panose="030F0702030302020204" pitchFamily="66" charset="0"/>
              </a:rPr>
              <a:t> to convert </a:t>
            </a:r>
            <a:r>
              <a:rPr lang="en-GB" sz="2400" b="1" dirty="0">
                <a:latin typeface="Comic Sans MS" panose="030F0702030302020204" pitchFamily="66" charset="0"/>
              </a:rPr>
              <a:t>input 	data</a:t>
            </a:r>
            <a:r>
              <a:rPr lang="en-GB" sz="2400" dirty="0">
                <a:latin typeface="Comic Sans MS" panose="030F0702030302020204" pitchFamily="66" charset="0"/>
              </a:rPr>
              <a:t> into </a:t>
            </a:r>
            <a:r>
              <a:rPr lang="en-GB" sz="2400" b="1" dirty="0">
                <a:latin typeface="Comic Sans MS" panose="030F0702030302020204" pitchFamily="66" charset="0"/>
              </a:rPr>
              <a:t>useful output information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store</a:t>
            </a:r>
            <a:r>
              <a:rPr lang="en-GB" sz="2400" dirty="0">
                <a:latin typeface="Comic Sans MS" panose="030F0702030302020204" pitchFamily="66" charset="0"/>
              </a:rPr>
              <a:t> it.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Its </a:t>
            </a:r>
            <a:r>
              <a:rPr lang="en-GB" sz="2400" b="1" dirty="0">
                <a:latin typeface="Comic Sans MS" panose="030F0702030302020204" pitchFamily="66" charset="0"/>
              </a:rPr>
              <a:t>units</a:t>
            </a:r>
            <a:r>
              <a:rPr lang="en-GB" sz="2400" dirty="0">
                <a:latin typeface="Comic Sans MS" panose="030F0702030302020204" pitchFamily="66" charset="0"/>
              </a:rPr>
              <a:t>—</a:t>
            </a:r>
            <a:r>
              <a:rPr lang="en-GB" sz="2400" b="1" dirty="0">
                <a:latin typeface="Comic Sans MS" panose="030F0702030302020204" pitchFamily="66" charset="0"/>
              </a:rPr>
              <a:t>Input, Output, Memory (RAM/ROM), Storage, CPU (ALU, CU, 	Cache/Registers)</a:t>
            </a:r>
            <a:r>
              <a:rPr lang="en-GB" sz="2400" dirty="0">
                <a:latin typeface="Comic Sans MS" panose="030F0702030302020204" pitchFamily="66" charset="0"/>
              </a:rPr>
              <a:t>—work together under </a:t>
            </a:r>
            <a:r>
              <a:rPr lang="en-GB" sz="2400" b="1" dirty="0">
                <a:latin typeface="Comic Sans MS" panose="030F0702030302020204" pitchFamily="66" charset="0"/>
              </a:rPr>
              <a:t>control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Software</a:t>
            </a:r>
            <a:r>
              <a:rPr lang="en-GB" sz="2400" dirty="0">
                <a:latin typeface="Comic Sans MS" panose="030F0702030302020204" pitchFamily="66" charset="0"/>
              </a:rPr>
              <a:t> directs </a:t>
            </a:r>
            <a:r>
              <a:rPr lang="en-GB" sz="2400" b="1" dirty="0">
                <a:latin typeface="Comic Sans MS" panose="030F0702030302020204" pitchFamily="66" charset="0"/>
              </a:rPr>
              <a:t>hardware</a:t>
            </a:r>
            <a:r>
              <a:rPr lang="en-GB" sz="2400" dirty="0">
                <a:latin typeface="Comic Sans MS" panose="030F0702030302020204" pitchFamily="66" charset="0"/>
              </a:rPr>
              <a:t>; </a:t>
            </a:r>
            <a:r>
              <a:rPr lang="en-GB" sz="2400" b="1" dirty="0">
                <a:latin typeface="Comic Sans MS" panose="030F0702030302020204" pitchFamily="66" charset="0"/>
              </a:rPr>
              <a:t>GPU</a:t>
            </a:r>
            <a:r>
              <a:rPr lang="en-GB" sz="2400" dirty="0">
                <a:latin typeface="Comic Sans MS" panose="030F0702030302020204" pitchFamily="66" charset="0"/>
              </a:rPr>
              <a:t> complements </a:t>
            </a:r>
            <a:r>
              <a:rPr lang="en-GB" sz="2400" b="1" dirty="0">
                <a:latin typeface="Comic Sans MS" panose="030F0702030302020204" pitchFamily="66" charset="0"/>
              </a:rPr>
              <a:t>CPU</a:t>
            </a:r>
            <a:r>
              <a:rPr lang="en-GB" sz="2400" dirty="0">
                <a:latin typeface="Comic Sans MS" panose="030F0702030302020204" pitchFamily="66" charset="0"/>
              </a:rPr>
              <a:t> for parallel graphics.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64-bit</a:t>
            </a:r>
            <a:r>
              <a:rPr lang="en-GB" sz="2400" dirty="0">
                <a:latin typeface="Comic Sans MS" panose="030F0702030302020204" pitchFamily="66" charset="0"/>
              </a:rPr>
              <a:t> architectures deliver </a:t>
            </a:r>
            <a:r>
              <a:rPr lang="en-GB" sz="2400" b="1" dirty="0">
                <a:latin typeface="Comic Sans MS" panose="030F0702030302020204" pitchFamily="66" charset="0"/>
              </a:rPr>
              <a:t>larger address spaces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higher throughput</a:t>
            </a:r>
            <a:r>
              <a:rPr lang="en-GB" sz="2400" dirty="0">
                <a:latin typeface="Comic Sans MS" panose="030F0702030302020204" pitchFamily="66" charset="0"/>
              </a:rPr>
              <a:t> </a:t>
            </a:r>
            <a:r>
              <a:rPr lang="en-GB" sz="2400">
                <a:latin typeface="Comic Sans MS" panose="030F0702030302020204" pitchFamily="66" charset="0"/>
              </a:rPr>
              <a:t>vs </a:t>
            </a:r>
            <a:r>
              <a:rPr lang="en-GB" sz="2400" b="1">
                <a:latin typeface="Comic Sans MS" panose="030F0702030302020204" pitchFamily="66" charset="0"/>
              </a:rPr>
              <a:t>32-	bit</a:t>
            </a:r>
            <a:r>
              <a:rPr lang="en-GB" sz="2400">
                <a:latin typeface="Comic Sans MS" panose="030F0702030302020204" pitchFamily="66" charset="0"/>
              </a:rPr>
              <a:t>.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8491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2968</TotalTime>
  <Words>1638</Words>
  <Application>Microsoft Office PowerPoint</Application>
  <PresentationFormat>Custom</PresentationFormat>
  <Paragraphs>234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228</cp:revision>
  <dcterms:created xsi:type="dcterms:W3CDTF">2025-12-09T17:44:59Z</dcterms:created>
  <dcterms:modified xsi:type="dcterms:W3CDTF">2026-01-16T17:41:30Z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