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448" r:id="rId2"/>
    <p:sldId id="257" r:id="rId3"/>
    <p:sldId id="333" r:id="rId4"/>
    <p:sldId id="429" r:id="rId5"/>
    <p:sldId id="430" r:id="rId6"/>
    <p:sldId id="390" r:id="rId7"/>
    <p:sldId id="391" r:id="rId8"/>
    <p:sldId id="431" r:id="rId9"/>
    <p:sldId id="392" r:id="rId10"/>
    <p:sldId id="395" r:id="rId11"/>
    <p:sldId id="393" r:id="rId12"/>
    <p:sldId id="396" r:id="rId13"/>
    <p:sldId id="394" r:id="rId14"/>
    <p:sldId id="397" r:id="rId15"/>
    <p:sldId id="432" r:id="rId16"/>
    <p:sldId id="398" r:id="rId17"/>
    <p:sldId id="399" r:id="rId18"/>
    <p:sldId id="400" r:id="rId19"/>
    <p:sldId id="401" r:id="rId20"/>
    <p:sldId id="402" r:id="rId21"/>
    <p:sldId id="433" r:id="rId22"/>
    <p:sldId id="404" r:id="rId23"/>
    <p:sldId id="405" r:id="rId24"/>
    <p:sldId id="406" r:id="rId25"/>
    <p:sldId id="407" r:id="rId26"/>
    <p:sldId id="408" r:id="rId27"/>
    <p:sldId id="434" r:id="rId28"/>
    <p:sldId id="409" r:id="rId29"/>
    <p:sldId id="410" r:id="rId30"/>
    <p:sldId id="411" r:id="rId31"/>
    <p:sldId id="412" r:id="rId32"/>
    <p:sldId id="413" r:id="rId33"/>
    <p:sldId id="313" r:id="rId34"/>
    <p:sldId id="355" r:id="rId35"/>
    <p:sldId id="435" r:id="rId36"/>
    <p:sldId id="415" r:id="rId37"/>
    <p:sldId id="416" r:id="rId38"/>
    <p:sldId id="417" r:id="rId39"/>
    <p:sldId id="418" r:id="rId40"/>
    <p:sldId id="419" r:id="rId41"/>
    <p:sldId id="356" r:id="rId42"/>
    <p:sldId id="436" r:id="rId43"/>
    <p:sldId id="420" r:id="rId44"/>
    <p:sldId id="421" r:id="rId45"/>
    <p:sldId id="422" r:id="rId46"/>
    <p:sldId id="280" r:id="rId47"/>
    <p:sldId id="358" r:id="rId48"/>
    <p:sldId id="423" r:id="rId49"/>
    <p:sldId id="424" r:id="rId50"/>
    <p:sldId id="414" r:id="rId51"/>
    <p:sldId id="426" r:id="rId52"/>
    <p:sldId id="427" r:id="rId53"/>
    <p:sldId id="428" r:id="rId54"/>
    <p:sldId id="348" r:id="rId55"/>
    <p:sldId id="349" r:id="rId56"/>
    <p:sldId id="437" r:id="rId57"/>
    <p:sldId id="439" r:id="rId58"/>
    <p:sldId id="440" r:id="rId59"/>
    <p:sldId id="441" r:id="rId60"/>
    <p:sldId id="442" r:id="rId61"/>
    <p:sldId id="443" r:id="rId62"/>
    <p:sldId id="444" r:id="rId63"/>
    <p:sldId id="445" r:id="rId64"/>
    <p:sldId id="446" r:id="rId65"/>
    <p:sldId id="447" r:id="rId66"/>
    <p:sldId id="438" r:id="rId67"/>
    <p:sldId id="425" r:id="rId68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929"/>
    <a:srgbClr val="FFFFFF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15" y="438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4BD18700-0DDF-1B3F-E7EA-DA4C8D0308F5}"/>
              </a:ext>
            </a:extLst>
          </p:cNvPr>
          <p:cNvSpPr txBox="1"/>
          <p:nvPr/>
        </p:nvSpPr>
        <p:spPr>
          <a:xfrm>
            <a:off x="0" y="3338091"/>
            <a:ext cx="13411198" cy="1910779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</a:p>
        </p:txBody>
      </p:sp>
    </p:spTree>
    <p:extLst>
      <p:ext uri="{BB962C8B-B14F-4D97-AF65-F5344CB8AC3E}">
        <p14:creationId xmlns:p14="http://schemas.microsoft.com/office/powerpoint/2010/main" val="699401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Binary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397243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Understanding the Binary System in Computers</a:t>
            </a:r>
          </a:p>
          <a:p>
            <a:br>
              <a:rPr lang="en-GB" sz="40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Computers are electronic devices that work entirely using electricity — signals that are either </a:t>
            </a:r>
            <a:r>
              <a:rPr lang="en-GB" sz="2400" b="1" dirty="0">
                <a:latin typeface="Comic Sans MS" panose="030F0702030302020204" pitchFamily="66" charset="0"/>
              </a:rPr>
              <a:t>ON</a:t>
            </a:r>
            <a:r>
              <a:rPr lang="en-GB" sz="2400" dirty="0">
                <a:latin typeface="Comic Sans MS" panose="030F0702030302020204" pitchFamily="66" charset="0"/>
              </a:rPr>
              <a:t> or </a:t>
            </a:r>
            <a:r>
              <a:rPr lang="en-GB" sz="2400" b="1" dirty="0">
                <a:latin typeface="Comic Sans MS" panose="030F0702030302020204" pitchFamily="66" charset="0"/>
              </a:rPr>
              <a:t>OFF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Because of this, they can only understand two states: </a:t>
            </a:r>
            <a:r>
              <a:rPr lang="en-GB" sz="2400" b="1" dirty="0">
                <a:latin typeface="Comic Sans MS" panose="030F0702030302020204" pitchFamily="66" charset="0"/>
              </a:rPr>
              <a:t>1 (ON)</a:t>
            </a:r>
            <a:r>
              <a:rPr lang="en-GB" sz="2400" dirty="0">
                <a:latin typeface="Comic Sans MS" panose="030F0702030302020204" pitchFamily="66" charset="0"/>
              </a:rPr>
              <a:t> and </a:t>
            </a:r>
            <a:r>
              <a:rPr lang="en-GB" sz="2400" b="1" dirty="0">
                <a:latin typeface="Comic Sans MS" panose="030F0702030302020204" pitchFamily="66" charset="0"/>
              </a:rPr>
              <a:t>0 (OFF)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This fundamental concept is the basis of everything a computer does — numbers, letters, images, and sounds are all represented in binary form.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Understanding the binary system is the first step toward mastering computer logic and programming.</a:t>
            </a:r>
          </a:p>
        </p:txBody>
      </p:sp>
    </p:spTree>
    <p:extLst>
      <p:ext uri="{BB962C8B-B14F-4D97-AF65-F5344CB8AC3E}">
        <p14:creationId xmlns:p14="http://schemas.microsoft.com/office/powerpoint/2010/main" val="4046665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D4ACECE-324C-7BED-23E8-E39193138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C13B6F73-CA80-FF78-505A-971DCD9B0887}"/>
              </a:ext>
            </a:extLst>
          </p:cNvPr>
          <p:cNvSpPr txBox="1"/>
          <p:nvPr/>
        </p:nvSpPr>
        <p:spPr>
          <a:xfrm>
            <a:off x="381000" y="888075"/>
            <a:ext cx="12352767" cy="631153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dirty="0" err="1">
                <a:latin typeface="Comic Sans MS" panose="030F0702030302020204" pitchFamily="66" charset="0"/>
                <a:cs typeface="Comic Sans MS"/>
              </a:rPr>
              <a:t>How</a:t>
            </a:r>
            <a:r>
              <a:rPr lang="sv-SE" sz="4000" b="1" spc="3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sv-SE" sz="4000" b="1" dirty="0">
                <a:latin typeface="Comic Sans MS" panose="030F0702030302020204" pitchFamily="66" charset="0"/>
                <a:cs typeface="Comic Sans MS"/>
              </a:rPr>
              <a:t>Computer</a:t>
            </a:r>
            <a:r>
              <a:rPr lang="sv-SE" sz="4000" b="1" spc="1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sv-SE" sz="4000" b="1" spc="-10" dirty="0">
                <a:latin typeface="Comic Sans MS" panose="030F0702030302020204" pitchFamily="66" charset="0"/>
                <a:cs typeface="Comic Sans MS"/>
              </a:rPr>
              <a:t>Works?</a:t>
            </a:r>
            <a:endParaRPr lang="sv-SE" sz="4000" b="1" dirty="0">
              <a:latin typeface="Comic Sans MS" panose="030F0702030302020204" pitchFamily="66" charset="0"/>
              <a:cs typeface="Comic Sans MS"/>
            </a:endParaRPr>
          </a:p>
          <a:p>
            <a:endParaRPr lang="sv-SE" sz="2400" dirty="0">
              <a:latin typeface="Comic Sans MS" panose="030F0702030302020204" pitchFamily="66" charset="0"/>
            </a:endParaRPr>
          </a:p>
          <a:p>
            <a:r>
              <a:rPr lang="en-SE" sz="2400" dirty="0">
                <a:latin typeface="Comic Sans MS" panose="030F0702030302020204" pitchFamily="66" charset="0"/>
              </a:rPr>
              <a:t>🟨 </a:t>
            </a:r>
            <a:r>
              <a:rPr lang="en-GB" sz="2400" dirty="0">
                <a:latin typeface="Comic Sans MS" panose="030F0702030302020204" pitchFamily="66" charset="0"/>
              </a:rPr>
              <a:t>A </a:t>
            </a:r>
            <a:r>
              <a:rPr lang="en-GB" sz="2400" b="1" dirty="0">
                <a:latin typeface="Comic Sans MS" panose="030F0702030302020204" pitchFamily="66" charset="0"/>
              </a:rPr>
              <a:t>computer</a:t>
            </a:r>
            <a:r>
              <a:rPr lang="en-GB" sz="2400" dirty="0">
                <a:latin typeface="Comic Sans MS" panose="030F0702030302020204" pitchFamily="66" charset="0"/>
              </a:rPr>
              <a:t> processes information using </a:t>
            </a:r>
            <a:r>
              <a:rPr lang="en-GB" sz="2400" b="1" dirty="0">
                <a:latin typeface="Comic Sans MS" panose="030F0702030302020204" pitchFamily="66" charset="0"/>
              </a:rPr>
              <a:t>electrical signals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🟨 </a:t>
            </a:r>
            <a:r>
              <a:rPr lang="en-GB" sz="2400" dirty="0">
                <a:latin typeface="Comic Sans MS" panose="030F0702030302020204" pitchFamily="66" charset="0"/>
              </a:rPr>
              <a:t>It understands only </a:t>
            </a:r>
            <a:r>
              <a:rPr lang="en-GB" sz="2400" b="1" dirty="0">
                <a:latin typeface="Comic Sans MS" panose="030F0702030302020204" pitchFamily="66" charset="0"/>
              </a:rPr>
              <a:t>0s</a:t>
            </a:r>
            <a:r>
              <a:rPr lang="en-GB" sz="2400" dirty="0">
                <a:latin typeface="Comic Sans MS" panose="030F0702030302020204" pitchFamily="66" charset="0"/>
              </a:rPr>
              <a:t> and </a:t>
            </a:r>
            <a:r>
              <a:rPr lang="en-GB" sz="2400" b="1" dirty="0">
                <a:latin typeface="Comic Sans MS" panose="030F0702030302020204" pitchFamily="66" charset="0"/>
              </a:rPr>
              <a:t>1s</a:t>
            </a:r>
            <a:r>
              <a:rPr lang="en-GB" sz="2400" dirty="0">
                <a:latin typeface="Comic Sans MS" panose="030F0702030302020204" pitchFamily="66" charset="0"/>
              </a:rPr>
              <a:t> (binary digits).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🟨 </a:t>
            </a:r>
            <a:r>
              <a:rPr lang="en-GB" sz="2400" dirty="0">
                <a:latin typeface="Comic Sans MS" panose="030F0702030302020204" pitchFamily="66" charset="0"/>
              </a:rPr>
              <a:t>These digits represent </a:t>
            </a:r>
            <a:r>
              <a:rPr lang="en-GB" sz="2400" b="1" dirty="0">
                <a:latin typeface="Comic Sans MS" panose="030F0702030302020204" pitchFamily="66" charset="0"/>
              </a:rPr>
              <a:t>electrical states</a:t>
            </a:r>
            <a:r>
              <a:rPr lang="en-GB" sz="2400" dirty="0">
                <a:latin typeface="Comic Sans MS" panose="030F0702030302020204" pitchFamily="66" charset="0"/>
              </a:rPr>
              <a:t> — </a:t>
            </a:r>
            <a:r>
              <a:rPr lang="en-GB" sz="2400" b="1" dirty="0">
                <a:latin typeface="Comic Sans MS" panose="030F0702030302020204" pitchFamily="66" charset="0"/>
              </a:rPr>
              <a:t>Off (0)</a:t>
            </a:r>
            <a:r>
              <a:rPr lang="en-GB" sz="2400" dirty="0">
                <a:latin typeface="Comic Sans MS" panose="030F0702030302020204" pitchFamily="66" charset="0"/>
              </a:rPr>
              <a:t> or </a:t>
            </a:r>
            <a:r>
              <a:rPr lang="en-GB" sz="2400" b="1" dirty="0">
                <a:latin typeface="Comic Sans MS" panose="030F0702030302020204" pitchFamily="66" charset="0"/>
              </a:rPr>
              <a:t>On (1)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🟨 </a:t>
            </a:r>
            <a:r>
              <a:rPr lang="en-GB" sz="2400" dirty="0">
                <a:latin typeface="Comic Sans MS" panose="030F0702030302020204" pitchFamily="66" charset="0"/>
              </a:rPr>
              <a:t>Billions of these tiny electrical switches called </a:t>
            </a:r>
            <a:r>
              <a:rPr lang="en-GB" sz="2400" b="1" dirty="0">
                <a:latin typeface="Comic Sans MS" panose="030F0702030302020204" pitchFamily="66" charset="0"/>
              </a:rPr>
              <a:t>transistors</a:t>
            </a:r>
            <a:r>
              <a:rPr lang="en-GB" sz="2400" dirty="0">
                <a:latin typeface="Comic Sans MS" panose="030F0702030302020204" pitchFamily="66" charset="0"/>
              </a:rPr>
              <a:t> form the </a:t>
            </a:r>
            <a:r>
              <a:rPr lang="en-GB" sz="2400" b="1" dirty="0">
                <a:latin typeface="Comic Sans MS" panose="030F0702030302020204" pitchFamily="66" charset="0"/>
              </a:rPr>
              <a:t>CPU</a:t>
            </a:r>
            <a:r>
              <a:rPr lang="en-GB" sz="2400" dirty="0">
                <a:latin typeface="Comic Sans MS" panose="030F0702030302020204" pitchFamily="66" charset="0"/>
              </a:rPr>
              <a:t> and 	handle all computations.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🟨 </a:t>
            </a:r>
            <a:r>
              <a:rPr lang="en-GB" sz="2400" dirty="0">
                <a:latin typeface="Comic Sans MS" panose="030F0702030302020204" pitchFamily="66" charset="0"/>
              </a:rPr>
              <a:t>Inside the </a:t>
            </a:r>
            <a:r>
              <a:rPr lang="en-GB" sz="2400" b="1" dirty="0">
                <a:latin typeface="Comic Sans MS" panose="030F0702030302020204" pitchFamily="66" charset="0"/>
              </a:rPr>
              <a:t>CPU (Central Processing Unit)</a:t>
            </a:r>
            <a:r>
              <a:rPr lang="en-GB" sz="2400" dirty="0">
                <a:latin typeface="Comic Sans MS" panose="030F0702030302020204" pitchFamily="66" charset="0"/>
              </a:rPr>
              <a:t>, there are </a:t>
            </a:r>
            <a:r>
              <a:rPr lang="en-GB" sz="2400" b="1" dirty="0">
                <a:latin typeface="Comic Sans MS" panose="030F0702030302020204" pitchFamily="66" charset="0"/>
              </a:rPr>
              <a:t>hundreds of millions — or 	even billions — of transistors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🟨 </a:t>
            </a:r>
            <a:r>
              <a:rPr lang="en-GB" sz="2400" dirty="0">
                <a:latin typeface="Comic Sans MS" panose="030F0702030302020204" pitchFamily="66" charset="0"/>
              </a:rPr>
              <a:t>A </a:t>
            </a:r>
            <a:r>
              <a:rPr lang="en-GB" sz="2400" b="1" dirty="0">
                <a:latin typeface="Comic Sans MS" panose="030F0702030302020204" pitchFamily="66" charset="0"/>
              </a:rPr>
              <a:t>transistor</a:t>
            </a:r>
            <a:r>
              <a:rPr lang="en-GB" sz="2400" dirty="0">
                <a:latin typeface="Comic Sans MS" panose="030F0702030302020204" pitchFamily="66" charset="0"/>
              </a:rPr>
              <a:t> is a microscopic </a:t>
            </a:r>
            <a:r>
              <a:rPr lang="en-GB" sz="2400" b="1" dirty="0">
                <a:latin typeface="Comic Sans MS" panose="030F0702030302020204" pitchFamily="66" charset="0"/>
              </a:rPr>
              <a:t>binary switch</a:t>
            </a:r>
            <a:r>
              <a:rPr lang="en-GB" sz="2400" dirty="0">
                <a:latin typeface="Comic Sans MS" panose="030F0702030302020204" pitchFamily="66" charset="0"/>
              </a:rPr>
              <a:t> that either </a:t>
            </a:r>
            <a:r>
              <a:rPr lang="en-GB" sz="2400" b="1" dirty="0">
                <a:latin typeface="Comic Sans MS" panose="030F0702030302020204" pitchFamily="66" charset="0"/>
              </a:rPr>
              <a:t>allows</a:t>
            </a:r>
            <a:r>
              <a:rPr lang="en-GB" sz="2400" dirty="0">
                <a:latin typeface="Comic Sans MS" panose="030F0702030302020204" pitchFamily="66" charset="0"/>
              </a:rPr>
              <a:t> or </a:t>
            </a:r>
            <a:r>
              <a:rPr lang="en-GB" sz="2400" b="1" dirty="0">
                <a:latin typeface="Comic Sans MS" panose="030F0702030302020204" pitchFamily="66" charset="0"/>
              </a:rPr>
              <a:t>blocks</a:t>
            </a:r>
            <a:r>
              <a:rPr lang="en-GB" sz="2400" dirty="0">
                <a:latin typeface="Comic Sans MS" panose="030F0702030302020204" pitchFamily="66" charset="0"/>
              </a:rPr>
              <a:t> the flow of 	electricity.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🟨 </a:t>
            </a:r>
            <a:r>
              <a:rPr lang="en-GB" sz="2400" dirty="0">
                <a:latin typeface="Comic Sans MS" panose="030F0702030302020204" pitchFamily="66" charset="0"/>
              </a:rPr>
              <a:t>Every calculation, text, sound, or image you see on your screen is made possible by 	these transistors </a:t>
            </a:r>
            <a:r>
              <a:rPr lang="en-GB" sz="2400" b="1" dirty="0">
                <a:latin typeface="Comic Sans MS" panose="030F0702030302020204" pitchFamily="66" charset="0"/>
              </a:rPr>
              <a:t>switching ON and OFF billions of times per second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💡 </a:t>
            </a:r>
            <a:r>
              <a:rPr lang="en-GB" sz="2400" b="1" dirty="0">
                <a:latin typeface="Comic Sans MS" panose="030F0702030302020204" pitchFamily="66" charset="0"/>
              </a:rPr>
              <a:t>Example: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When you press a key on your keyboard, your CPU processes the electrical 	signal (a pattern of 0s and 1s) to decide what to display.</a:t>
            </a:r>
          </a:p>
        </p:txBody>
      </p:sp>
    </p:spTree>
    <p:extLst>
      <p:ext uri="{BB962C8B-B14F-4D97-AF65-F5344CB8AC3E}">
        <p14:creationId xmlns:p14="http://schemas.microsoft.com/office/powerpoint/2010/main" val="2996348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48E1032-AFE3-9287-1686-39C0B8ACF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0DBB4A9-BF52-B9ED-80C3-B83380EC11BF}"/>
              </a:ext>
            </a:extLst>
          </p:cNvPr>
          <p:cNvSpPr txBox="1"/>
          <p:nvPr/>
        </p:nvSpPr>
        <p:spPr>
          <a:xfrm>
            <a:off x="381000" y="888075"/>
            <a:ext cx="12352767" cy="396986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dirty="0" err="1">
                <a:latin typeface="Comic Sans MS" panose="030F0702030302020204" pitchFamily="66" charset="0"/>
                <a:cs typeface="Comic Sans MS"/>
              </a:rPr>
              <a:t>How</a:t>
            </a:r>
            <a:r>
              <a:rPr lang="sv-SE" sz="4000" b="1" spc="3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sv-SE" sz="4000" b="1" dirty="0">
                <a:latin typeface="Comic Sans MS" panose="030F0702030302020204" pitchFamily="66" charset="0"/>
                <a:cs typeface="Comic Sans MS"/>
              </a:rPr>
              <a:t>Computer</a:t>
            </a:r>
            <a:r>
              <a:rPr lang="sv-SE" sz="4000" b="1" spc="1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sv-SE" sz="4000" b="1" spc="-10" dirty="0">
                <a:latin typeface="Comic Sans MS" panose="030F0702030302020204" pitchFamily="66" charset="0"/>
                <a:cs typeface="Comic Sans MS"/>
              </a:rPr>
              <a:t>Works?</a:t>
            </a:r>
            <a:endParaRPr lang="sv-SE" sz="4000" b="1" dirty="0">
              <a:latin typeface="Comic Sans MS" panose="030F0702030302020204" pitchFamily="66" charset="0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3329"/>
              </a:spcBef>
              <a:tabLst>
                <a:tab pos="201295" algn="l"/>
              </a:tabLst>
            </a:pPr>
            <a:r>
              <a:rPr lang="en-SE" sz="2400" dirty="0"/>
              <a:t>🟨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Computer is</a:t>
            </a:r>
            <a:r>
              <a:rPr lang="en-GB" sz="2400" spc="-10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an</a:t>
            </a:r>
            <a:r>
              <a:rPr lang="en-GB" sz="2400" spc="-10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electronic</a:t>
            </a:r>
            <a:r>
              <a:rPr lang="en-GB" sz="2400" spc="-2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spc="-10" dirty="0">
                <a:latin typeface="Comic Sans MS" panose="030F0702030302020204" pitchFamily="66" charset="0"/>
                <a:cs typeface="Comic Sans MS"/>
              </a:rPr>
              <a:t>device.</a:t>
            </a:r>
            <a:endParaRPr lang="en-GB" sz="2400" dirty="0">
              <a:latin typeface="Comic Sans MS" panose="030F0702030302020204" pitchFamily="66" charset="0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  <a:tabLst>
                <a:tab pos="201295" algn="l"/>
              </a:tabLst>
            </a:pPr>
            <a:r>
              <a:rPr lang="en-SE" sz="2400" dirty="0"/>
              <a:t>🟨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It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  <a:cs typeface="Comic Sans MS"/>
              </a:rPr>
              <a:t>deals</a:t>
            </a:r>
            <a:r>
              <a:rPr lang="en-GB" sz="2400" u="sng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  <a:cs typeface="Comic Sans MS"/>
              </a:rPr>
              <a:t>with</a:t>
            </a:r>
            <a:r>
              <a:rPr lang="en-GB" sz="2400" u="sng" spc="-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  <a:cs typeface="Comic Sans MS"/>
              </a:rPr>
              <a:t>electricity</a:t>
            </a:r>
            <a:r>
              <a:rPr lang="en-GB" sz="2400" u="sng" spc="-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spc="-10" dirty="0">
                <a:latin typeface="Comic Sans MS" panose="030F0702030302020204" pitchFamily="66" charset="0"/>
                <a:cs typeface="Comic Sans MS"/>
              </a:rPr>
              <a:t>On/Off</a:t>
            </a:r>
            <a:endParaRPr lang="en-GB" sz="2400" dirty="0">
              <a:latin typeface="Comic Sans MS" panose="030F0702030302020204" pitchFamily="66" charset="0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  <a:tabLst>
                <a:tab pos="201295" algn="l"/>
              </a:tabLst>
            </a:pPr>
            <a:r>
              <a:rPr lang="en-SE" sz="2400" dirty="0"/>
              <a:t>🟨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It</a:t>
            </a:r>
            <a:r>
              <a:rPr lang="en-GB" sz="2400" spc="2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only</a:t>
            </a:r>
            <a:r>
              <a:rPr lang="en-GB" sz="2400" spc="-20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understands</a:t>
            </a:r>
            <a:r>
              <a:rPr lang="en-GB" sz="2400" spc="-1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0’s</a:t>
            </a:r>
            <a:r>
              <a:rPr lang="en-GB" sz="2400" spc="-10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(Off)</a:t>
            </a:r>
            <a:r>
              <a:rPr lang="en-GB" sz="2400" spc="-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and</a:t>
            </a:r>
            <a:r>
              <a:rPr lang="en-GB" sz="2400" spc="-10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1’s</a:t>
            </a:r>
            <a:r>
              <a:rPr lang="en-GB" sz="2400" spc="-10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spc="-10" dirty="0">
                <a:latin typeface="Comic Sans MS" panose="030F0702030302020204" pitchFamily="66" charset="0"/>
                <a:cs typeface="Comic Sans MS"/>
              </a:rPr>
              <a:t>(On).</a:t>
            </a:r>
            <a:endParaRPr lang="en-GB" sz="2400" dirty="0">
              <a:latin typeface="Comic Sans MS" panose="030F0702030302020204" pitchFamily="66" charset="0"/>
              <a:cs typeface="Comic Sans MS"/>
            </a:endParaRPr>
          </a:p>
          <a:p>
            <a:pPr marL="12065" marR="5080">
              <a:lnSpc>
                <a:spcPts val="2480"/>
              </a:lnSpc>
              <a:spcBef>
                <a:spcPts val="880"/>
              </a:spcBef>
              <a:tabLst>
                <a:tab pos="201295" algn="l"/>
              </a:tabLst>
            </a:pPr>
            <a:r>
              <a:rPr lang="en-SE" sz="2400" dirty="0"/>
              <a:t>🟨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Everything</a:t>
            </a:r>
            <a:r>
              <a:rPr lang="en-GB" sz="2400" spc="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you</a:t>
            </a:r>
            <a:r>
              <a:rPr lang="en-GB" sz="2400" spc="10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u="sng" dirty="0">
                <a:uFill>
                  <a:solidFill>
                    <a:srgbClr val="000000"/>
                  </a:solidFill>
                </a:uFill>
                <a:latin typeface="Comic Sans MS" panose="030F0702030302020204" pitchFamily="66" charset="0"/>
                <a:cs typeface="Comic Sans MS"/>
              </a:rPr>
              <a:t>see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,</a:t>
            </a:r>
            <a:r>
              <a:rPr lang="en-GB" sz="2400" spc="-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u="sng" dirty="0">
                <a:uFill>
                  <a:solidFill>
                    <a:srgbClr val="000000"/>
                  </a:solidFill>
                </a:uFill>
                <a:latin typeface="Comic Sans MS" panose="030F0702030302020204" pitchFamily="66" charset="0"/>
                <a:cs typeface="Comic Sans MS"/>
              </a:rPr>
              <a:t>hear</a:t>
            </a:r>
            <a:r>
              <a:rPr lang="en-GB" sz="2400" spc="-1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and</a:t>
            </a:r>
            <a:r>
              <a:rPr lang="en-GB" sz="2400" spc="-10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u="sng" dirty="0">
                <a:uFill>
                  <a:solidFill>
                    <a:srgbClr val="000000"/>
                  </a:solidFill>
                </a:uFill>
                <a:latin typeface="Comic Sans MS" panose="030F0702030302020204" pitchFamily="66" charset="0"/>
                <a:cs typeface="Comic Sans MS"/>
              </a:rPr>
              <a:t>read</a:t>
            </a:r>
            <a:r>
              <a:rPr lang="en-GB" sz="2400" spc="-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on</a:t>
            </a:r>
            <a:r>
              <a:rPr lang="en-GB" sz="2400" spc="2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the</a:t>
            </a:r>
            <a:r>
              <a:rPr lang="en-GB" sz="2400" spc="1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screen</a:t>
            </a:r>
            <a:r>
              <a:rPr lang="en-GB" sz="2400" spc="-2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reaches</a:t>
            </a:r>
            <a:r>
              <a:rPr lang="en-GB" sz="2400" spc="-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spc="-25" dirty="0">
                <a:latin typeface="Comic Sans MS" panose="030F0702030302020204" pitchFamily="66" charset="0"/>
                <a:cs typeface="Comic Sans MS"/>
              </a:rPr>
              <a:t>you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as the result</a:t>
            </a:r>
            <a:r>
              <a:rPr lang="en-GB" sz="2400" spc="-30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of “on”</a:t>
            </a:r>
            <a:r>
              <a:rPr lang="en-GB" sz="2400" spc="-15" dirty="0">
                <a:latin typeface="Comic Sans MS" panose="030F0702030302020204" pitchFamily="66" charset="0"/>
                <a:cs typeface="Comic Sans MS"/>
              </a:rPr>
              <a:t> 		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or</a:t>
            </a:r>
            <a:r>
              <a:rPr lang="en-GB" sz="2400" spc="20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“off”</a:t>
            </a:r>
            <a:r>
              <a:rPr lang="en-GB" sz="2400" spc="-1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billions of </a:t>
            </a:r>
            <a:r>
              <a:rPr lang="en-GB" sz="2400" spc="-10" dirty="0">
                <a:latin typeface="Comic Sans MS" panose="030F0702030302020204" pitchFamily="66" charset="0"/>
                <a:cs typeface="Comic Sans MS"/>
              </a:rPr>
              <a:t>times.</a:t>
            </a:r>
            <a:endParaRPr lang="en-GB" sz="2400" dirty="0">
              <a:latin typeface="Comic Sans MS" panose="030F0702030302020204" pitchFamily="66" charset="0"/>
              <a:cs typeface="Comic Sans MS"/>
            </a:endParaRPr>
          </a:p>
          <a:p>
            <a:pPr marL="12065" marR="1101725">
              <a:lnSpc>
                <a:spcPts val="2500"/>
              </a:lnSpc>
              <a:spcBef>
                <a:spcPts val="830"/>
              </a:spcBef>
              <a:tabLst>
                <a:tab pos="201295" algn="l"/>
              </a:tabLst>
            </a:pPr>
            <a:r>
              <a:rPr lang="en-SE" sz="2400" dirty="0"/>
              <a:t>🟨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Computer</a:t>
            </a:r>
            <a:r>
              <a:rPr lang="en-GB" sz="2400" spc="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uses</a:t>
            </a:r>
            <a:r>
              <a:rPr lang="en-GB" sz="2400" spc="-20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  <a:cs typeface="Comic Sans MS"/>
              </a:rPr>
              <a:t>Binary</a:t>
            </a:r>
            <a:r>
              <a:rPr lang="en-GB" sz="2400" u="sng" spc="-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  <a:cs typeface="Comic Sans MS"/>
              </a:rPr>
              <a:t>System</a:t>
            </a:r>
            <a:r>
              <a:rPr lang="en-GB" sz="2400" u="sng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to</a:t>
            </a:r>
            <a:r>
              <a:rPr lang="en-GB" sz="2400" spc="20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represent</a:t>
            </a:r>
            <a:r>
              <a:rPr lang="en-GB" sz="2400" spc="-1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spc="-10" dirty="0">
                <a:latin typeface="Comic Sans MS" panose="030F0702030302020204" pitchFamily="66" charset="0"/>
                <a:cs typeface="Comic Sans MS"/>
              </a:rPr>
              <a:t>numbers,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letters,</a:t>
            </a:r>
            <a:r>
              <a:rPr lang="en-GB" sz="2400" spc="-30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commands,</a:t>
            </a:r>
            <a:r>
              <a:rPr lang="en-GB" sz="2400" spc="-5" dirty="0">
                <a:latin typeface="Comic Sans MS" panose="030F0702030302020204" pitchFamily="66" charset="0"/>
                <a:cs typeface="Comic Sans MS"/>
              </a:rPr>
              <a:t> 			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images and</a:t>
            </a:r>
            <a:r>
              <a:rPr lang="en-GB" sz="2400" spc="-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spc="-10" dirty="0">
                <a:latin typeface="Comic Sans MS" panose="030F0702030302020204" pitchFamily="66" charset="0"/>
                <a:cs typeface="Comic Sans MS"/>
              </a:rPr>
              <a:t>sounds.</a:t>
            </a:r>
            <a:endParaRPr lang="en-GB" sz="2400" dirty="0">
              <a:latin typeface="Comic Sans MS" panose="030F0702030302020204" pitchFamily="66" charset="0"/>
              <a:cs typeface="Comic Sans MS"/>
            </a:endParaRPr>
          </a:p>
        </p:txBody>
      </p:sp>
      <p:pic>
        <p:nvPicPr>
          <p:cNvPr id="4" name="Picture 3" descr="A hand holding a computer chip&#10;&#10;AI-generated content may be incorrect.">
            <a:extLst>
              <a:ext uri="{FF2B5EF4-FFF2-40B4-BE49-F238E27FC236}">
                <a16:creationId xmlns:a16="http://schemas.microsoft.com/office/drawing/2014/main" id="{4D1D25A3-D4F4-265E-AAB5-781DBED24E5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5400" y="894559"/>
            <a:ext cx="3355603" cy="1978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38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4CD78B5-29E7-0D11-5018-D92807612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CBCE7C08-BB39-2036-3E52-5A3F85BE4BCF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E7D2DAA9-83A3-C176-45F2-7F811183B1B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E96370A-1203-5C9B-8B28-6849D8399F89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4F04998E-3658-1BB0-DBFF-B05D66912977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140AE7CE-88B5-4FA9-1013-C682262A030D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Binary System</a:t>
            </a:r>
          </a:p>
        </p:txBody>
      </p:sp>
    </p:spTree>
    <p:extLst>
      <p:ext uri="{BB962C8B-B14F-4D97-AF65-F5344CB8AC3E}">
        <p14:creationId xmlns:p14="http://schemas.microsoft.com/office/powerpoint/2010/main" val="3456207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7DE3560-E6BC-5792-33C2-CD5B77111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DD01162-A33F-26AB-84DF-0F1279536B56}"/>
              </a:ext>
            </a:extLst>
          </p:cNvPr>
          <p:cNvSpPr txBox="1"/>
          <p:nvPr/>
        </p:nvSpPr>
        <p:spPr>
          <a:xfrm>
            <a:off x="381000" y="888075"/>
            <a:ext cx="12352767" cy="224888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The Binary System</a:t>
            </a:r>
            <a:endParaRPr lang="en-GB" sz="4000" dirty="0">
              <a:latin typeface="Comic Sans MS" panose="030F0702030302020204" pitchFamily="66" charset="0"/>
            </a:endParaRP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SE" sz="2400" dirty="0"/>
              <a:t>🟨 </a:t>
            </a:r>
            <a:r>
              <a:rPr lang="en-GB" sz="2400" dirty="0">
                <a:latin typeface="Comic Sans MS" panose="030F0702030302020204" pitchFamily="66" charset="0"/>
              </a:rPr>
              <a:t>The </a:t>
            </a:r>
            <a:r>
              <a:rPr lang="en-GB" sz="2400" b="1" dirty="0">
                <a:latin typeface="Comic Sans MS" panose="030F0702030302020204" pitchFamily="66" charset="0"/>
              </a:rPr>
              <a:t>binary system</a:t>
            </a:r>
            <a:r>
              <a:rPr lang="en-GB" sz="2400" dirty="0">
                <a:latin typeface="Comic Sans MS" panose="030F0702030302020204" pitchFamily="66" charset="0"/>
              </a:rPr>
              <a:t> is a </a:t>
            </a:r>
            <a:r>
              <a:rPr lang="en-GB" sz="2400" b="1" dirty="0">
                <a:latin typeface="Comic Sans MS" panose="030F0702030302020204" pitchFamily="66" charset="0"/>
              </a:rPr>
              <a:t>base-2</a:t>
            </a:r>
            <a:r>
              <a:rPr lang="en-GB" sz="2400" dirty="0">
                <a:latin typeface="Comic Sans MS" panose="030F0702030302020204" pitchFamily="66" charset="0"/>
              </a:rPr>
              <a:t> numbering system.</a:t>
            </a:r>
          </a:p>
          <a:p>
            <a:r>
              <a:rPr lang="en-SE" sz="2400" dirty="0"/>
              <a:t>🟨 </a:t>
            </a:r>
            <a:r>
              <a:rPr lang="en-GB" sz="2400" dirty="0">
                <a:latin typeface="Comic Sans MS" panose="030F0702030302020204" pitchFamily="66" charset="0"/>
              </a:rPr>
              <a:t>It uses only </a:t>
            </a:r>
            <a:r>
              <a:rPr lang="en-GB" sz="2400" b="1" dirty="0">
                <a:latin typeface="Comic Sans MS" panose="030F0702030302020204" pitchFamily="66" charset="0"/>
              </a:rPr>
              <a:t>two digits</a:t>
            </a:r>
            <a:r>
              <a:rPr lang="en-GB" sz="2400" dirty="0">
                <a:latin typeface="Comic Sans MS" panose="030F0702030302020204" pitchFamily="66" charset="0"/>
              </a:rPr>
              <a:t>: </a:t>
            </a:r>
            <a:r>
              <a:rPr lang="en-GB" sz="2400" b="1" dirty="0">
                <a:latin typeface="Comic Sans MS" panose="030F0702030302020204" pitchFamily="66" charset="0"/>
              </a:rPr>
              <a:t>0</a:t>
            </a:r>
            <a:r>
              <a:rPr lang="en-GB" sz="2400" dirty="0">
                <a:latin typeface="Comic Sans MS" panose="030F0702030302020204" pitchFamily="66" charset="0"/>
              </a:rPr>
              <a:t> and </a:t>
            </a:r>
            <a:r>
              <a:rPr lang="en-GB" sz="2400" b="1" dirty="0">
                <a:latin typeface="Comic Sans MS" panose="030F0702030302020204" pitchFamily="66" charset="0"/>
              </a:rPr>
              <a:t>1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SE" sz="2400" dirty="0"/>
              <a:t>🟨 </a:t>
            </a:r>
            <a:r>
              <a:rPr lang="en-GB" sz="2400" dirty="0">
                <a:latin typeface="Comic Sans MS" panose="030F0702030302020204" pitchFamily="66" charset="0"/>
              </a:rPr>
              <a:t>Every binary position represents a </a:t>
            </a:r>
            <a:r>
              <a:rPr lang="en-GB" sz="2400" b="1" dirty="0">
                <a:latin typeface="Comic Sans MS" panose="030F0702030302020204" pitchFamily="66" charset="0"/>
              </a:rPr>
              <a:t>power of 2</a:t>
            </a:r>
            <a:r>
              <a:rPr lang="en-GB" sz="2400" dirty="0">
                <a:latin typeface="Comic Sans MS" panose="030F0702030302020204" pitchFamily="66" charset="0"/>
              </a:rPr>
              <a:t> (1, 2, 4, 8, 16, 32, 64, 128 …).</a:t>
            </a:r>
          </a:p>
        </p:txBody>
      </p:sp>
    </p:spTree>
    <p:extLst>
      <p:ext uri="{BB962C8B-B14F-4D97-AF65-F5344CB8AC3E}">
        <p14:creationId xmlns:p14="http://schemas.microsoft.com/office/powerpoint/2010/main" val="543491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E18D238-07D6-16B0-957E-C70EA9E87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0BF20EF2-10DD-4DBC-6EDC-532EE42B51E1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dirty="0">
                <a:latin typeface="Comic Sans MS" panose="030F0702030302020204" pitchFamily="66" charset="0"/>
              </a:rPr>
              <a:t>Decimal vs</a:t>
            </a:r>
            <a:r>
              <a:rPr lang="sv-SE" sz="4000" b="1" spc="-10" dirty="0">
                <a:latin typeface="Comic Sans MS" panose="030F0702030302020204" pitchFamily="66" charset="0"/>
              </a:rPr>
              <a:t> </a:t>
            </a:r>
            <a:r>
              <a:rPr lang="sv-SE" sz="4000" b="1" spc="-10" dirty="0" err="1">
                <a:latin typeface="Comic Sans MS" panose="030F0702030302020204" pitchFamily="66" charset="0"/>
              </a:rPr>
              <a:t>Binary</a:t>
            </a:r>
            <a:r>
              <a:rPr lang="sv-SE" sz="4000" b="1" spc="-10" dirty="0">
                <a:latin typeface="Comic Sans MS" panose="030F0702030302020204" pitchFamily="66" charset="0"/>
              </a:rPr>
              <a:t>?</a:t>
            </a:r>
            <a:endParaRPr lang="en-GB" sz="2400" b="1" dirty="0">
              <a:latin typeface="Comic Sans MS" panose="030F0702030302020204" pitchFamily="66" charset="0"/>
              <a:cs typeface="Comic Sans MS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41CED5D-18A9-0409-834C-78799DCC36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" y="2839952"/>
            <a:ext cx="11201399" cy="4378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95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703BD65-47DB-72B6-E216-47CB3B29C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6A4C9874-FD57-FC3F-4821-462A995AC570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D9DFB3CA-C96A-E988-DB5C-BE851242E20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BA80191-AEAC-C1E1-1C06-927F9293B326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FBD05E7A-C5C4-CF98-1FF5-CC6E33AB22F3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188D959A-DD9C-9A70-0BBA-AEF826CB716A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What is bit?</a:t>
            </a:r>
          </a:p>
        </p:txBody>
      </p:sp>
    </p:spTree>
    <p:extLst>
      <p:ext uri="{BB962C8B-B14F-4D97-AF65-F5344CB8AC3E}">
        <p14:creationId xmlns:p14="http://schemas.microsoft.com/office/powerpoint/2010/main" val="3873552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83F0689-425F-5DB6-3BFF-D484A700E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E6A2960-5BA7-07FC-5115-75150196FC97}"/>
              </a:ext>
            </a:extLst>
          </p:cNvPr>
          <p:cNvSpPr txBox="1"/>
          <p:nvPr/>
        </p:nvSpPr>
        <p:spPr>
          <a:xfrm>
            <a:off x="381000" y="888075"/>
            <a:ext cx="12352767" cy="18795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dirty="0" err="1">
                <a:latin typeface="Comic Sans MS" panose="030F0702030302020204" pitchFamily="66" charset="0"/>
              </a:rPr>
              <a:t>What</a:t>
            </a:r>
            <a:r>
              <a:rPr lang="sv-SE" sz="4000" b="1" dirty="0">
                <a:latin typeface="Comic Sans MS" panose="030F0702030302020204" pitchFamily="66" charset="0"/>
              </a:rPr>
              <a:t> is Bit?</a:t>
            </a:r>
          </a:p>
          <a:p>
            <a:endParaRPr lang="en-GB" sz="2400" dirty="0">
              <a:solidFill>
                <a:srgbClr val="1F2123"/>
              </a:solidFill>
              <a:latin typeface="Comic Sans MS" panose="030F0702030302020204" pitchFamily="66" charset="0"/>
              <a:cs typeface="Comic Sans MS"/>
            </a:endParaRPr>
          </a:p>
          <a:p>
            <a:r>
              <a:rPr lang="en-GB" sz="2400" dirty="0">
                <a:solidFill>
                  <a:srgbClr val="1F2123"/>
                </a:solidFill>
                <a:latin typeface="Comic Sans MS" panose="030F0702030302020204" pitchFamily="66" charset="0"/>
                <a:cs typeface="Comic Sans MS"/>
              </a:rPr>
              <a:t>Remember!</a:t>
            </a:r>
            <a:r>
              <a:rPr lang="en-GB" sz="2400" spc="40" dirty="0">
                <a:solidFill>
                  <a:srgbClr val="1F2123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solidFill>
                  <a:srgbClr val="1F2123"/>
                </a:solidFill>
                <a:latin typeface="Comic Sans MS" panose="030F0702030302020204" pitchFamily="66" charset="0"/>
                <a:cs typeface="Comic Sans MS"/>
              </a:rPr>
              <a:t>..</a:t>
            </a:r>
            <a:r>
              <a:rPr lang="en-GB" sz="2400" spc="75" dirty="0">
                <a:solidFill>
                  <a:srgbClr val="1F2123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solidFill>
                  <a:srgbClr val="1F2123"/>
                </a:solidFill>
                <a:latin typeface="Comic Sans MS" panose="030F0702030302020204" pitchFamily="66" charset="0"/>
                <a:cs typeface="Comic Sans MS"/>
              </a:rPr>
              <a:t>Computer</a:t>
            </a:r>
            <a:r>
              <a:rPr lang="en-GB" sz="2400" spc="70" dirty="0">
                <a:solidFill>
                  <a:srgbClr val="1F2123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solidFill>
                  <a:srgbClr val="1F2123"/>
                </a:solidFill>
                <a:latin typeface="Comic Sans MS" panose="030F0702030302020204" pitchFamily="66" charset="0"/>
                <a:cs typeface="Comic Sans MS"/>
              </a:rPr>
              <a:t>is</a:t>
            </a:r>
            <a:r>
              <a:rPr lang="en-GB" sz="2400" spc="60" dirty="0">
                <a:solidFill>
                  <a:srgbClr val="1F2123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solidFill>
                  <a:srgbClr val="1F2123"/>
                </a:solidFill>
                <a:latin typeface="Comic Sans MS" panose="030F0702030302020204" pitchFamily="66" charset="0"/>
                <a:cs typeface="Comic Sans MS"/>
              </a:rPr>
              <a:t>an</a:t>
            </a:r>
            <a:r>
              <a:rPr lang="en-GB" sz="2400" spc="65" dirty="0">
                <a:solidFill>
                  <a:srgbClr val="1F2123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solidFill>
                  <a:srgbClr val="1F2123"/>
                </a:solidFill>
                <a:latin typeface="Comic Sans MS" panose="030F0702030302020204" pitchFamily="66" charset="0"/>
                <a:cs typeface="Comic Sans MS"/>
              </a:rPr>
              <a:t>electronic</a:t>
            </a:r>
            <a:r>
              <a:rPr lang="en-GB" sz="2400" spc="35" dirty="0">
                <a:solidFill>
                  <a:srgbClr val="1F2123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solidFill>
                  <a:srgbClr val="1F2123"/>
                </a:solidFill>
                <a:latin typeface="Comic Sans MS" panose="030F0702030302020204" pitchFamily="66" charset="0"/>
                <a:cs typeface="Comic Sans MS"/>
              </a:rPr>
              <a:t>device…it</a:t>
            </a:r>
            <a:r>
              <a:rPr lang="en-GB" sz="2400" spc="20" dirty="0">
                <a:solidFill>
                  <a:srgbClr val="1F2123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solidFill>
                  <a:srgbClr val="1F2123"/>
                </a:solidFill>
                <a:latin typeface="Comic Sans MS" panose="030F0702030302020204" pitchFamily="66" charset="0"/>
                <a:cs typeface="Comic Sans MS"/>
              </a:rPr>
              <a:t>deals</a:t>
            </a:r>
            <a:r>
              <a:rPr lang="en-GB" sz="2400" spc="60" dirty="0">
                <a:solidFill>
                  <a:srgbClr val="1F2123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solidFill>
                  <a:srgbClr val="1F2123"/>
                </a:solidFill>
                <a:latin typeface="Comic Sans MS" panose="030F0702030302020204" pitchFamily="66" charset="0"/>
                <a:cs typeface="Comic Sans MS"/>
              </a:rPr>
              <a:t>with</a:t>
            </a:r>
            <a:r>
              <a:rPr lang="en-GB" sz="2400" spc="75" dirty="0">
                <a:solidFill>
                  <a:srgbClr val="1F2123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solidFill>
                  <a:srgbClr val="1F2123"/>
                </a:solidFill>
                <a:latin typeface="Comic Sans MS" panose="030F0702030302020204" pitchFamily="66" charset="0"/>
                <a:cs typeface="Comic Sans MS"/>
              </a:rPr>
              <a:t>electricity</a:t>
            </a:r>
            <a:r>
              <a:rPr lang="en-GB" sz="2400" spc="25" dirty="0">
                <a:solidFill>
                  <a:srgbClr val="1F2123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spc="-10" dirty="0">
                <a:solidFill>
                  <a:srgbClr val="1F2123"/>
                </a:solidFill>
                <a:latin typeface="Comic Sans MS" panose="030F0702030302020204" pitchFamily="66" charset="0"/>
                <a:cs typeface="Comic Sans MS"/>
              </a:rPr>
              <a:t>only.</a:t>
            </a:r>
          </a:p>
          <a:p>
            <a:r>
              <a:rPr lang="en-GB" sz="2400" b="1" dirty="0">
                <a:effectLst/>
                <a:latin typeface="Comic Sans MS" panose="030F0702030302020204" pitchFamily="66" charset="0"/>
              </a:rPr>
              <a:t>Bit</a:t>
            </a:r>
            <a:r>
              <a:rPr lang="en-GB" sz="2400" b="0" dirty="0">
                <a:effectLst/>
                <a:latin typeface="Comic Sans MS" panose="030F0702030302020204" pitchFamily="66" charset="0"/>
              </a:rPr>
              <a:t> = “Binary Digit” → the smallest piece of information (either 0 or 1).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3F1AC7-8D58-5302-8302-03A57C5BC82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45994" y="2936704"/>
            <a:ext cx="9119211" cy="4378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3556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C62688E-5B37-9EA3-88D1-9E5A9EE8B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8F969635-3629-A81F-3808-7886DA2FE3C7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280E8A09-12F4-1B05-2D73-78614CD984B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A516C81-F62D-540D-069E-E6D788490CC6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9E5132E3-8847-4F76-28F9-F7DDE63AFA14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71CC4FA4-64D7-CACE-1EB3-8C85B80A9FD8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What is byte?</a:t>
            </a:r>
          </a:p>
        </p:txBody>
      </p:sp>
    </p:spTree>
    <p:extLst>
      <p:ext uri="{BB962C8B-B14F-4D97-AF65-F5344CB8AC3E}">
        <p14:creationId xmlns:p14="http://schemas.microsoft.com/office/powerpoint/2010/main" val="18342819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DB9B4AC-76F3-12BF-956B-2984DB8A2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AC3D6E6-B3BA-8B60-9B48-87E3E31E3430}"/>
              </a:ext>
            </a:extLst>
          </p:cNvPr>
          <p:cNvSpPr txBox="1"/>
          <p:nvPr/>
        </p:nvSpPr>
        <p:spPr>
          <a:xfrm>
            <a:off x="381000" y="888075"/>
            <a:ext cx="12352767" cy="18795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dirty="0" err="1">
                <a:latin typeface="Comic Sans MS" panose="030F0702030302020204" pitchFamily="66" charset="0"/>
              </a:rPr>
              <a:t>What</a:t>
            </a:r>
            <a:r>
              <a:rPr lang="sv-SE" sz="4000" b="1" dirty="0">
                <a:latin typeface="Comic Sans MS" panose="030F0702030302020204" pitchFamily="66" charset="0"/>
              </a:rPr>
              <a:t> is Byte?</a:t>
            </a: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r>
              <a:rPr lang="en-GB" sz="2400" b="1" dirty="0">
                <a:latin typeface="Comic Sans MS" panose="030F0702030302020204" pitchFamily="66" charset="0"/>
              </a:rPr>
              <a:t>Byte</a:t>
            </a:r>
            <a:r>
              <a:rPr lang="en-GB" sz="2400" dirty="0">
                <a:latin typeface="Comic Sans MS" panose="030F0702030302020204" pitchFamily="66" charset="0"/>
              </a:rPr>
              <a:t> = group of </a:t>
            </a:r>
            <a:r>
              <a:rPr lang="en-GB" sz="2400" b="1" dirty="0">
                <a:latin typeface="Comic Sans MS" panose="030F0702030302020204" pitchFamily="66" charset="0"/>
              </a:rPr>
              <a:t>8 bits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Each bit in a byte has a positional value: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A2D6B7-B833-C3DE-2451-B40E807B134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96604" y="2839952"/>
            <a:ext cx="6417991" cy="4378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6532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1BDAF82-E64C-63F3-E6BB-6BE0BBDE7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F16D76E8-D6E1-5303-BEE6-F8254F2FB53F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E139C13A-4ADE-D177-DFB4-E33529A9B81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CE6DFC3-1CC6-80CE-61DD-E26A4C6AD828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FF33CAEC-F931-3B14-3F94-8A0B363B0BBF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DEDAECD8-97D9-1B84-DEC8-1FC87B789D1C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Decimal to Binary</a:t>
            </a:r>
          </a:p>
        </p:txBody>
      </p:sp>
    </p:spTree>
    <p:extLst>
      <p:ext uri="{BB962C8B-B14F-4D97-AF65-F5344CB8AC3E}">
        <p14:creationId xmlns:p14="http://schemas.microsoft.com/office/powerpoint/2010/main" val="19697444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D231EE-7FC3-E055-C36D-0E1D61BC0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0FD6FD9-E76A-2B07-1F69-6382E3E386DB}"/>
              </a:ext>
            </a:extLst>
          </p:cNvPr>
          <p:cNvSpPr txBox="1"/>
          <p:nvPr/>
        </p:nvSpPr>
        <p:spPr>
          <a:xfrm>
            <a:off x="381000" y="888075"/>
            <a:ext cx="12352767" cy="18795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Converting Between Decimal and Binary</a:t>
            </a:r>
            <a:endParaRPr lang="en-GB" sz="4000" dirty="0">
              <a:latin typeface="Comic Sans MS" panose="030F0702030302020204" pitchFamily="66" charset="0"/>
            </a:endParaRP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r>
              <a:rPr lang="en-GB" sz="2400" b="1" dirty="0">
                <a:latin typeface="Comic Sans MS" panose="030F0702030302020204" pitchFamily="66" charset="0"/>
              </a:rPr>
              <a:t>Decimal → Binary: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Divide the decimal number by 2 repeatedly and note the remainders (bottom to top).</a:t>
            </a:r>
          </a:p>
        </p:txBody>
      </p:sp>
    </p:spTree>
    <p:extLst>
      <p:ext uri="{BB962C8B-B14F-4D97-AF65-F5344CB8AC3E}">
        <p14:creationId xmlns:p14="http://schemas.microsoft.com/office/powerpoint/2010/main" val="6560244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4364DAA-816B-5312-5CAE-42360828A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DF2B562-BE2A-3A48-DA65-A992DCE87246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dirty="0" err="1">
                <a:latin typeface="Comic Sans MS" panose="030F0702030302020204" pitchFamily="66" charset="0"/>
              </a:rPr>
              <a:t>Represent</a:t>
            </a:r>
            <a:r>
              <a:rPr lang="sv-SE" sz="4000" b="1" spc="-15" dirty="0">
                <a:latin typeface="Comic Sans MS" panose="030F0702030302020204" pitchFamily="66" charset="0"/>
              </a:rPr>
              <a:t> </a:t>
            </a:r>
            <a:r>
              <a:rPr lang="sv-SE" sz="4000" b="1" dirty="0" err="1">
                <a:latin typeface="Comic Sans MS" panose="030F0702030302020204" pitchFamily="66" charset="0"/>
              </a:rPr>
              <a:t>this</a:t>
            </a:r>
            <a:r>
              <a:rPr lang="sv-SE" sz="4000" b="1" spc="10" dirty="0">
                <a:latin typeface="Comic Sans MS" panose="030F0702030302020204" pitchFamily="66" charset="0"/>
              </a:rPr>
              <a:t> </a:t>
            </a:r>
            <a:r>
              <a:rPr lang="sv-SE" sz="4000" b="1" dirty="0">
                <a:latin typeface="Comic Sans MS" panose="030F0702030302020204" pitchFamily="66" charset="0"/>
              </a:rPr>
              <a:t>in</a:t>
            </a:r>
            <a:r>
              <a:rPr lang="sv-SE" sz="4000" b="1" spc="15" dirty="0">
                <a:latin typeface="Comic Sans MS" panose="030F0702030302020204" pitchFamily="66" charset="0"/>
              </a:rPr>
              <a:t> </a:t>
            </a:r>
            <a:r>
              <a:rPr lang="sv-SE" sz="4000" b="1" spc="-10" dirty="0" err="1">
                <a:latin typeface="Comic Sans MS" panose="030F0702030302020204" pitchFamily="66" charset="0"/>
              </a:rPr>
              <a:t>binary</a:t>
            </a:r>
            <a:r>
              <a:rPr lang="sv-SE" sz="4000" b="1" spc="-10" dirty="0">
                <a:latin typeface="Comic Sans MS" panose="030F0702030302020204" pitchFamily="66" charset="0"/>
              </a:rPr>
              <a:t>…</a:t>
            </a:r>
            <a:endParaRPr lang="sv-SE" sz="4000" b="1" dirty="0">
              <a:latin typeface="Comic Sans MS" panose="030F0702030302020204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A5B060-8EF4-8522-33DE-3837E539094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37853" y="2839952"/>
            <a:ext cx="5135493" cy="4378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2323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842773F-BF8B-FC5E-6127-083F802B0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EC7A88F-64D8-2CFE-5610-A3026722FE61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dirty="0" err="1">
                <a:latin typeface="Comic Sans MS" panose="030F0702030302020204" pitchFamily="66" charset="0"/>
              </a:rPr>
              <a:t>Represent</a:t>
            </a:r>
            <a:r>
              <a:rPr lang="sv-SE" sz="4000" b="1" spc="-15" dirty="0">
                <a:latin typeface="Comic Sans MS" panose="030F0702030302020204" pitchFamily="66" charset="0"/>
              </a:rPr>
              <a:t> </a:t>
            </a:r>
            <a:r>
              <a:rPr lang="sv-SE" sz="4000" b="1" dirty="0" err="1">
                <a:latin typeface="Comic Sans MS" panose="030F0702030302020204" pitchFamily="66" charset="0"/>
              </a:rPr>
              <a:t>this</a:t>
            </a:r>
            <a:r>
              <a:rPr lang="sv-SE" sz="4000" b="1" spc="10" dirty="0">
                <a:latin typeface="Comic Sans MS" panose="030F0702030302020204" pitchFamily="66" charset="0"/>
              </a:rPr>
              <a:t> </a:t>
            </a:r>
            <a:r>
              <a:rPr lang="sv-SE" sz="4000" b="1" dirty="0">
                <a:latin typeface="Comic Sans MS" panose="030F0702030302020204" pitchFamily="66" charset="0"/>
              </a:rPr>
              <a:t>in</a:t>
            </a:r>
            <a:r>
              <a:rPr lang="sv-SE" sz="4000" b="1" spc="15" dirty="0">
                <a:latin typeface="Comic Sans MS" panose="030F0702030302020204" pitchFamily="66" charset="0"/>
              </a:rPr>
              <a:t> </a:t>
            </a:r>
            <a:r>
              <a:rPr lang="sv-SE" sz="4000" b="1" spc="-10" dirty="0" err="1">
                <a:latin typeface="Comic Sans MS" panose="030F0702030302020204" pitchFamily="66" charset="0"/>
              </a:rPr>
              <a:t>binary</a:t>
            </a:r>
            <a:r>
              <a:rPr lang="sv-SE" sz="4000" b="1" spc="-10" dirty="0">
                <a:latin typeface="Comic Sans MS" panose="030F0702030302020204" pitchFamily="66" charset="0"/>
              </a:rPr>
              <a:t>…</a:t>
            </a:r>
            <a:endParaRPr lang="sv-SE" sz="4000" b="1" dirty="0">
              <a:latin typeface="Comic Sans MS" panose="030F0702030302020204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6462B5-D810-F19F-3032-785C45B7301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37853" y="2839952"/>
            <a:ext cx="5135493" cy="4378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1572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40E0479-BC94-2119-2942-54D26C42F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23CFCE9-3723-0DD3-2660-564BEA569414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dirty="0" err="1">
                <a:latin typeface="Comic Sans MS" panose="030F0702030302020204" pitchFamily="66" charset="0"/>
              </a:rPr>
              <a:t>Represent</a:t>
            </a:r>
            <a:r>
              <a:rPr lang="sv-SE" sz="4000" b="1" spc="-15" dirty="0">
                <a:latin typeface="Comic Sans MS" panose="030F0702030302020204" pitchFamily="66" charset="0"/>
              </a:rPr>
              <a:t> </a:t>
            </a:r>
            <a:r>
              <a:rPr lang="sv-SE" sz="4000" b="1" dirty="0" err="1">
                <a:latin typeface="Comic Sans MS" panose="030F0702030302020204" pitchFamily="66" charset="0"/>
              </a:rPr>
              <a:t>this</a:t>
            </a:r>
            <a:r>
              <a:rPr lang="sv-SE" sz="4000" b="1" spc="10" dirty="0">
                <a:latin typeface="Comic Sans MS" panose="030F0702030302020204" pitchFamily="66" charset="0"/>
              </a:rPr>
              <a:t> </a:t>
            </a:r>
            <a:r>
              <a:rPr lang="sv-SE" sz="4000" b="1" dirty="0">
                <a:latin typeface="Comic Sans MS" panose="030F0702030302020204" pitchFamily="66" charset="0"/>
              </a:rPr>
              <a:t>in</a:t>
            </a:r>
            <a:r>
              <a:rPr lang="sv-SE" sz="4000" b="1" spc="15" dirty="0">
                <a:latin typeface="Comic Sans MS" panose="030F0702030302020204" pitchFamily="66" charset="0"/>
              </a:rPr>
              <a:t> </a:t>
            </a:r>
            <a:r>
              <a:rPr lang="sv-SE" sz="4000" b="1" spc="-10" dirty="0" err="1">
                <a:latin typeface="Comic Sans MS" panose="030F0702030302020204" pitchFamily="66" charset="0"/>
              </a:rPr>
              <a:t>binary</a:t>
            </a:r>
            <a:r>
              <a:rPr lang="sv-SE" sz="4000" b="1" spc="-10" dirty="0">
                <a:latin typeface="Comic Sans MS" panose="030F0702030302020204" pitchFamily="66" charset="0"/>
              </a:rPr>
              <a:t>…</a:t>
            </a:r>
            <a:endParaRPr lang="sv-SE" sz="4000" b="1" dirty="0">
              <a:latin typeface="Comic Sans MS" panose="030F0702030302020204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048EE8-8BFF-5D5D-8BD3-A1EB8395E1B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44091" y="2839952"/>
            <a:ext cx="5123016" cy="4378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2635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91D41D4-F2AA-3B5F-4711-F713A5228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126C928A-F7B3-3C6D-0B3E-1BA97DB3D906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dirty="0" err="1">
                <a:latin typeface="Comic Sans MS" panose="030F0702030302020204" pitchFamily="66" charset="0"/>
              </a:rPr>
              <a:t>Represent</a:t>
            </a:r>
            <a:r>
              <a:rPr lang="sv-SE" sz="4000" b="1" spc="-15" dirty="0">
                <a:latin typeface="Comic Sans MS" panose="030F0702030302020204" pitchFamily="66" charset="0"/>
              </a:rPr>
              <a:t> </a:t>
            </a:r>
            <a:r>
              <a:rPr lang="sv-SE" sz="4000" b="1" dirty="0" err="1">
                <a:latin typeface="Comic Sans MS" panose="030F0702030302020204" pitchFamily="66" charset="0"/>
              </a:rPr>
              <a:t>this</a:t>
            </a:r>
            <a:r>
              <a:rPr lang="sv-SE" sz="4000" b="1" spc="10" dirty="0">
                <a:latin typeface="Comic Sans MS" panose="030F0702030302020204" pitchFamily="66" charset="0"/>
              </a:rPr>
              <a:t> </a:t>
            </a:r>
            <a:r>
              <a:rPr lang="sv-SE" sz="4000" b="1" dirty="0">
                <a:latin typeface="Comic Sans MS" panose="030F0702030302020204" pitchFamily="66" charset="0"/>
              </a:rPr>
              <a:t>in</a:t>
            </a:r>
            <a:r>
              <a:rPr lang="sv-SE" sz="4000" b="1" spc="15" dirty="0">
                <a:latin typeface="Comic Sans MS" panose="030F0702030302020204" pitchFamily="66" charset="0"/>
              </a:rPr>
              <a:t> </a:t>
            </a:r>
            <a:r>
              <a:rPr lang="sv-SE" sz="4000" b="1" spc="-10" dirty="0" err="1">
                <a:latin typeface="Comic Sans MS" panose="030F0702030302020204" pitchFamily="66" charset="0"/>
              </a:rPr>
              <a:t>binary</a:t>
            </a:r>
            <a:r>
              <a:rPr lang="sv-SE" sz="4000" b="1" spc="-10" dirty="0">
                <a:latin typeface="Comic Sans MS" panose="030F0702030302020204" pitchFamily="66" charset="0"/>
              </a:rPr>
              <a:t>…</a:t>
            </a:r>
            <a:endParaRPr lang="sv-SE" sz="4000" b="1" dirty="0">
              <a:latin typeface="Comic Sans MS" panose="030F0702030302020204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B2C988-A200-E479-6316-3BB4FBB5447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44091" y="2847043"/>
            <a:ext cx="5123016" cy="4364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2542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2490AE5-50E0-2F37-ECFF-9F1DA57F3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31EAA64E-A6C4-BB1D-759A-7B28CDF8BA7A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dirty="0" err="1">
                <a:latin typeface="Comic Sans MS" panose="030F0702030302020204" pitchFamily="66" charset="0"/>
              </a:rPr>
              <a:t>Represent</a:t>
            </a:r>
            <a:r>
              <a:rPr lang="sv-SE" sz="4000" b="1" spc="-15" dirty="0">
                <a:latin typeface="Comic Sans MS" panose="030F0702030302020204" pitchFamily="66" charset="0"/>
              </a:rPr>
              <a:t> </a:t>
            </a:r>
            <a:r>
              <a:rPr lang="sv-SE" sz="4000" b="1" dirty="0" err="1">
                <a:latin typeface="Comic Sans MS" panose="030F0702030302020204" pitchFamily="66" charset="0"/>
              </a:rPr>
              <a:t>this</a:t>
            </a:r>
            <a:r>
              <a:rPr lang="sv-SE" sz="4000" b="1" spc="10" dirty="0">
                <a:latin typeface="Comic Sans MS" panose="030F0702030302020204" pitchFamily="66" charset="0"/>
              </a:rPr>
              <a:t> </a:t>
            </a:r>
            <a:r>
              <a:rPr lang="sv-SE" sz="4000" b="1" dirty="0">
                <a:latin typeface="Comic Sans MS" panose="030F0702030302020204" pitchFamily="66" charset="0"/>
              </a:rPr>
              <a:t>in</a:t>
            </a:r>
            <a:r>
              <a:rPr lang="sv-SE" sz="4000" b="1" spc="15" dirty="0">
                <a:latin typeface="Comic Sans MS" panose="030F0702030302020204" pitchFamily="66" charset="0"/>
              </a:rPr>
              <a:t> </a:t>
            </a:r>
            <a:r>
              <a:rPr lang="sv-SE" sz="4000" b="1" spc="-10" dirty="0" err="1">
                <a:latin typeface="Comic Sans MS" panose="030F0702030302020204" pitchFamily="66" charset="0"/>
              </a:rPr>
              <a:t>binary</a:t>
            </a:r>
            <a:r>
              <a:rPr lang="sv-SE" sz="4000" b="1" spc="-10" dirty="0">
                <a:latin typeface="Comic Sans MS" panose="030F0702030302020204" pitchFamily="66" charset="0"/>
              </a:rPr>
              <a:t>…</a:t>
            </a:r>
            <a:endParaRPr lang="sv-SE" sz="4000" b="1" dirty="0">
              <a:latin typeface="Comic Sans MS" panose="030F0702030302020204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7D1C2A-9E75-27CB-7FF7-2CD68BE9B0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46170" y="2847043"/>
            <a:ext cx="5118857" cy="4364312"/>
          </a:xfrm>
          <a:prstGeom prst="rect">
            <a:avLst/>
          </a:prstGeom>
        </p:spPr>
      </p:pic>
      <p:sp>
        <p:nvSpPr>
          <p:cNvPr id="2" name="object 47">
            <a:extLst>
              <a:ext uri="{FF2B5EF4-FFF2-40B4-BE49-F238E27FC236}">
                <a16:creationId xmlns:a16="http://schemas.microsoft.com/office/drawing/2014/main" id="{5B0C2429-D7A4-264F-A0CF-CB71A2AE5295}"/>
              </a:ext>
            </a:extLst>
          </p:cNvPr>
          <p:cNvSpPr txBox="1"/>
          <p:nvPr/>
        </p:nvSpPr>
        <p:spPr>
          <a:xfrm>
            <a:off x="9829800" y="3124200"/>
            <a:ext cx="2427605" cy="61341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 marR="5080" indent="325755">
              <a:lnSpc>
                <a:spcPct val="79500"/>
              </a:lnSpc>
              <a:spcBef>
                <a:spcPts val="625"/>
              </a:spcBef>
            </a:pPr>
            <a:r>
              <a:rPr sz="2150" b="1" dirty="0">
                <a:solidFill>
                  <a:srgbClr val="FF0000"/>
                </a:solidFill>
                <a:latin typeface="Comic Sans MS"/>
                <a:cs typeface="Comic Sans MS"/>
              </a:rPr>
              <a:t>Only</a:t>
            </a:r>
            <a:r>
              <a:rPr sz="2150" b="1" spc="-3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150" b="1" dirty="0">
                <a:solidFill>
                  <a:srgbClr val="FF0000"/>
                </a:solidFill>
                <a:latin typeface="Comic Sans MS"/>
                <a:cs typeface="Comic Sans MS"/>
              </a:rPr>
              <a:t>one</a:t>
            </a:r>
            <a:r>
              <a:rPr sz="2150" b="1" spc="-5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150" b="1" spc="-25" dirty="0">
                <a:solidFill>
                  <a:srgbClr val="FF0000"/>
                </a:solidFill>
                <a:latin typeface="Comic Sans MS"/>
                <a:cs typeface="Comic Sans MS"/>
              </a:rPr>
              <a:t>way </a:t>
            </a:r>
            <a:r>
              <a:rPr sz="2150" b="1" dirty="0">
                <a:solidFill>
                  <a:srgbClr val="FF0000"/>
                </a:solidFill>
                <a:latin typeface="Comic Sans MS"/>
                <a:cs typeface="Comic Sans MS"/>
              </a:rPr>
              <a:t>to</a:t>
            </a:r>
            <a:r>
              <a:rPr sz="2150" b="1" spc="-7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150" b="1" dirty="0">
                <a:solidFill>
                  <a:srgbClr val="FF0000"/>
                </a:solidFill>
                <a:latin typeface="Comic Sans MS"/>
                <a:cs typeface="Comic Sans MS"/>
              </a:rPr>
              <a:t>represent</a:t>
            </a:r>
            <a:r>
              <a:rPr sz="2150" b="1" spc="-7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150" b="1" spc="-20" dirty="0">
                <a:solidFill>
                  <a:srgbClr val="FF0000"/>
                </a:solidFill>
                <a:latin typeface="Comic Sans MS"/>
                <a:cs typeface="Comic Sans MS"/>
              </a:rPr>
              <a:t>Data</a:t>
            </a:r>
            <a:endParaRPr sz="2150"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6598166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1524B41-AF1F-399F-0B49-82EA00C8D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E5017694-9194-C8B8-6F72-882486B477A0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63431C73-1272-ADA3-B7D9-13589BB0BF3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C789FEED-E88A-39A5-CF8B-0307A24E6EC5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6BA7D9B6-45F4-E9C4-AF75-708A71D2D337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2F2688E1-BA4F-CAA3-C57C-FB296AEC1039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Binary to Decimal</a:t>
            </a:r>
          </a:p>
        </p:txBody>
      </p:sp>
    </p:spTree>
    <p:extLst>
      <p:ext uri="{BB962C8B-B14F-4D97-AF65-F5344CB8AC3E}">
        <p14:creationId xmlns:p14="http://schemas.microsoft.com/office/powerpoint/2010/main" val="5021759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F567B72-CE28-925C-3A5D-A756F68F0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7DD80160-CE17-6E9A-43DF-89BD0134EC8F}"/>
              </a:ext>
            </a:extLst>
          </p:cNvPr>
          <p:cNvSpPr txBox="1"/>
          <p:nvPr/>
        </p:nvSpPr>
        <p:spPr>
          <a:xfrm>
            <a:off x="381000" y="888075"/>
            <a:ext cx="12352767" cy="18795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Converting Between Decimal and Binary</a:t>
            </a:r>
            <a:endParaRPr lang="en-GB" sz="4000" dirty="0">
              <a:latin typeface="Comic Sans MS" panose="030F0702030302020204" pitchFamily="66" charset="0"/>
            </a:endParaRP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r>
              <a:rPr lang="en-GB" sz="2400" b="1" dirty="0">
                <a:latin typeface="Comic Sans MS" panose="030F0702030302020204" pitchFamily="66" charset="0"/>
              </a:rPr>
              <a:t>Binary → Decimal: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Multiply each bit by its positional value and add them.</a:t>
            </a:r>
          </a:p>
        </p:txBody>
      </p:sp>
    </p:spTree>
    <p:extLst>
      <p:ext uri="{BB962C8B-B14F-4D97-AF65-F5344CB8AC3E}">
        <p14:creationId xmlns:p14="http://schemas.microsoft.com/office/powerpoint/2010/main" val="31164051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CCC1301-FDD2-6223-B550-9FB7F9373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A7E1D70-66D6-A19C-3724-1910E6671163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dirty="0" err="1">
                <a:latin typeface="Comic Sans MS" panose="030F0702030302020204" pitchFamily="66" charset="0"/>
              </a:rPr>
              <a:t>Represent</a:t>
            </a:r>
            <a:r>
              <a:rPr lang="sv-SE" sz="4000" b="1" spc="-15" dirty="0">
                <a:latin typeface="Comic Sans MS" panose="030F0702030302020204" pitchFamily="66" charset="0"/>
              </a:rPr>
              <a:t> </a:t>
            </a:r>
            <a:r>
              <a:rPr lang="sv-SE" sz="4000" b="1" dirty="0" err="1">
                <a:latin typeface="Comic Sans MS" panose="030F0702030302020204" pitchFamily="66" charset="0"/>
              </a:rPr>
              <a:t>this</a:t>
            </a:r>
            <a:r>
              <a:rPr lang="sv-SE" sz="4000" b="1" spc="10" dirty="0">
                <a:latin typeface="Comic Sans MS" panose="030F0702030302020204" pitchFamily="66" charset="0"/>
              </a:rPr>
              <a:t> </a:t>
            </a:r>
            <a:r>
              <a:rPr lang="sv-SE" sz="4000" b="1" dirty="0">
                <a:latin typeface="Comic Sans MS" panose="030F0702030302020204" pitchFamily="66" charset="0"/>
              </a:rPr>
              <a:t>in</a:t>
            </a:r>
            <a:r>
              <a:rPr lang="sv-SE" sz="4000" b="1" spc="15" dirty="0">
                <a:latin typeface="Comic Sans MS" panose="030F0702030302020204" pitchFamily="66" charset="0"/>
              </a:rPr>
              <a:t> </a:t>
            </a:r>
            <a:r>
              <a:rPr lang="sv-SE" sz="4000" b="1" spc="-10" dirty="0">
                <a:latin typeface="Comic Sans MS" panose="030F0702030302020204" pitchFamily="66" charset="0"/>
              </a:rPr>
              <a:t>decimal…</a:t>
            </a:r>
            <a:endParaRPr lang="sv-SE" sz="4000" b="1" dirty="0">
              <a:latin typeface="Comic Sans MS" panose="030F0702030302020204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546C6D-D14A-50BA-14E1-0BE1830CF8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37853" y="2839952"/>
            <a:ext cx="5135493" cy="4378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2437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974741E-8621-8C3B-90F7-9A77E6C11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C1EEE899-F497-1DEE-A35A-3D17ED9BD078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dirty="0" err="1">
                <a:latin typeface="Comic Sans MS" panose="030F0702030302020204" pitchFamily="66" charset="0"/>
              </a:rPr>
              <a:t>Represent</a:t>
            </a:r>
            <a:r>
              <a:rPr lang="sv-SE" sz="4000" b="1" spc="-15" dirty="0">
                <a:latin typeface="Comic Sans MS" panose="030F0702030302020204" pitchFamily="66" charset="0"/>
              </a:rPr>
              <a:t> </a:t>
            </a:r>
            <a:r>
              <a:rPr lang="sv-SE" sz="4000" b="1" dirty="0" err="1">
                <a:latin typeface="Comic Sans MS" panose="030F0702030302020204" pitchFamily="66" charset="0"/>
              </a:rPr>
              <a:t>this</a:t>
            </a:r>
            <a:r>
              <a:rPr lang="sv-SE" sz="4000" b="1" spc="10" dirty="0">
                <a:latin typeface="Comic Sans MS" panose="030F0702030302020204" pitchFamily="66" charset="0"/>
              </a:rPr>
              <a:t> </a:t>
            </a:r>
            <a:r>
              <a:rPr lang="sv-SE" sz="4000" b="1" dirty="0">
                <a:latin typeface="Comic Sans MS" panose="030F0702030302020204" pitchFamily="66" charset="0"/>
              </a:rPr>
              <a:t>in</a:t>
            </a:r>
            <a:r>
              <a:rPr lang="sv-SE" sz="4000" b="1" spc="15" dirty="0">
                <a:latin typeface="Comic Sans MS" panose="030F0702030302020204" pitchFamily="66" charset="0"/>
              </a:rPr>
              <a:t> </a:t>
            </a:r>
            <a:r>
              <a:rPr lang="sv-SE" sz="4000" b="1" spc="-10" dirty="0">
                <a:latin typeface="Comic Sans MS" panose="030F0702030302020204" pitchFamily="66" charset="0"/>
              </a:rPr>
              <a:t>decimal…</a:t>
            </a:r>
            <a:endParaRPr lang="sv-SE" sz="4000" b="1" dirty="0">
              <a:latin typeface="Comic Sans MS" panose="030F0702030302020204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D47DAD-4256-F9FF-7FA5-0F3BB9495E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37853" y="2839952"/>
            <a:ext cx="5135493" cy="4378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7367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1AB6668-A4B8-EE05-7B15-5D7470ADA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90A3EF4-28B6-06BC-48DD-F3DAF8B69521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dirty="0" err="1">
                <a:latin typeface="Comic Sans MS" panose="030F0702030302020204" pitchFamily="66" charset="0"/>
              </a:rPr>
              <a:t>Represent</a:t>
            </a:r>
            <a:r>
              <a:rPr lang="sv-SE" sz="4000" b="1" spc="-15" dirty="0">
                <a:latin typeface="Comic Sans MS" panose="030F0702030302020204" pitchFamily="66" charset="0"/>
              </a:rPr>
              <a:t> </a:t>
            </a:r>
            <a:r>
              <a:rPr lang="sv-SE" sz="4000" b="1" dirty="0" err="1">
                <a:latin typeface="Comic Sans MS" panose="030F0702030302020204" pitchFamily="66" charset="0"/>
              </a:rPr>
              <a:t>this</a:t>
            </a:r>
            <a:r>
              <a:rPr lang="sv-SE" sz="4000" b="1" spc="10" dirty="0">
                <a:latin typeface="Comic Sans MS" panose="030F0702030302020204" pitchFamily="66" charset="0"/>
              </a:rPr>
              <a:t> </a:t>
            </a:r>
            <a:r>
              <a:rPr lang="sv-SE" sz="4000" b="1" dirty="0">
                <a:latin typeface="Comic Sans MS" panose="030F0702030302020204" pitchFamily="66" charset="0"/>
              </a:rPr>
              <a:t>in</a:t>
            </a:r>
            <a:r>
              <a:rPr lang="sv-SE" sz="4000" b="1" spc="15" dirty="0">
                <a:latin typeface="Comic Sans MS" panose="030F0702030302020204" pitchFamily="66" charset="0"/>
              </a:rPr>
              <a:t> </a:t>
            </a:r>
            <a:r>
              <a:rPr lang="sv-SE" sz="4000" b="1" spc="-10" dirty="0">
                <a:latin typeface="Comic Sans MS" panose="030F0702030302020204" pitchFamily="66" charset="0"/>
              </a:rPr>
              <a:t>decimal…</a:t>
            </a:r>
            <a:endParaRPr lang="sv-SE" sz="4000" b="1" dirty="0">
              <a:latin typeface="Comic Sans MS" panose="030F0702030302020204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952915-95FC-5743-42EA-B24B94163C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44091" y="2839952"/>
            <a:ext cx="5123016" cy="4378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6959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08845EF-BB24-4EA4-74C3-5D5A41814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C7020402-D0B9-80AC-2FD3-93F5E5A3AB99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dirty="0" err="1">
                <a:latin typeface="Comic Sans MS" panose="030F0702030302020204" pitchFamily="66" charset="0"/>
              </a:rPr>
              <a:t>Represent</a:t>
            </a:r>
            <a:r>
              <a:rPr lang="sv-SE" sz="4000" b="1" spc="-15" dirty="0">
                <a:latin typeface="Comic Sans MS" panose="030F0702030302020204" pitchFamily="66" charset="0"/>
              </a:rPr>
              <a:t> </a:t>
            </a:r>
            <a:r>
              <a:rPr lang="sv-SE" sz="4000" b="1" dirty="0" err="1">
                <a:latin typeface="Comic Sans MS" panose="030F0702030302020204" pitchFamily="66" charset="0"/>
              </a:rPr>
              <a:t>this</a:t>
            </a:r>
            <a:r>
              <a:rPr lang="sv-SE" sz="4000" b="1" spc="10" dirty="0">
                <a:latin typeface="Comic Sans MS" panose="030F0702030302020204" pitchFamily="66" charset="0"/>
              </a:rPr>
              <a:t> </a:t>
            </a:r>
            <a:r>
              <a:rPr lang="sv-SE" sz="4000" b="1" dirty="0">
                <a:latin typeface="Comic Sans MS" panose="030F0702030302020204" pitchFamily="66" charset="0"/>
              </a:rPr>
              <a:t>in</a:t>
            </a:r>
            <a:r>
              <a:rPr lang="sv-SE" sz="4000" b="1" spc="15" dirty="0">
                <a:latin typeface="Comic Sans MS" panose="030F0702030302020204" pitchFamily="66" charset="0"/>
              </a:rPr>
              <a:t> </a:t>
            </a:r>
            <a:r>
              <a:rPr lang="sv-SE" sz="4000" b="1" spc="-10" dirty="0">
                <a:latin typeface="Comic Sans MS" panose="030F0702030302020204" pitchFamily="66" charset="0"/>
              </a:rPr>
              <a:t>decimal…</a:t>
            </a:r>
            <a:endParaRPr lang="sv-SE" sz="4000" b="1" dirty="0">
              <a:latin typeface="Comic Sans MS" panose="030F0702030302020204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FA5D18-09D0-7024-2146-10FCE8B40F4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44091" y="2847043"/>
            <a:ext cx="5123016" cy="4364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6038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9610BEB-B3BF-B449-D1C4-25E4C4F62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6007980-FBB1-3E30-6298-97AE39B221D9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dirty="0" err="1">
                <a:latin typeface="Comic Sans MS" panose="030F0702030302020204" pitchFamily="66" charset="0"/>
              </a:rPr>
              <a:t>Represent</a:t>
            </a:r>
            <a:r>
              <a:rPr lang="sv-SE" sz="4000" b="1" spc="-15" dirty="0">
                <a:latin typeface="Comic Sans MS" panose="030F0702030302020204" pitchFamily="66" charset="0"/>
              </a:rPr>
              <a:t> </a:t>
            </a:r>
            <a:r>
              <a:rPr lang="sv-SE" sz="4000" b="1" dirty="0" err="1">
                <a:latin typeface="Comic Sans MS" panose="030F0702030302020204" pitchFamily="66" charset="0"/>
              </a:rPr>
              <a:t>this</a:t>
            </a:r>
            <a:r>
              <a:rPr lang="sv-SE" sz="4000" b="1" spc="10" dirty="0">
                <a:latin typeface="Comic Sans MS" panose="030F0702030302020204" pitchFamily="66" charset="0"/>
              </a:rPr>
              <a:t> </a:t>
            </a:r>
            <a:r>
              <a:rPr lang="sv-SE" sz="4000" b="1" dirty="0">
                <a:latin typeface="Comic Sans MS" panose="030F0702030302020204" pitchFamily="66" charset="0"/>
              </a:rPr>
              <a:t>in</a:t>
            </a:r>
            <a:r>
              <a:rPr lang="sv-SE" sz="4000" b="1" spc="15" dirty="0">
                <a:latin typeface="Comic Sans MS" panose="030F0702030302020204" pitchFamily="66" charset="0"/>
              </a:rPr>
              <a:t> </a:t>
            </a:r>
            <a:r>
              <a:rPr lang="sv-SE" sz="4000" b="1" spc="-10" dirty="0">
                <a:latin typeface="Comic Sans MS" panose="030F0702030302020204" pitchFamily="66" charset="0"/>
              </a:rPr>
              <a:t>decimal…</a:t>
            </a:r>
            <a:endParaRPr lang="sv-SE" sz="4000" b="1" dirty="0">
              <a:latin typeface="Comic Sans MS" panose="030F0702030302020204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7E3899-29D5-90BD-559E-A01084639E2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46170" y="2847043"/>
            <a:ext cx="5118857" cy="4364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5588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6C1250F-0725-722B-DEE8-CAD540D50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162B3DFF-78A8-C36E-2FFA-952345C3895A}"/>
              </a:ext>
            </a:extLst>
          </p:cNvPr>
          <p:cNvSpPr txBox="1"/>
          <p:nvPr/>
        </p:nvSpPr>
        <p:spPr>
          <a:xfrm>
            <a:off x="381000" y="888075"/>
            <a:ext cx="12352767" cy="47110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 “Only One Way” to Represent a Number in Binary</a:t>
            </a:r>
            <a:endParaRPr lang="en-GB" sz="4000" dirty="0">
              <a:latin typeface="Comic Sans MS" panose="030F0702030302020204" pitchFamily="66" charset="0"/>
            </a:endParaRP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In </a:t>
            </a:r>
            <a:r>
              <a:rPr lang="en-GB" sz="2400" b="1" dirty="0">
                <a:latin typeface="Comic Sans MS" panose="030F0702030302020204" pitchFamily="66" charset="0"/>
              </a:rPr>
              <a:t>binary</a:t>
            </a:r>
            <a:r>
              <a:rPr lang="en-GB" sz="2400" dirty="0">
                <a:latin typeface="Comic Sans MS" panose="030F0702030302020204" pitchFamily="66" charset="0"/>
              </a:rPr>
              <a:t>, every non-negative integer has </a:t>
            </a:r>
            <a:r>
              <a:rPr lang="en-GB" sz="2400" b="1" dirty="0">
                <a:latin typeface="Comic Sans MS" panose="030F0702030302020204" pitchFamily="66" charset="0"/>
              </a:rPr>
              <a:t>exactly one</a:t>
            </a:r>
            <a:r>
              <a:rPr lang="en-GB" sz="2400" dirty="0">
                <a:latin typeface="Comic Sans MS" panose="030F0702030302020204" pitchFamily="66" charset="0"/>
              </a:rPr>
              <a:t> representation (if you ignore </a:t>
            </a:r>
            <a:r>
              <a:rPr lang="en-GB" sz="2400" b="1" dirty="0">
                <a:latin typeface="Comic Sans MS" panose="030F0702030302020204" pitchFamily="66" charset="0"/>
              </a:rPr>
              <a:t>leading zeros</a:t>
            </a:r>
            <a:r>
              <a:rPr lang="en-GB" sz="2400" dirty="0">
                <a:latin typeface="Comic Sans MS" panose="030F0702030302020204" pitchFamily="66" charset="0"/>
              </a:rPr>
              <a:t>).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This means there is </a:t>
            </a:r>
            <a:r>
              <a:rPr lang="en-GB" sz="2400" b="1" dirty="0">
                <a:latin typeface="Comic Sans MS" panose="030F0702030302020204" pitchFamily="66" charset="0"/>
              </a:rPr>
              <a:t>one unique set of bits</a:t>
            </a:r>
            <a:r>
              <a:rPr lang="en-GB" sz="2400" dirty="0">
                <a:latin typeface="Comic Sans MS" panose="030F0702030302020204" pitchFamily="66" charset="0"/>
              </a:rPr>
              <a:t> (MSB…LSB) whose weighted sum equals the number.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You </a:t>
            </a:r>
            <a:r>
              <a:rPr lang="en-GB" sz="2400" b="1" dirty="0">
                <a:latin typeface="Comic Sans MS" panose="030F0702030302020204" pitchFamily="66" charset="0"/>
              </a:rPr>
              <a:t>cannot</a:t>
            </a:r>
            <a:r>
              <a:rPr lang="en-GB" sz="2400" dirty="0">
                <a:latin typeface="Comic Sans MS" panose="030F0702030302020204" pitchFamily="66" charset="0"/>
              </a:rPr>
              <a:t> choose a different combination of bit positions to get the </a:t>
            </a:r>
            <a:r>
              <a:rPr lang="en-GB" sz="2400" b="1" dirty="0">
                <a:latin typeface="Comic Sans MS" panose="030F0702030302020204" pitchFamily="66" charset="0"/>
              </a:rPr>
              <a:t>same</a:t>
            </a:r>
            <a:r>
              <a:rPr lang="en-GB" sz="2400" dirty="0">
                <a:latin typeface="Comic Sans MS" panose="030F0702030302020204" pitchFamily="66" charset="0"/>
              </a:rPr>
              <a:t> number — each power of two (1, 2, 4, 8, 16, …) is either </a:t>
            </a:r>
            <a:r>
              <a:rPr lang="en-GB" sz="2400" b="1" dirty="0">
                <a:latin typeface="Comic Sans MS" panose="030F0702030302020204" pitchFamily="66" charset="0"/>
              </a:rPr>
              <a:t>used once</a:t>
            </a:r>
            <a:r>
              <a:rPr lang="en-GB" sz="2400" dirty="0">
                <a:latin typeface="Comic Sans MS" panose="030F0702030302020204" pitchFamily="66" charset="0"/>
              </a:rPr>
              <a:t> or </a:t>
            </a:r>
            <a:r>
              <a:rPr lang="en-GB" sz="2400" b="1" dirty="0">
                <a:latin typeface="Comic Sans MS" panose="030F0702030302020204" pitchFamily="66" charset="0"/>
              </a:rPr>
              <a:t>not used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So in the above example the number 20 only comes from 4 + 16 bits, while in decimal system 20 can come from 10 + 10 , or 18 + 2 , or 15 + 5 ...etc.</a:t>
            </a:r>
          </a:p>
        </p:txBody>
      </p:sp>
    </p:spTree>
    <p:extLst>
      <p:ext uri="{BB962C8B-B14F-4D97-AF65-F5344CB8AC3E}">
        <p14:creationId xmlns:p14="http://schemas.microsoft.com/office/powerpoint/2010/main" val="37724848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3686067-13FD-1257-8EFC-B470991CF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55ADF8AB-C450-6274-4D50-388967F7614A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60C6EB99-B1BB-20B6-B0A8-6EB41499BC5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F0A3E6D-5A00-A173-D892-667175BBC8A0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4FCA4343-DF59-4DEA-80D7-AA534C92276D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8054B01D-F0DB-6FB5-F2F2-93F1A6F12E4F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Capacity of Byte</a:t>
            </a:r>
          </a:p>
        </p:txBody>
      </p:sp>
    </p:spTree>
    <p:extLst>
      <p:ext uri="{BB962C8B-B14F-4D97-AF65-F5344CB8AC3E}">
        <p14:creationId xmlns:p14="http://schemas.microsoft.com/office/powerpoint/2010/main" val="11837800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9BC39F4-D58C-9D95-6F54-656588F21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C168F67A-B8B6-5A63-D676-45AAAB09B5E1}"/>
              </a:ext>
            </a:extLst>
          </p:cNvPr>
          <p:cNvSpPr txBox="1"/>
          <p:nvPr/>
        </p:nvSpPr>
        <p:spPr>
          <a:xfrm>
            <a:off x="381000" y="888075"/>
            <a:ext cx="12352767" cy="151021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What is</a:t>
            </a:r>
            <a:r>
              <a:rPr lang="en-GB" sz="4000" b="1" spc="60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the</a:t>
            </a:r>
            <a:r>
              <a:rPr lang="en-GB" sz="4000" b="1" spc="20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largest</a:t>
            </a:r>
            <a:r>
              <a:rPr lang="en-GB" sz="4000" b="1" spc="5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number</a:t>
            </a:r>
            <a:r>
              <a:rPr lang="en-GB" sz="4000" b="1" spc="-25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in </a:t>
            </a:r>
            <a:r>
              <a:rPr lang="en-GB" sz="4000" b="1" spc="-10" dirty="0">
                <a:latin typeface="Comic Sans MS" panose="030F0702030302020204" pitchFamily="66" charset="0"/>
              </a:rPr>
              <a:t>byte?</a:t>
            </a:r>
            <a:endParaRPr lang="sv-SE" sz="4000" b="1" dirty="0">
              <a:latin typeface="Comic Sans MS" panose="030F0702030302020204" pitchFamily="66" charset="0"/>
            </a:endParaRP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1 byte = 8 bits → max number = 255 (11111111).</a:t>
            </a:r>
          </a:p>
        </p:txBody>
      </p:sp>
      <p:pic>
        <p:nvPicPr>
          <p:cNvPr id="6" name="Picture 5" descr="A screenshot of a game&#10;&#10;AI-generated content may be incorrect.">
            <a:extLst>
              <a:ext uri="{FF2B5EF4-FFF2-40B4-BE49-F238E27FC236}">
                <a16:creationId xmlns:a16="http://schemas.microsoft.com/office/drawing/2014/main" id="{32B318B0-B853-FC79-8563-064DE1B4B0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6170" y="2847043"/>
            <a:ext cx="5791200" cy="4239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5722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7748D17-CD33-46E2-DC28-F29C70A7D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8D6FBE8-81F3-5BFE-47DD-7BEFAEBE3644}"/>
              </a:ext>
            </a:extLst>
          </p:cNvPr>
          <p:cNvSpPr txBox="1"/>
          <p:nvPr/>
        </p:nvSpPr>
        <p:spPr>
          <a:xfrm>
            <a:off x="381000" y="888075"/>
            <a:ext cx="12352767" cy="151021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What</a:t>
            </a:r>
            <a:r>
              <a:rPr lang="en-GB" sz="4000" b="1" spc="-25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if</a:t>
            </a:r>
            <a:r>
              <a:rPr lang="en-GB" sz="4000" b="1" spc="-20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I</a:t>
            </a:r>
            <a:r>
              <a:rPr lang="en-GB" sz="4000" b="1" spc="-5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have</a:t>
            </a:r>
            <a:r>
              <a:rPr lang="en-GB" sz="4000" b="1" spc="-15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larger</a:t>
            </a:r>
            <a:r>
              <a:rPr lang="en-GB" sz="4000" b="1" spc="-25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number</a:t>
            </a:r>
            <a:r>
              <a:rPr lang="en-GB" sz="4000" b="1" spc="-20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such</a:t>
            </a:r>
            <a:r>
              <a:rPr lang="en-GB" sz="4000" b="1" spc="-50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as</a:t>
            </a:r>
            <a:r>
              <a:rPr lang="en-GB" sz="4000" b="1" spc="-40" dirty="0">
                <a:latin typeface="Comic Sans MS" panose="030F0702030302020204" pitchFamily="66" charset="0"/>
              </a:rPr>
              <a:t> </a:t>
            </a:r>
            <a:r>
              <a:rPr lang="en-GB" sz="4000" b="1" spc="-10" dirty="0">
                <a:solidFill>
                  <a:srgbClr val="FF0000"/>
                </a:solidFill>
                <a:latin typeface="Comic Sans MS" panose="030F0702030302020204" pitchFamily="66" charset="0"/>
              </a:rPr>
              <a:t>257</a:t>
            </a:r>
            <a:r>
              <a:rPr lang="en-GB" sz="4000" b="1" spc="-10" dirty="0">
                <a:latin typeface="Comic Sans MS" panose="030F0702030302020204" pitchFamily="66" charset="0"/>
              </a:rPr>
              <a:t>?!!</a:t>
            </a:r>
          </a:p>
          <a:p>
            <a:endParaRPr lang="en-GB" sz="2400" b="0" dirty="0">
              <a:effectLst/>
              <a:latin typeface="Comic Sans MS" panose="030F0702030302020204" pitchFamily="66" charset="0"/>
            </a:endParaRPr>
          </a:p>
          <a:p>
            <a:r>
              <a:rPr lang="en-GB" sz="2400" b="0" dirty="0">
                <a:effectLst/>
                <a:latin typeface="Comic Sans MS" panose="030F0702030302020204" pitchFamily="66" charset="0"/>
              </a:rPr>
              <a:t>2 bytes = 16 bits → max number = 65,535 (1111111111111111).</a:t>
            </a:r>
          </a:p>
        </p:txBody>
      </p:sp>
      <p:pic>
        <p:nvPicPr>
          <p:cNvPr id="6" name="Picture 5" descr="A screenshot of a game&#10;&#10;AI-generated content may be incorrect.">
            <a:extLst>
              <a:ext uri="{FF2B5EF4-FFF2-40B4-BE49-F238E27FC236}">
                <a16:creationId xmlns:a16="http://schemas.microsoft.com/office/drawing/2014/main" id="{3708E463-D796-2A92-99D3-EE7F40CD94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6170" y="2847043"/>
            <a:ext cx="5791200" cy="4239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2643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351953E-BA72-68EE-79F5-7FED25BB8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9197648-D570-EAE7-9A67-560F15880641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dirty="0" err="1">
                <a:latin typeface="Comic Sans MS" panose="030F0702030302020204" pitchFamily="66" charset="0"/>
              </a:rPr>
              <a:t>Represent</a:t>
            </a:r>
            <a:r>
              <a:rPr lang="sv-SE" sz="4000" b="1" spc="-55" dirty="0">
                <a:latin typeface="Comic Sans MS" panose="030F0702030302020204" pitchFamily="66" charset="0"/>
              </a:rPr>
              <a:t> </a:t>
            </a:r>
            <a:r>
              <a:rPr lang="sv-SE" sz="4000" b="1" dirty="0" err="1">
                <a:latin typeface="Comic Sans MS" panose="030F0702030302020204" pitchFamily="66" charset="0"/>
              </a:rPr>
              <a:t>this</a:t>
            </a:r>
            <a:r>
              <a:rPr lang="sv-SE" sz="4000" b="1" spc="-45" dirty="0">
                <a:latin typeface="Comic Sans MS" panose="030F0702030302020204" pitchFamily="66" charset="0"/>
              </a:rPr>
              <a:t> </a:t>
            </a:r>
            <a:r>
              <a:rPr lang="sv-SE" sz="4000" b="1" dirty="0">
                <a:latin typeface="Comic Sans MS" panose="030F0702030302020204" pitchFamily="66" charset="0"/>
              </a:rPr>
              <a:t>in</a:t>
            </a:r>
            <a:r>
              <a:rPr lang="sv-SE" sz="4000" b="1" spc="-65" dirty="0">
                <a:latin typeface="Comic Sans MS" panose="030F0702030302020204" pitchFamily="66" charset="0"/>
              </a:rPr>
              <a:t> </a:t>
            </a:r>
            <a:r>
              <a:rPr lang="sv-SE" sz="4000" b="1" spc="-10" dirty="0" err="1">
                <a:latin typeface="Comic Sans MS" panose="030F0702030302020204" pitchFamily="66" charset="0"/>
              </a:rPr>
              <a:t>binary</a:t>
            </a:r>
            <a:r>
              <a:rPr lang="sv-SE" sz="4000" b="1" spc="-10" dirty="0">
                <a:latin typeface="Comic Sans MS" panose="030F0702030302020204" pitchFamily="66" charset="0"/>
              </a:rPr>
              <a:t>…</a:t>
            </a:r>
            <a:endParaRPr lang="sv-SE" sz="4000" b="1" dirty="0">
              <a:latin typeface="Comic Sans MS" panose="030F0702030302020204" pitchFamily="66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60D6D2-49D2-44F7-94A2-C0C6F098537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57400" y="2846991"/>
            <a:ext cx="10792393" cy="4239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1738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FFC3788-D773-CD9D-BFEE-9E6A62493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F26F630-AAA5-2AA0-3D32-0CF361E67384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What</a:t>
            </a:r>
            <a:r>
              <a:rPr lang="en-GB" sz="4000" b="1" spc="-30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is</a:t>
            </a:r>
            <a:r>
              <a:rPr lang="en-GB" sz="4000" b="1" spc="-25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the</a:t>
            </a:r>
            <a:r>
              <a:rPr lang="en-GB" sz="4000" b="1" spc="-20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largest number</a:t>
            </a:r>
            <a:r>
              <a:rPr lang="en-GB" sz="4000" b="1" spc="-30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in</a:t>
            </a:r>
            <a:r>
              <a:rPr lang="en-GB" sz="4000" b="1" spc="-40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2</a:t>
            </a:r>
            <a:r>
              <a:rPr lang="en-GB" sz="4000" b="1" spc="-30" dirty="0">
                <a:latin typeface="Comic Sans MS" panose="030F0702030302020204" pitchFamily="66" charset="0"/>
              </a:rPr>
              <a:t> </a:t>
            </a:r>
            <a:r>
              <a:rPr lang="en-GB" sz="4000" b="1" spc="-10" dirty="0">
                <a:latin typeface="Comic Sans MS" panose="030F0702030302020204" pitchFamily="66" charset="0"/>
              </a:rPr>
              <a:t>bytes?</a:t>
            </a:r>
            <a:endParaRPr lang="sv-SE" sz="4000" b="1" dirty="0">
              <a:latin typeface="Comic Sans MS" panose="030F0702030302020204" pitchFamily="66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FEFB77-41EF-AE43-0910-FEC3E1B3AEE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25450" y="2846991"/>
            <a:ext cx="10456292" cy="4239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9094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302505"/>
            <a:ext cx="13411200" cy="1453390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ts val="5640"/>
              </a:lnSpc>
              <a:spcBef>
                <a:spcPts val="105"/>
              </a:spcBef>
            </a:pPr>
            <a:r>
              <a:rPr lang="en-GB" sz="4000" b="1" spc="-20" dirty="0">
                <a:solidFill>
                  <a:srgbClr val="FF0000"/>
                </a:solidFill>
                <a:latin typeface="Comic Sans MS" panose="030F0702030302020204" pitchFamily="66" charset="0"/>
              </a:rPr>
              <a:t>But!</a:t>
            </a:r>
            <a:endParaRPr lang="en-GB" sz="4000" b="1" dirty="0">
              <a:latin typeface="Comic Sans MS" panose="030F0702030302020204" pitchFamily="66" charset="0"/>
            </a:endParaRPr>
          </a:p>
          <a:p>
            <a:pPr algn="ctr">
              <a:lnSpc>
                <a:spcPts val="5640"/>
              </a:lnSpc>
            </a:pPr>
            <a:r>
              <a:rPr lang="en-GB" sz="4000" b="1" dirty="0">
                <a:latin typeface="Comic Sans MS" panose="030F0702030302020204" pitchFamily="66" charset="0"/>
              </a:rPr>
              <a:t>How</a:t>
            </a:r>
            <a:r>
              <a:rPr lang="en-GB" sz="4000" b="1" spc="-55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to</a:t>
            </a:r>
            <a:r>
              <a:rPr lang="en-GB" sz="4000" b="1" spc="-65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represent</a:t>
            </a:r>
            <a:r>
              <a:rPr lang="en-GB" sz="4000" b="1" spc="-40" dirty="0">
                <a:latin typeface="Comic Sans MS" panose="030F0702030302020204" pitchFamily="66" charset="0"/>
              </a:rPr>
              <a:t> </a:t>
            </a:r>
            <a:r>
              <a:rPr lang="en-GB" sz="4000" b="1" spc="-10" dirty="0">
                <a:latin typeface="Comic Sans MS" panose="030F0702030302020204" pitchFamily="66" charset="0"/>
              </a:rPr>
              <a:t>letters?</a:t>
            </a:r>
            <a:endParaRPr lang="sv-SE" sz="4000" b="1" dirty="0">
              <a:solidFill>
                <a:srgbClr val="FF0000"/>
              </a:solidFill>
              <a:latin typeface="Comic Sans MS" panose="030F0702030302020204" pitchFamily="66" charset="0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2DA64FF-7F66-CEC3-7299-5BE3F124F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6CDF1FBC-392D-2FB5-4BA1-B47301F6CC62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EF77E42F-C649-25B2-88D8-8414F4DC0E2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F63D97CB-6374-3744-2162-A980540E1A5A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7C00B36A-F13F-3B99-A6DC-D7C46903D5A4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F7EC6FD4-0AD7-43FF-E60B-7E996E581D45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ASCII &amp; Unicode</a:t>
            </a:r>
          </a:p>
        </p:txBody>
      </p:sp>
    </p:spTree>
    <p:extLst>
      <p:ext uri="{BB962C8B-B14F-4D97-AF65-F5344CB8AC3E}">
        <p14:creationId xmlns:p14="http://schemas.microsoft.com/office/powerpoint/2010/main" val="36960379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EA6404E-3F33-37E4-47F5-44F959D95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0A6656A-94C2-5F0A-E550-780AED7A69C2}"/>
              </a:ext>
            </a:extLst>
          </p:cNvPr>
          <p:cNvSpPr txBox="1"/>
          <p:nvPr/>
        </p:nvSpPr>
        <p:spPr>
          <a:xfrm>
            <a:off x="381000" y="888075"/>
            <a:ext cx="12352767" cy="44648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Representing Characters – ASCII</a:t>
            </a:r>
            <a:endParaRPr lang="en-GB" sz="4000" dirty="0">
              <a:latin typeface="Comic Sans MS" panose="030F0702030302020204" pitchFamily="66" charset="0"/>
            </a:endParaRP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SE" sz="2400" dirty="0">
                <a:latin typeface="Comic Sans MS" panose="030F0702030302020204" pitchFamily="66" charset="0"/>
              </a:rPr>
              <a:t>🟨 </a:t>
            </a:r>
            <a:r>
              <a:rPr lang="en-GB" sz="2400" dirty="0">
                <a:latin typeface="Comic Sans MS" panose="030F0702030302020204" pitchFamily="66" charset="0"/>
              </a:rPr>
              <a:t>Computers use </a:t>
            </a:r>
            <a:r>
              <a:rPr lang="en-GB" sz="2400" b="1" dirty="0">
                <a:latin typeface="Comic Sans MS" panose="030F0702030302020204" pitchFamily="66" charset="0"/>
              </a:rPr>
              <a:t>codes</a:t>
            </a:r>
            <a:r>
              <a:rPr lang="en-GB" sz="2400" dirty="0">
                <a:latin typeface="Comic Sans MS" panose="030F0702030302020204" pitchFamily="66" charset="0"/>
              </a:rPr>
              <a:t> to represent letters and symbols.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🟨 </a:t>
            </a:r>
            <a:r>
              <a:rPr lang="en-GB" sz="2400" b="1" dirty="0">
                <a:latin typeface="Comic Sans MS" panose="030F0702030302020204" pitchFamily="66" charset="0"/>
              </a:rPr>
              <a:t>ASCII (American Standard Code for Information Interchange)</a:t>
            </a:r>
            <a:r>
              <a:rPr lang="en-GB" sz="2400" dirty="0">
                <a:latin typeface="Comic Sans MS" panose="030F0702030302020204" pitchFamily="66" charset="0"/>
              </a:rPr>
              <a:t> assigns a unique 	binary code to each character.</a:t>
            </a:r>
          </a:p>
          <a:p>
            <a:r>
              <a:rPr lang="en-SE" sz="2400" b="1" dirty="0"/>
              <a:t>💡 </a:t>
            </a:r>
            <a:r>
              <a:rPr lang="en-GB" sz="2400" dirty="0">
                <a:latin typeface="Comic Sans MS" panose="030F0702030302020204" pitchFamily="66" charset="0"/>
              </a:rPr>
              <a:t>Example:</a:t>
            </a:r>
          </a:p>
          <a:p>
            <a:pPr lvl="1"/>
            <a:r>
              <a:rPr lang="en-GB" sz="2400" dirty="0">
                <a:latin typeface="Comic Sans MS" panose="030F0702030302020204" pitchFamily="66" charset="0"/>
              </a:rPr>
              <a:t>	</a:t>
            </a:r>
            <a:r>
              <a:rPr lang="en-SE" sz="1800" dirty="0"/>
              <a:t> </a:t>
            </a:r>
            <a:r>
              <a:rPr lang="en-SE" sz="2400" dirty="0"/>
              <a:t>🟩</a:t>
            </a:r>
            <a:r>
              <a:rPr lang="sv-SE" sz="2400" dirty="0"/>
              <a:t> </a:t>
            </a:r>
            <a:r>
              <a:rPr lang="en-GB" sz="2400" dirty="0">
                <a:latin typeface="Comic Sans MS" panose="030F0702030302020204" pitchFamily="66" charset="0"/>
              </a:rPr>
              <a:t>‘A’ = 65 = 01000001</a:t>
            </a:r>
          </a:p>
          <a:p>
            <a:pPr lvl="1"/>
            <a:r>
              <a:rPr lang="en-GB" sz="2400" dirty="0">
                <a:latin typeface="Comic Sans MS" panose="030F0702030302020204" pitchFamily="66" charset="0"/>
              </a:rPr>
              <a:t>	</a:t>
            </a:r>
            <a:r>
              <a:rPr lang="en-SE" sz="1800" dirty="0"/>
              <a:t> </a:t>
            </a:r>
            <a:r>
              <a:rPr lang="en-SE" sz="2400" dirty="0"/>
              <a:t>🟩 </a:t>
            </a:r>
            <a:r>
              <a:rPr lang="en-GB" sz="2400" dirty="0">
                <a:latin typeface="Comic Sans MS" panose="030F0702030302020204" pitchFamily="66" charset="0"/>
              </a:rPr>
              <a:t>‘B’ = 66 = 01000010</a:t>
            </a:r>
          </a:p>
          <a:p>
            <a:pPr lvl="1"/>
            <a:r>
              <a:rPr lang="en-GB" sz="2400" dirty="0">
                <a:latin typeface="Comic Sans MS" panose="030F0702030302020204" pitchFamily="66" charset="0"/>
              </a:rPr>
              <a:t>	</a:t>
            </a:r>
            <a:r>
              <a:rPr lang="en-SE" sz="2400" dirty="0"/>
              <a:t> 🟩 </a:t>
            </a:r>
            <a:r>
              <a:rPr lang="en-GB" sz="2400" dirty="0">
                <a:latin typeface="Comic Sans MS" panose="030F0702030302020204" pitchFamily="66" charset="0"/>
              </a:rPr>
              <a:t>Space = 32 = 00100000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🟨 </a:t>
            </a:r>
            <a:r>
              <a:rPr lang="en-GB" sz="2400" dirty="0">
                <a:latin typeface="Comic Sans MS" panose="030F0702030302020204" pitchFamily="66" charset="0"/>
              </a:rPr>
              <a:t>Limitation: ASCII supports only </a:t>
            </a:r>
            <a:r>
              <a:rPr lang="en-GB" sz="2400" b="1" dirty="0">
                <a:latin typeface="Comic Sans MS" panose="030F0702030302020204" pitchFamily="66" charset="0"/>
              </a:rPr>
              <a:t>English letters and limited symbols</a:t>
            </a:r>
            <a:r>
              <a:rPr lang="en-GB" sz="2400" dirty="0">
                <a:latin typeface="Comic Sans MS" panose="030F0702030302020204" pitchFamily="66" charset="0"/>
              </a:rPr>
              <a:t> (128 or 256 codes).</a:t>
            </a:r>
          </a:p>
        </p:txBody>
      </p:sp>
    </p:spTree>
    <p:extLst>
      <p:ext uri="{BB962C8B-B14F-4D97-AF65-F5344CB8AC3E}">
        <p14:creationId xmlns:p14="http://schemas.microsoft.com/office/powerpoint/2010/main" val="39980895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515A796-B288-44E5-80E6-E6918C8E1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1E23D2DF-DD73-5663-FED0-2837CDE7118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" y="1257300"/>
            <a:ext cx="13410383" cy="754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4269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00D85DC-0292-07B3-2095-5B2FAAADE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2EA9A749-3795-79A0-2A7C-B5EFD238EB4F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dirty="0" err="1">
                <a:latin typeface="Comic Sans MS" panose="030F0702030302020204" pitchFamily="66" charset="0"/>
              </a:rPr>
              <a:t>How</a:t>
            </a:r>
            <a:r>
              <a:rPr lang="sv-SE" sz="4000" b="1" spc="40" dirty="0">
                <a:latin typeface="Comic Sans MS" panose="030F0702030302020204" pitchFamily="66" charset="0"/>
              </a:rPr>
              <a:t> </a:t>
            </a:r>
            <a:r>
              <a:rPr lang="sv-SE" sz="4000" b="1" dirty="0">
                <a:latin typeface="Comic Sans MS" panose="030F0702030302020204" pitchFamily="66" charset="0"/>
              </a:rPr>
              <a:t>to</a:t>
            </a:r>
            <a:r>
              <a:rPr lang="sv-SE" sz="4000" b="1" spc="35" dirty="0">
                <a:latin typeface="Comic Sans MS" panose="030F0702030302020204" pitchFamily="66" charset="0"/>
              </a:rPr>
              <a:t> </a:t>
            </a:r>
            <a:r>
              <a:rPr lang="sv-SE" sz="4000" b="1" dirty="0" err="1">
                <a:latin typeface="Comic Sans MS" panose="030F0702030302020204" pitchFamily="66" charset="0"/>
              </a:rPr>
              <a:t>represent</a:t>
            </a:r>
            <a:r>
              <a:rPr lang="sv-SE" sz="4000" b="1" spc="15" dirty="0">
                <a:latin typeface="Comic Sans MS" panose="030F0702030302020204" pitchFamily="66" charset="0"/>
              </a:rPr>
              <a:t> </a:t>
            </a:r>
            <a:r>
              <a:rPr lang="sv-SE" sz="4000" b="1" spc="-10" dirty="0">
                <a:latin typeface="Comic Sans MS" panose="030F0702030302020204" pitchFamily="66" charset="0"/>
              </a:rPr>
              <a:t>letters?</a:t>
            </a:r>
            <a:endParaRPr lang="sv-SE" sz="4000" b="1" dirty="0">
              <a:latin typeface="Comic Sans MS" panose="030F0702030302020204" pitchFamily="66" charset="0"/>
            </a:endParaRPr>
          </a:p>
        </p:txBody>
      </p:sp>
      <p:pic>
        <p:nvPicPr>
          <p:cNvPr id="5" name="Picture 4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EFE0D5D7-0DEF-0BF9-58FD-B50223A6DD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4404" y="2438399"/>
            <a:ext cx="8104396" cy="4392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2821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870820D-10DD-1ED0-738D-1518D77BE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C368F9BD-306F-EE44-ED0C-CC1FEBF00D01}"/>
              </a:ext>
            </a:extLst>
          </p:cNvPr>
          <p:cNvSpPr txBox="1"/>
          <p:nvPr/>
        </p:nvSpPr>
        <p:spPr>
          <a:xfrm>
            <a:off x="381000" y="888075"/>
            <a:ext cx="12352767" cy="249510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This</a:t>
            </a:r>
            <a:r>
              <a:rPr lang="en-GB" sz="4000" b="1" spc="-10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is</a:t>
            </a:r>
            <a:r>
              <a:rPr lang="en-GB" sz="4000" b="1" spc="-5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my</a:t>
            </a:r>
            <a:r>
              <a:rPr lang="en-GB" sz="4000" b="1" spc="15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name</a:t>
            </a:r>
            <a:r>
              <a:rPr lang="en-GB" sz="4000" b="1" spc="-10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in</a:t>
            </a:r>
            <a:r>
              <a:rPr lang="en-GB" sz="4000" b="1" spc="5" dirty="0">
                <a:latin typeface="Comic Sans MS" panose="030F0702030302020204" pitchFamily="66" charset="0"/>
              </a:rPr>
              <a:t> </a:t>
            </a:r>
            <a:r>
              <a:rPr lang="en-GB" sz="4000" b="1" spc="-10" dirty="0">
                <a:latin typeface="Comic Sans MS" panose="030F0702030302020204" pitchFamily="66" charset="0"/>
              </a:rPr>
              <a:t>binary:</a:t>
            </a:r>
          </a:p>
          <a:p>
            <a:endParaRPr lang="en-GB" sz="4000" b="1" spc="-10" dirty="0">
              <a:latin typeface="Comic Sans MS" panose="030F0702030302020204" pitchFamily="66" charset="0"/>
            </a:endParaRPr>
          </a:p>
          <a:p>
            <a:r>
              <a:rPr lang="en-GB" sz="2400" b="1" spc="-10" dirty="0">
                <a:solidFill>
                  <a:srgbClr val="FF0000"/>
                </a:solidFill>
                <a:latin typeface="Comic Sans MS" panose="030F0702030302020204" pitchFamily="66" charset="0"/>
              </a:rPr>
              <a:t>Sara Alterkawi</a:t>
            </a:r>
          </a:p>
          <a:p>
            <a:r>
              <a:rPr lang="sv-SE" sz="2400" b="1" u="sng" dirty="0">
                <a:solidFill>
                  <a:schemeClr val="accent1"/>
                </a:solidFill>
                <a:latin typeface="Comic Sans MS" panose="030F0702030302020204" pitchFamily="66" charset="0"/>
              </a:rPr>
              <a:t>01010011</a:t>
            </a:r>
            <a:r>
              <a:rPr lang="sv-SE" sz="2400" b="1" dirty="0">
                <a:solidFill>
                  <a:schemeClr val="accent1"/>
                </a:solidFill>
                <a:latin typeface="Comic Sans MS" panose="030F0702030302020204" pitchFamily="66" charset="0"/>
              </a:rPr>
              <a:t> </a:t>
            </a:r>
            <a:r>
              <a:rPr lang="sv-SE" sz="2400" b="1" u="sng" dirty="0">
                <a:solidFill>
                  <a:schemeClr val="accent1"/>
                </a:solidFill>
                <a:latin typeface="Comic Sans MS" panose="030F0702030302020204" pitchFamily="66" charset="0"/>
              </a:rPr>
              <a:t>01100001</a:t>
            </a:r>
            <a:r>
              <a:rPr lang="sv-SE" sz="2400" b="1" dirty="0">
                <a:solidFill>
                  <a:schemeClr val="accent1"/>
                </a:solidFill>
                <a:latin typeface="Comic Sans MS" panose="030F0702030302020204" pitchFamily="66" charset="0"/>
              </a:rPr>
              <a:t> </a:t>
            </a:r>
            <a:r>
              <a:rPr lang="sv-SE" sz="2400" b="1" u="sng" dirty="0">
                <a:solidFill>
                  <a:schemeClr val="accent1"/>
                </a:solidFill>
                <a:latin typeface="Comic Sans MS" panose="030F0702030302020204" pitchFamily="66" charset="0"/>
              </a:rPr>
              <a:t>01110010</a:t>
            </a:r>
            <a:r>
              <a:rPr lang="sv-SE" sz="2400" b="1" dirty="0">
                <a:solidFill>
                  <a:schemeClr val="accent1"/>
                </a:solidFill>
                <a:latin typeface="Comic Sans MS" panose="030F0702030302020204" pitchFamily="66" charset="0"/>
              </a:rPr>
              <a:t> </a:t>
            </a:r>
            <a:r>
              <a:rPr lang="sv-SE" sz="2400" b="1" u="sng" dirty="0">
                <a:solidFill>
                  <a:schemeClr val="accent1"/>
                </a:solidFill>
                <a:latin typeface="Comic Sans MS" panose="030F0702030302020204" pitchFamily="66" charset="0"/>
              </a:rPr>
              <a:t>01100001</a:t>
            </a:r>
            <a:r>
              <a:rPr lang="sv-SE" sz="2400" b="1" dirty="0">
                <a:solidFill>
                  <a:schemeClr val="accent1"/>
                </a:solidFill>
                <a:latin typeface="Comic Sans MS" panose="030F0702030302020204" pitchFamily="66" charset="0"/>
              </a:rPr>
              <a:t> </a:t>
            </a:r>
            <a:r>
              <a:rPr lang="sv-SE" sz="2400" b="1" u="sng" dirty="0">
                <a:solidFill>
                  <a:schemeClr val="accent1"/>
                </a:solidFill>
                <a:latin typeface="Comic Sans MS" panose="030F0702030302020204" pitchFamily="66" charset="0"/>
              </a:rPr>
              <a:t>00100000</a:t>
            </a:r>
            <a:r>
              <a:rPr lang="sv-SE" sz="2400" b="1" dirty="0">
                <a:solidFill>
                  <a:schemeClr val="accent1"/>
                </a:solidFill>
                <a:latin typeface="Comic Sans MS" panose="030F0702030302020204" pitchFamily="66" charset="0"/>
              </a:rPr>
              <a:t> </a:t>
            </a:r>
            <a:r>
              <a:rPr lang="sv-SE" sz="2400" b="1" u="sng" dirty="0">
                <a:solidFill>
                  <a:schemeClr val="accent1"/>
                </a:solidFill>
                <a:latin typeface="Comic Sans MS" panose="030F0702030302020204" pitchFamily="66" charset="0"/>
              </a:rPr>
              <a:t>01000001</a:t>
            </a:r>
            <a:r>
              <a:rPr lang="sv-SE" sz="2400" b="1" dirty="0">
                <a:solidFill>
                  <a:schemeClr val="accent1"/>
                </a:solidFill>
                <a:latin typeface="Comic Sans MS" panose="030F0702030302020204" pitchFamily="66" charset="0"/>
              </a:rPr>
              <a:t> </a:t>
            </a:r>
            <a:r>
              <a:rPr lang="sv-SE" sz="2400" b="1" u="sng" dirty="0">
                <a:solidFill>
                  <a:schemeClr val="accent1"/>
                </a:solidFill>
                <a:latin typeface="Comic Sans MS" panose="030F0702030302020204" pitchFamily="66" charset="0"/>
              </a:rPr>
              <a:t>01101100</a:t>
            </a:r>
            <a:r>
              <a:rPr lang="sv-SE" sz="2400" b="1" dirty="0">
                <a:solidFill>
                  <a:schemeClr val="accent1"/>
                </a:solidFill>
                <a:latin typeface="Comic Sans MS" panose="030F0702030302020204" pitchFamily="66" charset="0"/>
              </a:rPr>
              <a:t> </a:t>
            </a:r>
            <a:r>
              <a:rPr lang="sv-SE" sz="2400" b="1" u="sng" dirty="0">
                <a:solidFill>
                  <a:schemeClr val="accent1"/>
                </a:solidFill>
                <a:latin typeface="Comic Sans MS" panose="030F0702030302020204" pitchFamily="66" charset="0"/>
              </a:rPr>
              <a:t>01110100</a:t>
            </a:r>
            <a:r>
              <a:rPr lang="sv-SE" sz="2400" b="1" dirty="0">
                <a:solidFill>
                  <a:schemeClr val="accent1"/>
                </a:solidFill>
                <a:latin typeface="Comic Sans MS" panose="030F0702030302020204" pitchFamily="66" charset="0"/>
              </a:rPr>
              <a:t> </a:t>
            </a:r>
            <a:r>
              <a:rPr lang="sv-SE" sz="2400" b="1" u="sng" dirty="0">
                <a:solidFill>
                  <a:schemeClr val="accent1"/>
                </a:solidFill>
                <a:latin typeface="Comic Sans MS" panose="030F0702030302020204" pitchFamily="66" charset="0"/>
              </a:rPr>
              <a:t>01100101</a:t>
            </a:r>
            <a:r>
              <a:rPr lang="sv-SE" sz="2400" b="1" dirty="0">
                <a:solidFill>
                  <a:schemeClr val="accent1"/>
                </a:solidFill>
                <a:latin typeface="Comic Sans MS" panose="030F0702030302020204" pitchFamily="66" charset="0"/>
              </a:rPr>
              <a:t> </a:t>
            </a:r>
            <a:r>
              <a:rPr lang="sv-SE" sz="2400" b="1" u="sng" dirty="0">
                <a:solidFill>
                  <a:schemeClr val="accent1"/>
                </a:solidFill>
                <a:latin typeface="Comic Sans MS" panose="030F0702030302020204" pitchFamily="66" charset="0"/>
              </a:rPr>
              <a:t>01110010</a:t>
            </a:r>
            <a:r>
              <a:rPr lang="sv-SE" sz="2400" b="1" dirty="0">
                <a:solidFill>
                  <a:schemeClr val="accent1"/>
                </a:solidFill>
                <a:latin typeface="Comic Sans MS" panose="030F0702030302020204" pitchFamily="66" charset="0"/>
              </a:rPr>
              <a:t> </a:t>
            </a:r>
            <a:r>
              <a:rPr lang="sv-SE" sz="2400" b="1" u="sng" dirty="0">
                <a:solidFill>
                  <a:schemeClr val="accent1"/>
                </a:solidFill>
                <a:latin typeface="Comic Sans MS" panose="030F0702030302020204" pitchFamily="66" charset="0"/>
              </a:rPr>
              <a:t>01101011</a:t>
            </a:r>
            <a:r>
              <a:rPr lang="sv-SE" sz="2400" b="1" dirty="0">
                <a:solidFill>
                  <a:schemeClr val="accent1"/>
                </a:solidFill>
                <a:latin typeface="Comic Sans MS" panose="030F0702030302020204" pitchFamily="66" charset="0"/>
              </a:rPr>
              <a:t> </a:t>
            </a:r>
            <a:r>
              <a:rPr lang="sv-SE" sz="2400" b="1" u="sng" dirty="0">
                <a:solidFill>
                  <a:schemeClr val="accent1"/>
                </a:solidFill>
                <a:latin typeface="Comic Sans MS" panose="030F0702030302020204" pitchFamily="66" charset="0"/>
              </a:rPr>
              <a:t>01100001</a:t>
            </a:r>
            <a:r>
              <a:rPr lang="sv-SE" sz="2400" b="1" dirty="0">
                <a:solidFill>
                  <a:schemeClr val="accent1"/>
                </a:solidFill>
                <a:latin typeface="Comic Sans MS" panose="030F0702030302020204" pitchFamily="66" charset="0"/>
              </a:rPr>
              <a:t> </a:t>
            </a:r>
            <a:r>
              <a:rPr lang="sv-SE" sz="2400" b="1" u="sng" dirty="0">
                <a:solidFill>
                  <a:schemeClr val="accent1"/>
                </a:solidFill>
                <a:latin typeface="Comic Sans MS" panose="030F0702030302020204" pitchFamily="66" charset="0"/>
              </a:rPr>
              <a:t>01110111</a:t>
            </a:r>
            <a:r>
              <a:rPr lang="sv-SE" sz="2400" b="1" dirty="0">
                <a:solidFill>
                  <a:schemeClr val="accent1"/>
                </a:solidFill>
                <a:latin typeface="Comic Sans MS" panose="030F0702030302020204" pitchFamily="66" charset="0"/>
              </a:rPr>
              <a:t> </a:t>
            </a:r>
            <a:r>
              <a:rPr lang="sv-SE" sz="2400" b="1" u="sng" dirty="0">
                <a:solidFill>
                  <a:schemeClr val="accent1"/>
                </a:solidFill>
                <a:latin typeface="Comic Sans MS" panose="030F0702030302020204" pitchFamily="66" charset="0"/>
              </a:rPr>
              <a:t>01101001</a:t>
            </a:r>
          </a:p>
        </p:txBody>
      </p:sp>
    </p:spTree>
    <p:extLst>
      <p:ext uri="{BB962C8B-B14F-4D97-AF65-F5344CB8AC3E}">
        <p14:creationId xmlns:p14="http://schemas.microsoft.com/office/powerpoint/2010/main" val="27949638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9755D29-599C-F0B5-9C39-95E64E1D5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CCDF8B3-AB07-F353-667D-90898F81B432}"/>
              </a:ext>
            </a:extLst>
          </p:cNvPr>
          <p:cNvSpPr txBox="1"/>
          <p:nvPr/>
        </p:nvSpPr>
        <p:spPr>
          <a:xfrm>
            <a:off x="381000" y="888075"/>
            <a:ext cx="12352767" cy="218989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dirty="0" err="1">
                <a:latin typeface="Comic Sans MS" panose="030F0702030302020204" pitchFamily="66" charset="0"/>
              </a:rPr>
              <a:t>What</a:t>
            </a:r>
            <a:r>
              <a:rPr lang="sv-SE" sz="4000" b="1" spc="15" dirty="0">
                <a:latin typeface="Comic Sans MS" panose="030F0702030302020204" pitchFamily="66" charset="0"/>
              </a:rPr>
              <a:t> </a:t>
            </a:r>
            <a:r>
              <a:rPr lang="sv-SE" sz="4000" b="1" dirty="0" err="1">
                <a:latin typeface="Comic Sans MS" panose="030F0702030302020204" pitchFamily="66" charset="0"/>
              </a:rPr>
              <a:t>does</a:t>
            </a:r>
            <a:r>
              <a:rPr lang="sv-SE" sz="4000" b="1" spc="45" dirty="0">
                <a:latin typeface="Comic Sans MS" panose="030F0702030302020204" pitchFamily="66" charset="0"/>
              </a:rPr>
              <a:t> </a:t>
            </a:r>
            <a:r>
              <a:rPr lang="sv-SE" sz="4000" b="1" dirty="0" err="1">
                <a:latin typeface="Comic Sans MS" panose="030F0702030302020204" pitchFamily="66" charset="0"/>
              </a:rPr>
              <a:t>this</a:t>
            </a:r>
            <a:r>
              <a:rPr lang="sv-SE" sz="4000" b="1" spc="75" dirty="0">
                <a:latin typeface="Comic Sans MS" panose="030F0702030302020204" pitchFamily="66" charset="0"/>
              </a:rPr>
              <a:t> </a:t>
            </a:r>
            <a:r>
              <a:rPr lang="sv-SE" sz="4000" b="1" spc="-10" dirty="0" err="1">
                <a:latin typeface="Comic Sans MS" panose="030F0702030302020204" pitchFamily="66" charset="0"/>
              </a:rPr>
              <a:t>mean</a:t>
            </a:r>
            <a:r>
              <a:rPr lang="sv-SE" sz="4000" b="1" spc="-10" dirty="0">
                <a:latin typeface="Comic Sans MS" panose="030F0702030302020204" pitchFamily="66" charset="0"/>
              </a:rPr>
              <a:t>?</a:t>
            </a:r>
            <a:endParaRPr lang="en-GB" sz="4000" b="1" spc="-10" dirty="0">
              <a:latin typeface="Comic Sans MS" panose="030F0702030302020204" pitchFamily="66" charset="0"/>
            </a:endParaRPr>
          </a:p>
          <a:p>
            <a:endParaRPr lang="en-GB" sz="2400" b="1" spc="-10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endParaRPr lang="en-GB" sz="2400" b="1" spc="-10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marL="12700">
              <a:lnSpc>
                <a:spcPts val="2630"/>
              </a:lnSpc>
              <a:spcBef>
                <a:spcPts val="114"/>
              </a:spcBef>
            </a:pPr>
            <a:r>
              <a:rPr lang="en-SE" sz="2400" b="1" u="sng" dirty="0">
                <a:solidFill>
                  <a:schemeClr val="accent1"/>
                </a:solidFill>
                <a:latin typeface="Comic Sans MS" panose="030F0702030302020204" pitchFamily="66" charset="0"/>
              </a:rPr>
              <a:t>01001001 00100000 01001100 01101111 01110110 01100101</a:t>
            </a:r>
            <a:r>
              <a:rPr lang="sv-SE" sz="2400" b="1" u="sng" dirty="0">
                <a:solidFill>
                  <a:schemeClr val="accent1"/>
                </a:solidFill>
                <a:latin typeface="Comic Sans MS" panose="030F0702030302020204" pitchFamily="66" charset="0"/>
              </a:rPr>
              <a:t> </a:t>
            </a:r>
            <a:r>
              <a:rPr lang="en-SE" sz="2400" b="1" u="sng" dirty="0">
                <a:solidFill>
                  <a:schemeClr val="accent1"/>
                </a:solidFill>
                <a:latin typeface="Comic Sans MS" panose="030F0702030302020204" pitchFamily="66" charset="0"/>
              </a:rPr>
              <a:t>00100000 01011001 01101111 01110101 00100001</a:t>
            </a:r>
          </a:p>
        </p:txBody>
      </p:sp>
      <p:pic>
        <p:nvPicPr>
          <p:cNvPr id="4" name="Picture 3" descr="A close up of a message&#10;&#10;AI-generated content may be incorrect.">
            <a:extLst>
              <a:ext uri="{FF2B5EF4-FFF2-40B4-BE49-F238E27FC236}">
                <a16:creationId xmlns:a16="http://schemas.microsoft.com/office/drawing/2014/main" id="{E2288289-5D20-5C92-CAF1-8DED778833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9091" y="4038590"/>
            <a:ext cx="6653017" cy="1981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2885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6FBF0-9BC1-B575-C54D-33B0E6E8F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721B3460-F81C-E732-B938-13E0DEF699B2}"/>
              </a:ext>
            </a:extLst>
          </p:cNvPr>
          <p:cNvSpPr txBox="1">
            <a:spLocks/>
          </p:cNvSpPr>
          <p:nvPr/>
        </p:nvSpPr>
        <p:spPr>
          <a:xfrm>
            <a:off x="0" y="4302505"/>
            <a:ext cx="13411200" cy="1453390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ts val="5640"/>
              </a:lnSpc>
              <a:spcBef>
                <a:spcPts val="105"/>
              </a:spcBef>
            </a:pPr>
            <a:r>
              <a:rPr lang="en-GB" sz="4000" b="1" spc="-20" dirty="0">
                <a:solidFill>
                  <a:srgbClr val="FF0000"/>
                </a:solidFill>
                <a:latin typeface="Comic Sans MS" panose="030F0702030302020204" pitchFamily="66" charset="0"/>
              </a:rPr>
              <a:t>But!</a:t>
            </a:r>
            <a:endParaRPr lang="en-GB" sz="4000" b="1" dirty="0">
              <a:latin typeface="Comic Sans MS" panose="030F0702030302020204" pitchFamily="66" charset="0"/>
            </a:endParaRPr>
          </a:p>
          <a:p>
            <a:pPr algn="ctr">
              <a:lnSpc>
                <a:spcPts val="5640"/>
              </a:lnSpc>
            </a:pPr>
            <a:r>
              <a:rPr lang="en-GB" sz="4000" b="1" dirty="0">
                <a:latin typeface="Comic Sans MS" panose="030F0702030302020204" pitchFamily="66" charset="0"/>
              </a:rPr>
              <a:t>How</a:t>
            </a:r>
            <a:r>
              <a:rPr lang="en-GB" sz="4000" b="1" spc="-55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to</a:t>
            </a:r>
            <a:r>
              <a:rPr lang="en-GB" sz="4000" b="1" spc="-65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represent</a:t>
            </a:r>
            <a:r>
              <a:rPr lang="en-GB" sz="4000" b="1" spc="-40" dirty="0">
                <a:latin typeface="Comic Sans MS" panose="030F0702030302020204" pitchFamily="66" charset="0"/>
              </a:rPr>
              <a:t> </a:t>
            </a:r>
            <a:r>
              <a:rPr lang="en-GB" sz="4000" b="1" spc="-40" dirty="0">
                <a:solidFill>
                  <a:srgbClr val="FF0000"/>
                </a:solidFill>
                <a:latin typeface="Comic Sans MS" panose="030F0702030302020204" pitchFamily="66" charset="0"/>
              </a:rPr>
              <a:t>Arabic</a:t>
            </a:r>
            <a:r>
              <a:rPr lang="en-GB" sz="4000" b="1" spc="-40" dirty="0">
                <a:latin typeface="Comic Sans MS" panose="030F0702030302020204" pitchFamily="66" charset="0"/>
              </a:rPr>
              <a:t> </a:t>
            </a:r>
            <a:r>
              <a:rPr lang="en-GB" sz="4000" b="1" spc="-10" dirty="0">
                <a:solidFill>
                  <a:srgbClr val="FF0000"/>
                </a:solidFill>
                <a:latin typeface="Comic Sans MS" panose="030F0702030302020204" pitchFamily="66" charset="0"/>
              </a:rPr>
              <a:t>letters</a:t>
            </a:r>
            <a:r>
              <a:rPr lang="en-GB" sz="4000" b="1" spc="-10" dirty="0">
                <a:latin typeface="Comic Sans MS" panose="030F0702030302020204" pitchFamily="66" charset="0"/>
              </a:rPr>
              <a:t>?</a:t>
            </a:r>
            <a:endParaRPr lang="sv-SE" sz="4000" b="1" dirty="0">
              <a:solidFill>
                <a:srgbClr val="FF0000"/>
              </a:solidFill>
              <a:latin typeface="Comic Sans MS" panose="030F0702030302020204" pitchFamily="66" charset="0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2518948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8AA4D4F-2D73-045B-F55A-0A27F6556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268C7D29-2892-D3EE-AF47-D4FC92245381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99E219ED-7748-829A-DE71-0D9730EBEF3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B062CF4F-C3F1-FFBE-0265-B5F89852E271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A26BCCD9-EF9E-4F3B-F51E-450A47A69CBF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148F3057-8262-6757-4DB8-0CF52EF73B4C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Unicode</a:t>
            </a:r>
          </a:p>
        </p:txBody>
      </p:sp>
    </p:spTree>
    <p:extLst>
      <p:ext uri="{BB962C8B-B14F-4D97-AF65-F5344CB8AC3E}">
        <p14:creationId xmlns:p14="http://schemas.microsoft.com/office/powerpoint/2010/main" val="33498554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3B28832-F16C-BF1E-37EA-AC4349DD6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3E5C876-FAE6-46B3-6DB2-F6F7CF853618}"/>
              </a:ext>
            </a:extLst>
          </p:cNvPr>
          <p:cNvSpPr txBox="1"/>
          <p:nvPr/>
        </p:nvSpPr>
        <p:spPr>
          <a:xfrm>
            <a:off x="381000" y="888075"/>
            <a:ext cx="12352767" cy="409554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Representing Characters – ASCII</a:t>
            </a:r>
            <a:endParaRPr lang="en-GB" sz="4000" dirty="0">
              <a:latin typeface="Comic Sans MS" panose="030F0702030302020204" pitchFamily="66" charset="0"/>
            </a:endParaRP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SE" sz="2400" dirty="0">
                <a:latin typeface="Comic Sans MS" panose="030F0702030302020204" pitchFamily="66" charset="0"/>
              </a:rPr>
              <a:t>🟨 </a:t>
            </a:r>
            <a:r>
              <a:rPr lang="sv-SE" sz="2400" dirty="0">
                <a:latin typeface="Comic Sans MS" panose="030F0702030302020204" pitchFamily="66" charset="0"/>
              </a:rPr>
              <a:t>To </a:t>
            </a:r>
            <a:r>
              <a:rPr lang="sv-SE" sz="2400" dirty="0" err="1">
                <a:latin typeface="Comic Sans MS" panose="030F0702030302020204" pitchFamily="66" charset="0"/>
              </a:rPr>
              <a:t>represent</a:t>
            </a:r>
            <a:r>
              <a:rPr lang="sv-SE" sz="2400" dirty="0">
                <a:latin typeface="Comic Sans MS" panose="030F0702030302020204" pitchFamily="66" charset="0"/>
              </a:rPr>
              <a:t> all </a:t>
            </a:r>
            <a:r>
              <a:rPr lang="sv-SE" sz="2400" dirty="0" err="1">
                <a:latin typeface="Comic Sans MS" panose="030F0702030302020204" pitchFamily="66" charset="0"/>
              </a:rPr>
              <a:t>world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languages</a:t>
            </a:r>
            <a:r>
              <a:rPr lang="sv-SE" sz="2400" dirty="0">
                <a:latin typeface="Comic Sans MS" panose="030F0702030302020204" pitchFamily="66" charset="0"/>
              </a:rPr>
              <a:t>, </a:t>
            </a:r>
            <a:r>
              <a:rPr lang="sv-SE" sz="2400" b="1" dirty="0" err="1">
                <a:latin typeface="Comic Sans MS" panose="030F0702030302020204" pitchFamily="66" charset="0"/>
              </a:rPr>
              <a:t>Unicode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dirty="0" err="1">
                <a:latin typeface="Comic Sans MS" panose="030F0702030302020204" pitchFamily="66" charset="0"/>
              </a:rPr>
              <a:t>was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developed</a:t>
            </a:r>
            <a:r>
              <a:rPr lang="sv-SE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🟨 </a:t>
            </a:r>
            <a:r>
              <a:rPr lang="sv-SE" sz="2400" dirty="0" err="1">
                <a:latin typeface="Comic Sans MS" panose="030F0702030302020204" pitchFamily="66" charset="0"/>
              </a:rPr>
              <a:t>Unicode</a:t>
            </a:r>
            <a:r>
              <a:rPr lang="sv-SE" sz="2400" dirty="0">
                <a:latin typeface="Comic Sans MS" panose="030F0702030302020204" pitchFamily="66" charset="0"/>
              </a:rPr>
              <a:t> supports:</a:t>
            </a:r>
          </a:p>
          <a:p>
            <a:pPr lvl="1"/>
            <a:r>
              <a:rPr lang="sv-SE" sz="2400" dirty="0">
                <a:latin typeface="Comic Sans MS" panose="030F0702030302020204" pitchFamily="66" charset="0"/>
              </a:rPr>
              <a:t>	</a:t>
            </a:r>
            <a:r>
              <a:rPr lang="en-SE" sz="2400" dirty="0"/>
              <a:t>🟩 </a:t>
            </a:r>
            <a:r>
              <a:rPr lang="sv-SE" sz="2400" dirty="0">
                <a:latin typeface="Comic Sans MS" panose="030F0702030302020204" pitchFamily="66" charset="0"/>
              </a:rPr>
              <a:t>UTF-8 → 256 </a:t>
            </a:r>
            <a:r>
              <a:rPr lang="sv-SE" sz="2400" dirty="0" err="1">
                <a:latin typeface="Comic Sans MS" panose="030F0702030302020204" pitchFamily="66" charset="0"/>
              </a:rPr>
              <a:t>characters</a:t>
            </a:r>
            <a:endParaRPr lang="sv-SE" sz="2400" dirty="0">
              <a:latin typeface="Comic Sans MS" panose="030F0702030302020204" pitchFamily="66" charset="0"/>
            </a:endParaRPr>
          </a:p>
          <a:p>
            <a:pPr lvl="1"/>
            <a:r>
              <a:rPr lang="sv-SE" sz="2400" dirty="0"/>
              <a:t>	</a:t>
            </a:r>
            <a:r>
              <a:rPr lang="en-SE" sz="2400" dirty="0"/>
              <a:t>🟩 </a:t>
            </a:r>
            <a:r>
              <a:rPr lang="sv-SE" sz="2400" dirty="0">
                <a:latin typeface="Comic Sans MS" panose="030F0702030302020204" pitchFamily="66" charset="0"/>
              </a:rPr>
              <a:t>UTF-16 → 65,536 </a:t>
            </a:r>
            <a:r>
              <a:rPr lang="sv-SE" sz="2400" dirty="0" err="1">
                <a:latin typeface="Comic Sans MS" panose="030F0702030302020204" pitchFamily="66" charset="0"/>
              </a:rPr>
              <a:t>characters</a:t>
            </a:r>
            <a:endParaRPr lang="sv-SE" sz="2400" dirty="0">
              <a:latin typeface="Comic Sans MS" panose="030F0702030302020204" pitchFamily="66" charset="0"/>
            </a:endParaRPr>
          </a:p>
          <a:p>
            <a:pPr lvl="1"/>
            <a:r>
              <a:rPr lang="sv-SE" sz="2400" dirty="0"/>
              <a:t>	</a:t>
            </a:r>
            <a:r>
              <a:rPr lang="en-SE" sz="2400" dirty="0"/>
              <a:t>🟩 </a:t>
            </a:r>
            <a:r>
              <a:rPr lang="sv-SE" sz="2400" dirty="0">
                <a:latin typeface="Comic Sans MS" panose="030F0702030302020204" pitchFamily="66" charset="0"/>
              </a:rPr>
              <a:t>UTF-32 → 4,294,967,296 </a:t>
            </a:r>
            <a:r>
              <a:rPr lang="sv-SE" sz="2400" dirty="0" err="1">
                <a:latin typeface="Comic Sans MS" panose="030F0702030302020204" pitchFamily="66" charset="0"/>
              </a:rPr>
              <a:t>characters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en-SE" sz="2400" b="1" dirty="0"/>
              <a:t>💡 </a:t>
            </a:r>
            <a:r>
              <a:rPr lang="en-GB" sz="2400" dirty="0">
                <a:latin typeface="Comic Sans MS" panose="030F0702030302020204" pitchFamily="66" charset="0"/>
              </a:rPr>
              <a:t>Example</a:t>
            </a:r>
            <a:r>
              <a:rPr lang="sv-SE" sz="2400" dirty="0">
                <a:latin typeface="Comic Sans MS" panose="030F0702030302020204" pitchFamily="66" charset="0"/>
              </a:rPr>
              <a:t>:</a:t>
            </a:r>
          </a:p>
          <a:p>
            <a:r>
              <a:rPr lang="sv-SE" sz="2400" dirty="0">
                <a:latin typeface="Comic Sans MS" panose="030F0702030302020204" pitchFamily="66" charset="0"/>
              </a:rPr>
              <a:t>	</a:t>
            </a:r>
            <a:r>
              <a:rPr lang="sv-SE" sz="2400" dirty="0" err="1">
                <a:latin typeface="Comic Sans MS" panose="030F0702030302020204" pitchFamily="66" charset="0"/>
              </a:rPr>
              <a:t>Arabic</a:t>
            </a:r>
            <a:r>
              <a:rPr lang="sv-SE" sz="2400" dirty="0">
                <a:latin typeface="Comic Sans MS" panose="030F0702030302020204" pitchFamily="66" charset="0"/>
              </a:rPr>
              <a:t> letters </a:t>
            </a:r>
            <a:r>
              <a:rPr lang="sv-SE" sz="2400" dirty="0" err="1">
                <a:latin typeface="Comic Sans MS" panose="030F0702030302020204" pitchFamily="66" charset="0"/>
              </a:rPr>
              <a:t>such</a:t>
            </a:r>
            <a:r>
              <a:rPr lang="sv-SE" sz="2400" dirty="0">
                <a:latin typeface="Comic Sans MS" panose="030F0702030302020204" pitchFamily="66" charset="0"/>
              </a:rPr>
              <a:t> as “</a:t>
            </a:r>
            <a:r>
              <a:rPr lang="ar-SY" sz="2400" dirty="0">
                <a:latin typeface="Comic Sans MS" panose="030F0702030302020204" pitchFamily="66" charset="0"/>
              </a:rPr>
              <a:t>ساره” </a:t>
            </a:r>
            <a:r>
              <a:rPr lang="sv-SE" sz="2400" dirty="0" err="1">
                <a:latin typeface="Comic Sans MS" panose="030F0702030302020204" pitchFamily="66" charset="0"/>
              </a:rPr>
              <a:t>require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Unicode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because</a:t>
            </a:r>
            <a:r>
              <a:rPr lang="sv-SE" sz="2400" dirty="0">
                <a:latin typeface="Comic Sans MS" panose="030F0702030302020204" pitchFamily="66" charset="0"/>
              </a:rPr>
              <a:t> ASCII </a:t>
            </a:r>
            <a:r>
              <a:rPr lang="sv-SE" sz="2400" dirty="0" err="1">
                <a:latin typeface="Comic Sans MS" panose="030F0702030302020204" pitchFamily="66" charset="0"/>
              </a:rPr>
              <a:t>cannot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represent</a:t>
            </a:r>
            <a:r>
              <a:rPr lang="sv-SE" sz="2400" dirty="0">
                <a:latin typeface="Comic Sans MS" panose="030F0702030302020204" pitchFamily="66" charset="0"/>
              </a:rPr>
              <a:t> 	</a:t>
            </a:r>
            <a:r>
              <a:rPr lang="sv-SE" sz="2400" dirty="0" err="1">
                <a:latin typeface="Comic Sans MS" panose="030F0702030302020204" pitchFamily="66" charset="0"/>
              </a:rPr>
              <a:t>them</a:t>
            </a:r>
            <a:r>
              <a:rPr lang="sv-SE" sz="2400" dirty="0">
                <a:latin typeface="Comic Sans MS" panose="030F0702030302020204" pitchFamily="66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560599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360A874-9004-E84A-5013-FD860C393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B44C15E-805C-E536-52F1-16C74E7B5C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8" y="1257300"/>
            <a:ext cx="13410380" cy="754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24837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B644DCF-53AC-6149-2DEA-6375EC4EE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8AB8378-3F32-D5CE-0B6E-938491960934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dirty="0">
                <a:latin typeface="Comic Sans MS" panose="030F0702030302020204" pitchFamily="66" charset="0"/>
              </a:rPr>
              <a:t>Problem:</a:t>
            </a:r>
            <a:endParaRPr lang="en-GB" sz="4000" b="1" spc="-10" dirty="0">
              <a:latin typeface="Comic Sans MS" panose="030F0702030302020204" pitchFamily="66" charset="0"/>
            </a:endParaRPr>
          </a:p>
        </p:txBody>
      </p:sp>
      <p:pic>
        <p:nvPicPr>
          <p:cNvPr id="5" name="Picture 4" descr="A blue arrows pointing to the left&#10;&#10;AI-generated content may be incorrect.">
            <a:extLst>
              <a:ext uri="{FF2B5EF4-FFF2-40B4-BE49-F238E27FC236}">
                <a16:creationId xmlns:a16="http://schemas.microsoft.com/office/drawing/2014/main" id="{8DAFD51E-5B8C-A17C-ED3F-FC042878F44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7256" y="3211466"/>
            <a:ext cx="5616687" cy="3635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0862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7F514CF-B28B-92D6-CE23-2EEA70A29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E9D22A7-A452-3800-9E11-7A5F2050A7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8" y="1257300"/>
            <a:ext cx="13410380" cy="7543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61360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03EF8-D9BC-BBB2-4EBA-67EB5097A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object 13">
            <a:extLst>
              <a:ext uri="{FF2B5EF4-FFF2-40B4-BE49-F238E27FC236}">
                <a16:creationId xmlns:a16="http://schemas.microsoft.com/office/drawing/2014/main" id="{A39712BA-8A28-4346-B23D-932183E49040}"/>
              </a:ext>
            </a:extLst>
          </p:cNvPr>
          <p:cNvSpPr/>
          <p:nvPr/>
        </p:nvSpPr>
        <p:spPr>
          <a:xfrm>
            <a:off x="228600" y="1455995"/>
            <a:ext cx="12753788" cy="7146409"/>
          </a:xfrm>
          <a:custGeom>
            <a:avLst/>
            <a:gdLst/>
            <a:ahLst/>
            <a:cxnLst/>
            <a:rect l="l" t="t" r="r" b="b"/>
            <a:pathLst>
              <a:path w="3186429" h="1790700">
                <a:moveTo>
                  <a:pt x="3185922" y="0"/>
                </a:moveTo>
                <a:lnTo>
                  <a:pt x="0" y="0"/>
                </a:lnTo>
                <a:lnTo>
                  <a:pt x="0" y="1790700"/>
                </a:lnTo>
                <a:lnTo>
                  <a:pt x="3185922" y="1790700"/>
                </a:lnTo>
                <a:lnTo>
                  <a:pt x="3185922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24">
            <a:extLst>
              <a:ext uri="{FF2B5EF4-FFF2-40B4-BE49-F238E27FC236}">
                <a16:creationId xmlns:a16="http://schemas.microsoft.com/office/drawing/2014/main" id="{D5E32005-F2CD-8A44-2999-4C93B567217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7284" y="4492190"/>
            <a:ext cx="5979588" cy="629031"/>
          </a:xfrm>
          <a:prstGeom prst="rect">
            <a:avLst/>
          </a:prstGeom>
        </p:spPr>
      </p:pic>
      <p:pic>
        <p:nvPicPr>
          <p:cNvPr id="4" name="object 24">
            <a:extLst>
              <a:ext uri="{FF2B5EF4-FFF2-40B4-BE49-F238E27FC236}">
                <a16:creationId xmlns:a16="http://schemas.microsoft.com/office/drawing/2014/main" id="{6A8ABAF5-1CB5-FDC7-F805-1DA1D270182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7284" y="3719576"/>
            <a:ext cx="5979588" cy="629031"/>
          </a:xfrm>
          <a:prstGeom prst="rect">
            <a:avLst/>
          </a:prstGeom>
        </p:spPr>
      </p:pic>
      <p:sp>
        <p:nvSpPr>
          <p:cNvPr id="9" name="object 17">
            <a:extLst>
              <a:ext uri="{FF2B5EF4-FFF2-40B4-BE49-F238E27FC236}">
                <a16:creationId xmlns:a16="http://schemas.microsoft.com/office/drawing/2014/main" id="{1A4C1755-EBBE-D605-466B-D0BC189581EC}"/>
              </a:ext>
            </a:extLst>
          </p:cNvPr>
          <p:cNvSpPr/>
          <p:nvPr/>
        </p:nvSpPr>
        <p:spPr>
          <a:xfrm>
            <a:off x="2259648" y="2073580"/>
            <a:ext cx="1493917" cy="1500329"/>
          </a:xfrm>
          <a:custGeom>
            <a:avLst/>
            <a:gdLst/>
            <a:ahLst/>
            <a:cxnLst/>
            <a:rect l="l" t="t" r="r" b="b"/>
            <a:pathLst>
              <a:path w="295909" h="297179">
                <a:moveTo>
                  <a:pt x="0" y="148589"/>
                </a:moveTo>
                <a:lnTo>
                  <a:pt x="7546" y="101827"/>
                </a:lnTo>
                <a:lnTo>
                  <a:pt x="28553" y="61063"/>
                </a:lnTo>
                <a:lnTo>
                  <a:pt x="60569" y="28821"/>
                </a:lnTo>
                <a:lnTo>
                  <a:pt x="101144" y="7626"/>
                </a:lnTo>
                <a:lnTo>
                  <a:pt x="147828" y="0"/>
                </a:lnTo>
                <a:lnTo>
                  <a:pt x="194511" y="7626"/>
                </a:lnTo>
                <a:lnTo>
                  <a:pt x="235086" y="28821"/>
                </a:lnTo>
                <a:lnTo>
                  <a:pt x="267102" y="61063"/>
                </a:lnTo>
                <a:lnTo>
                  <a:pt x="288109" y="101827"/>
                </a:lnTo>
                <a:lnTo>
                  <a:pt x="295656" y="148589"/>
                </a:lnTo>
                <a:lnTo>
                  <a:pt x="288109" y="195645"/>
                </a:lnTo>
                <a:lnTo>
                  <a:pt x="267102" y="236445"/>
                </a:lnTo>
                <a:lnTo>
                  <a:pt x="235086" y="268577"/>
                </a:lnTo>
                <a:lnTo>
                  <a:pt x="194511" y="289627"/>
                </a:lnTo>
                <a:lnTo>
                  <a:pt x="147828" y="297179"/>
                </a:lnTo>
                <a:lnTo>
                  <a:pt x="101144" y="289627"/>
                </a:lnTo>
                <a:lnTo>
                  <a:pt x="60569" y="268577"/>
                </a:lnTo>
                <a:lnTo>
                  <a:pt x="28553" y="236445"/>
                </a:lnTo>
                <a:lnTo>
                  <a:pt x="7546" y="195645"/>
                </a:lnTo>
                <a:lnTo>
                  <a:pt x="0" y="148589"/>
                </a:lnTo>
                <a:close/>
              </a:path>
            </a:pathLst>
          </a:custGeom>
          <a:ln w="4978">
            <a:solidFill>
              <a:srgbClr val="8EA9DB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9">
            <a:extLst>
              <a:ext uri="{FF2B5EF4-FFF2-40B4-BE49-F238E27FC236}">
                <a16:creationId xmlns:a16="http://schemas.microsoft.com/office/drawing/2014/main" id="{7C7E1986-5F7D-5EC1-32B2-23FC457123B5}"/>
              </a:ext>
            </a:extLst>
          </p:cNvPr>
          <p:cNvSpPr txBox="1"/>
          <p:nvPr/>
        </p:nvSpPr>
        <p:spPr>
          <a:xfrm>
            <a:off x="2516492" y="2583179"/>
            <a:ext cx="1064908" cy="398321"/>
          </a:xfrm>
          <a:prstGeom prst="rect">
            <a:avLst/>
          </a:prstGeom>
        </p:spPr>
        <p:txBody>
          <a:bodyPr vert="horz" wrap="square" lIns="0" tIns="26296" rIns="0" bIns="0" rtlCol="0">
            <a:spAutoFit/>
          </a:bodyPr>
          <a:lstStyle/>
          <a:p>
            <a:pPr>
              <a:spcBef>
                <a:spcPts val="207"/>
              </a:spcBef>
            </a:pPr>
            <a:r>
              <a:rPr lang="sv-SE" sz="2416" b="1" spc="-43" dirty="0">
                <a:solidFill>
                  <a:srgbClr val="8FAADC"/>
                </a:solidFill>
                <a:latin typeface="Comic Sans MS"/>
                <a:cs typeface="Comic Sans MS"/>
              </a:rPr>
              <a:t>ASCII</a:t>
            </a:r>
            <a:endParaRPr sz="2416" dirty="0">
              <a:latin typeface="Comic Sans MS"/>
              <a:cs typeface="Comic Sans MS"/>
            </a:endParaRPr>
          </a:p>
        </p:txBody>
      </p:sp>
      <p:sp>
        <p:nvSpPr>
          <p:cNvPr id="12" name="object 20">
            <a:extLst>
              <a:ext uri="{FF2B5EF4-FFF2-40B4-BE49-F238E27FC236}">
                <a16:creationId xmlns:a16="http://schemas.microsoft.com/office/drawing/2014/main" id="{D0507EF7-4B76-C1DB-BDA9-4671F91ED2BB}"/>
              </a:ext>
            </a:extLst>
          </p:cNvPr>
          <p:cNvSpPr/>
          <p:nvPr/>
        </p:nvSpPr>
        <p:spPr>
          <a:xfrm>
            <a:off x="9457428" y="2108753"/>
            <a:ext cx="1497123" cy="1493917"/>
          </a:xfrm>
          <a:custGeom>
            <a:avLst/>
            <a:gdLst/>
            <a:ahLst/>
            <a:cxnLst/>
            <a:rect l="l" t="t" r="r" b="b"/>
            <a:pathLst>
              <a:path w="296544" h="295909">
                <a:moveTo>
                  <a:pt x="0" y="147828"/>
                </a:moveTo>
                <a:lnTo>
                  <a:pt x="7546" y="101144"/>
                </a:lnTo>
                <a:lnTo>
                  <a:pt x="28553" y="60569"/>
                </a:lnTo>
                <a:lnTo>
                  <a:pt x="60569" y="28553"/>
                </a:lnTo>
                <a:lnTo>
                  <a:pt x="101144" y="7546"/>
                </a:lnTo>
                <a:lnTo>
                  <a:pt x="147827" y="0"/>
                </a:lnTo>
                <a:lnTo>
                  <a:pt x="194883" y="7546"/>
                </a:lnTo>
                <a:lnTo>
                  <a:pt x="235683" y="28553"/>
                </a:lnTo>
                <a:lnTo>
                  <a:pt x="267815" y="60569"/>
                </a:lnTo>
                <a:lnTo>
                  <a:pt x="288865" y="101144"/>
                </a:lnTo>
                <a:lnTo>
                  <a:pt x="296418" y="147828"/>
                </a:lnTo>
                <a:lnTo>
                  <a:pt x="288865" y="194511"/>
                </a:lnTo>
                <a:lnTo>
                  <a:pt x="267815" y="235086"/>
                </a:lnTo>
                <a:lnTo>
                  <a:pt x="235683" y="267102"/>
                </a:lnTo>
                <a:lnTo>
                  <a:pt x="194883" y="288109"/>
                </a:lnTo>
                <a:lnTo>
                  <a:pt x="147827" y="295656"/>
                </a:lnTo>
                <a:lnTo>
                  <a:pt x="101144" y="288109"/>
                </a:lnTo>
                <a:lnTo>
                  <a:pt x="60569" y="267102"/>
                </a:lnTo>
                <a:lnTo>
                  <a:pt x="28553" y="235086"/>
                </a:lnTo>
                <a:lnTo>
                  <a:pt x="7546" y="194511"/>
                </a:lnTo>
                <a:lnTo>
                  <a:pt x="0" y="147828"/>
                </a:lnTo>
                <a:close/>
              </a:path>
            </a:pathLst>
          </a:custGeom>
          <a:ln w="4978">
            <a:solidFill>
              <a:srgbClr val="FFBD44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22">
            <a:extLst>
              <a:ext uri="{FF2B5EF4-FFF2-40B4-BE49-F238E27FC236}">
                <a16:creationId xmlns:a16="http://schemas.microsoft.com/office/drawing/2014/main" id="{4729C2AC-7721-8031-6F6C-E79E489511E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79565" y="2583179"/>
            <a:ext cx="990728" cy="990728"/>
          </a:xfrm>
          <a:prstGeom prst="rect">
            <a:avLst/>
          </a:prstGeom>
        </p:spPr>
      </p:pic>
      <p:sp>
        <p:nvSpPr>
          <p:cNvPr id="15" name="object 23">
            <a:extLst>
              <a:ext uri="{FF2B5EF4-FFF2-40B4-BE49-F238E27FC236}">
                <a16:creationId xmlns:a16="http://schemas.microsoft.com/office/drawing/2014/main" id="{E01E92FD-6E26-D249-4542-51FC9D183325}"/>
              </a:ext>
            </a:extLst>
          </p:cNvPr>
          <p:cNvSpPr txBox="1"/>
          <p:nvPr/>
        </p:nvSpPr>
        <p:spPr>
          <a:xfrm>
            <a:off x="6362164" y="2855710"/>
            <a:ext cx="612314" cy="398321"/>
          </a:xfrm>
          <a:prstGeom prst="rect">
            <a:avLst/>
          </a:prstGeom>
        </p:spPr>
        <p:txBody>
          <a:bodyPr vert="horz" wrap="square" lIns="0" tIns="26296" rIns="0" bIns="0" rtlCol="0">
            <a:spAutoFit/>
          </a:bodyPr>
          <a:lstStyle/>
          <a:p>
            <a:pPr>
              <a:spcBef>
                <a:spcPts val="207"/>
              </a:spcBef>
            </a:pPr>
            <a:r>
              <a:rPr sz="2416" b="1" spc="-43" dirty="0">
                <a:solidFill>
                  <a:srgbClr val="6FAD46"/>
                </a:solidFill>
                <a:latin typeface="Comic Sans MS"/>
                <a:cs typeface="Comic Sans MS"/>
              </a:rPr>
              <a:t>VS</a:t>
            </a:r>
            <a:endParaRPr sz="2416" dirty="0">
              <a:latin typeface="Comic Sans MS"/>
              <a:cs typeface="Comic Sans MS"/>
            </a:endParaRPr>
          </a:p>
        </p:txBody>
      </p:sp>
      <p:sp>
        <p:nvSpPr>
          <p:cNvPr id="2" name="object 21">
            <a:extLst>
              <a:ext uri="{FF2B5EF4-FFF2-40B4-BE49-F238E27FC236}">
                <a16:creationId xmlns:a16="http://schemas.microsoft.com/office/drawing/2014/main" id="{8697CF63-FA55-DD91-1FB8-2302881C1FEB}"/>
              </a:ext>
            </a:extLst>
          </p:cNvPr>
          <p:cNvSpPr txBox="1"/>
          <p:nvPr/>
        </p:nvSpPr>
        <p:spPr>
          <a:xfrm>
            <a:off x="9475677" y="2624594"/>
            <a:ext cx="1497123" cy="398321"/>
          </a:xfrm>
          <a:prstGeom prst="rect">
            <a:avLst/>
          </a:prstGeom>
        </p:spPr>
        <p:txBody>
          <a:bodyPr vert="horz" wrap="square" lIns="0" tIns="26296" rIns="0" bIns="0" rtlCol="0">
            <a:spAutoFit/>
          </a:bodyPr>
          <a:lstStyle/>
          <a:p>
            <a:pPr>
              <a:spcBef>
                <a:spcPts val="207"/>
              </a:spcBef>
            </a:pPr>
            <a:r>
              <a:rPr lang="sv-SE" sz="2416" b="1" spc="-43" dirty="0">
                <a:solidFill>
                  <a:srgbClr val="FFBE44"/>
                </a:solidFill>
                <a:latin typeface="Comic Sans MS"/>
                <a:cs typeface="Comic Sans MS"/>
              </a:rPr>
              <a:t>UNICODE</a:t>
            </a:r>
            <a:endParaRPr sz="2416" dirty="0">
              <a:latin typeface="Comic Sans MS"/>
              <a:cs typeface="Comic Sans MS"/>
            </a:endParaRPr>
          </a:p>
        </p:txBody>
      </p:sp>
      <p:sp>
        <p:nvSpPr>
          <p:cNvPr id="17" name="object 25">
            <a:extLst>
              <a:ext uri="{FF2B5EF4-FFF2-40B4-BE49-F238E27FC236}">
                <a16:creationId xmlns:a16="http://schemas.microsoft.com/office/drawing/2014/main" id="{7B519E9D-39A2-92D7-3603-412F7F3689FD}"/>
              </a:ext>
            </a:extLst>
          </p:cNvPr>
          <p:cNvSpPr txBox="1"/>
          <p:nvPr/>
        </p:nvSpPr>
        <p:spPr>
          <a:xfrm>
            <a:off x="552124" y="3733800"/>
            <a:ext cx="5924747" cy="610687"/>
          </a:xfrm>
          <a:prstGeom prst="rect">
            <a:avLst/>
          </a:prstGeom>
        </p:spPr>
        <p:txBody>
          <a:bodyPr vert="horz" wrap="square" lIns="0" tIns="26296" rIns="0" bIns="0" rtlCol="0">
            <a:spAutoFit/>
          </a:bodyPr>
          <a:lstStyle/>
          <a:p>
            <a:pPr>
              <a:spcBef>
                <a:spcPts val="207"/>
              </a:spcBef>
            </a:pPr>
            <a:r>
              <a:rPr lang="sv-SE" sz="1898" dirty="0" err="1">
                <a:latin typeface="Comic Sans MS"/>
                <a:cs typeface="Comic Sans MS"/>
              </a:rPr>
              <a:t>American</a:t>
            </a:r>
            <a:r>
              <a:rPr lang="sv-SE" sz="1898" dirty="0">
                <a:latin typeface="Comic Sans MS"/>
                <a:cs typeface="Comic Sans MS"/>
              </a:rPr>
              <a:t> Standard </a:t>
            </a:r>
            <a:r>
              <a:rPr lang="sv-SE" sz="1898" dirty="0" err="1">
                <a:latin typeface="Comic Sans MS"/>
                <a:cs typeface="Comic Sans MS"/>
              </a:rPr>
              <a:t>Code</a:t>
            </a:r>
            <a:r>
              <a:rPr lang="sv-SE" sz="1898" dirty="0">
                <a:latin typeface="Comic Sans MS"/>
                <a:cs typeface="Comic Sans MS"/>
              </a:rPr>
              <a:t> for Information </a:t>
            </a:r>
            <a:r>
              <a:rPr lang="sv-SE" sz="1898" dirty="0" err="1">
                <a:latin typeface="Comic Sans MS"/>
                <a:cs typeface="Comic Sans MS"/>
              </a:rPr>
              <a:t>Interchange</a:t>
            </a:r>
            <a:endParaRPr lang="sv-SE" sz="1898" dirty="0">
              <a:latin typeface="Comic Sans MS"/>
              <a:cs typeface="Comic Sans MS"/>
            </a:endParaRPr>
          </a:p>
        </p:txBody>
      </p:sp>
      <p:sp>
        <p:nvSpPr>
          <p:cNvPr id="8" name="object 25">
            <a:extLst>
              <a:ext uri="{FF2B5EF4-FFF2-40B4-BE49-F238E27FC236}">
                <a16:creationId xmlns:a16="http://schemas.microsoft.com/office/drawing/2014/main" id="{DA15B289-D18F-0959-8C86-3BA02F4E46CA}"/>
              </a:ext>
            </a:extLst>
          </p:cNvPr>
          <p:cNvSpPr txBox="1"/>
          <p:nvPr/>
        </p:nvSpPr>
        <p:spPr>
          <a:xfrm>
            <a:off x="552124" y="4644547"/>
            <a:ext cx="5924747" cy="318620"/>
          </a:xfrm>
          <a:prstGeom prst="rect">
            <a:avLst/>
          </a:prstGeom>
        </p:spPr>
        <p:txBody>
          <a:bodyPr vert="horz" wrap="square" lIns="0" tIns="26296" rIns="0" bIns="0" rtlCol="0">
            <a:spAutoFit/>
          </a:bodyPr>
          <a:lstStyle/>
          <a:p>
            <a:pPr>
              <a:spcBef>
                <a:spcPts val="207"/>
              </a:spcBef>
            </a:pPr>
            <a:r>
              <a:rPr lang="en-GB" sz="1898" dirty="0">
                <a:latin typeface="Comic Sans MS"/>
                <a:cs typeface="Comic Sans MS"/>
              </a:rPr>
              <a:t>Supports specific characters (less space)</a:t>
            </a:r>
          </a:p>
        </p:txBody>
      </p:sp>
      <p:pic>
        <p:nvPicPr>
          <p:cNvPr id="16" name="object 24">
            <a:extLst>
              <a:ext uri="{FF2B5EF4-FFF2-40B4-BE49-F238E27FC236}">
                <a16:creationId xmlns:a16="http://schemas.microsoft.com/office/drawing/2014/main" id="{74FB834E-FEFE-E1F4-4C96-D86F7D094A6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7284" y="5287077"/>
            <a:ext cx="5979588" cy="1424121"/>
          </a:xfrm>
          <a:prstGeom prst="rect">
            <a:avLst/>
          </a:prstGeom>
        </p:spPr>
      </p:pic>
      <p:sp>
        <p:nvSpPr>
          <p:cNvPr id="18" name="object 25">
            <a:extLst>
              <a:ext uri="{FF2B5EF4-FFF2-40B4-BE49-F238E27FC236}">
                <a16:creationId xmlns:a16="http://schemas.microsoft.com/office/drawing/2014/main" id="{17241B5F-6FE8-2B9A-06A3-3AC1BE73E5A3}"/>
              </a:ext>
            </a:extLst>
          </p:cNvPr>
          <p:cNvSpPr txBox="1"/>
          <p:nvPr/>
        </p:nvSpPr>
        <p:spPr>
          <a:xfrm>
            <a:off x="552124" y="5439433"/>
            <a:ext cx="5924747" cy="954051"/>
          </a:xfrm>
          <a:prstGeom prst="rect">
            <a:avLst/>
          </a:prstGeom>
        </p:spPr>
        <p:txBody>
          <a:bodyPr vert="horz" wrap="square" lIns="0" tIns="26296" rIns="0" bIns="0" rtlCol="0">
            <a:spAutoFit/>
          </a:bodyPr>
          <a:lstStyle/>
          <a:p>
            <a:pPr>
              <a:spcBef>
                <a:spcPts val="207"/>
              </a:spcBef>
            </a:pPr>
            <a:r>
              <a:rPr lang="en-GB" sz="1898" dirty="0">
                <a:latin typeface="Comic Sans MS"/>
                <a:cs typeface="Comic Sans MS"/>
              </a:rPr>
              <a:t>Has 2 standards:</a:t>
            </a:r>
          </a:p>
          <a:p>
            <a:pPr>
              <a:spcBef>
                <a:spcPts val="207"/>
              </a:spcBef>
            </a:pPr>
            <a:r>
              <a:rPr lang="en-GB" sz="1898" dirty="0">
                <a:latin typeface="Comic Sans MS"/>
                <a:cs typeface="Comic Sans MS"/>
              </a:rPr>
              <a:t>bit ASCII – 128 characters</a:t>
            </a:r>
          </a:p>
          <a:p>
            <a:pPr>
              <a:spcBef>
                <a:spcPts val="207"/>
              </a:spcBef>
            </a:pPr>
            <a:r>
              <a:rPr lang="en-GB" sz="1898" dirty="0">
                <a:latin typeface="Comic Sans MS"/>
                <a:cs typeface="Comic Sans MS"/>
              </a:rPr>
              <a:t>bit ASCII – 256 characters</a:t>
            </a:r>
            <a:endParaRPr lang="sv-SE" sz="1898" dirty="0">
              <a:latin typeface="Comic Sans MS"/>
              <a:cs typeface="Comic Sans MS"/>
            </a:endParaRPr>
          </a:p>
        </p:txBody>
      </p:sp>
      <p:pic>
        <p:nvPicPr>
          <p:cNvPr id="23" name="object 24">
            <a:extLst>
              <a:ext uri="{FF2B5EF4-FFF2-40B4-BE49-F238E27FC236}">
                <a16:creationId xmlns:a16="http://schemas.microsoft.com/office/drawing/2014/main" id="{405A113B-1677-01A6-4623-3EDB1DD3810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4957" y="6845709"/>
            <a:ext cx="5979588" cy="629031"/>
          </a:xfrm>
          <a:prstGeom prst="rect">
            <a:avLst/>
          </a:prstGeom>
        </p:spPr>
      </p:pic>
      <p:sp>
        <p:nvSpPr>
          <p:cNvPr id="24" name="object 25">
            <a:extLst>
              <a:ext uri="{FF2B5EF4-FFF2-40B4-BE49-F238E27FC236}">
                <a16:creationId xmlns:a16="http://schemas.microsoft.com/office/drawing/2014/main" id="{46E72B7D-B118-24AE-4A5D-62E849886C2B}"/>
              </a:ext>
            </a:extLst>
          </p:cNvPr>
          <p:cNvSpPr txBox="1"/>
          <p:nvPr/>
        </p:nvSpPr>
        <p:spPr>
          <a:xfrm>
            <a:off x="539797" y="6998065"/>
            <a:ext cx="5924747" cy="318620"/>
          </a:xfrm>
          <a:prstGeom prst="rect">
            <a:avLst/>
          </a:prstGeom>
        </p:spPr>
        <p:txBody>
          <a:bodyPr vert="horz" wrap="square" lIns="0" tIns="26296" rIns="0" bIns="0" rtlCol="0">
            <a:spAutoFit/>
          </a:bodyPr>
          <a:lstStyle/>
          <a:p>
            <a:pPr>
              <a:spcBef>
                <a:spcPts val="207"/>
              </a:spcBef>
            </a:pPr>
            <a:r>
              <a:rPr lang="en-GB" sz="1898" dirty="0">
                <a:latin typeface="Comic Sans MS"/>
                <a:cs typeface="Comic Sans MS"/>
              </a:rPr>
              <a:t>Only one language</a:t>
            </a:r>
          </a:p>
        </p:txBody>
      </p:sp>
      <p:pic>
        <p:nvPicPr>
          <p:cNvPr id="25" name="object 24">
            <a:extLst>
              <a:ext uri="{FF2B5EF4-FFF2-40B4-BE49-F238E27FC236}">
                <a16:creationId xmlns:a16="http://schemas.microsoft.com/office/drawing/2014/main" id="{CFDF339A-19A7-A15D-17DB-6E514F901C6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74095" y="4492190"/>
            <a:ext cx="5979588" cy="629031"/>
          </a:xfrm>
          <a:prstGeom prst="rect">
            <a:avLst/>
          </a:prstGeom>
        </p:spPr>
      </p:pic>
      <p:pic>
        <p:nvPicPr>
          <p:cNvPr id="26" name="object 24">
            <a:extLst>
              <a:ext uri="{FF2B5EF4-FFF2-40B4-BE49-F238E27FC236}">
                <a16:creationId xmlns:a16="http://schemas.microsoft.com/office/drawing/2014/main" id="{1C8C3876-010B-A42B-8857-A94DA5D16AD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74095" y="3719576"/>
            <a:ext cx="5979588" cy="629031"/>
          </a:xfrm>
          <a:prstGeom prst="rect">
            <a:avLst/>
          </a:prstGeom>
        </p:spPr>
      </p:pic>
      <p:sp>
        <p:nvSpPr>
          <p:cNvPr id="27" name="object 25">
            <a:extLst>
              <a:ext uri="{FF2B5EF4-FFF2-40B4-BE49-F238E27FC236}">
                <a16:creationId xmlns:a16="http://schemas.microsoft.com/office/drawing/2014/main" id="{BC82A151-7454-B238-179E-792D69359B4F}"/>
              </a:ext>
            </a:extLst>
          </p:cNvPr>
          <p:cNvSpPr txBox="1"/>
          <p:nvPr/>
        </p:nvSpPr>
        <p:spPr>
          <a:xfrm>
            <a:off x="6728935" y="3871933"/>
            <a:ext cx="5924747" cy="318620"/>
          </a:xfrm>
          <a:prstGeom prst="rect">
            <a:avLst/>
          </a:prstGeom>
        </p:spPr>
        <p:txBody>
          <a:bodyPr vert="horz" wrap="square" lIns="0" tIns="26296" rIns="0" bIns="0" rtlCol="0">
            <a:spAutoFit/>
          </a:bodyPr>
          <a:lstStyle/>
          <a:p>
            <a:pPr algn="r">
              <a:spcBef>
                <a:spcPts val="207"/>
              </a:spcBef>
            </a:pPr>
            <a:r>
              <a:rPr lang="en-GB" sz="1898" dirty="0">
                <a:latin typeface="Comic Sans MS"/>
                <a:cs typeface="Comic Sans MS"/>
              </a:rPr>
              <a:t>Universal Coding System</a:t>
            </a:r>
          </a:p>
        </p:txBody>
      </p:sp>
      <p:sp>
        <p:nvSpPr>
          <p:cNvPr id="28" name="object 25">
            <a:extLst>
              <a:ext uri="{FF2B5EF4-FFF2-40B4-BE49-F238E27FC236}">
                <a16:creationId xmlns:a16="http://schemas.microsoft.com/office/drawing/2014/main" id="{0D23EA7B-9EEE-4429-08F0-5B82F7DFAD81}"/>
              </a:ext>
            </a:extLst>
          </p:cNvPr>
          <p:cNvSpPr txBox="1"/>
          <p:nvPr/>
        </p:nvSpPr>
        <p:spPr>
          <a:xfrm>
            <a:off x="6728935" y="4644547"/>
            <a:ext cx="5924747" cy="318620"/>
          </a:xfrm>
          <a:prstGeom prst="rect">
            <a:avLst/>
          </a:prstGeom>
        </p:spPr>
        <p:txBody>
          <a:bodyPr vert="horz" wrap="square" lIns="0" tIns="26296" rIns="0" bIns="0" rtlCol="0">
            <a:spAutoFit/>
          </a:bodyPr>
          <a:lstStyle/>
          <a:p>
            <a:pPr algn="r">
              <a:spcBef>
                <a:spcPts val="207"/>
              </a:spcBef>
            </a:pPr>
            <a:r>
              <a:rPr lang="en-GB" sz="1898" dirty="0" err="1">
                <a:latin typeface="Comic Sans MS"/>
                <a:cs typeface="Comic Sans MS"/>
              </a:rPr>
              <a:t>rge</a:t>
            </a:r>
            <a:r>
              <a:rPr lang="en-GB" sz="1898" dirty="0">
                <a:latin typeface="Comic Sans MS"/>
                <a:cs typeface="Comic Sans MS"/>
              </a:rPr>
              <a:t> number of characters (large space)</a:t>
            </a:r>
          </a:p>
        </p:txBody>
      </p:sp>
      <p:pic>
        <p:nvPicPr>
          <p:cNvPr id="29" name="object 24">
            <a:extLst>
              <a:ext uri="{FF2B5EF4-FFF2-40B4-BE49-F238E27FC236}">
                <a16:creationId xmlns:a16="http://schemas.microsoft.com/office/drawing/2014/main" id="{AE9B1177-3E77-75D1-B49B-6C8CB3C48EF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74095" y="5287077"/>
            <a:ext cx="5979588" cy="1468495"/>
          </a:xfrm>
          <a:prstGeom prst="rect">
            <a:avLst/>
          </a:prstGeom>
        </p:spPr>
      </p:pic>
      <p:sp>
        <p:nvSpPr>
          <p:cNvPr id="30" name="object 25">
            <a:extLst>
              <a:ext uri="{FF2B5EF4-FFF2-40B4-BE49-F238E27FC236}">
                <a16:creationId xmlns:a16="http://schemas.microsoft.com/office/drawing/2014/main" id="{03D16BC2-1631-CBB3-8297-2CD4CD82310E}"/>
              </a:ext>
            </a:extLst>
          </p:cNvPr>
          <p:cNvSpPr txBox="1"/>
          <p:nvPr/>
        </p:nvSpPr>
        <p:spPr>
          <a:xfrm>
            <a:off x="6728935" y="5439433"/>
            <a:ext cx="5924747" cy="1271765"/>
          </a:xfrm>
          <a:prstGeom prst="rect">
            <a:avLst/>
          </a:prstGeom>
        </p:spPr>
        <p:txBody>
          <a:bodyPr vert="horz" wrap="square" lIns="0" tIns="26296" rIns="0" bIns="0" rtlCol="0">
            <a:spAutoFit/>
          </a:bodyPr>
          <a:lstStyle/>
          <a:p>
            <a:pPr algn="r">
              <a:spcBef>
                <a:spcPts val="207"/>
              </a:spcBef>
            </a:pPr>
            <a:r>
              <a:rPr lang="en-GB" sz="1898" dirty="0">
                <a:latin typeface="Comic Sans MS"/>
                <a:cs typeface="Comic Sans MS"/>
              </a:rPr>
              <a:t>It has 3 standards:</a:t>
            </a:r>
          </a:p>
          <a:p>
            <a:pPr algn="r">
              <a:spcBef>
                <a:spcPts val="207"/>
              </a:spcBef>
            </a:pPr>
            <a:r>
              <a:rPr lang="en-GB" sz="1898" dirty="0">
                <a:latin typeface="Comic Sans MS"/>
                <a:cs typeface="Comic Sans MS"/>
              </a:rPr>
              <a:t>UTF 8 – 256 characters</a:t>
            </a:r>
          </a:p>
          <a:p>
            <a:pPr algn="r">
              <a:spcBef>
                <a:spcPts val="207"/>
              </a:spcBef>
            </a:pPr>
            <a:r>
              <a:rPr lang="en-GB" sz="1898" dirty="0">
                <a:latin typeface="Comic Sans MS"/>
                <a:cs typeface="Comic Sans MS"/>
              </a:rPr>
              <a:t>UTF 16 – 65,536 characters</a:t>
            </a:r>
          </a:p>
          <a:p>
            <a:pPr algn="r">
              <a:spcBef>
                <a:spcPts val="207"/>
              </a:spcBef>
            </a:pPr>
            <a:r>
              <a:rPr lang="en-GB" sz="1898" dirty="0">
                <a:latin typeface="Comic Sans MS"/>
                <a:cs typeface="Comic Sans MS"/>
              </a:rPr>
              <a:t>UTF 32 – 4,294,967,296 characters</a:t>
            </a:r>
            <a:endParaRPr lang="sv-SE" sz="1898" dirty="0">
              <a:latin typeface="Comic Sans MS"/>
              <a:cs typeface="Comic Sans MS"/>
            </a:endParaRPr>
          </a:p>
        </p:txBody>
      </p:sp>
      <p:pic>
        <p:nvPicPr>
          <p:cNvPr id="33" name="object 24">
            <a:extLst>
              <a:ext uri="{FF2B5EF4-FFF2-40B4-BE49-F238E27FC236}">
                <a16:creationId xmlns:a16="http://schemas.microsoft.com/office/drawing/2014/main" id="{4FF62AB9-0A8E-6C89-FCE7-A4715622EAE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1768" y="6845709"/>
            <a:ext cx="5979588" cy="629031"/>
          </a:xfrm>
          <a:prstGeom prst="rect">
            <a:avLst/>
          </a:prstGeom>
        </p:spPr>
      </p:pic>
      <p:sp>
        <p:nvSpPr>
          <p:cNvPr id="34" name="object 25">
            <a:extLst>
              <a:ext uri="{FF2B5EF4-FFF2-40B4-BE49-F238E27FC236}">
                <a16:creationId xmlns:a16="http://schemas.microsoft.com/office/drawing/2014/main" id="{D295A3A8-FA12-4E02-74BD-FD3504EEF572}"/>
              </a:ext>
            </a:extLst>
          </p:cNvPr>
          <p:cNvSpPr txBox="1"/>
          <p:nvPr/>
        </p:nvSpPr>
        <p:spPr>
          <a:xfrm>
            <a:off x="6716609" y="6998065"/>
            <a:ext cx="5924747" cy="318620"/>
          </a:xfrm>
          <a:prstGeom prst="rect">
            <a:avLst/>
          </a:prstGeom>
        </p:spPr>
        <p:txBody>
          <a:bodyPr vert="horz" wrap="square" lIns="0" tIns="26296" rIns="0" bIns="0" rtlCol="0">
            <a:spAutoFit/>
          </a:bodyPr>
          <a:lstStyle/>
          <a:p>
            <a:pPr algn="r">
              <a:spcBef>
                <a:spcPts val="207"/>
              </a:spcBef>
            </a:pPr>
            <a:r>
              <a:rPr lang="en-GB" sz="1898" dirty="0">
                <a:latin typeface="Comic Sans MS"/>
                <a:cs typeface="Comic Sans MS"/>
              </a:rPr>
              <a:t>Any combination of languages</a:t>
            </a: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33EFEC92-5B25-70BD-3D95-A5A88BC9A2F0}"/>
              </a:ext>
            </a:extLst>
          </p:cNvPr>
          <p:cNvGrpSpPr/>
          <p:nvPr/>
        </p:nvGrpSpPr>
        <p:grpSpPr>
          <a:xfrm>
            <a:off x="5155353" y="4155876"/>
            <a:ext cx="2899019" cy="2885753"/>
            <a:chOff x="2867973" y="3663202"/>
            <a:chExt cx="1591716" cy="1584432"/>
          </a:xfrm>
        </p:grpSpPr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464523DE-30FD-6CEC-13D9-199295BB5617}"/>
                </a:ext>
              </a:extLst>
            </p:cNvPr>
            <p:cNvGrpSpPr/>
            <p:nvPr/>
          </p:nvGrpSpPr>
          <p:grpSpPr>
            <a:xfrm>
              <a:off x="2870354" y="3663202"/>
              <a:ext cx="1589335" cy="1584432"/>
              <a:chOff x="3799750" y="219186"/>
              <a:chExt cx="1680112" cy="1674929"/>
            </a:xfrm>
          </p:grpSpPr>
          <p:pic>
            <p:nvPicPr>
              <p:cNvPr id="114" name="object 44">
                <a:extLst>
                  <a:ext uri="{FF2B5EF4-FFF2-40B4-BE49-F238E27FC236}">
                    <a16:creationId xmlns:a16="http://schemas.microsoft.com/office/drawing/2014/main" id="{CCAF437A-9AE0-4A3E-C64F-6E9872155990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3799750" y="219186"/>
                <a:ext cx="1680112" cy="1674929"/>
              </a:xfrm>
              <a:prstGeom prst="rect">
                <a:avLst/>
              </a:prstGeom>
            </p:spPr>
          </p:pic>
          <p:pic>
            <p:nvPicPr>
              <p:cNvPr id="115" name="object 46">
                <a:extLst>
                  <a:ext uri="{FF2B5EF4-FFF2-40B4-BE49-F238E27FC236}">
                    <a16:creationId xmlns:a16="http://schemas.microsoft.com/office/drawing/2014/main" id="{DB1530CC-146D-2DA3-D77F-0860B1CD6BD6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403074" y="812178"/>
                <a:ext cx="473464" cy="473464"/>
              </a:xfrm>
              <a:prstGeom prst="rect">
                <a:avLst/>
              </a:prstGeom>
            </p:spPr>
          </p:pic>
        </p:grpSp>
        <p:sp>
          <p:nvSpPr>
            <p:cNvPr id="99" name="object 48">
              <a:extLst>
                <a:ext uri="{FF2B5EF4-FFF2-40B4-BE49-F238E27FC236}">
                  <a16:creationId xmlns:a16="http://schemas.microsoft.com/office/drawing/2014/main" id="{CDF5A0FB-F64D-1D1C-E616-DFF09E084925}"/>
                </a:ext>
              </a:extLst>
            </p:cNvPr>
            <p:cNvSpPr/>
            <p:nvPr/>
          </p:nvSpPr>
          <p:spPr>
            <a:xfrm>
              <a:off x="3660801" y="3663202"/>
              <a:ext cx="0" cy="1584432"/>
            </a:xfrm>
            <a:custGeom>
              <a:avLst/>
              <a:gdLst/>
              <a:ahLst/>
              <a:cxnLst/>
              <a:rect l="l" t="t" r="r" b="b"/>
              <a:pathLst>
                <a:path h="822325">
                  <a:moveTo>
                    <a:pt x="0" y="0"/>
                  </a:moveTo>
                  <a:lnTo>
                    <a:pt x="0" y="822198"/>
                  </a:lnTo>
                </a:path>
              </a:pathLst>
            </a:custGeom>
            <a:ln w="3175">
              <a:solidFill>
                <a:srgbClr val="63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49">
              <a:extLst>
                <a:ext uri="{FF2B5EF4-FFF2-40B4-BE49-F238E27FC236}">
                  <a16:creationId xmlns:a16="http://schemas.microsoft.com/office/drawing/2014/main" id="{E5E02C9D-856B-D34D-397D-F91E677E71E5}"/>
                </a:ext>
              </a:extLst>
            </p:cNvPr>
            <p:cNvSpPr/>
            <p:nvPr/>
          </p:nvSpPr>
          <p:spPr>
            <a:xfrm>
              <a:off x="2867973" y="4454562"/>
              <a:ext cx="1585656" cy="0"/>
            </a:xfrm>
            <a:custGeom>
              <a:avLst/>
              <a:gdLst/>
              <a:ahLst/>
              <a:cxnLst/>
              <a:rect l="l" t="t" r="r" b="b"/>
              <a:pathLst>
                <a:path w="822960">
                  <a:moveTo>
                    <a:pt x="0" y="0"/>
                  </a:moveTo>
                  <a:lnTo>
                    <a:pt x="822960" y="0"/>
                  </a:lnTo>
                </a:path>
              </a:pathLst>
            </a:custGeom>
            <a:ln w="3175">
              <a:solidFill>
                <a:srgbClr val="63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50">
              <a:extLst>
                <a:ext uri="{FF2B5EF4-FFF2-40B4-BE49-F238E27FC236}">
                  <a16:creationId xmlns:a16="http://schemas.microsoft.com/office/drawing/2014/main" id="{98444F0C-1F7D-0B10-9DD5-F95F683952AC}"/>
                </a:ext>
              </a:extLst>
            </p:cNvPr>
            <p:cNvSpPr/>
            <p:nvPr/>
          </p:nvSpPr>
          <p:spPr>
            <a:xfrm>
              <a:off x="3594732" y="3746889"/>
              <a:ext cx="134585" cy="0"/>
            </a:xfrm>
            <a:custGeom>
              <a:avLst/>
              <a:gdLst/>
              <a:ahLst/>
              <a:cxnLst/>
              <a:rect l="l" t="t" r="r" b="b"/>
              <a:pathLst>
                <a:path w="69850">
                  <a:moveTo>
                    <a:pt x="0" y="0"/>
                  </a:moveTo>
                  <a:lnTo>
                    <a:pt x="69342" y="0"/>
                  </a:lnTo>
                </a:path>
              </a:pathLst>
            </a:custGeom>
            <a:ln w="3175">
              <a:solidFill>
                <a:srgbClr val="63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51">
              <a:extLst>
                <a:ext uri="{FF2B5EF4-FFF2-40B4-BE49-F238E27FC236}">
                  <a16:creationId xmlns:a16="http://schemas.microsoft.com/office/drawing/2014/main" id="{ACC175D9-FE94-2983-99C8-9D15093BDD66}"/>
                </a:ext>
              </a:extLst>
            </p:cNvPr>
            <p:cNvSpPr/>
            <p:nvPr/>
          </p:nvSpPr>
          <p:spPr>
            <a:xfrm>
              <a:off x="3613819" y="3805617"/>
              <a:ext cx="95433" cy="0"/>
            </a:xfrm>
            <a:custGeom>
              <a:avLst/>
              <a:gdLst/>
              <a:ahLst/>
              <a:cxnLst/>
              <a:rect l="l" t="t" r="r" b="b"/>
              <a:pathLst>
                <a:path w="49530">
                  <a:moveTo>
                    <a:pt x="0" y="0"/>
                  </a:moveTo>
                  <a:lnTo>
                    <a:pt x="49530" y="0"/>
                  </a:lnTo>
                </a:path>
              </a:pathLst>
            </a:custGeom>
            <a:ln w="3175">
              <a:solidFill>
                <a:srgbClr val="63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52">
              <a:extLst>
                <a:ext uri="{FF2B5EF4-FFF2-40B4-BE49-F238E27FC236}">
                  <a16:creationId xmlns:a16="http://schemas.microsoft.com/office/drawing/2014/main" id="{292245B5-F707-03F5-7DF4-126787583A56}"/>
                </a:ext>
              </a:extLst>
            </p:cNvPr>
            <p:cNvSpPr/>
            <p:nvPr/>
          </p:nvSpPr>
          <p:spPr>
            <a:xfrm>
              <a:off x="3632906" y="3862877"/>
              <a:ext cx="57504" cy="0"/>
            </a:xfrm>
            <a:custGeom>
              <a:avLst/>
              <a:gdLst/>
              <a:ahLst/>
              <a:cxnLst/>
              <a:rect l="l" t="t" r="r" b="b"/>
              <a:pathLst>
                <a:path w="29844">
                  <a:moveTo>
                    <a:pt x="0" y="0"/>
                  </a:moveTo>
                  <a:lnTo>
                    <a:pt x="29718" y="0"/>
                  </a:lnTo>
                </a:path>
              </a:pathLst>
            </a:custGeom>
            <a:ln w="3175">
              <a:solidFill>
                <a:srgbClr val="63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53">
              <a:extLst>
                <a:ext uri="{FF2B5EF4-FFF2-40B4-BE49-F238E27FC236}">
                  <a16:creationId xmlns:a16="http://schemas.microsoft.com/office/drawing/2014/main" id="{4328DCBC-ADCF-D45A-DAF0-6942F71A3E2E}"/>
                </a:ext>
              </a:extLst>
            </p:cNvPr>
            <p:cNvSpPr/>
            <p:nvPr/>
          </p:nvSpPr>
          <p:spPr>
            <a:xfrm>
              <a:off x="4371410" y="4387024"/>
              <a:ext cx="0" cy="134585"/>
            </a:xfrm>
            <a:custGeom>
              <a:avLst/>
              <a:gdLst/>
              <a:ahLst/>
              <a:cxnLst/>
              <a:rect l="l" t="t" r="r" b="b"/>
              <a:pathLst>
                <a:path h="69850">
                  <a:moveTo>
                    <a:pt x="0" y="0"/>
                  </a:moveTo>
                  <a:lnTo>
                    <a:pt x="0" y="69342"/>
                  </a:lnTo>
                </a:path>
              </a:pathLst>
            </a:custGeom>
            <a:ln w="3175">
              <a:solidFill>
                <a:srgbClr val="63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54">
              <a:extLst>
                <a:ext uri="{FF2B5EF4-FFF2-40B4-BE49-F238E27FC236}">
                  <a16:creationId xmlns:a16="http://schemas.microsoft.com/office/drawing/2014/main" id="{98853CCF-E145-7D5B-6F9D-4A793EADCB9C}"/>
                </a:ext>
              </a:extLst>
            </p:cNvPr>
            <p:cNvSpPr/>
            <p:nvPr/>
          </p:nvSpPr>
          <p:spPr>
            <a:xfrm>
              <a:off x="4312684" y="4406111"/>
              <a:ext cx="0" cy="95433"/>
            </a:xfrm>
            <a:custGeom>
              <a:avLst/>
              <a:gdLst/>
              <a:ahLst/>
              <a:cxnLst/>
              <a:rect l="l" t="t" r="r" b="b"/>
              <a:pathLst>
                <a:path h="49529">
                  <a:moveTo>
                    <a:pt x="0" y="0"/>
                  </a:moveTo>
                  <a:lnTo>
                    <a:pt x="0" y="49530"/>
                  </a:lnTo>
                </a:path>
              </a:pathLst>
            </a:custGeom>
            <a:ln w="3175">
              <a:solidFill>
                <a:srgbClr val="63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55">
              <a:extLst>
                <a:ext uri="{FF2B5EF4-FFF2-40B4-BE49-F238E27FC236}">
                  <a16:creationId xmlns:a16="http://schemas.microsoft.com/office/drawing/2014/main" id="{B1193F42-BF9F-E4C0-1E17-2A5C19D59E4C}"/>
                </a:ext>
              </a:extLst>
            </p:cNvPr>
            <p:cNvSpPr/>
            <p:nvPr/>
          </p:nvSpPr>
          <p:spPr>
            <a:xfrm>
              <a:off x="4253954" y="4425198"/>
              <a:ext cx="0" cy="57504"/>
            </a:xfrm>
            <a:custGeom>
              <a:avLst/>
              <a:gdLst/>
              <a:ahLst/>
              <a:cxnLst/>
              <a:rect l="l" t="t" r="r" b="b"/>
              <a:pathLst>
                <a:path h="29845">
                  <a:moveTo>
                    <a:pt x="0" y="0"/>
                  </a:moveTo>
                  <a:lnTo>
                    <a:pt x="0" y="29717"/>
                  </a:lnTo>
                </a:path>
              </a:pathLst>
            </a:custGeom>
            <a:ln w="3175">
              <a:solidFill>
                <a:srgbClr val="63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56">
              <a:extLst>
                <a:ext uri="{FF2B5EF4-FFF2-40B4-BE49-F238E27FC236}">
                  <a16:creationId xmlns:a16="http://schemas.microsoft.com/office/drawing/2014/main" id="{CC0C349B-4575-ABCF-FD18-955E1D48FD87}"/>
                </a:ext>
              </a:extLst>
            </p:cNvPr>
            <p:cNvSpPr/>
            <p:nvPr/>
          </p:nvSpPr>
          <p:spPr>
            <a:xfrm>
              <a:off x="3593266" y="5163702"/>
              <a:ext cx="135808" cy="0"/>
            </a:xfrm>
            <a:custGeom>
              <a:avLst/>
              <a:gdLst/>
              <a:ahLst/>
              <a:cxnLst/>
              <a:rect l="l" t="t" r="r" b="b"/>
              <a:pathLst>
                <a:path w="70485">
                  <a:moveTo>
                    <a:pt x="70104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63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57">
              <a:extLst>
                <a:ext uri="{FF2B5EF4-FFF2-40B4-BE49-F238E27FC236}">
                  <a16:creationId xmlns:a16="http://schemas.microsoft.com/office/drawing/2014/main" id="{31666E7E-1B43-BC00-23FD-DF27F9CE8682}"/>
                </a:ext>
              </a:extLst>
            </p:cNvPr>
            <p:cNvSpPr/>
            <p:nvPr/>
          </p:nvSpPr>
          <p:spPr>
            <a:xfrm>
              <a:off x="3613819" y="5106442"/>
              <a:ext cx="95433" cy="0"/>
            </a:xfrm>
            <a:custGeom>
              <a:avLst/>
              <a:gdLst/>
              <a:ahLst/>
              <a:cxnLst/>
              <a:rect l="l" t="t" r="r" b="b"/>
              <a:pathLst>
                <a:path w="49530">
                  <a:moveTo>
                    <a:pt x="49530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63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58">
              <a:extLst>
                <a:ext uri="{FF2B5EF4-FFF2-40B4-BE49-F238E27FC236}">
                  <a16:creationId xmlns:a16="http://schemas.microsoft.com/office/drawing/2014/main" id="{16F10205-7828-BD44-C85A-3E2CBC533C58}"/>
                </a:ext>
              </a:extLst>
            </p:cNvPr>
            <p:cNvSpPr/>
            <p:nvPr/>
          </p:nvSpPr>
          <p:spPr>
            <a:xfrm>
              <a:off x="3632906" y="5047714"/>
              <a:ext cx="57504" cy="0"/>
            </a:xfrm>
            <a:custGeom>
              <a:avLst/>
              <a:gdLst/>
              <a:ahLst/>
              <a:cxnLst/>
              <a:rect l="l" t="t" r="r" b="b"/>
              <a:pathLst>
                <a:path w="29844">
                  <a:moveTo>
                    <a:pt x="29718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63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59">
              <a:extLst>
                <a:ext uri="{FF2B5EF4-FFF2-40B4-BE49-F238E27FC236}">
                  <a16:creationId xmlns:a16="http://schemas.microsoft.com/office/drawing/2014/main" id="{F9753F09-2790-3E66-BC95-8F52D9F6C10C}"/>
                </a:ext>
              </a:extLst>
            </p:cNvPr>
            <p:cNvSpPr/>
            <p:nvPr/>
          </p:nvSpPr>
          <p:spPr>
            <a:xfrm>
              <a:off x="2950193" y="4388493"/>
              <a:ext cx="0" cy="134585"/>
            </a:xfrm>
            <a:custGeom>
              <a:avLst/>
              <a:gdLst/>
              <a:ahLst/>
              <a:cxnLst/>
              <a:rect l="l" t="t" r="r" b="b"/>
              <a:pathLst>
                <a:path h="69850">
                  <a:moveTo>
                    <a:pt x="0" y="6934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63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60">
              <a:extLst>
                <a:ext uri="{FF2B5EF4-FFF2-40B4-BE49-F238E27FC236}">
                  <a16:creationId xmlns:a16="http://schemas.microsoft.com/office/drawing/2014/main" id="{AE81C139-9239-A520-46AE-24902D1668D1}"/>
                </a:ext>
              </a:extLst>
            </p:cNvPr>
            <p:cNvSpPr/>
            <p:nvPr/>
          </p:nvSpPr>
          <p:spPr>
            <a:xfrm>
              <a:off x="3008921" y="4407579"/>
              <a:ext cx="0" cy="95433"/>
            </a:xfrm>
            <a:custGeom>
              <a:avLst/>
              <a:gdLst/>
              <a:ahLst/>
              <a:cxnLst/>
              <a:rect l="l" t="t" r="r" b="b"/>
              <a:pathLst>
                <a:path h="49529">
                  <a:moveTo>
                    <a:pt x="0" y="4952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63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61">
              <a:extLst>
                <a:ext uri="{FF2B5EF4-FFF2-40B4-BE49-F238E27FC236}">
                  <a16:creationId xmlns:a16="http://schemas.microsoft.com/office/drawing/2014/main" id="{68608E00-4ED6-5F71-26C9-B72CE1B11606}"/>
                </a:ext>
              </a:extLst>
            </p:cNvPr>
            <p:cNvSpPr/>
            <p:nvPr/>
          </p:nvSpPr>
          <p:spPr>
            <a:xfrm>
              <a:off x="3066182" y="4426666"/>
              <a:ext cx="0" cy="57504"/>
            </a:xfrm>
            <a:custGeom>
              <a:avLst/>
              <a:gdLst/>
              <a:ahLst/>
              <a:cxnLst/>
              <a:rect l="l" t="t" r="r" b="b"/>
              <a:pathLst>
                <a:path h="29845">
                  <a:moveTo>
                    <a:pt x="0" y="2971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63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63">
              <a:extLst>
                <a:ext uri="{FF2B5EF4-FFF2-40B4-BE49-F238E27FC236}">
                  <a16:creationId xmlns:a16="http://schemas.microsoft.com/office/drawing/2014/main" id="{392CB6C1-DC0B-4EE2-111B-2CB80000ED47}"/>
                </a:ext>
              </a:extLst>
            </p:cNvPr>
            <p:cNvSpPr/>
            <p:nvPr/>
          </p:nvSpPr>
          <p:spPr>
            <a:xfrm>
              <a:off x="2867973" y="3663202"/>
              <a:ext cx="1585656" cy="1584432"/>
            </a:xfrm>
            <a:custGeom>
              <a:avLst/>
              <a:gdLst/>
              <a:ahLst/>
              <a:cxnLst/>
              <a:rect l="l" t="t" r="r" b="b"/>
              <a:pathLst>
                <a:path w="822960" h="822325">
                  <a:moveTo>
                    <a:pt x="0" y="410718"/>
                  </a:moveTo>
                  <a:lnTo>
                    <a:pt x="2770" y="362774"/>
                  </a:lnTo>
                  <a:lnTo>
                    <a:pt x="10876" y="316467"/>
                  </a:lnTo>
                  <a:lnTo>
                    <a:pt x="24007" y="272103"/>
                  </a:lnTo>
                  <a:lnTo>
                    <a:pt x="41854" y="229988"/>
                  </a:lnTo>
                  <a:lnTo>
                    <a:pt x="64106" y="190429"/>
                  </a:lnTo>
                  <a:lnTo>
                    <a:pt x="90453" y="153732"/>
                  </a:lnTo>
                  <a:lnTo>
                    <a:pt x="120586" y="120205"/>
                  </a:lnTo>
                  <a:lnTo>
                    <a:pt x="154195" y="90153"/>
                  </a:lnTo>
                  <a:lnTo>
                    <a:pt x="190969" y="63884"/>
                  </a:lnTo>
                  <a:lnTo>
                    <a:pt x="230599" y="41703"/>
                  </a:lnTo>
                  <a:lnTo>
                    <a:pt x="272775" y="23918"/>
                  </a:lnTo>
                  <a:lnTo>
                    <a:pt x="317187" y="10834"/>
                  </a:lnTo>
                  <a:lnTo>
                    <a:pt x="363525" y="2759"/>
                  </a:lnTo>
                  <a:lnTo>
                    <a:pt x="411480" y="0"/>
                  </a:lnTo>
                  <a:lnTo>
                    <a:pt x="459434" y="2759"/>
                  </a:lnTo>
                  <a:lnTo>
                    <a:pt x="505772" y="10834"/>
                  </a:lnTo>
                  <a:lnTo>
                    <a:pt x="550184" y="23918"/>
                  </a:lnTo>
                  <a:lnTo>
                    <a:pt x="592360" y="41703"/>
                  </a:lnTo>
                  <a:lnTo>
                    <a:pt x="631990" y="63884"/>
                  </a:lnTo>
                  <a:lnTo>
                    <a:pt x="668764" y="90153"/>
                  </a:lnTo>
                  <a:lnTo>
                    <a:pt x="702373" y="120205"/>
                  </a:lnTo>
                  <a:lnTo>
                    <a:pt x="732506" y="153732"/>
                  </a:lnTo>
                  <a:lnTo>
                    <a:pt x="758853" y="190429"/>
                  </a:lnTo>
                  <a:lnTo>
                    <a:pt x="781105" y="229988"/>
                  </a:lnTo>
                  <a:lnTo>
                    <a:pt x="798952" y="272103"/>
                  </a:lnTo>
                  <a:lnTo>
                    <a:pt x="812083" y="316467"/>
                  </a:lnTo>
                  <a:lnTo>
                    <a:pt x="820189" y="362774"/>
                  </a:lnTo>
                  <a:lnTo>
                    <a:pt x="822960" y="410718"/>
                  </a:lnTo>
                  <a:lnTo>
                    <a:pt x="820189" y="458672"/>
                  </a:lnTo>
                  <a:lnTo>
                    <a:pt x="812083" y="505010"/>
                  </a:lnTo>
                  <a:lnTo>
                    <a:pt x="798952" y="549422"/>
                  </a:lnTo>
                  <a:lnTo>
                    <a:pt x="781105" y="591598"/>
                  </a:lnTo>
                  <a:lnTo>
                    <a:pt x="758853" y="631228"/>
                  </a:lnTo>
                  <a:lnTo>
                    <a:pt x="732506" y="668002"/>
                  </a:lnTo>
                  <a:lnTo>
                    <a:pt x="702373" y="701611"/>
                  </a:lnTo>
                  <a:lnTo>
                    <a:pt x="668764" y="731744"/>
                  </a:lnTo>
                  <a:lnTo>
                    <a:pt x="631990" y="758091"/>
                  </a:lnTo>
                  <a:lnTo>
                    <a:pt x="592360" y="780343"/>
                  </a:lnTo>
                  <a:lnTo>
                    <a:pt x="550184" y="798190"/>
                  </a:lnTo>
                  <a:lnTo>
                    <a:pt x="505772" y="811321"/>
                  </a:lnTo>
                  <a:lnTo>
                    <a:pt x="459434" y="819427"/>
                  </a:lnTo>
                  <a:lnTo>
                    <a:pt x="411480" y="822198"/>
                  </a:lnTo>
                  <a:lnTo>
                    <a:pt x="363525" y="819427"/>
                  </a:lnTo>
                  <a:lnTo>
                    <a:pt x="317187" y="811321"/>
                  </a:lnTo>
                  <a:lnTo>
                    <a:pt x="272775" y="798190"/>
                  </a:lnTo>
                  <a:lnTo>
                    <a:pt x="230599" y="780343"/>
                  </a:lnTo>
                  <a:lnTo>
                    <a:pt x="190969" y="758091"/>
                  </a:lnTo>
                  <a:lnTo>
                    <a:pt x="154195" y="731744"/>
                  </a:lnTo>
                  <a:lnTo>
                    <a:pt x="120586" y="701611"/>
                  </a:lnTo>
                  <a:lnTo>
                    <a:pt x="90453" y="668002"/>
                  </a:lnTo>
                  <a:lnTo>
                    <a:pt x="64106" y="631228"/>
                  </a:lnTo>
                  <a:lnTo>
                    <a:pt x="41854" y="591598"/>
                  </a:lnTo>
                  <a:lnTo>
                    <a:pt x="24007" y="549422"/>
                  </a:lnTo>
                  <a:lnTo>
                    <a:pt x="10876" y="505010"/>
                  </a:lnTo>
                  <a:lnTo>
                    <a:pt x="2770" y="458672"/>
                  </a:lnTo>
                  <a:lnTo>
                    <a:pt x="0" y="410718"/>
                  </a:lnTo>
                  <a:close/>
                </a:path>
                <a:path w="822960" h="822325">
                  <a:moveTo>
                    <a:pt x="0" y="410718"/>
                  </a:moveTo>
                  <a:lnTo>
                    <a:pt x="2770" y="362774"/>
                  </a:lnTo>
                  <a:lnTo>
                    <a:pt x="10876" y="316467"/>
                  </a:lnTo>
                  <a:lnTo>
                    <a:pt x="24007" y="272103"/>
                  </a:lnTo>
                  <a:lnTo>
                    <a:pt x="41854" y="229988"/>
                  </a:lnTo>
                  <a:lnTo>
                    <a:pt x="64106" y="190429"/>
                  </a:lnTo>
                  <a:lnTo>
                    <a:pt x="90453" y="153732"/>
                  </a:lnTo>
                  <a:lnTo>
                    <a:pt x="120586" y="120205"/>
                  </a:lnTo>
                  <a:lnTo>
                    <a:pt x="154195" y="90153"/>
                  </a:lnTo>
                  <a:lnTo>
                    <a:pt x="190969" y="63884"/>
                  </a:lnTo>
                  <a:lnTo>
                    <a:pt x="230599" y="41703"/>
                  </a:lnTo>
                  <a:lnTo>
                    <a:pt x="272775" y="23918"/>
                  </a:lnTo>
                  <a:lnTo>
                    <a:pt x="317187" y="10834"/>
                  </a:lnTo>
                  <a:lnTo>
                    <a:pt x="363525" y="2759"/>
                  </a:lnTo>
                  <a:lnTo>
                    <a:pt x="411480" y="0"/>
                  </a:lnTo>
                  <a:lnTo>
                    <a:pt x="459434" y="2759"/>
                  </a:lnTo>
                  <a:lnTo>
                    <a:pt x="505772" y="10834"/>
                  </a:lnTo>
                  <a:lnTo>
                    <a:pt x="550184" y="23918"/>
                  </a:lnTo>
                  <a:lnTo>
                    <a:pt x="592360" y="41703"/>
                  </a:lnTo>
                  <a:lnTo>
                    <a:pt x="631990" y="63884"/>
                  </a:lnTo>
                  <a:lnTo>
                    <a:pt x="668764" y="90153"/>
                  </a:lnTo>
                  <a:lnTo>
                    <a:pt x="702373" y="120205"/>
                  </a:lnTo>
                  <a:lnTo>
                    <a:pt x="732506" y="153732"/>
                  </a:lnTo>
                  <a:lnTo>
                    <a:pt x="758853" y="190429"/>
                  </a:lnTo>
                  <a:lnTo>
                    <a:pt x="781105" y="229988"/>
                  </a:lnTo>
                  <a:lnTo>
                    <a:pt x="798952" y="272103"/>
                  </a:lnTo>
                  <a:lnTo>
                    <a:pt x="812083" y="316467"/>
                  </a:lnTo>
                  <a:lnTo>
                    <a:pt x="820189" y="362774"/>
                  </a:lnTo>
                  <a:lnTo>
                    <a:pt x="822960" y="410718"/>
                  </a:lnTo>
                  <a:lnTo>
                    <a:pt x="820189" y="458672"/>
                  </a:lnTo>
                  <a:lnTo>
                    <a:pt x="812083" y="505010"/>
                  </a:lnTo>
                  <a:lnTo>
                    <a:pt x="798952" y="549422"/>
                  </a:lnTo>
                  <a:lnTo>
                    <a:pt x="781105" y="591598"/>
                  </a:lnTo>
                  <a:lnTo>
                    <a:pt x="758853" y="631228"/>
                  </a:lnTo>
                  <a:lnTo>
                    <a:pt x="732506" y="668002"/>
                  </a:lnTo>
                  <a:lnTo>
                    <a:pt x="702373" y="701611"/>
                  </a:lnTo>
                  <a:lnTo>
                    <a:pt x="668764" y="731744"/>
                  </a:lnTo>
                  <a:lnTo>
                    <a:pt x="631990" y="758091"/>
                  </a:lnTo>
                  <a:lnTo>
                    <a:pt x="592360" y="780343"/>
                  </a:lnTo>
                  <a:lnTo>
                    <a:pt x="550184" y="798190"/>
                  </a:lnTo>
                  <a:lnTo>
                    <a:pt x="505772" y="811321"/>
                  </a:lnTo>
                  <a:lnTo>
                    <a:pt x="459434" y="819427"/>
                  </a:lnTo>
                  <a:lnTo>
                    <a:pt x="411480" y="822198"/>
                  </a:lnTo>
                  <a:lnTo>
                    <a:pt x="363525" y="819427"/>
                  </a:lnTo>
                  <a:lnTo>
                    <a:pt x="317187" y="811321"/>
                  </a:lnTo>
                  <a:lnTo>
                    <a:pt x="272775" y="798190"/>
                  </a:lnTo>
                  <a:lnTo>
                    <a:pt x="230599" y="780343"/>
                  </a:lnTo>
                  <a:lnTo>
                    <a:pt x="190969" y="758091"/>
                  </a:lnTo>
                  <a:lnTo>
                    <a:pt x="154195" y="731744"/>
                  </a:lnTo>
                  <a:lnTo>
                    <a:pt x="120586" y="701611"/>
                  </a:lnTo>
                  <a:lnTo>
                    <a:pt x="90453" y="668002"/>
                  </a:lnTo>
                  <a:lnTo>
                    <a:pt x="64106" y="631228"/>
                  </a:lnTo>
                  <a:lnTo>
                    <a:pt x="41854" y="591598"/>
                  </a:lnTo>
                  <a:lnTo>
                    <a:pt x="24007" y="549422"/>
                  </a:lnTo>
                  <a:lnTo>
                    <a:pt x="10876" y="505010"/>
                  </a:lnTo>
                  <a:lnTo>
                    <a:pt x="2770" y="458672"/>
                  </a:lnTo>
                  <a:lnTo>
                    <a:pt x="0" y="410718"/>
                  </a:lnTo>
                  <a:close/>
                </a:path>
              </a:pathLst>
            </a:custGeom>
            <a:ln w="26555">
              <a:solidFill>
                <a:srgbClr val="63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45">
            <a:extLst>
              <a:ext uri="{FF2B5EF4-FFF2-40B4-BE49-F238E27FC236}">
                <a16:creationId xmlns:a16="http://schemas.microsoft.com/office/drawing/2014/main" id="{5F832E81-9649-50B8-800C-466A3659DDB9}"/>
              </a:ext>
            </a:extLst>
          </p:cNvPr>
          <p:cNvSpPr txBox="1"/>
          <p:nvPr/>
        </p:nvSpPr>
        <p:spPr>
          <a:xfrm>
            <a:off x="5149834" y="5396615"/>
            <a:ext cx="2899017" cy="398321"/>
          </a:xfrm>
          <a:prstGeom prst="rect">
            <a:avLst/>
          </a:prstGeom>
        </p:spPr>
        <p:txBody>
          <a:bodyPr vert="horz" wrap="square" lIns="0" tIns="26296" rIns="0" bIns="0" rtlCol="0">
            <a:spAutoFit/>
          </a:bodyPr>
          <a:lstStyle/>
          <a:p>
            <a:pPr algn="ctr">
              <a:spcBef>
                <a:spcPts val="207"/>
              </a:spcBef>
            </a:pPr>
            <a:r>
              <a:rPr sz="2416" spc="-17" dirty="0" err="1">
                <a:solidFill>
                  <a:srgbClr val="C00000"/>
                </a:solidFill>
                <a:latin typeface="Comic Sans MS"/>
                <a:cs typeface="Comic Sans MS"/>
              </a:rPr>
              <a:t>Diffrence</a:t>
            </a:r>
            <a:r>
              <a:rPr lang="sv-SE" sz="2416" spc="-17" dirty="0">
                <a:solidFill>
                  <a:srgbClr val="C00000"/>
                </a:solidFill>
                <a:latin typeface="Comic Sans MS"/>
                <a:cs typeface="Comic Sans MS"/>
              </a:rPr>
              <a:t>s</a:t>
            </a:r>
            <a:endParaRPr sz="2416"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193162762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28B8DAE-A493-BADC-E3AA-CD3C7CDA3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3049390F-E894-35A0-4C7B-12BF484C2911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7DA0D9BE-161D-5D3C-371C-0FD3679077B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729A91D8-77AC-9CF2-75A8-6AC329609711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340291B7-2548-E3D4-91E1-9153A8A7FF77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75BA4B27-7BC1-279D-E17F-EEBC1292F68A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Largest number in Binary System</a:t>
            </a:r>
          </a:p>
        </p:txBody>
      </p:sp>
    </p:spTree>
    <p:extLst>
      <p:ext uri="{BB962C8B-B14F-4D97-AF65-F5344CB8AC3E}">
        <p14:creationId xmlns:p14="http://schemas.microsoft.com/office/powerpoint/2010/main" val="43409378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AE8D91F-EE53-0BF0-D9A1-07CDE7E2B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D2A79B8-D027-F80D-666D-CCAAA5317D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98896" y="1257300"/>
            <a:ext cx="10614223" cy="7543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07859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278EC5A-35F4-CE7A-6389-10BCD60E4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3538718"/>
              </p:ext>
            </p:extLst>
          </p:nvPr>
        </p:nvGraphicFramePr>
        <p:xfrm>
          <a:off x="421766" y="905396"/>
          <a:ext cx="12567667" cy="82476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0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18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63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77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49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231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226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2094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6918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24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b="1" spc="-25" dirty="0">
                          <a:latin typeface="Comic Sans MS"/>
                          <a:cs typeface="Comic Sans MS"/>
                        </a:rPr>
                        <a:t>128</a:t>
                      </a:r>
                      <a:endParaRPr sz="2400" dirty="0">
                        <a:latin typeface="Comic Sans MS"/>
                        <a:cs typeface="Comic Sans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b="1" spc="-25" dirty="0">
                          <a:latin typeface="Comic Sans MS"/>
                          <a:cs typeface="Comic Sans MS"/>
                        </a:rPr>
                        <a:t>64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b="1" spc="-25" dirty="0">
                          <a:latin typeface="Comic Sans MS"/>
                          <a:cs typeface="Comic Sans MS"/>
                        </a:rPr>
                        <a:t>32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b="1" spc="-25" dirty="0">
                          <a:latin typeface="Comic Sans MS"/>
                          <a:cs typeface="Comic Sans MS"/>
                        </a:rPr>
                        <a:t>16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b="1" spc="-50" dirty="0">
                          <a:latin typeface="Comic Sans MS"/>
                          <a:cs typeface="Comic Sans MS"/>
                        </a:rPr>
                        <a:t>8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b="1" spc="-50" dirty="0">
                          <a:latin typeface="Comic Sans MS"/>
                          <a:cs typeface="Comic Sans MS"/>
                        </a:rPr>
                        <a:t>4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b="1" spc="-50" dirty="0">
                          <a:latin typeface="Comic Sans MS"/>
                          <a:cs typeface="Comic Sans MS"/>
                        </a:rPr>
                        <a:t>2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b="1" spc="-50" dirty="0">
                          <a:latin typeface="Comic Sans MS"/>
                          <a:cs typeface="Comic Sans MS"/>
                        </a:rPr>
                        <a:t>1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507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50800" algn="ctr">
                        <a:lnSpc>
                          <a:spcPct val="100000"/>
                        </a:lnSpc>
                      </a:pPr>
                      <a:r>
                        <a:rPr sz="2400" b="1" spc="-10" dirty="0">
                          <a:latin typeface="Comic Sans MS"/>
                          <a:cs typeface="Comic Sans MS"/>
                        </a:rPr>
                        <a:t>32,768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50165" algn="ctr">
                        <a:lnSpc>
                          <a:spcPct val="100000"/>
                        </a:lnSpc>
                      </a:pPr>
                      <a:r>
                        <a:rPr sz="2400" b="1" spc="-10" dirty="0">
                          <a:latin typeface="Comic Sans MS"/>
                          <a:cs typeface="Comic Sans MS"/>
                        </a:rPr>
                        <a:t>16,384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339725">
                        <a:lnSpc>
                          <a:spcPct val="100000"/>
                        </a:lnSpc>
                      </a:pPr>
                      <a:r>
                        <a:rPr sz="2400" b="1" spc="-10" dirty="0">
                          <a:latin typeface="Comic Sans MS"/>
                          <a:cs typeface="Comic Sans MS"/>
                        </a:rPr>
                        <a:t>8,192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52705" algn="ctr">
                        <a:lnSpc>
                          <a:spcPct val="100000"/>
                        </a:lnSpc>
                      </a:pPr>
                      <a:r>
                        <a:rPr sz="2400" b="1" spc="-10" dirty="0">
                          <a:latin typeface="Comic Sans MS"/>
                          <a:cs typeface="Comic Sans MS"/>
                        </a:rPr>
                        <a:t>4,096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52069" algn="ctr">
                        <a:lnSpc>
                          <a:spcPct val="100000"/>
                        </a:lnSpc>
                      </a:pPr>
                      <a:r>
                        <a:rPr sz="2400" b="1" spc="-10" dirty="0">
                          <a:latin typeface="Comic Sans MS"/>
                          <a:cs typeface="Comic Sans MS"/>
                        </a:rPr>
                        <a:t>2,048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b="1" spc="-10" dirty="0">
                          <a:latin typeface="Comic Sans MS"/>
                          <a:cs typeface="Comic Sans MS"/>
                        </a:rPr>
                        <a:t>1,024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b="1" spc="-25" dirty="0">
                          <a:latin typeface="Comic Sans MS"/>
                          <a:cs typeface="Comic Sans MS"/>
                        </a:rPr>
                        <a:t>512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b="1" spc="-25" dirty="0">
                          <a:latin typeface="Comic Sans MS"/>
                          <a:cs typeface="Comic Sans MS"/>
                        </a:rPr>
                        <a:t>256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996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5016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b="1" spc="-10" dirty="0">
                          <a:latin typeface="Comic Sans MS"/>
                          <a:cs typeface="Comic Sans MS"/>
                        </a:rPr>
                        <a:t>8,388,608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4889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b="1" spc="-10" dirty="0">
                          <a:latin typeface="Comic Sans MS"/>
                          <a:cs typeface="Comic Sans MS"/>
                        </a:rPr>
                        <a:t>4,194,304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1962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b="1" spc="-10" dirty="0">
                          <a:latin typeface="Comic Sans MS"/>
                          <a:cs typeface="Comic Sans MS"/>
                        </a:rPr>
                        <a:t>2,097,152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5016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b="1" spc="-1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1,048,576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5270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b="1" spc="-10" dirty="0">
                          <a:latin typeface="Comic Sans MS"/>
                          <a:cs typeface="Comic Sans MS"/>
                        </a:rPr>
                        <a:t>524,288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514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b="1" spc="-10" dirty="0">
                          <a:latin typeface="Comic Sans MS"/>
                          <a:cs typeface="Comic Sans MS"/>
                        </a:rPr>
                        <a:t>262,144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5334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b="1" spc="-10" dirty="0">
                          <a:latin typeface="Comic Sans MS"/>
                          <a:cs typeface="Comic Sans MS"/>
                        </a:rPr>
                        <a:t>131,072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5080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b="1" spc="-10" dirty="0">
                          <a:latin typeface="Comic Sans MS"/>
                          <a:cs typeface="Comic Sans MS"/>
                        </a:rPr>
                        <a:t>65,536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996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b="1" spc="-10" dirty="0">
                          <a:latin typeface="Comic Sans MS"/>
                          <a:cs typeface="Comic Sans MS"/>
                        </a:rPr>
                        <a:t>2,147,483,648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b="1" spc="-1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1,073,741,824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b="1" spc="-10" dirty="0">
                          <a:latin typeface="Comic Sans MS"/>
                          <a:cs typeface="Comic Sans MS"/>
                        </a:rPr>
                        <a:t>536,870,912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514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b="1" spc="-10" dirty="0">
                          <a:latin typeface="Comic Sans MS"/>
                          <a:cs typeface="Comic Sans MS"/>
                        </a:rPr>
                        <a:t>268,435,456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5397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b="1" spc="-10" dirty="0">
                          <a:latin typeface="Comic Sans MS"/>
                          <a:cs typeface="Comic Sans MS"/>
                        </a:rPr>
                        <a:t>134,217,728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b="1" spc="-10" dirty="0">
                          <a:latin typeface="Comic Sans MS"/>
                          <a:cs typeface="Comic Sans MS"/>
                        </a:rPr>
                        <a:t>67,108,864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5461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b="1" spc="-10" dirty="0">
                          <a:latin typeface="Comic Sans MS"/>
                          <a:cs typeface="Comic Sans MS"/>
                        </a:rPr>
                        <a:t>33,554,432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514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b="1" spc="-10" dirty="0">
                          <a:latin typeface="Comic Sans MS"/>
                          <a:cs typeface="Comic Sans MS"/>
                        </a:rPr>
                        <a:t>16,777,216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003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b="1" spc="-10" dirty="0">
                          <a:latin typeface="Comic Sans MS"/>
                          <a:cs typeface="Comic Sans MS"/>
                        </a:rPr>
                        <a:t>5.49756E+11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b="1" spc="-10" dirty="0">
                          <a:latin typeface="Comic Sans MS"/>
                          <a:cs typeface="Comic Sans MS"/>
                        </a:rPr>
                        <a:t>2.74878E+11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79375">
                        <a:lnSpc>
                          <a:spcPct val="100000"/>
                        </a:lnSpc>
                      </a:pPr>
                      <a:r>
                        <a:rPr sz="2400" b="1" spc="-10" dirty="0">
                          <a:latin typeface="Comic Sans MS"/>
                          <a:cs typeface="Comic Sans MS"/>
                        </a:rPr>
                        <a:t>1.37439E+11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51435" algn="ctr">
                        <a:lnSpc>
                          <a:spcPct val="100000"/>
                        </a:lnSpc>
                      </a:pPr>
                      <a:r>
                        <a:rPr sz="2400" b="1" spc="-10" dirty="0">
                          <a:latin typeface="Comic Sans MS"/>
                          <a:cs typeface="Comic Sans MS"/>
                        </a:rPr>
                        <a:t>68,719,476,736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b="1" spc="-10" dirty="0">
                          <a:latin typeface="Comic Sans MS"/>
                          <a:cs typeface="Comic Sans MS"/>
                        </a:rPr>
                        <a:t>34,359,738,368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endParaRPr sz="24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b="1" spc="-10" dirty="0">
                          <a:latin typeface="Comic Sans MS"/>
                          <a:cs typeface="Comic Sans MS"/>
                        </a:rPr>
                        <a:t>17,179,869,184</a:t>
                      </a:r>
                      <a:endParaRPr sz="2400" dirty="0">
                        <a:latin typeface="Comic Sans MS"/>
                        <a:cs typeface="Comic Sans MS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b="1" spc="-10" dirty="0">
                          <a:latin typeface="Comic Sans MS"/>
                          <a:cs typeface="Comic Sans MS"/>
                        </a:rPr>
                        <a:t>8,589,934,592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b="1" spc="-10" dirty="0">
                          <a:latin typeface="Comic Sans MS"/>
                          <a:cs typeface="Comic Sans MS"/>
                        </a:rPr>
                        <a:t>4,294,967,296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51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6918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b="1" spc="-25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??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32552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66D0E-243A-D1C2-4FAB-A0655CB55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C85E88FA-C145-0FDA-1CFF-D59F3375F47C}"/>
              </a:ext>
            </a:extLst>
          </p:cNvPr>
          <p:cNvSpPr txBox="1">
            <a:spLocks/>
          </p:cNvSpPr>
          <p:nvPr/>
        </p:nvSpPr>
        <p:spPr>
          <a:xfrm>
            <a:off x="0" y="4405097"/>
            <a:ext cx="13411200" cy="1248206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4000" dirty="0">
                <a:solidFill>
                  <a:srgbClr val="292929"/>
                </a:solidFill>
                <a:latin typeface="Comic Sans MS" panose="030F0702030302020204" pitchFamily="66" charset="0"/>
              </a:rPr>
              <a:t>8 bytes (64 bits) → Value on </a:t>
            </a:r>
            <a:r>
              <a:rPr lang="en-GB" sz="4000" b="1" dirty="0">
                <a:solidFill>
                  <a:srgbClr val="292929"/>
                </a:solidFill>
                <a:latin typeface="Comic Sans MS" panose="030F0702030302020204" pitchFamily="66" charset="0"/>
              </a:rPr>
              <a:t>64th square</a:t>
            </a:r>
            <a:r>
              <a:rPr lang="en-GB" sz="4000" dirty="0">
                <a:solidFill>
                  <a:srgbClr val="292929"/>
                </a:solidFill>
                <a:latin typeface="Comic Sans MS" panose="030F0702030302020204" pitchFamily="66" charset="0"/>
              </a:rPr>
              <a:t> =</a:t>
            </a:r>
            <a:r>
              <a:rPr lang="en-GB" sz="4000" b="1" dirty="0">
                <a:solidFill>
                  <a:srgbClr val="292929"/>
                </a:solidFill>
                <a:latin typeface="Comic Sans MS" panose="030F0702030302020204" pitchFamily="66" charset="0"/>
              </a:rPr>
              <a:t> </a:t>
            </a:r>
          </a:p>
          <a:p>
            <a:pPr algn="ctr"/>
            <a:r>
              <a:rPr lang="en-GB" sz="4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9,223,372,036,854,775,808.</a:t>
            </a:r>
            <a:endParaRPr lang="en-GB" sz="40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307001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AF50154-FDEA-663E-CD9E-6D7AC018E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EDC55D3A-80E6-D8D9-E6D5-4129C2FD298C}"/>
              </a:ext>
            </a:extLst>
          </p:cNvPr>
          <p:cNvGraphicFramePr>
            <a:graphicFrameLocks noGrp="1"/>
          </p:cNvGraphicFramePr>
          <p:nvPr/>
        </p:nvGraphicFramePr>
        <p:xfrm>
          <a:off x="421766" y="905396"/>
          <a:ext cx="12567667" cy="82476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0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18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63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77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49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231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226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2094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6918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24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b="1" spc="-25" dirty="0">
                          <a:latin typeface="Comic Sans MS"/>
                          <a:cs typeface="Comic Sans MS"/>
                        </a:rPr>
                        <a:t>128</a:t>
                      </a:r>
                      <a:endParaRPr sz="2400" dirty="0">
                        <a:latin typeface="Comic Sans MS"/>
                        <a:cs typeface="Comic Sans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b="1" spc="-25" dirty="0">
                          <a:latin typeface="Comic Sans MS"/>
                          <a:cs typeface="Comic Sans MS"/>
                        </a:rPr>
                        <a:t>64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b="1" spc="-25" dirty="0">
                          <a:latin typeface="Comic Sans MS"/>
                          <a:cs typeface="Comic Sans MS"/>
                        </a:rPr>
                        <a:t>32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b="1" spc="-25" dirty="0">
                          <a:latin typeface="Comic Sans MS"/>
                          <a:cs typeface="Comic Sans MS"/>
                        </a:rPr>
                        <a:t>16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b="1" spc="-50" dirty="0">
                          <a:latin typeface="Comic Sans MS"/>
                          <a:cs typeface="Comic Sans MS"/>
                        </a:rPr>
                        <a:t>8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b="1" spc="-50" dirty="0">
                          <a:latin typeface="Comic Sans MS"/>
                          <a:cs typeface="Comic Sans MS"/>
                        </a:rPr>
                        <a:t>4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b="1" spc="-50" dirty="0">
                          <a:latin typeface="Comic Sans MS"/>
                          <a:cs typeface="Comic Sans MS"/>
                        </a:rPr>
                        <a:t>2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b="1" spc="-50" dirty="0">
                          <a:latin typeface="Comic Sans MS"/>
                          <a:cs typeface="Comic Sans MS"/>
                        </a:rPr>
                        <a:t>1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507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50800" algn="ctr">
                        <a:lnSpc>
                          <a:spcPct val="100000"/>
                        </a:lnSpc>
                      </a:pPr>
                      <a:r>
                        <a:rPr sz="2400" b="1" spc="-10" dirty="0">
                          <a:latin typeface="Comic Sans MS"/>
                          <a:cs typeface="Comic Sans MS"/>
                        </a:rPr>
                        <a:t>32,768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50165" algn="ctr">
                        <a:lnSpc>
                          <a:spcPct val="100000"/>
                        </a:lnSpc>
                      </a:pPr>
                      <a:r>
                        <a:rPr sz="2400" b="1" spc="-10" dirty="0">
                          <a:latin typeface="Comic Sans MS"/>
                          <a:cs typeface="Comic Sans MS"/>
                        </a:rPr>
                        <a:t>16,384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339725">
                        <a:lnSpc>
                          <a:spcPct val="100000"/>
                        </a:lnSpc>
                      </a:pPr>
                      <a:r>
                        <a:rPr sz="2400" b="1" spc="-10" dirty="0">
                          <a:latin typeface="Comic Sans MS"/>
                          <a:cs typeface="Comic Sans MS"/>
                        </a:rPr>
                        <a:t>8,192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52705" algn="ctr">
                        <a:lnSpc>
                          <a:spcPct val="100000"/>
                        </a:lnSpc>
                      </a:pPr>
                      <a:r>
                        <a:rPr sz="2400" b="1" spc="-10" dirty="0">
                          <a:latin typeface="Comic Sans MS"/>
                          <a:cs typeface="Comic Sans MS"/>
                        </a:rPr>
                        <a:t>4,096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52069" algn="ctr">
                        <a:lnSpc>
                          <a:spcPct val="100000"/>
                        </a:lnSpc>
                      </a:pPr>
                      <a:r>
                        <a:rPr sz="2400" b="1" spc="-10" dirty="0">
                          <a:latin typeface="Comic Sans MS"/>
                          <a:cs typeface="Comic Sans MS"/>
                        </a:rPr>
                        <a:t>2,048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b="1" spc="-10" dirty="0">
                          <a:latin typeface="Comic Sans MS"/>
                          <a:cs typeface="Comic Sans MS"/>
                        </a:rPr>
                        <a:t>1,024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b="1" spc="-25" dirty="0">
                          <a:latin typeface="Comic Sans MS"/>
                          <a:cs typeface="Comic Sans MS"/>
                        </a:rPr>
                        <a:t>512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b="1" spc="-25" dirty="0">
                          <a:latin typeface="Comic Sans MS"/>
                          <a:cs typeface="Comic Sans MS"/>
                        </a:rPr>
                        <a:t>256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996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5016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b="1" spc="-10" dirty="0">
                          <a:latin typeface="Comic Sans MS"/>
                          <a:cs typeface="Comic Sans MS"/>
                        </a:rPr>
                        <a:t>8,388,608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4889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b="1" spc="-10" dirty="0">
                          <a:latin typeface="Comic Sans MS"/>
                          <a:cs typeface="Comic Sans MS"/>
                        </a:rPr>
                        <a:t>4,194,304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1962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b="1" spc="-10" dirty="0">
                          <a:latin typeface="Comic Sans MS"/>
                          <a:cs typeface="Comic Sans MS"/>
                        </a:rPr>
                        <a:t>2,097,152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5016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b="1" spc="-1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1,048,576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5270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b="1" spc="-10" dirty="0">
                          <a:latin typeface="Comic Sans MS"/>
                          <a:cs typeface="Comic Sans MS"/>
                        </a:rPr>
                        <a:t>524,288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514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b="1" spc="-10" dirty="0">
                          <a:latin typeface="Comic Sans MS"/>
                          <a:cs typeface="Comic Sans MS"/>
                        </a:rPr>
                        <a:t>262,144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5334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b="1" spc="-10" dirty="0">
                          <a:latin typeface="Comic Sans MS"/>
                          <a:cs typeface="Comic Sans MS"/>
                        </a:rPr>
                        <a:t>131,072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5080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b="1" spc="-10" dirty="0">
                          <a:latin typeface="Comic Sans MS"/>
                          <a:cs typeface="Comic Sans MS"/>
                        </a:rPr>
                        <a:t>65,536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996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b="1" spc="-10" dirty="0">
                          <a:latin typeface="Comic Sans MS"/>
                          <a:cs typeface="Comic Sans MS"/>
                        </a:rPr>
                        <a:t>2,147,483,648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b="1" spc="-1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1,073,741,824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b="1" spc="-10" dirty="0">
                          <a:latin typeface="Comic Sans MS"/>
                          <a:cs typeface="Comic Sans MS"/>
                        </a:rPr>
                        <a:t>536,870,912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514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b="1" spc="-10" dirty="0">
                          <a:latin typeface="Comic Sans MS"/>
                          <a:cs typeface="Comic Sans MS"/>
                        </a:rPr>
                        <a:t>268,435,456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5397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b="1" spc="-10" dirty="0">
                          <a:latin typeface="Comic Sans MS"/>
                          <a:cs typeface="Comic Sans MS"/>
                        </a:rPr>
                        <a:t>134,217,728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b="1" spc="-10" dirty="0">
                          <a:latin typeface="Comic Sans MS"/>
                          <a:cs typeface="Comic Sans MS"/>
                        </a:rPr>
                        <a:t>67,108,864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5461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b="1" spc="-10" dirty="0">
                          <a:latin typeface="Comic Sans MS"/>
                          <a:cs typeface="Comic Sans MS"/>
                        </a:rPr>
                        <a:t>33,554,432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514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b="1" spc="-10" dirty="0">
                          <a:latin typeface="Comic Sans MS"/>
                          <a:cs typeface="Comic Sans MS"/>
                        </a:rPr>
                        <a:t>16,777,216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003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b="1" spc="-10" dirty="0">
                          <a:latin typeface="Comic Sans MS"/>
                          <a:cs typeface="Comic Sans MS"/>
                        </a:rPr>
                        <a:t>5.49756E+11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b="1" spc="-10" dirty="0">
                          <a:latin typeface="Comic Sans MS"/>
                          <a:cs typeface="Comic Sans MS"/>
                        </a:rPr>
                        <a:t>2.74878E+11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79375">
                        <a:lnSpc>
                          <a:spcPct val="100000"/>
                        </a:lnSpc>
                      </a:pPr>
                      <a:r>
                        <a:rPr sz="2400" b="1" spc="-10" dirty="0">
                          <a:latin typeface="Comic Sans MS"/>
                          <a:cs typeface="Comic Sans MS"/>
                        </a:rPr>
                        <a:t>1.37439E+11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51435" algn="ctr">
                        <a:lnSpc>
                          <a:spcPct val="100000"/>
                        </a:lnSpc>
                      </a:pPr>
                      <a:r>
                        <a:rPr sz="2400" b="1" spc="-10" dirty="0">
                          <a:latin typeface="Comic Sans MS"/>
                          <a:cs typeface="Comic Sans MS"/>
                        </a:rPr>
                        <a:t>68,719,476,736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b="1" spc="-10" dirty="0">
                          <a:latin typeface="Comic Sans MS"/>
                          <a:cs typeface="Comic Sans MS"/>
                        </a:rPr>
                        <a:t>34,359,738,368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endParaRPr sz="24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b="1" spc="-10" dirty="0">
                          <a:latin typeface="Comic Sans MS"/>
                          <a:cs typeface="Comic Sans MS"/>
                        </a:rPr>
                        <a:t>17,179,869,184</a:t>
                      </a:r>
                      <a:endParaRPr sz="2400" dirty="0">
                        <a:latin typeface="Comic Sans MS"/>
                        <a:cs typeface="Comic Sans MS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b="1" spc="-10" dirty="0">
                          <a:latin typeface="Comic Sans MS"/>
                          <a:cs typeface="Comic Sans MS"/>
                        </a:rPr>
                        <a:t>8,589,934,592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b="1" spc="-10" dirty="0">
                          <a:latin typeface="Comic Sans MS"/>
                          <a:cs typeface="Comic Sans MS"/>
                        </a:rPr>
                        <a:t>4,294,967,296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51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6918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b="1" spc="-25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??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417340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69EEB-BE15-F200-7C2D-07863E0FC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0718DA75-DD28-55D8-C5FB-24982C30C6C1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4000" b="1" dirty="0">
                <a:latin typeface="Comic Sans MS" panose="030F0702030302020204" pitchFamily="66" charset="0"/>
              </a:rPr>
              <a:t>Total sum</a:t>
            </a:r>
            <a:r>
              <a:rPr lang="en-GB" sz="4000" dirty="0">
                <a:latin typeface="Comic Sans MS" panose="030F0702030302020204" pitchFamily="66" charset="0"/>
              </a:rPr>
              <a:t> (1 to 64) →</a:t>
            </a:r>
            <a:r>
              <a:rPr lang="en-SE" sz="4000" b="1" spc="-10" dirty="0">
                <a:solidFill>
                  <a:srgbClr val="FF0000"/>
                </a:solidFill>
                <a:latin typeface="Comic Sans MS"/>
                <a:cs typeface="Comic Sans MS"/>
              </a:rPr>
              <a:t>18,446,744,073,709,600,000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411076628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9B9D247-CE4B-CF7F-A3BD-672AF16D8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A8F6FCA-8A30-AA69-09D7-BCFB50A0DBF2}"/>
              </a:ext>
            </a:extLst>
          </p:cNvPr>
          <p:cNvSpPr txBox="1"/>
          <p:nvPr/>
        </p:nvSpPr>
        <p:spPr>
          <a:xfrm>
            <a:off x="381000" y="888075"/>
            <a:ext cx="12352767" cy="372620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SE" sz="4000" b="1" dirty="0">
                <a:latin typeface="Comic Sans MS" panose="030F0702030302020204" pitchFamily="66" charset="0"/>
              </a:rPr>
              <a:t>✨ </a:t>
            </a:r>
            <a:r>
              <a:rPr lang="en-GB" sz="4000" b="1" dirty="0">
                <a:latin typeface="Comic Sans MS" panose="030F0702030302020204" pitchFamily="66" charset="0"/>
              </a:rPr>
              <a:t>Summary</a:t>
            </a:r>
            <a:endParaRPr lang="en-GB" sz="4000" dirty="0">
              <a:latin typeface="Comic Sans MS" panose="030F0702030302020204" pitchFamily="66" charset="0"/>
            </a:endParaRP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SE" sz="2400" dirty="0">
                <a:latin typeface="Comic Sans MS" panose="030F0702030302020204" pitchFamily="66" charset="0"/>
              </a:rPr>
              <a:t>✅ </a:t>
            </a:r>
            <a:r>
              <a:rPr lang="sv-SE" sz="2400" dirty="0" err="1">
                <a:latin typeface="Comic Sans MS" panose="030F0702030302020204" pitchFamily="66" charset="0"/>
              </a:rPr>
              <a:t>Binary</a:t>
            </a:r>
            <a:r>
              <a:rPr lang="sv-SE" sz="2400" dirty="0">
                <a:latin typeface="Comic Sans MS" panose="030F0702030302020204" pitchFamily="66" charset="0"/>
              </a:rPr>
              <a:t> System → Foundation for all digital data.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en-SE" sz="2400" dirty="0">
                <a:latin typeface="Comic Sans MS" panose="030F0702030302020204" pitchFamily="66" charset="0"/>
              </a:rPr>
              <a:t>✅ </a:t>
            </a:r>
            <a:r>
              <a:rPr lang="sv-SE" sz="2400" dirty="0">
                <a:latin typeface="Comic Sans MS" panose="030F0702030302020204" pitchFamily="66" charset="0"/>
              </a:rPr>
              <a:t>Bits &amp; Bytes → </a:t>
            </a:r>
            <a:r>
              <a:rPr lang="sv-SE" sz="2400" dirty="0" err="1">
                <a:latin typeface="Comic Sans MS" panose="030F0702030302020204" pitchFamily="66" charset="0"/>
              </a:rPr>
              <a:t>Determine</a:t>
            </a:r>
            <a:r>
              <a:rPr lang="sv-SE" sz="2400" dirty="0">
                <a:latin typeface="Comic Sans MS" panose="030F0702030302020204" pitchFamily="66" charset="0"/>
              </a:rPr>
              <a:t> data </a:t>
            </a:r>
            <a:r>
              <a:rPr lang="sv-SE" sz="2400" dirty="0" err="1">
                <a:latin typeface="Comic Sans MS" panose="030F0702030302020204" pitchFamily="66" charset="0"/>
              </a:rPr>
              <a:t>size</a:t>
            </a:r>
            <a:r>
              <a:rPr lang="sv-SE" sz="2400" dirty="0">
                <a:latin typeface="Comic Sans MS" panose="030F0702030302020204" pitchFamily="66" charset="0"/>
              </a:rPr>
              <a:t> and </a:t>
            </a:r>
            <a:r>
              <a:rPr lang="sv-SE" sz="2400" dirty="0" err="1">
                <a:latin typeface="Comic Sans MS" panose="030F0702030302020204" pitchFamily="66" charset="0"/>
              </a:rPr>
              <a:t>capacity</a:t>
            </a:r>
            <a:r>
              <a:rPr lang="sv-SE" sz="2400" dirty="0">
                <a:latin typeface="Comic Sans MS" panose="030F0702030302020204" pitchFamily="66" charset="0"/>
              </a:rPr>
              <a:t>.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en-SE" sz="2400" dirty="0">
                <a:latin typeface="Comic Sans MS" panose="030F0702030302020204" pitchFamily="66" charset="0"/>
              </a:rPr>
              <a:t>✅ </a:t>
            </a:r>
            <a:r>
              <a:rPr lang="sv-SE" sz="2400" dirty="0">
                <a:latin typeface="Comic Sans MS" panose="030F0702030302020204" pitchFamily="66" charset="0"/>
              </a:rPr>
              <a:t>ASCII → </a:t>
            </a:r>
            <a:r>
              <a:rPr lang="sv-SE" sz="2400" dirty="0" err="1">
                <a:latin typeface="Comic Sans MS" panose="030F0702030302020204" pitchFamily="66" charset="0"/>
              </a:rPr>
              <a:t>Enables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computers</a:t>
            </a:r>
            <a:r>
              <a:rPr lang="sv-SE" sz="2400" dirty="0">
                <a:latin typeface="Comic Sans MS" panose="030F0702030302020204" pitchFamily="66" charset="0"/>
              </a:rPr>
              <a:t> to </a:t>
            </a:r>
            <a:r>
              <a:rPr lang="sv-SE" sz="2400" dirty="0" err="1">
                <a:latin typeface="Comic Sans MS" panose="030F0702030302020204" pitchFamily="66" charset="0"/>
              </a:rPr>
              <a:t>represent</a:t>
            </a:r>
            <a:r>
              <a:rPr lang="sv-SE" sz="2400" dirty="0">
                <a:latin typeface="Comic Sans MS" panose="030F0702030302020204" pitchFamily="66" charset="0"/>
              </a:rPr>
              <a:t> text in English.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en-SE" sz="2400" dirty="0">
                <a:latin typeface="Comic Sans MS" panose="030F0702030302020204" pitchFamily="66" charset="0"/>
              </a:rPr>
              <a:t>✅ </a:t>
            </a:r>
            <a:r>
              <a:rPr lang="sv-SE" sz="2400" dirty="0" err="1">
                <a:latin typeface="Comic Sans MS" panose="030F0702030302020204" pitchFamily="66" charset="0"/>
              </a:rPr>
              <a:t>Unicode</a:t>
            </a:r>
            <a:r>
              <a:rPr lang="sv-SE" sz="2400" dirty="0">
                <a:latin typeface="Comic Sans MS" panose="030F0702030302020204" pitchFamily="66" charset="0"/>
              </a:rPr>
              <a:t> → </a:t>
            </a:r>
            <a:r>
              <a:rPr lang="sv-SE" sz="2400" dirty="0" err="1">
                <a:latin typeface="Comic Sans MS" panose="030F0702030302020204" pitchFamily="66" charset="0"/>
              </a:rPr>
              <a:t>Expands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capability</a:t>
            </a:r>
            <a:r>
              <a:rPr lang="sv-SE" sz="2400" dirty="0">
                <a:latin typeface="Comic Sans MS" panose="030F0702030302020204" pitchFamily="66" charset="0"/>
              </a:rPr>
              <a:t> to </a:t>
            </a:r>
            <a:r>
              <a:rPr lang="sv-SE" sz="2400" dirty="0" err="1">
                <a:latin typeface="Comic Sans MS" panose="030F0702030302020204" pitchFamily="66" charset="0"/>
              </a:rPr>
              <a:t>represent</a:t>
            </a:r>
            <a:r>
              <a:rPr lang="sv-SE" sz="2400" dirty="0">
                <a:latin typeface="Comic Sans MS" panose="030F0702030302020204" pitchFamily="66" charset="0"/>
              </a:rPr>
              <a:t> global </a:t>
            </a:r>
            <a:r>
              <a:rPr lang="sv-SE" sz="2400" dirty="0" err="1">
                <a:latin typeface="Comic Sans MS" panose="030F0702030302020204" pitchFamily="66" charset="0"/>
              </a:rPr>
              <a:t>languages</a:t>
            </a:r>
            <a:r>
              <a:rPr lang="sv-SE" sz="2400" dirty="0">
                <a:latin typeface="Comic Sans MS" panose="030F0702030302020204" pitchFamily="66" charset="0"/>
              </a:rPr>
              <a:t>.</a:t>
            </a:r>
          </a:p>
          <a:p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By </a:t>
            </a:r>
            <a:r>
              <a:rPr lang="sv-SE" sz="2400" dirty="0" err="1">
                <a:latin typeface="Comic Sans MS" panose="030F0702030302020204" pitchFamily="66" charset="0"/>
              </a:rPr>
              <a:t>understanding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how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binary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underlies</a:t>
            </a:r>
            <a:r>
              <a:rPr lang="sv-SE" sz="2400" dirty="0">
                <a:latin typeface="Comic Sans MS" panose="030F0702030302020204" pitchFamily="66" charset="0"/>
              </a:rPr>
              <a:t> all computer data, </a:t>
            </a:r>
            <a:r>
              <a:rPr lang="sv-SE" sz="2400" dirty="0" err="1">
                <a:latin typeface="Comic Sans MS" panose="030F0702030302020204" pitchFamily="66" charset="0"/>
              </a:rPr>
              <a:t>you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gain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insight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into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how</a:t>
            </a:r>
            <a:r>
              <a:rPr lang="sv-SE" sz="2400" dirty="0">
                <a:latin typeface="Comic Sans MS" panose="030F0702030302020204" pitchFamily="66" charset="0"/>
              </a:rPr>
              <a:t> programs, </a:t>
            </a:r>
            <a:r>
              <a:rPr lang="sv-SE" sz="2400" dirty="0" err="1">
                <a:latin typeface="Comic Sans MS" panose="030F0702030302020204" pitchFamily="66" charset="0"/>
              </a:rPr>
              <a:t>storage</a:t>
            </a:r>
            <a:r>
              <a:rPr lang="sv-SE" sz="2400" dirty="0">
                <a:latin typeface="Comic Sans MS" panose="030F0702030302020204" pitchFamily="66" charset="0"/>
              </a:rPr>
              <a:t>, and </a:t>
            </a:r>
            <a:r>
              <a:rPr lang="sv-SE" sz="2400" dirty="0" err="1">
                <a:latin typeface="Comic Sans MS" panose="030F0702030302020204" pitchFamily="66" charset="0"/>
              </a:rPr>
              <a:t>communication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truly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work</a:t>
            </a:r>
            <a:r>
              <a:rPr lang="sv-SE" sz="2400" dirty="0">
                <a:latin typeface="Comic Sans MS" panose="030F0702030302020204" pitchFamily="66" charset="0"/>
              </a:rPr>
              <a:t>! ⚡</a:t>
            </a:r>
          </a:p>
        </p:txBody>
      </p:sp>
    </p:spTree>
    <p:extLst>
      <p:ext uri="{BB962C8B-B14F-4D97-AF65-F5344CB8AC3E}">
        <p14:creationId xmlns:p14="http://schemas.microsoft.com/office/powerpoint/2010/main" val="354319361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D552950-8953-E3AB-95A9-484A59C94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248982E6-9DA6-81D9-35A7-372D03C5EB83}"/>
              </a:ext>
            </a:extLst>
          </p:cNvPr>
          <p:cNvSpPr txBox="1"/>
          <p:nvPr/>
        </p:nvSpPr>
        <p:spPr>
          <a:xfrm>
            <a:off x="381000" y="888075"/>
            <a:ext cx="12352767" cy="44648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🧐 Activity</a:t>
            </a: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📋 </a:t>
            </a:r>
            <a:r>
              <a:rPr lang="en-GB" sz="2400" b="1" dirty="0">
                <a:latin typeface="Comic Sans MS" panose="030F0702030302020204" pitchFamily="66" charset="0"/>
              </a:rPr>
              <a:t>Instructions: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1️⃣</a:t>
            </a:r>
            <a:r>
              <a:rPr lang="en-GB" sz="2400" b="1" dirty="0">
                <a:latin typeface="Comic Sans MS" panose="030F0702030302020204" pitchFamily="66" charset="0"/>
              </a:rPr>
              <a:t> Convert the following decimal numbers into binary: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	44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129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512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717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999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2️⃣ Write your first name in binary using ASCII encoding</a:t>
            </a:r>
            <a:endParaRPr lang="en-GB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24548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D7AA581-89A1-DA75-DD53-25B5AD311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DDFD32E-F7C2-B657-91B9-4B68EDD1D595}"/>
              </a:ext>
            </a:extLst>
          </p:cNvPr>
          <p:cNvSpPr txBox="1"/>
          <p:nvPr/>
        </p:nvSpPr>
        <p:spPr>
          <a:xfrm>
            <a:off x="381000" y="888075"/>
            <a:ext cx="12352767" cy="668086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🧐 Activity Solution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📋 </a:t>
            </a:r>
            <a:r>
              <a:rPr lang="en-GB" sz="2400" b="1" dirty="0">
                <a:latin typeface="Comic Sans MS" panose="030F0702030302020204" pitchFamily="66" charset="0"/>
              </a:rPr>
              <a:t>Solution:</a:t>
            </a:r>
          </a:p>
          <a:p>
            <a:endParaRPr lang="sv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1️⃣ </a:t>
            </a:r>
            <a:r>
              <a:rPr lang="sv-SE" sz="2400" b="1" dirty="0" err="1">
                <a:latin typeface="Comic Sans MS" panose="030F0702030302020204" pitchFamily="66" charset="0"/>
              </a:rPr>
              <a:t>Binary</a:t>
            </a:r>
            <a:r>
              <a:rPr lang="sv-SE" sz="2400" b="1" dirty="0">
                <a:latin typeface="Comic Sans MS" panose="030F0702030302020204" pitchFamily="66" charset="0"/>
              </a:rPr>
              <a:t> </a:t>
            </a:r>
            <a:r>
              <a:rPr lang="sv-SE" sz="2400" b="1" dirty="0" err="1">
                <a:latin typeface="Comic Sans MS" panose="030F0702030302020204" pitchFamily="66" charset="0"/>
              </a:rPr>
              <a:t>conversions</a:t>
            </a:r>
            <a:r>
              <a:rPr lang="sv-SE" sz="2400" b="1" dirty="0">
                <a:latin typeface="Comic Sans MS" panose="030F0702030302020204" pitchFamily="66" charset="0"/>
              </a:rPr>
              <a:t>:</a:t>
            </a:r>
            <a:endParaRPr lang="sv-SE" sz="2400" dirty="0">
              <a:latin typeface="Comic Sans MS" panose="030F0702030302020204" pitchFamily="66" charset="0"/>
            </a:endParaRP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sv-SE" sz="2400" dirty="0"/>
              <a:t>	</a:t>
            </a:r>
            <a:r>
              <a:rPr lang="en-SE" sz="2400" dirty="0"/>
              <a:t>🟩 </a:t>
            </a:r>
            <a:r>
              <a:rPr lang="sv-SE" sz="2400" dirty="0"/>
              <a:t> </a:t>
            </a:r>
            <a:r>
              <a:rPr lang="en-GB" sz="2400" dirty="0">
                <a:latin typeface="Comic Sans MS" panose="030F0702030302020204" pitchFamily="66" charset="0"/>
              </a:rPr>
              <a:t>Convert 44 → Binary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	Divide 44 by 2: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	44 ÷ 2 = 22		remainder 0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	22 ÷ 2 = 11		remainder 0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	11 ÷ 2 = 5		remainder 1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	5 ÷ 2 = 2		remainder 1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	2 ÷ 2 = 1		remainder 0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	1 ÷ 2 = 0,		remainder 1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Now read remainders bottom → top: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	1 0 1 1 0 0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➡️  44 (decimal) = 101100 (binary)</a:t>
            </a:r>
            <a:endParaRPr lang="sv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251671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C173566-9685-7063-53B5-6E9C01162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7E7BE0DC-C0D0-E046-26A1-D1582BF4B1ED}"/>
              </a:ext>
            </a:extLst>
          </p:cNvPr>
          <p:cNvSpPr txBox="1"/>
          <p:nvPr/>
        </p:nvSpPr>
        <p:spPr>
          <a:xfrm>
            <a:off x="381000" y="888075"/>
            <a:ext cx="12352767" cy="741952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🧐 Activity Solution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📋 </a:t>
            </a:r>
            <a:r>
              <a:rPr lang="en-GB" sz="2400" b="1" dirty="0">
                <a:latin typeface="Comic Sans MS" panose="030F0702030302020204" pitchFamily="66" charset="0"/>
              </a:rPr>
              <a:t>Solution:</a:t>
            </a:r>
          </a:p>
          <a:p>
            <a:endParaRPr lang="sv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1️⃣ </a:t>
            </a:r>
            <a:r>
              <a:rPr lang="sv-SE" sz="2400" b="1" dirty="0" err="1">
                <a:latin typeface="Comic Sans MS" panose="030F0702030302020204" pitchFamily="66" charset="0"/>
              </a:rPr>
              <a:t>Binary</a:t>
            </a:r>
            <a:r>
              <a:rPr lang="sv-SE" sz="2400" b="1" dirty="0">
                <a:latin typeface="Comic Sans MS" panose="030F0702030302020204" pitchFamily="66" charset="0"/>
              </a:rPr>
              <a:t> </a:t>
            </a:r>
            <a:r>
              <a:rPr lang="sv-SE" sz="2400" b="1" dirty="0" err="1">
                <a:latin typeface="Comic Sans MS" panose="030F0702030302020204" pitchFamily="66" charset="0"/>
              </a:rPr>
              <a:t>conversions</a:t>
            </a:r>
            <a:r>
              <a:rPr lang="sv-SE" sz="2400" b="1" dirty="0">
                <a:latin typeface="Comic Sans MS" panose="030F0702030302020204" pitchFamily="66" charset="0"/>
              </a:rPr>
              <a:t>:</a:t>
            </a:r>
            <a:endParaRPr lang="sv-SE" sz="2400" dirty="0">
              <a:latin typeface="Comic Sans MS" panose="030F0702030302020204" pitchFamily="66" charset="0"/>
            </a:endParaRP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sv-SE" sz="2400" dirty="0"/>
              <a:t>	</a:t>
            </a:r>
            <a:r>
              <a:rPr lang="en-SE" sz="2400" dirty="0"/>
              <a:t>🟩 </a:t>
            </a:r>
            <a:r>
              <a:rPr lang="sv-SE" sz="2400" dirty="0"/>
              <a:t> </a:t>
            </a:r>
            <a:r>
              <a:rPr lang="en-GB" sz="2400" dirty="0">
                <a:latin typeface="Comic Sans MS" panose="030F0702030302020204" pitchFamily="66" charset="0"/>
              </a:rPr>
              <a:t>Convert 129 → Binary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	Divide 129 by 2: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	129 ÷ 2 = 64	remainder 1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	64 ÷ 2 = 32	remainder 0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	32 ÷ 2 = 16	remainder 0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	16 ÷ 2 = 8	remainder 0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	8 ÷ 2 = 4	remainder 0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	4 ÷ 2 = 2	remainder 0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	2 ÷ 2 = 1	remainder 0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	 1 ÷ 2 = 0	remainder 1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Now read remainders bottom → top: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	1 0 0 0 0 0 0 1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➡️  129 (decimal) = 10000001 (binary)</a:t>
            </a:r>
            <a:endParaRPr lang="sv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513223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92B44B4-0B43-8EC1-EE72-8C72453F5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743CA87B-66BD-9B5F-5806-1ED609C251ED}"/>
              </a:ext>
            </a:extLst>
          </p:cNvPr>
          <p:cNvSpPr txBox="1"/>
          <p:nvPr/>
        </p:nvSpPr>
        <p:spPr>
          <a:xfrm>
            <a:off x="381000" y="888075"/>
            <a:ext cx="12352767" cy="815819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🧐 Activity Solution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📋 </a:t>
            </a:r>
            <a:r>
              <a:rPr lang="en-GB" sz="2400" b="1" dirty="0">
                <a:latin typeface="Comic Sans MS" panose="030F0702030302020204" pitchFamily="66" charset="0"/>
              </a:rPr>
              <a:t>Solution:</a:t>
            </a:r>
          </a:p>
          <a:p>
            <a:endParaRPr lang="sv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1️⃣ </a:t>
            </a:r>
            <a:r>
              <a:rPr lang="sv-SE" sz="2400" b="1" dirty="0" err="1">
                <a:latin typeface="Comic Sans MS" panose="030F0702030302020204" pitchFamily="66" charset="0"/>
              </a:rPr>
              <a:t>Binary</a:t>
            </a:r>
            <a:r>
              <a:rPr lang="sv-SE" sz="2400" b="1" dirty="0">
                <a:latin typeface="Comic Sans MS" panose="030F0702030302020204" pitchFamily="66" charset="0"/>
              </a:rPr>
              <a:t> </a:t>
            </a:r>
            <a:r>
              <a:rPr lang="sv-SE" sz="2400" b="1" dirty="0" err="1">
                <a:latin typeface="Comic Sans MS" panose="030F0702030302020204" pitchFamily="66" charset="0"/>
              </a:rPr>
              <a:t>conversions</a:t>
            </a:r>
            <a:r>
              <a:rPr lang="sv-SE" sz="2400" b="1" dirty="0">
                <a:latin typeface="Comic Sans MS" panose="030F0702030302020204" pitchFamily="66" charset="0"/>
              </a:rPr>
              <a:t>:</a:t>
            </a:r>
            <a:endParaRPr lang="sv-SE" sz="2400" dirty="0">
              <a:latin typeface="Comic Sans MS" panose="030F0702030302020204" pitchFamily="66" charset="0"/>
            </a:endParaRP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sv-SE" sz="2400" dirty="0"/>
              <a:t>	</a:t>
            </a:r>
            <a:r>
              <a:rPr lang="en-SE" sz="2400" dirty="0"/>
              <a:t>🟩 </a:t>
            </a:r>
            <a:r>
              <a:rPr lang="sv-SE" sz="2400" dirty="0"/>
              <a:t> </a:t>
            </a:r>
            <a:r>
              <a:rPr lang="en-GB" sz="2400" dirty="0">
                <a:latin typeface="Comic Sans MS" panose="030F0702030302020204" pitchFamily="66" charset="0"/>
              </a:rPr>
              <a:t>Convert 512 → Binary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	Divide 512 by 2: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	512 ÷ 2 = 256	remainder 0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	256 ÷ 2 = 128	remainder 0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	128 ÷ 2 = 64		remainder 0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	64 ÷ 2 = 32		remainder 0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	32 ÷ 2 = 16		remainder 0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	16 ÷ 2 = 8		remainder 0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	8 ÷ 2 = 4		remainder 0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	4 ÷ 2 = 2		remainder 0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	2 ÷ 2 = 1		remainder 0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	 1 ÷ 2 = 0		remainder 1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Now read remainders bottom → top: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	1 0 0 0 0 0 0 0 0 0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➡️  512 (decimal) = 1000000000 (binary)</a:t>
            </a:r>
            <a:endParaRPr lang="sv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43170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979D254-339E-FA20-461A-84EB639BF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1DBF2DB5-346A-9D78-5FD4-81B5450B8EA6}"/>
              </a:ext>
            </a:extLst>
          </p:cNvPr>
          <p:cNvSpPr txBox="1"/>
          <p:nvPr/>
        </p:nvSpPr>
        <p:spPr>
          <a:xfrm>
            <a:off x="381000" y="888075"/>
            <a:ext cx="12352767" cy="778885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🧐 Activity Solution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📋 </a:t>
            </a:r>
            <a:r>
              <a:rPr lang="en-GB" sz="2400" b="1" dirty="0">
                <a:latin typeface="Comic Sans MS" panose="030F0702030302020204" pitchFamily="66" charset="0"/>
              </a:rPr>
              <a:t>Solution:</a:t>
            </a:r>
          </a:p>
          <a:p>
            <a:endParaRPr lang="sv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1️⃣ </a:t>
            </a:r>
            <a:r>
              <a:rPr lang="sv-SE" sz="2400" b="1" dirty="0" err="1">
                <a:latin typeface="Comic Sans MS" panose="030F0702030302020204" pitchFamily="66" charset="0"/>
              </a:rPr>
              <a:t>Binary</a:t>
            </a:r>
            <a:r>
              <a:rPr lang="sv-SE" sz="2400" b="1" dirty="0">
                <a:latin typeface="Comic Sans MS" panose="030F0702030302020204" pitchFamily="66" charset="0"/>
              </a:rPr>
              <a:t> </a:t>
            </a:r>
            <a:r>
              <a:rPr lang="sv-SE" sz="2400" b="1" dirty="0" err="1">
                <a:latin typeface="Comic Sans MS" panose="030F0702030302020204" pitchFamily="66" charset="0"/>
              </a:rPr>
              <a:t>conversions</a:t>
            </a:r>
            <a:r>
              <a:rPr lang="sv-SE" sz="2400" b="1" dirty="0">
                <a:latin typeface="Comic Sans MS" panose="030F0702030302020204" pitchFamily="66" charset="0"/>
              </a:rPr>
              <a:t>:</a:t>
            </a:r>
            <a:endParaRPr lang="sv-SE" sz="2400" dirty="0">
              <a:latin typeface="Comic Sans MS" panose="030F0702030302020204" pitchFamily="66" charset="0"/>
            </a:endParaRP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sv-SE" sz="2400" dirty="0"/>
              <a:t>	</a:t>
            </a:r>
            <a:r>
              <a:rPr lang="en-SE" sz="2400" dirty="0"/>
              <a:t>🟩 </a:t>
            </a:r>
            <a:r>
              <a:rPr lang="sv-SE" sz="2400" dirty="0"/>
              <a:t> </a:t>
            </a:r>
            <a:r>
              <a:rPr lang="en-GB" sz="2400" dirty="0">
                <a:latin typeface="Comic Sans MS" panose="030F0702030302020204" pitchFamily="66" charset="0"/>
              </a:rPr>
              <a:t>Convert 717 → Binary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	Divide 717 by 2: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	717 ÷ 2 = 358	remainder 1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	358 ÷ 2 = 179	remainder 0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	179 ÷ 2 = 44		remainder 1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	44 ÷ 2 = 22		remainder 0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	22 ÷ 2 = 11		remainder 0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	11 ÷ 2 = 5		remainder 1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	5 ÷ 2 = 2		remainder 1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	2 ÷ 2 = 1		remainder 0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	 1 ÷ 2 = 0		remainder 1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Now read remainders bottom → top: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	1 0 1 0 0 1 1 0 1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➡️  512 (decimal) = 101001101 (binary)</a:t>
            </a:r>
            <a:endParaRPr lang="sv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442898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1865EDC-8DB1-F5C4-D1AA-98250E260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D9CE15F-698A-4E6B-C1E0-918F01D58AFB}"/>
              </a:ext>
            </a:extLst>
          </p:cNvPr>
          <p:cNvSpPr txBox="1"/>
          <p:nvPr/>
        </p:nvSpPr>
        <p:spPr>
          <a:xfrm>
            <a:off x="381000" y="888075"/>
            <a:ext cx="12352767" cy="815819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🧐 Activity Solution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📋 </a:t>
            </a:r>
            <a:r>
              <a:rPr lang="en-GB" sz="2400" b="1" dirty="0">
                <a:latin typeface="Comic Sans MS" panose="030F0702030302020204" pitchFamily="66" charset="0"/>
              </a:rPr>
              <a:t>Solution:</a:t>
            </a:r>
          </a:p>
          <a:p>
            <a:endParaRPr lang="sv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1️⃣ </a:t>
            </a:r>
            <a:r>
              <a:rPr lang="sv-SE" sz="2400" b="1" dirty="0" err="1">
                <a:latin typeface="Comic Sans MS" panose="030F0702030302020204" pitchFamily="66" charset="0"/>
              </a:rPr>
              <a:t>Binary</a:t>
            </a:r>
            <a:r>
              <a:rPr lang="sv-SE" sz="2400" b="1" dirty="0">
                <a:latin typeface="Comic Sans MS" panose="030F0702030302020204" pitchFamily="66" charset="0"/>
              </a:rPr>
              <a:t> </a:t>
            </a:r>
            <a:r>
              <a:rPr lang="sv-SE" sz="2400" b="1" dirty="0" err="1">
                <a:latin typeface="Comic Sans MS" panose="030F0702030302020204" pitchFamily="66" charset="0"/>
              </a:rPr>
              <a:t>conversions</a:t>
            </a:r>
            <a:r>
              <a:rPr lang="sv-SE" sz="2400" b="1" dirty="0">
                <a:latin typeface="Comic Sans MS" panose="030F0702030302020204" pitchFamily="66" charset="0"/>
              </a:rPr>
              <a:t>:</a:t>
            </a:r>
            <a:endParaRPr lang="sv-SE" sz="2400" dirty="0">
              <a:latin typeface="Comic Sans MS" panose="030F0702030302020204" pitchFamily="66" charset="0"/>
            </a:endParaRP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sv-SE" sz="2400" dirty="0"/>
              <a:t>	</a:t>
            </a:r>
            <a:r>
              <a:rPr lang="en-SE" sz="2400" dirty="0"/>
              <a:t>🟩 </a:t>
            </a:r>
            <a:r>
              <a:rPr lang="sv-SE" sz="2400" dirty="0"/>
              <a:t> </a:t>
            </a:r>
            <a:r>
              <a:rPr lang="en-GB" sz="2400" dirty="0">
                <a:latin typeface="Comic Sans MS" panose="030F0702030302020204" pitchFamily="66" charset="0"/>
              </a:rPr>
              <a:t>Convert 999 → Binary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	Divide 999 by 2: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	999 ÷ 2 = 499	remainder 1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	499 ÷ 2 = 249	remainder 1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	249 ÷ 2 = 124	remainder 1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	124 ÷ 2 = 62		remainder 0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	62 ÷ 2 = 31		remainder 0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	31 ÷ 2 = 15		remainder 1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	15 ÷ 2 = 7		remainder 1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	7 ÷ 2 = 3		remainder 1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	3 ÷ 2 = 1		remainder 1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	1 ÷ 2 = 0		remainder 1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Now read remainders bottom → top: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	1 1 1 1 1 0 0 1 1 1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➡️  512 (decimal) = 1111100111 (binary)</a:t>
            </a:r>
            <a:endParaRPr lang="sv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56839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CB596CA-6A4A-D70A-F6D4-1542A45DB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3446DD2-6BCB-C18C-E76F-CE29218CFB13}"/>
              </a:ext>
            </a:extLst>
          </p:cNvPr>
          <p:cNvSpPr txBox="1"/>
          <p:nvPr/>
        </p:nvSpPr>
        <p:spPr>
          <a:xfrm>
            <a:off x="381000" y="888075"/>
            <a:ext cx="12352767" cy="44648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🧐 Activity Solution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📋 </a:t>
            </a:r>
            <a:r>
              <a:rPr lang="en-GB" sz="2400" b="1" dirty="0">
                <a:latin typeface="Comic Sans MS" panose="030F0702030302020204" pitchFamily="66" charset="0"/>
              </a:rPr>
              <a:t>Solution:</a:t>
            </a:r>
          </a:p>
          <a:p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b="1" dirty="0">
                <a:latin typeface="Comic Sans MS" panose="030F0702030302020204" pitchFamily="66" charset="0"/>
              </a:rPr>
              <a:t>2️⃣ </a:t>
            </a:r>
            <a:r>
              <a:rPr lang="sv-SE" sz="2400" b="1" dirty="0" err="1">
                <a:latin typeface="Comic Sans MS" panose="030F0702030302020204" pitchFamily="66" charset="0"/>
              </a:rPr>
              <a:t>Example</a:t>
            </a:r>
            <a:r>
              <a:rPr lang="sv-SE" sz="2400" b="1" dirty="0">
                <a:latin typeface="Comic Sans MS" panose="030F0702030302020204" pitchFamily="66" charset="0"/>
              </a:rPr>
              <a:t> (</a:t>
            </a:r>
            <a:r>
              <a:rPr lang="sv-SE" sz="2400" b="1" dirty="0" err="1">
                <a:latin typeface="Comic Sans MS" panose="030F0702030302020204" pitchFamily="66" charset="0"/>
              </a:rPr>
              <a:t>Name</a:t>
            </a:r>
            <a:r>
              <a:rPr lang="sv-SE" sz="2400" b="1" dirty="0">
                <a:latin typeface="Comic Sans MS" panose="030F0702030302020204" pitchFamily="66" charset="0"/>
              </a:rPr>
              <a:t>: “Omar”):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	🔤 Step 1 — Get the ASCII Codes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	Letter	ASCII(Decimal)</a:t>
            </a:r>
          </a:p>
          <a:p>
            <a:r>
              <a:rPr lang="sv-SE" sz="2400" dirty="0">
                <a:latin typeface="Comic Sans MS" panose="030F0702030302020204" pitchFamily="66" charset="0"/>
              </a:rPr>
              <a:t>		O		79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		m		109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	a		97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	r		114</a:t>
            </a:r>
          </a:p>
        </p:txBody>
      </p:sp>
    </p:spTree>
    <p:extLst>
      <p:ext uri="{BB962C8B-B14F-4D97-AF65-F5344CB8AC3E}">
        <p14:creationId xmlns:p14="http://schemas.microsoft.com/office/powerpoint/2010/main" val="230622088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45CC82F-C659-C0F2-2A12-DDDEE2F2C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282908A-D644-0942-D664-86DB3B295D17}"/>
              </a:ext>
            </a:extLst>
          </p:cNvPr>
          <p:cNvSpPr txBox="1"/>
          <p:nvPr/>
        </p:nvSpPr>
        <p:spPr>
          <a:xfrm>
            <a:off x="381000" y="888075"/>
            <a:ext cx="12352767" cy="741952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🧐 Activity Solution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📋 </a:t>
            </a:r>
            <a:r>
              <a:rPr lang="en-GB" sz="2400" b="1" dirty="0">
                <a:latin typeface="Comic Sans MS" panose="030F0702030302020204" pitchFamily="66" charset="0"/>
              </a:rPr>
              <a:t>Solution:</a:t>
            </a:r>
          </a:p>
          <a:p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b="1" dirty="0">
                <a:latin typeface="Comic Sans MS" panose="030F0702030302020204" pitchFamily="66" charset="0"/>
              </a:rPr>
              <a:t>2️⃣ </a:t>
            </a:r>
            <a:r>
              <a:rPr lang="sv-SE" sz="2400" b="1" dirty="0" err="1">
                <a:latin typeface="Comic Sans MS" panose="030F0702030302020204" pitchFamily="66" charset="0"/>
              </a:rPr>
              <a:t>Example</a:t>
            </a:r>
            <a:r>
              <a:rPr lang="sv-SE" sz="2400" b="1" dirty="0">
                <a:latin typeface="Comic Sans MS" panose="030F0702030302020204" pitchFamily="66" charset="0"/>
              </a:rPr>
              <a:t> (</a:t>
            </a:r>
            <a:r>
              <a:rPr lang="sv-SE" sz="2400" b="1" dirty="0" err="1">
                <a:latin typeface="Comic Sans MS" panose="030F0702030302020204" pitchFamily="66" charset="0"/>
              </a:rPr>
              <a:t>Name</a:t>
            </a:r>
            <a:r>
              <a:rPr lang="sv-SE" sz="2400" b="1" dirty="0">
                <a:latin typeface="Comic Sans MS" panose="030F0702030302020204" pitchFamily="66" charset="0"/>
              </a:rPr>
              <a:t>: “Omar”):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	🔤 Step 2: </a:t>
            </a:r>
            <a:r>
              <a:rPr lang="en-GB" sz="2400" dirty="0">
                <a:latin typeface="Comic Sans MS" panose="030F0702030302020204" pitchFamily="66" charset="0"/>
              </a:rPr>
              <a:t>Now we convert </a:t>
            </a:r>
            <a:r>
              <a:rPr lang="en-GB" sz="2400" b="1" dirty="0">
                <a:latin typeface="Comic Sans MS" panose="030F0702030302020204" pitchFamily="66" charset="0"/>
              </a:rPr>
              <a:t>each</a:t>
            </a:r>
            <a:r>
              <a:rPr lang="en-GB" sz="2400" dirty="0">
                <a:latin typeface="Comic Sans MS" panose="030F0702030302020204" pitchFamily="66" charset="0"/>
              </a:rPr>
              <a:t> decimal value to binary using repeated 			division: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	Convert "O" (79) to Binary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b="1" dirty="0">
                <a:latin typeface="Comic Sans MS" panose="030F0702030302020204" pitchFamily="66" charset="0"/>
              </a:rPr>
              <a:t>	Divide 79 by 2: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	79 ÷ 2 = 39 		remainder </a:t>
            </a:r>
            <a:r>
              <a:rPr lang="en-GB" sz="2400" b="1" dirty="0">
                <a:latin typeface="Comic Sans MS" panose="030F0702030302020204" pitchFamily="66" charset="0"/>
              </a:rPr>
              <a:t>1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39 ÷ 2 = 19		remainder </a:t>
            </a:r>
            <a:r>
              <a:rPr lang="en-GB" sz="2400" b="1" dirty="0">
                <a:latin typeface="Comic Sans MS" panose="030F0702030302020204" pitchFamily="66" charset="0"/>
              </a:rPr>
              <a:t>1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19 ÷ 2 = 9		remainder </a:t>
            </a:r>
            <a:r>
              <a:rPr lang="en-GB" sz="2400" b="1" dirty="0">
                <a:latin typeface="Comic Sans MS" panose="030F0702030302020204" pitchFamily="66" charset="0"/>
              </a:rPr>
              <a:t>1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9 ÷ 2 = 4		remainder </a:t>
            </a:r>
            <a:r>
              <a:rPr lang="en-GB" sz="2400" b="1" dirty="0">
                <a:latin typeface="Comic Sans MS" panose="030F0702030302020204" pitchFamily="66" charset="0"/>
              </a:rPr>
              <a:t>1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4 ÷ 2 = 2		remainder </a:t>
            </a:r>
            <a:r>
              <a:rPr lang="en-GB" sz="2400" b="1" dirty="0">
                <a:latin typeface="Comic Sans MS" panose="030F0702030302020204" pitchFamily="66" charset="0"/>
              </a:rPr>
              <a:t>0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2 ÷ 2 = 1		remainder </a:t>
            </a:r>
            <a:r>
              <a:rPr lang="en-GB" sz="2400" b="1" dirty="0">
                <a:latin typeface="Comic Sans MS" panose="030F0702030302020204" pitchFamily="66" charset="0"/>
              </a:rPr>
              <a:t>0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1 ÷ 2 = 0		remainder </a:t>
            </a:r>
            <a:r>
              <a:rPr lang="en-GB" sz="2400" b="1" dirty="0">
                <a:latin typeface="Comic Sans MS" panose="030F0702030302020204" pitchFamily="66" charset="0"/>
              </a:rPr>
              <a:t>1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	Now read remainders </a:t>
            </a:r>
            <a:r>
              <a:rPr lang="en-GB" sz="2400" b="1" dirty="0">
                <a:latin typeface="Comic Sans MS" panose="030F0702030302020204" pitchFamily="66" charset="0"/>
              </a:rPr>
              <a:t>bottom → top</a:t>
            </a:r>
            <a:r>
              <a:rPr lang="en-GB" sz="2400" dirty="0">
                <a:latin typeface="Comic Sans MS" panose="030F0702030302020204" pitchFamily="66" charset="0"/>
              </a:rPr>
              <a:t>: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	1 0 0 1 1 1 1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	➡️ </a:t>
            </a:r>
            <a:r>
              <a:rPr lang="en-GB" sz="2400" b="1" dirty="0">
                <a:latin typeface="Comic Sans MS" panose="030F0702030302020204" pitchFamily="66" charset="0"/>
              </a:rPr>
              <a:t>O = 01001111</a:t>
            </a:r>
            <a:endParaRPr lang="sv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607314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E455356-4F44-C2E9-EBB4-EE715B755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117D470A-1ADE-3C60-19B6-709A90BA2744}"/>
              </a:ext>
            </a:extLst>
          </p:cNvPr>
          <p:cNvSpPr txBox="1"/>
          <p:nvPr/>
        </p:nvSpPr>
        <p:spPr>
          <a:xfrm>
            <a:off x="381000" y="888075"/>
            <a:ext cx="12352767" cy="741952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🧐 Activity Solution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📋 </a:t>
            </a:r>
            <a:r>
              <a:rPr lang="en-GB" sz="2400" b="1" dirty="0">
                <a:latin typeface="Comic Sans MS" panose="030F0702030302020204" pitchFamily="66" charset="0"/>
              </a:rPr>
              <a:t>Solution:</a:t>
            </a:r>
          </a:p>
          <a:p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b="1" dirty="0">
                <a:latin typeface="Comic Sans MS" panose="030F0702030302020204" pitchFamily="66" charset="0"/>
              </a:rPr>
              <a:t>2️⃣ </a:t>
            </a:r>
            <a:r>
              <a:rPr lang="sv-SE" sz="2400" b="1" dirty="0" err="1">
                <a:latin typeface="Comic Sans MS" panose="030F0702030302020204" pitchFamily="66" charset="0"/>
              </a:rPr>
              <a:t>Example</a:t>
            </a:r>
            <a:r>
              <a:rPr lang="sv-SE" sz="2400" b="1" dirty="0">
                <a:latin typeface="Comic Sans MS" panose="030F0702030302020204" pitchFamily="66" charset="0"/>
              </a:rPr>
              <a:t> (</a:t>
            </a:r>
            <a:r>
              <a:rPr lang="sv-SE" sz="2400" b="1" dirty="0" err="1">
                <a:latin typeface="Comic Sans MS" panose="030F0702030302020204" pitchFamily="66" charset="0"/>
              </a:rPr>
              <a:t>Name</a:t>
            </a:r>
            <a:r>
              <a:rPr lang="sv-SE" sz="2400" b="1" dirty="0">
                <a:latin typeface="Comic Sans MS" panose="030F0702030302020204" pitchFamily="66" charset="0"/>
              </a:rPr>
              <a:t>: “Omar”):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	🔤 Step 2: </a:t>
            </a:r>
            <a:r>
              <a:rPr lang="en-GB" sz="2400" dirty="0">
                <a:latin typeface="Comic Sans MS" panose="030F0702030302020204" pitchFamily="66" charset="0"/>
              </a:rPr>
              <a:t>Now we convert </a:t>
            </a:r>
            <a:r>
              <a:rPr lang="en-GB" sz="2400" b="1" dirty="0">
                <a:latin typeface="Comic Sans MS" panose="030F0702030302020204" pitchFamily="66" charset="0"/>
              </a:rPr>
              <a:t>each</a:t>
            </a:r>
            <a:r>
              <a:rPr lang="en-GB" sz="2400" dirty="0">
                <a:latin typeface="Comic Sans MS" panose="030F0702030302020204" pitchFamily="66" charset="0"/>
              </a:rPr>
              <a:t> decimal value to binary using repeated 			division: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	Convert “m" (109) to Binary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b="1" dirty="0">
                <a:latin typeface="Comic Sans MS" panose="030F0702030302020204" pitchFamily="66" charset="0"/>
              </a:rPr>
              <a:t>	Divide 109 by 2: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	</a:t>
            </a:r>
            <a:r>
              <a:rPr lang="sv-SE" sz="2400" dirty="0">
                <a:latin typeface="Comic Sans MS" panose="030F0702030302020204" pitchFamily="66" charset="0"/>
              </a:rPr>
              <a:t>109 ÷ 2 = 54		</a:t>
            </a:r>
            <a:r>
              <a:rPr lang="sv-SE" sz="2400" dirty="0" err="1">
                <a:latin typeface="Comic Sans MS" panose="030F0702030302020204" pitchFamily="66" charset="0"/>
              </a:rPr>
              <a:t>remainder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b="1" dirty="0">
                <a:latin typeface="Comic Sans MS" panose="030F0702030302020204" pitchFamily="66" charset="0"/>
              </a:rPr>
              <a:t>1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	54 ÷ 2 = 27		</a:t>
            </a:r>
            <a:r>
              <a:rPr lang="sv-SE" sz="2400" dirty="0" err="1">
                <a:latin typeface="Comic Sans MS" panose="030F0702030302020204" pitchFamily="66" charset="0"/>
              </a:rPr>
              <a:t>remainder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b="1" dirty="0">
                <a:latin typeface="Comic Sans MS" panose="030F0702030302020204" pitchFamily="66" charset="0"/>
              </a:rPr>
              <a:t>0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	27 ÷ 2 = 13		</a:t>
            </a:r>
            <a:r>
              <a:rPr lang="sv-SE" sz="2400" dirty="0" err="1">
                <a:latin typeface="Comic Sans MS" panose="030F0702030302020204" pitchFamily="66" charset="0"/>
              </a:rPr>
              <a:t>remainder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b="1" dirty="0">
                <a:latin typeface="Comic Sans MS" panose="030F0702030302020204" pitchFamily="66" charset="0"/>
              </a:rPr>
              <a:t>1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	13 ÷ 2 = 6		</a:t>
            </a:r>
            <a:r>
              <a:rPr lang="sv-SE" sz="2400" dirty="0" err="1">
                <a:latin typeface="Comic Sans MS" panose="030F0702030302020204" pitchFamily="66" charset="0"/>
              </a:rPr>
              <a:t>remainder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b="1" dirty="0">
                <a:latin typeface="Comic Sans MS" panose="030F0702030302020204" pitchFamily="66" charset="0"/>
              </a:rPr>
              <a:t>1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	6 ÷ 2 = 3		</a:t>
            </a:r>
            <a:r>
              <a:rPr lang="sv-SE" sz="2400" dirty="0" err="1">
                <a:latin typeface="Comic Sans MS" panose="030F0702030302020204" pitchFamily="66" charset="0"/>
              </a:rPr>
              <a:t>remainder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b="1" dirty="0">
                <a:latin typeface="Comic Sans MS" panose="030F0702030302020204" pitchFamily="66" charset="0"/>
              </a:rPr>
              <a:t>0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	3 ÷ 2 = 1		</a:t>
            </a:r>
            <a:r>
              <a:rPr lang="sv-SE" sz="2400" dirty="0" err="1">
                <a:latin typeface="Comic Sans MS" panose="030F0702030302020204" pitchFamily="66" charset="0"/>
              </a:rPr>
              <a:t>remainder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b="1" dirty="0">
                <a:latin typeface="Comic Sans MS" panose="030F0702030302020204" pitchFamily="66" charset="0"/>
              </a:rPr>
              <a:t>1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	1 ÷ 2 = 0		</a:t>
            </a:r>
            <a:r>
              <a:rPr lang="sv-SE" sz="2400" dirty="0" err="1">
                <a:latin typeface="Comic Sans MS" panose="030F0702030302020204" pitchFamily="66" charset="0"/>
              </a:rPr>
              <a:t>remainder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b="1" dirty="0">
                <a:latin typeface="Comic Sans MS" panose="030F0702030302020204" pitchFamily="66" charset="0"/>
              </a:rPr>
              <a:t>1</a:t>
            </a:r>
          </a:p>
          <a:p>
            <a:r>
              <a:rPr lang="sv-SE" sz="2400" b="1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Now read remainders </a:t>
            </a:r>
            <a:r>
              <a:rPr lang="en-GB" sz="2400" b="1" dirty="0">
                <a:latin typeface="Comic Sans MS" panose="030F0702030302020204" pitchFamily="66" charset="0"/>
              </a:rPr>
              <a:t>bottom → top</a:t>
            </a:r>
            <a:r>
              <a:rPr lang="en-GB" sz="2400" dirty="0">
                <a:latin typeface="Comic Sans MS" panose="030F0702030302020204" pitchFamily="66" charset="0"/>
              </a:rPr>
              <a:t>:</a:t>
            </a:r>
          </a:p>
          <a:p>
            <a:r>
              <a:rPr lang="sv-SE" sz="2400" b="1" dirty="0">
                <a:latin typeface="Comic Sans MS" panose="030F0702030302020204" pitchFamily="66" charset="0"/>
              </a:rPr>
              <a:t>	</a:t>
            </a:r>
            <a:r>
              <a:rPr lang="en-SE" sz="2400" b="1" dirty="0">
                <a:latin typeface="Comic Sans MS" panose="030F0702030302020204" pitchFamily="66" charset="0"/>
              </a:rPr>
              <a:t>1 1 0 1 1 0 1</a:t>
            </a:r>
            <a:endParaRPr lang="sv-SE" sz="2400" b="1" dirty="0">
              <a:latin typeface="Comic Sans MS" panose="030F0702030302020204" pitchFamily="66" charset="0"/>
            </a:endParaRPr>
          </a:p>
          <a:p>
            <a:r>
              <a:rPr lang="sv-SE" sz="2400" b="1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➡️ </a:t>
            </a:r>
            <a:r>
              <a:rPr lang="sv-SE" sz="2400" b="1" dirty="0">
                <a:latin typeface="Comic Sans MS" panose="030F0702030302020204" pitchFamily="66" charset="0"/>
              </a:rPr>
              <a:t>m = 01101101</a:t>
            </a:r>
            <a:endParaRPr lang="sv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691330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1561C30-DCC8-9486-6315-2B4C75D28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76D94A5-46C0-9E12-8757-01245388C45E}"/>
              </a:ext>
            </a:extLst>
          </p:cNvPr>
          <p:cNvSpPr txBox="1"/>
          <p:nvPr/>
        </p:nvSpPr>
        <p:spPr>
          <a:xfrm>
            <a:off x="381000" y="888075"/>
            <a:ext cx="12352767" cy="741952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🧐 Activity Solution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📋 </a:t>
            </a:r>
            <a:r>
              <a:rPr lang="en-GB" sz="2400" b="1" dirty="0">
                <a:latin typeface="Comic Sans MS" panose="030F0702030302020204" pitchFamily="66" charset="0"/>
              </a:rPr>
              <a:t>Solution:</a:t>
            </a:r>
          </a:p>
          <a:p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b="1" dirty="0">
                <a:latin typeface="Comic Sans MS" panose="030F0702030302020204" pitchFamily="66" charset="0"/>
              </a:rPr>
              <a:t>2️⃣ </a:t>
            </a:r>
            <a:r>
              <a:rPr lang="sv-SE" sz="2400" b="1" dirty="0" err="1">
                <a:latin typeface="Comic Sans MS" panose="030F0702030302020204" pitchFamily="66" charset="0"/>
              </a:rPr>
              <a:t>Example</a:t>
            </a:r>
            <a:r>
              <a:rPr lang="sv-SE" sz="2400" b="1" dirty="0">
                <a:latin typeface="Comic Sans MS" panose="030F0702030302020204" pitchFamily="66" charset="0"/>
              </a:rPr>
              <a:t> (</a:t>
            </a:r>
            <a:r>
              <a:rPr lang="sv-SE" sz="2400" b="1" dirty="0" err="1">
                <a:latin typeface="Comic Sans MS" panose="030F0702030302020204" pitchFamily="66" charset="0"/>
              </a:rPr>
              <a:t>Name</a:t>
            </a:r>
            <a:r>
              <a:rPr lang="sv-SE" sz="2400" b="1" dirty="0">
                <a:latin typeface="Comic Sans MS" panose="030F0702030302020204" pitchFamily="66" charset="0"/>
              </a:rPr>
              <a:t>: “Omar”):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	🔤 Step 2: </a:t>
            </a:r>
            <a:r>
              <a:rPr lang="en-GB" sz="2400" dirty="0">
                <a:latin typeface="Comic Sans MS" panose="030F0702030302020204" pitchFamily="66" charset="0"/>
              </a:rPr>
              <a:t>Now we convert </a:t>
            </a:r>
            <a:r>
              <a:rPr lang="en-GB" sz="2400" b="1" dirty="0">
                <a:latin typeface="Comic Sans MS" panose="030F0702030302020204" pitchFamily="66" charset="0"/>
              </a:rPr>
              <a:t>each</a:t>
            </a:r>
            <a:r>
              <a:rPr lang="en-GB" sz="2400" dirty="0">
                <a:latin typeface="Comic Sans MS" panose="030F0702030302020204" pitchFamily="66" charset="0"/>
              </a:rPr>
              <a:t> decimal value to binary using repeated 			division: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	Convert “a" (97) to Binary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b="1" dirty="0">
                <a:latin typeface="Comic Sans MS" panose="030F0702030302020204" pitchFamily="66" charset="0"/>
              </a:rPr>
              <a:t>	Divide 97 by 2: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	</a:t>
            </a:r>
            <a:r>
              <a:rPr lang="sv-SE" sz="2400" dirty="0">
                <a:latin typeface="Comic Sans MS" panose="030F0702030302020204" pitchFamily="66" charset="0"/>
              </a:rPr>
              <a:t>97 ÷ 2 = 48		</a:t>
            </a:r>
            <a:r>
              <a:rPr lang="sv-SE" sz="2400" dirty="0" err="1">
                <a:latin typeface="Comic Sans MS" panose="030F0702030302020204" pitchFamily="66" charset="0"/>
              </a:rPr>
              <a:t>remainder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b="1" dirty="0">
                <a:latin typeface="Comic Sans MS" panose="030F0702030302020204" pitchFamily="66" charset="0"/>
              </a:rPr>
              <a:t>1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	48 ÷ 2 = 24		</a:t>
            </a:r>
            <a:r>
              <a:rPr lang="sv-SE" sz="2400" dirty="0" err="1">
                <a:latin typeface="Comic Sans MS" panose="030F0702030302020204" pitchFamily="66" charset="0"/>
              </a:rPr>
              <a:t>remainder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b="1" dirty="0">
                <a:latin typeface="Comic Sans MS" panose="030F0702030302020204" pitchFamily="66" charset="0"/>
              </a:rPr>
              <a:t>0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	24 ÷ 2 = 12		</a:t>
            </a:r>
            <a:r>
              <a:rPr lang="sv-SE" sz="2400" dirty="0" err="1">
                <a:latin typeface="Comic Sans MS" panose="030F0702030302020204" pitchFamily="66" charset="0"/>
              </a:rPr>
              <a:t>remainder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b="1" dirty="0">
                <a:latin typeface="Comic Sans MS" panose="030F0702030302020204" pitchFamily="66" charset="0"/>
              </a:rPr>
              <a:t>0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	12 ÷ 2 = 6		</a:t>
            </a:r>
            <a:r>
              <a:rPr lang="sv-SE" sz="2400" dirty="0" err="1">
                <a:latin typeface="Comic Sans MS" panose="030F0702030302020204" pitchFamily="66" charset="0"/>
              </a:rPr>
              <a:t>remainder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b="1" dirty="0">
                <a:latin typeface="Comic Sans MS" panose="030F0702030302020204" pitchFamily="66" charset="0"/>
              </a:rPr>
              <a:t>0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	6 ÷ 2 = 3		</a:t>
            </a:r>
            <a:r>
              <a:rPr lang="sv-SE" sz="2400" dirty="0" err="1">
                <a:latin typeface="Comic Sans MS" panose="030F0702030302020204" pitchFamily="66" charset="0"/>
              </a:rPr>
              <a:t>remainder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b="1" dirty="0">
                <a:latin typeface="Comic Sans MS" panose="030F0702030302020204" pitchFamily="66" charset="0"/>
              </a:rPr>
              <a:t>0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	3 ÷ 2 = 1		</a:t>
            </a:r>
            <a:r>
              <a:rPr lang="sv-SE" sz="2400" dirty="0" err="1">
                <a:latin typeface="Comic Sans MS" panose="030F0702030302020204" pitchFamily="66" charset="0"/>
              </a:rPr>
              <a:t>remainder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b="1" dirty="0">
                <a:latin typeface="Comic Sans MS" panose="030F0702030302020204" pitchFamily="66" charset="0"/>
              </a:rPr>
              <a:t>1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	1 ÷ 2 = 0		</a:t>
            </a:r>
            <a:r>
              <a:rPr lang="sv-SE" sz="2400" dirty="0" err="1">
                <a:latin typeface="Comic Sans MS" panose="030F0702030302020204" pitchFamily="66" charset="0"/>
              </a:rPr>
              <a:t>remainder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b="1" dirty="0">
                <a:latin typeface="Comic Sans MS" panose="030F0702030302020204" pitchFamily="66" charset="0"/>
              </a:rPr>
              <a:t>1</a:t>
            </a:r>
          </a:p>
          <a:p>
            <a:r>
              <a:rPr lang="sv-SE" sz="2400" b="1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Now read remainders </a:t>
            </a:r>
            <a:r>
              <a:rPr lang="en-GB" sz="2400" b="1" dirty="0">
                <a:latin typeface="Comic Sans MS" panose="030F0702030302020204" pitchFamily="66" charset="0"/>
              </a:rPr>
              <a:t>bottom → top</a:t>
            </a:r>
            <a:r>
              <a:rPr lang="en-GB" sz="2400" dirty="0">
                <a:latin typeface="Comic Sans MS" panose="030F0702030302020204" pitchFamily="66" charset="0"/>
              </a:rPr>
              <a:t>:</a:t>
            </a:r>
          </a:p>
          <a:p>
            <a:r>
              <a:rPr lang="sv-SE" sz="2400" b="1" dirty="0">
                <a:latin typeface="Comic Sans MS" panose="030F0702030302020204" pitchFamily="66" charset="0"/>
              </a:rPr>
              <a:t>	</a:t>
            </a:r>
            <a:r>
              <a:rPr lang="en-SE" sz="2400" b="1" dirty="0">
                <a:latin typeface="Comic Sans MS" panose="030F0702030302020204" pitchFamily="66" charset="0"/>
              </a:rPr>
              <a:t>1 1 0 0 0 0 1</a:t>
            </a:r>
            <a:endParaRPr lang="en-SE" sz="2400" dirty="0">
              <a:latin typeface="Comic Sans MS" panose="030F0702030302020204" pitchFamily="66" charset="0"/>
            </a:endParaRPr>
          </a:p>
          <a:p>
            <a:r>
              <a:rPr lang="sv-SE" sz="2400" b="1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➡️ </a:t>
            </a:r>
            <a:r>
              <a:rPr lang="sv-SE" sz="2400" b="1" dirty="0">
                <a:latin typeface="Comic Sans MS" panose="030F0702030302020204" pitchFamily="66" charset="0"/>
              </a:rPr>
              <a:t>a = </a:t>
            </a:r>
            <a:r>
              <a:rPr lang="en-SE" sz="2400" b="1" dirty="0">
                <a:latin typeface="Comic Sans MS" panose="030F0702030302020204" pitchFamily="66" charset="0"/>
              </a:rPr>
              <a:t>01100001</a:t>
            </a:r>
            <a:endParaRPr lang="sv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998363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A199677-2AAD-8C59-A291-EBADCFEF3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7EBCE030-21A1-D02D-F751-40E916141987}"/>
              </a:ext>
            </a:extLst>
          </p:cNvPr>
          <p:cNvSpPr txBox="1"/>
          <p:nvPr/>
        </p:nvSpPr>
        <p:spPr>
          <a:xfrm>
            <a:off x="381000" y="888075"/>
            <a:ext cx="12352767" cy="741952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🧐 Activity Solution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📋 </a:t>
            </a:r>
            <a:r>
              <a:rPr lang="en-GB" sz="2400" b="1" dirty="0">
                <a:latin typeface="Comic Sans MS" panose="030F0702030302020204" pitchFamily="66" charset="0"/>
              </a:rPr>
              <a:t>Solution:</a:t>
            </a:r>
          </a:p>
          <a:p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b="1" dirty="0">
                <a:latin typeface="Comic Sans MS" panose="030F0702030302020204" pitchFamily="66" charset="0"/>
              </a:rPr>
              <a:t>2️⃣ </a:t>
            </a:r>
            <a:r>
              <a:rPr lang="sv-SE" sz="2400" b="1" dirty="0" err="1">
                <a:latin typeface="Comic Sans MS" panose="030F0702030302020204" pitchFamily="66" charset="0"/>
              </a:rPr>
              <a:t>Example</a:t>
            </a:r>
            <a:r>
              <a:rPr lang="sv-SE" sz="2400" b="1" dirty="0">
                <a:latin typeface="Comic Sans MS" panose="030F0702030302020204" pitchFamily="66" charset="0"/>
              </a:rPr>
              <a:t> (</a:t>
            </a:r>
            <a:r>
              <a:rPr lang="sv-SE" sz="2400" b="1" dirty="0" err="1">
                <a:latin typeface="Comic Sans MS" panose="030F0702030302020204" pitchFamily="66" charset="0"/>
              </a:rPr>
              <a:t>Name</a:t>
            </a:r>
            <a:r>
              <a:rPr lang="sv-SE" sz="2400" b="1" dirty="0">
                <a:latin typeface="Comic Sans MS" panose="030F0702030302020204" pitchFamily="66" charset="0"/>
              </a:rPr>
              <a:t>: “Omar”):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	🔤 Step 2: </a:t>
            </a:r>
            <a:r>
              <a:rPr lang="en-GB" sz="2400" dirty="0">
                <a:latin typeface="Comic Sans MS" panose="030F0702030302020204" pitchFamily="66" charset="0"/>
              </a:rPr>
              <a:t>Now we convert </a:t>
            </a:r>
            <a:r>
              <a:rPr lang="en-GB" sz="2400" b="1" dirty="0">
                <a:latin typeface="Comic Sans MS" panose="030F0702030302020204" pitchFamily="66" charset="0"/>
              </a:rPr>
              <a:t>each</a:t>
            </a:r>
            <a:r>
              <a:rPr lang="en-GB" sz="2400" dirty="0">
                <a:latin typeface="Comic Sans MS" panose="030F0702030302020204" pitchFamily="66" charset="0"/>
              </a:rPr>
              <a:t> decimal value to binary using repeated 			division: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	Convert “r" (114) to Binary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b="1" dirty="0">
                <a:latin typeface="Comic Sans MS" panose="030F0702030302020204" pitchFamily="66" charset="0"/>
              </a:rPr>
              <a:t>	Divide 97 by 2: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	</a:t>
            </a:r>
            <a:r>
              <a:rPr lang="sv-SE" sz="2400" dirty="0">
                <a:latin typeface="Comic Sans MS" panose="030F0702030302020204" pitchFamily="66" charset="0"/>
              </a:rPr>
              <a:t>114 ÷ 2 = 57		</a:t>
            </a:r>
            <a:r>
              <a:rPr lang="sv-SE" sz="2400" dirty="0" err="1">
                <a:latin typeface="Comic Sans MS" panose="030F0702030302020204" pitchFamily="66" charset="0"/>
              </a:rPr>
              <a:t>remainder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b="1" dirty="0">
                <a:latin typeface="Comic Sans MS" panose="030F0702030302020204" pitchFamily="66" charset="0"/>
              </a:rPr>
              <a:t>0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	57 ÷ 2 = 28		</a:t>
            </a:r>
            <a:r>
              <a:rPr lang="sv-SE" sz="2400" dirty="0" err="1">
                <a:latin typeface="Comic Sans MS" panose="030F0702030302020204" pitchFamily="66" charset="0"/>
              </a:rPr>
              <a:t>remainder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b="1" dirty="0">
                <a:latin typeface="Comic Sans MS" panose="030F0702030302020204" pitchFamily="66" charset="0"/>
              </a:rPr>
              <a:t>1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	28 ÷ 2 = 14		</a:t>
            </a:r>
            <a:r>
              <a:rPr lang="sv-SE" sz="2400" dirty="0" err="1">
                <a:latin typeface="Comic Sans MS" panose="030F0702030302020204" pitchFamily="66" charset="0"/>
              </a:rPr>
              <a:t>remainder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b="1" dirty="0">
                <a:latin typeface="Comic Sans MS" panose="030F0702030302020204" pitchFamily="66" charset="0"/>
              </a:rPr>
              <a:t>0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	14 ÷ 2 = 7		</a:t>
            </a:r>
            <a:r>
              <a:rPr lang="sv-SE" sz="2400" dirty="0" err="1">
                <a:latin typeface="Comic Sans MS" panose="030F0702030302020204" pitchFamily="66" charset="0"/>
              </a:rPr>
              <a:t>remainder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b="1" dirty="0">
                <a:latin typeface="Comic Sans MS" panose="030F0702030302020204" pitchFamily="66" charset="0"/>
              </a:rPr>
              <a:t>0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	7 ÷ 2 = 3		</a:t>
            </a:r>
            <a:r>
              <a:rPr lang="sv-SE" sz="2400" dirty="0" err="1">
                <a:latin typeface="Comic Sans MS" panose="030F0702030302020204" pitchFamily="66" charset="0"/>
              </a:rPr>
              <a:t>remainder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b="1" dirty="0">
                <a:latin typeface="Comic Sans MS" panose="030F0702030302020204" pitchFamily="66" charset="0"/>
              </a:rPr>
              <a:t>1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	3 ÷ 2 = 1		</a:t>
            </a:r>
            <a:r>
              <a:rPr lang="sv-SE" sz="2400" dirty="0" err="1">
                <a:latin typeface="Comic Sans MS" panose="030F0702030302020204" pitchFamily="66" charset="0"/>
              </a:rPr>
              <a:t>remainder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b="1" dirty="0">
                <a:latin typeface="Comic Sans MS" panose="030F0702030302020204" pitchFamily="66" charset="0"/>
              </a:rPr>
              <a:t>1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	1 ÷ 2 = 0		</a:t>
            </a:r>
            <a:r>
              <a:rPr lang="sv-SE" sz="2400" dirty="0" err="1">
                <a:latin typeface="Comic Sans MS" panose="030F0702030302020204" pitchFamily="66" charset="0"/>
              </a:rPr>
              <a:t>remainder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b="1" dirty="0">
                <a:latin typeface="Comic Sans MS" panose="030F0702030302020204" pitchFamily="66" charset="0"/>
              </a:rPr>
              <a:t>1</a:t>
            </a:r>
          </a:p>
          <a:p>
            <a:r>
              <a:rPr lang="sv-SE" sz="2400" b="1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Now read remainders </a:t>
            </a:r>
            <a:r>
              <a:rPr lang="en-GB" sz="2400" b="1" dirty="0">
                <a:latin typeface="Comic Sans MS" panose="030F0702030302020204" pitchFamily="66" charset="0"/>
              </a:rPr>
              <a:t>bottom → top</a:t>
            </a:r>
            <a:r>
              <a:rPr lang="en-GB" sz="2400" dirty="0">
                <a:latin typeface="Comic Sans MS" panose="030F0702030302020204" pitchFamily="66" charset="0"/>
              </a:rPr>
              <a:t>:</a:t>
            </a:r>
          </a:p>
          <a:p>
            <a:r>
              <a:rPr lang="sv-SE" sz="2400" b="1" dirty="0">
                <a:latin typeface="Comic Sans MS" panose="030F0702030302020204" pitchFamily="66" charset="0"/>
              </a:rPr>
              <a:t>	</a:t>
            </a:r>
            <a:r>
              <a:rPr lang="en-SE" sz="2400" b="1" dirty="0">
                <a:latin typeface="Comic Sans MS" panose="030F0702030302020204" pitchFamily="66" charset="0"/>
              </a:rPr>
              <a:t>1 1 1 0 0 1 0</a:t>
            </a:r>
            <a:endParaRPr lang="en-SE" sz="2400" dirty="0">
              <a:latin typeface="Comic Sans MS" panose="030F0702030302020204" pitchFamily="66" charset="0"/>
            </a:endParaRPr>
          </a:p>
          <a:p>
            <a:r>
              <a:rPr lang="sv-SE" sz="2400" b="1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➡️ r</a:t>
            </a:r>
            <a:r>
              <a:rPr lang="sv-SE" sz="2400" b="1" dirty="0">
                <a:latin typeface="Comic Sans MS" panose="030F0702030302020204" pitchFamily="66" charset="0"/>
              </a:rPr>
              <a:t> = </a:t>
            </a:r>
            <a:r>
              <a:rPr lang="en-SE" sz="2400" b="1" dirty="0">
                <a:latin typeface="Comic Sans MS" panose="030F0702030302020204" pitchFamily="66" charset="0"/>
              </a:rPr>
              <a:t>01110010</a:t>
            </a:r>
            <a:endParaRPr lang="sv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664182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B4E12AE-164C-75F6-2EE5-9035D7892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CDB89D6-87CF-9B34-D444-B6743D5D39B6}"/>
              </a:ext>
            </a:extLst>
          </p:cNvPr>
          <p:cNvSpPr txBox="1"/>
          <p:nvPr/>
        </p:nvSpPr>
        <p:spPr>
          <a:xfrm>
            <a:off x="381000" y="888075"/>
            <a:ext cx="12352767" cy="26182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🧐 Activity Solution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📋 </a:t>
            </a:r>
            <a:r>
              <a:rPr lang="en-GB" sz="2400" b="1" dirty="0">
                <a:latin typeface="Comic Sans MS" panose="030F0702030302020204" pitchFamily="66" charset="0"/>
              </a:rPr>
              <a:t>Solution:</a:t>
            </a:r>
          </a:p>
          <a:p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b="1" dirty="0">
                <a:latin typeface="Comic Sans MS" panose="030F0702030302020204" pitchFamily="66" charset="0"/>
              </a:rPr>
              <a:t>2️⃣ </a:t>
            </a:r>
            <a:r>
              <a:rPr lang="sv-SE" sz="2400" b="1" dirty="0" err="1">
                <a:latin typeface="Comic Sans MS" panose="030F0702030302020204" pitchFamily="66" charset="0"/>
              </a:rPr>
              <a:t>Example</a:t>
            </a:r>
            <a:r>
              <a:rPr lang="sv-SE" sz="2400" b="1" dirty="0">
                <a:latin typeface="Comic Sans MS" panose="030F0702030302020204" pitchFamily="66" charset="0"/>
              </a:rPr>
              <a:t> (</a:t>
            </a:r>
            <a:r>
              <a:rPr lang="sv-SE" sz="2400" b="1" dirty="0" err="1">
                <a:latin typeface="Comic Sans MS" panose="030F0702030302020204" pitchFamily="66" charset="0"/>
              </a:rPr>
              <a:t>Name</a:t>
            </a:r>
            <a:r>
              <a:rPr lang="sv-SE" sz="2400" b="1" dirty="0">
                <a:latin typeface="Comic Sans MS" panose="030F0702030302020204" pitchFamily="66" charset="0"/>
              </a:rPr>
              <a:t>: “Omar”):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 ➡️</a:t>
            </a:r>
            <a:r>
              <a:rPr lang="en-SE" sz="2400" b="1" dirty="0"/>
              <a:t> “</a:t>
            </a:r>
            <a:r>
              <a:rPr lang="sv-SE" sz="2400" b="1" dirty="0"/>
              <a:t>Omar” = 01001111 01101101 01100001 01110010</a:t>
            </a:r>
          </a:p>
        </p:txBody>
      </p:sp>
    </p:spTree>
    <p:extLst>
      <p:ext uri="{BB962C8B-B14F-4D97-AF65-F5344CB8AC3E}">
        <p14:creationId xmlns:p14="http://schemas.microsoft.com/office/powerpoint/2010/main" val="139486685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4212E39-4E28-41C3-A740-153DBCD4F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A668543-7EAE-9776-A80B-3240223674A9}"/>
              </a:ext>
            </a:extLst>
          </p:cNvPr>
          <p:cNvSpPr txBox="1"/>
          <p:nvPr/>
        </p:nvSpPr>
        <p:spPr>
          <a:xfrm>
            <a:off x="381000" y="888075"/>
            <a:ext cx="12352767" cy="335687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🏁 Conclusion</a:t>
            </a: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r>
              <a:rPr lang="en-SE" sz="2400" dirty="0">
                <a:latin typeface="Comic Sans MS" panose="030F0702030302020204" pitchFamily="66" charset="0"/>
              </a:rPr>
              <a:t>✅ </a:t>
            </a:r>
            <a:r>
              <a:rPr lang="en-GB" sz="2400" dirty="0">
                <a:latin typeface="Comic Sans MS" panose="030F0702030302020204" pitchFamily="66" charset="0"/>
              </a:rPr>
              <a:t>Binary is the </a:t>
            </a:r>
            <a:r>
              <a:rPr lang="en-GB" sz="2400" i="1" dirty="0">
                <a:latin typeface="Comic Sans MS" panose="030F0702030302020204" pitchFamily="66" charset="0"/>
              </a:rPr>
              <a:t>language of computers</a:t>
            </a:r>
            <a:r>
              <a:rPr lang="en-GB" sz="2400" dirty="0">
                <a:latin typeface="Comic Sans MS" panose="030F0702030302020204" pitchFamily="66" charset="0"/>
              </a:rPr>
              <a:t>. Every piece of data — from text to images is 	built from bits and bytes represented as 0s and 1s.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✅ </a:t>
            </a:r>
            <a:r>
              <a:rPr lang="en-GB" sz="2400" dirty="0">
                <a:latin typeface="Comic Sans MS" panose="030F0702030302020204" pitchFamily="66" charset="0"/>
              </a:rPr>
              <a:t>Understanding binary helps you grasp how information is stored, processed, and 	communicated inside a computer.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✅ </a:t>
            </a:r>
            <a:r>
              <a:rPr lang="en-GB" sz="2400" dirty="0">
                <a:latin typeface="Comic Sans MS" panose="030F0702030302020204" pitchFamily="66" charset="0"/>
              </a:rPr>
              <a:t>As a foundation in programming, mastering this concept prepares you for </a:t>
            </a:r>
            <a:r>
              <a:rPr lang="en-GB" sz="2400">
                <a:latin typeface="Comic Sans MS" panose="030F0702030302020204" pitchFamily="66" charset="0"/>
              </a:rPr>
              <a:t>deeper 	topics </a:t>
            </a:r>
            <a:r>
              <a:rPr lang="en-GB" sz="2400" dirty="0">
                <a:latin typeface="Comic Sans MS" panose="030F0702030302020204" pitchFamily="66" charset="0"/>
              </a:rPr>
              <a:t>like data types, memory, and algorithms. 🚀</a:t>
            </a:r>
          </a:p>
        </p:txBody>
      </p:sp>
    </p:spTree>
    <p:extLst>
      <p:ext uri="{BB962C8B-B14F-4D97-AF65-F5344CB8AC3E}">
        <p14:creationId xmlns:p14="http://schemas.microsoft.com/office/powerpoint/2010/main" val="106479215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AE4C6-4671-7ABB-DEC7-C93D3D3BB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36B4F463-11B6-D65B-4C5F-167F42EC86FA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4251789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3087</TotalTime>
  <Words>2808</Words>
  <Application>Microsoft Office PowerPoint</Application>
  <PresentationFormat>Custom</PresentationFormat>
  <Paragraphs>491</Paragraphs>
  <Slides>67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3" baseType="lpstr">
      <vt:lpstr>Arial MT</vt:lpstr>
      <vt:lpstr>Calibri</vt:lpstr>
      <vt:lpstr>Comic Sans MS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284</cp:revision>
  <dcterms:created xsi:type="dcterms:W3CDTF">2025-12-09T17:44:59Z</dcterms:created>
  <dcterms:modified xsi:type="dcterms:W3CDTF">2026-01-16T17:44:22Z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