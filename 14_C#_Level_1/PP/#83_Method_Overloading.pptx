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4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771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 /><Relationship Id="rId16" Type="http://schemas.openxmlformats.org/officeDocument/2006/relationships/tableStyles" Target="tableStyles.xml" /><Relationship Id="rId17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73713685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304008736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211508216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526378634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1382251099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339938092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712155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943150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1927682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357746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9719362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2988620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650235-5017-31DA-ADE7-2E5720A08C55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9749024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7810048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6693640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30BF87-D410-C3C8-7416-04E7AB6F2790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047557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9874053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7900101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845959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0785452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0114374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CB83CE4-3D67-0FA8-C2FA-EFF6B0C58997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759766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9119032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394108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D4B15E-DC1D-871B-195A-409A7609C310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763049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9079650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2294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B780D0-01FC-1E82-7F28-775DCD58CC27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156321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2616153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937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3B93161-CB31-2A59-CFBB-66340BF80951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481469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1804443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709014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3E466E-FDE0-677F-9612-EA45582FD9CD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7191988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3829392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229444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97406237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139450991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720255548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138007614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2052914993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3738032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990814241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68971075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1504892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004934310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858958422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1182168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801829297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730997931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477470441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38765828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987202792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70917014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1366723456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519283057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67822819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67799738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693681946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9733664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78973807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669240242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6658945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182053206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88550841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681854329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611467925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5074835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699816241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644718617" name="object 30"/>
          <p:cNvSpPr txBox="1"/>
          <p:nvPr/>
        </p:nvSpPr>
        <p:spPr bwMode="auto">
          <a:xfrm>
            <a:off x="0" y="1143000"/>
            <a:ext cx="13110862" cy="3151737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C#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</a:t>
            </a:r>
            <a:r>
              <a:rPr sz="6000" b="1">
                <a:solidFill>
                  <a:schemeClr val="bg1"/>
                </a:solidFill>
                <a:latin typeface="Comic Sans MS"/>
                <a:cs typeface="Comic Sans MS"/>
              </a:rPr>
              <a:t>1</a:t>
            </a:r>
            <a:endParaRPr lang="sv-SE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0"/>
              </a:spcBef>
              <a:defRPr/>
            </a:pPr>
            <a:endParaRPr lang="sv-SE"/>
          </a:p>
          <a:p>
            <a:pPr marL="2786346" algn="ctr">
              <a:spcBef>
                <a:spcPts val="671"/>
              </a:spcBef>
              <a:defRPr/>
            </a:pP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Method Overloading</a:t>
            </a:r>
            <a:endParaRPr lang="en-US" sz="6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264024309" name="object 2"/>
          <p:cNvGrpSpPr/>
          <p:nvPr/>
        </p:nvGrpSpPr>
        <p:grpSpPr bwMode="auto"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 bwMode="auto">
            <a:xfrm>
              <a:off x="60960" y="3901439"/>
              <a:ext cx="7711440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27378075" name="object 8"/>
          <p:cNvSpPr txBox="1"/>
          <p:nvPr/>
        </p:nvSpPr>
        <p:spPr bwMode="auto"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3"/>
              </a:spcBef>
              <a:defRPr/>
            </a:pPr>
            <a:r>
              <a:rPr sz="2150" spc="-86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1444058092" name="object 30"/>
          <p:cNvSpPr txBox="1"/>
          <p:nvPr/>
        </p:nvSpPr>
        <p:spPr bwMode="auto">
          <a:xfrm flipH="0" flipV="0">
            <a:off x="106425" y="3084201"/>
            <a:ext cx="13277090" cy="175600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C#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sv-SE" sz="2400" spc="-17">
                <a:solidFill>
                  <a:srgbClr val="FFFFFF"/>
                </a:solidFill>
                <a:latin typeface="Comic Sans MS"/>
                <a:cs typeface="Comic Sans MS"/>
              </a:rPr>
              <a:t>Level </a:t>
            </a:r>
            <a:r>
              <a:rPr sz="2400" spc="-16">
                <a:solidFill>
                  <a:srgbClr val="FFFFFF"/>
                </a:solidFill>
                <a:latin typeface="Comic Sans MS"/>
                <a:cs typeface="Comic Sans MS"/>
              </a:rPr>
              <a:t>1</a:t>
            </a:r>
            <a:endParaRPr/>
          </a:p>
          <a:p>
            <a:pPr marL="2786346" algn="ctr">
              <a:spcBef>
                <a:spcPts val="671"/>
              </a:spcBef>
              <a:defRPr/>
            </a:pP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Method Overloading</a:t>
            </a:r>
            <a:endParaRPr lang="en-US" sz="4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9407663" name="object 3"/>
          <p:cNvSpPr txBox="1"/>
          <p:nvPr/>
        </p:nvSpPr>
        <p:spPr bwMode="auto">
          <a:xfrm>
            <a:off x="380997" y="888075"/>
            <a:ext cx="12385508" cy="262822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Method Overloading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Multiple methods can have the same name as long as their parameter lists are different.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C# selects the appropriate overload based on the arguments passed.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2534424" name="object 3"/>
          <p:cNvSpPr txBox="1"/>
          <p:nvPr/>
        </p:nvSpPr>
        <p:spPr bwMode="auto">
          <a:xfrm>
            <a:off x="380997" y="888075"/>
            <a:ext cx="12384070" cy="263571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5"/>
              </a:spcBef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Different Number of Parameters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Methods can differ by the number of parameters.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Different Parameter Types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Methods can also differ by the types of their parameters.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1741671" name="object 3"/>
          <p:cNvSpPr txBox="1"/>
          <p:nvPr/>
        </p:nvSpPr>
        <p:spPr bwMode="auto">
          <a:xfrm>
            <a:off x="380997" y="888075"/>
            <a:ext cx="12387309" cy="2635713"/>
          </a:xfrm>
          <a:prstGeom prst="rect">
            <a:avLst/>
          </a:prstGeom>
        </p:spPr>
        <p:txBody>
          <a:bodyPr vert="horz" wrap="square" lIns="0" tIns="154491" rIns="0" bIns="0" rtlCol="0">
            <a:spAutoFit/>
          </a:bodyPr>
          <a:lstStyle/>
          <a:p>
            <a:pPr marL="21911">
              <a:spcBef>
                <a:spcPts val="1214"/>
              </a:spcBef>
              <a:defRPr/>
            </a:pPr>
            <a:r>
              <a:rPr lang="en-GB" sz="4000" b="1" spc="-16">
                <a:solidFill>
                  <a:schemeClr val="tx1"/>
                </a:solidFill>
                <a:latin typeface="Comic Sans MS"/>
                <a:cs typeface="Comic Sans MS"/>
              </a:rPr>
              <a:t>📖 </a:t>
            </a:r>
            <a:r>
              <a:rPr sz="4000" b="1" spc="-16">
                <a:solidFill>
                  <a:schemeClr val="tx1"/>
                </a:solidFill>
                <a:latin typeface="Comic Sans MS"/>
                <a:cs typeface="Comic Sans MS"/>
              </a:rPr>
              <a:t>Procedure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1️⃣ Define multiple methods with the same name.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2️⃣ Give each method a different parameter list.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3️⃣ Call the method using the required arguments.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4️⃣ C# selects the matching overload.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25666521" name="object 3"/>
          <p:cNvSpPr txBox="1"/>
          <p:nvPr/>
        </p:nvSpPr>
        <p:spPr bwMode="auto">
          <a:xfrm>
            <a:off x="380997" y="888075"/>
            <a:ext cx="12384436" cy="898355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💡 </a:t>
            </a:r>
            <a:r>
              <a:rPr lang="sv-SE" sz="4000" b="1">
                <a:latin typeface="Comic Sans MS"/>
              </a:rPr>
              <a:t>Example</a:t>
            </a:r>
            <a:endParaRPr lang="en-GB" sz="4000" b="1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static int Sum(int Num1, int Num2)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{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return Num1 + Num2;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}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static int Sum(int Num1, int Num2, int Num3)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{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return Num1 + Num2 + Num3;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}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static int Sum(int Num1, int Num2, int Num3, int Num4)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{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return Num1 + Num2 + Num3 + Num4;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}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➡️ Result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Enter first number: 3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Enter second number: 5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Enter third number: 7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Enter fourth number: 9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Sum of 3 and 5 = 8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Sum of 3, 5, and 7 = 15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Sum of 3, 5, 7, and 9 = 24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ea typeface="Comic Sans MS"/>
              <a:cs typeface="Comic Sans MS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33789505" name="object 3"/>
          <p:cNvSpPr txBox="1"/>
          <p:nvPr/>
        </p:nvSpPr>
        <p:spPr bwMode="auto">
          <a:xfrm>
            <a:off x="380997" y="888075"/>
            <a:ext cx="12364637" cy="204160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/>
              <a:t>📌</a:t>
            </a: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 Note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parameter list includes the number, types, and order of parameters.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method name alone is not enough to determine which overload is used.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8473270" name="object 3"/>
          <p:cNvSpPr txBox="1"/>
          <p:nvPr/>
        </p:nvSpPr>
        <p:spPr bwMode="auto">
          <a:xfrm>
            <a:off x="380997" y="888075"/>
            <a:ext cx="12384436" cy="1889206"/>
          </a:xfrm>
          <a:prstGeom prst="rect">
            <a:avLst/>
          </a:prstGeom>
        </p:spPr>
        <p:txBody>
          <a:bodyPr vert="horz" wrap="square" lIns="0" tIns="154491" rIns="0" bIns="0" rtlCol="0">
            <a:spAutoFit/>
          </a:bodyPr>
          <a:lstStyle/>
          <a:p>
            <a:pPr>
              <a:defRPr/>
            </a:pPr>
            <a:r>
              <a:rPr sz="4000" b="1" i="0" u="none" strike="noStrike" cap="none" spc="-16">
                <a:solidFill>
                  <a:schemeClr val="tx1"/>
                </a:solidFill>
                <a:latin typeface="Comic Sans MS"/>
                <a:ea typeface="Comic Sans MS"/>
                <a:cs typeface="Comic Sans MS"/>
              </a:rPr>
              <a:t>🚫 Warning</a:t>
            </a:r>
            <a:endParaRPr/>
          </a:p>
          <a:p>
            <a:pPr>
              <a:defRPr/>
            </a:pPr>
            <a:endParaRPr lang="en-GB" sz="2400" spc="-16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Changing only the return type does not create an overload.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These methods have identical parameter lists and cannot exist together.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1968733" name="object 3"/>
          <p:cNvSpPr txBox="1"/>
          <p:nvPr/>
        </p:nvSpPr>
        <p:spPr bwMode="auto">
          <a:xfrm>
            <a:off x="380997" y="888075"/>
            <a:ext cx="12385511" cy="263571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✨ Summary</a:t>
            </a:r>
            <a:endParaRPr lang="en-GB" sz="40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Method overloading allows multiple methods to share the same name.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Overloads must have different parameter lists.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They can differ by parameter count or parameter types.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C# selects the appropriate overload based on the arguments.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7762329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 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10</Slides>
  <Notes>10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355</cp:revision>
  <dcterms:created xsi:type="dcterms:W3CDTF">2025-12-09T17:44:59Z</dcterms:created>
  <dcterms:modified xsi:type="dcterms:W3CDTF">2026-10-06T08:05:18Z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