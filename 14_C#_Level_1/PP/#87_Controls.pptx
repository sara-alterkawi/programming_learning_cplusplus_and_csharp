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notesSlides/notesSlide15.xml" ContentType="application/vnd.openxmlformats-officedocument.presentationml.notesSlide+xml"/>
  <Override PartName="/ppt/slides/slide15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3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 /><Relationship Id="rId35" Type="http://schemas.openxmlformats.org/officeDocument/2006/relationships/tableStyles" Target="tableStyles.xml" /><Relationship Id="rId3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64271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550000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590447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810531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686265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770038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697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32075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20206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105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92362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33801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003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7752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198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467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4250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26238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28502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8551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64428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F9180B-1F15-4D28-BC4B-C3BECFFCC29D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619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3473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128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F6463C-073C-D8CE-C07B-C9FC9BAA8C3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2302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71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0966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35998-32FE-F1B5-B31F-2DBDBADE45B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5189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604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27337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059C22-6EA6-29A1-0C3E-14B9E55FF5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35858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598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991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1AA19-A557-314E-2007-06E93BE1016A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43135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7755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8945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191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08108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572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EE475D-A66F-EAA6-9F44-DCA8B0C5BA7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3664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16037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61813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1F9E3A-BA76-AA20-7120-0D7705715AE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093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26752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18915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52190B-1895-8B46-4532-F3F3F28CB16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779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967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3340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C3D086-624F-433C-61B7-72865056EDEE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4915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0506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06207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198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24981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45811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5E7B1D-F14F-E350-D859-9796452BEDA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0493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24080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81256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68950E-7FB6-AE50-12D9-8BC582BEDE4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14045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5085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537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52B04D-09F0-2A28-B2AA-ECE38E68415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10007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317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203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55B68D-E307-CD68-E091-6F4989DBD63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2220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9151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96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6A94FA-CCEB-BCC3-FC02-30EFF1A573E0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49870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88354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4362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A9032A-CA28-4D41-848B-F5309276A426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9118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47172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4407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AB40B2-FF63-174E-AAE0-1B56CFF687F2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05193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94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18327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6CB589-A1EF-CBF2-982A-AFC5B0477CA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41029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8320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0172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B02600-96B1-03E3-4D76-AA1C25A9CBCF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3557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9272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25504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7EFA60D-DB1F-25D8-60FE-3F823F80FA89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4241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17177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29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A0C700-7333-603B-2D97-0AC27BBB486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206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8966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32346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FE8D63-13C0-8DCA-2C11-7287B0199806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8360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98230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512370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499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1677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9309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424616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6423673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1144166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49871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6979105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8414500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78653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284560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720994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397262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01902744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65915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4609348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74827725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741989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3262656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13545951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7186913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6006018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8239653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6211135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10091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206682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4263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310624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205174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68726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0954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4142908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5959660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306911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882905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0363966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201565504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Controls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061294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1087423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907288800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Controls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1452627" name="object 3"/>
          <p:cNvSpPr txBox="1"/>
          <p:nvPr/>
        </p:nvSpPr>
        <p:spPr bwMode="auto">
          <a:xfrm>
            <a:off x="380997" y="888075"/>
            <a:ext cx="12385508" cy="18892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 Control is a visual component placed on a Form to interact with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0579845" name="object 3"/>
          <p:cNvSpPr txBox="1"/>
          <p:nvPr/>
        </p:nvSpPr>
        <p:spPr bwMode="auto">
          <a:xfrm>
            <a:off x="380997" y="888075"/>
            <a:ext cx="12389110" cy="387854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Common Controls: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TextBox → enters or displays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Button → performs an 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Label → displays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CheckBox → selects/unselects an option.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RadioButton → selects an option from related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ComboBox → provides a drop-down 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GroupBox → organizes related controls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0048878" name="object 3"/>
          <p:cNvSpPr txBox="1"/>
          <p:nvPr/>
        </p:nvSpPr>
        <p:spPr bwMode="auto">
          <a:xfrm>
            <a:off x="380997" y="888075"/>
            <a:ext cx="12389830" cy="4128727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WinForms Designer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Toolbox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Controls that can be added to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Form Designer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Visual area used to design the application.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Properties Window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Used to view and change Control properties.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Solution Explorer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Shows the project files.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365855" name="object 3"/>
          <p:cNvSpPr txBox="1"/>
          <p:nvPr/>
        </p:nvSpPr>
        <p:spPr bwMode="auto">
          <a:xfrm>
            <a:off x="380997" y="697574"/>
            <a:ext cx="12391270" cy="9319402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Important Control Properties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Identifies the Control in C#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Name = txtName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txtName.Text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Gets or changes the text displayed by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textBox1.Text = "Hello";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Location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the Control's position on the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button1.Location = new Point(200, 100);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X = horizontal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Y = vertical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Size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the Control's width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button1.Size = new Size(200, 50);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200 =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50 =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Enabled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whether the user can interact with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textBox1.Enabled = false;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false → Control remains visible but cannot be interacted with.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8087091" name="object 3"/>
          <p:cNvSpPr txBox="1"/>
          <p:nvPr/>
        </p:nvSpPr>
        <p:spPr bwMode="auto">
          <a:xfrm>
            <a:off x="380997" y="697574"/>
            <a:ext cx="12391630" cy="893116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Important Control Properties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Visible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whether the Control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textBox1.Visible = false;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false → Control is hidden.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BackColor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Changes the background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textBox1.BackColor = Color.Red;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ForeColor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Changes the text/foreground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textBox1.ForeColor = Color.Red;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font family, size, and style.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label1.Font = new Font("Arial", 20, FontStyle.Bold);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TextAlign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where the text appears inside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For TextBox: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textBox1.TextAlign = HorizontalAlignment.Center;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Common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Left, Center, Right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For Button and Label: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button1.TextAlign = ContentAlignment.MiddleCenter;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51635" name="object 3"/>
          <p:cNvSpPr txBox="1"/>
          <p:nvPr/>
        </p:nvSpPr>
        <p:spPr bwMode="auto">
          <a:xfrm>
            <a:off x="380997" y="697574"/>
            <a:ext cx="12391990" cy="824719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Important Control Properties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ReadOnly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Prevents the user from modifying the TextBox content while still allowing interaction such as selecting/copying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textBox1.ReadOnly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Multiline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Allows a TextBox to contain multiple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textBox1.Multiline = true;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MaxLength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Limits the number of characters entered into a TextBox.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PasswordChar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Displays entered characters as password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TabIndex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the order of Controls when navigating with the Tab key.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TabStop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whether the Control participates in Tab navigation.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TabIndex → "When?"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TabStop  → "Can I participate?"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Tag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Stores additional information associated with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46936" name="object 3"/>
          <p:cNvSpPr txBox="1"/>
          <p:nvPr/>
        </p:nvSpPr>
        <p:spPr bwMode="auto">
          <a:xfrm>
            <a:off x="380997" y="697574"/>
            <a:ext cx="12394150" cy="7383100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Font Formatting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FontStyle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Controls the style of the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Common styles: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Regular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Bold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Italic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Underline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Strikeout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label1.Font = new Font("Arial", 20, FontStyle.Bold);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 styles can be combined using |.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label1.Font = new Font(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"Arial",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20,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FontStyle.Bold | FontStyle.Italic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101429" name="object 3"/>
          <p:cNvSpPr txBox="1"/>
          <p:nvPr/>
        </p:nvSpPr>
        <p:spPr bwMode="auto">
          <a:xfrm>
            <a:off x="380997" y="888075"/>
            <a:ext cx="12387669" cy="700235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TextBox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Used to enter or display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Important properties: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Location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Size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Enabled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Visible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BackColor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ForeColor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Font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TextAlign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ReadOnly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Multiline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MaxLength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PasswordChar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8206903" name="object 3"/>
          <p:cNvSpPr txBox="1"/>
          <p:nvPr/>
        </p:nvSpPr>
        <p:spPr bwMode="auto">
          <a:xfrm>
            <a:off x="380997" y="888075"/>
            <a:ext cx="12387669" cy="2315203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📌 Note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ReadOnly = true → user can see/select text but cannot edit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Enabled = false → user cannot interact with the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Visible = false → Control is hidden.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6073904" name="object 3"/>
          <p:cNvSpPr txBox="1"/>
          <p:nvPr/>
        </p:nvSpPr>
        <p:spPr bwMode="auto">
          <a:xfrm>
            <a:off x="380997" y="888075"/>
            <a:ext cx="12387669" cy="484525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CheckBox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Allows the user to select or unselect an independent option.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Checked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true if selected and false if unselected.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chkReceive.Checked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MessageBox.Show(chkReceive.Checked.ToString());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Checked is a Boolean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ToString() converts the Boolean value into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5286724" name="object 3"/>
          <p:cNvSpPr txBox="1"/>
          <p:nvPr/>
        </p:nvSpPr>
        <p:spPr bwMode="auto">
          <a:xfrm>
            <a:off x="380997" y="888075"/>
            <a:ext cx="12388389" cy="3732993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RadioButton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Allows the user to select an option from related choices.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Checked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Returns true if the RadioButton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rdBtnSmall.Checked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375740" name="object 3"/>
          <p:cNvSpPr txBox="1"/>
          <p:nvPr/>
        </p:nvSpPr>
        <p:spPr bwMode="auto">
          <a:xfrm>
            <a:off x="380997" y="888075"/>
            <a:ext cx="12387669" cy="2254966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📌 Note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RadioButtons are commonly used together when the user should choose between related options.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GroupBox can be used to organize related RadioButtons.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5619205" name="object 3"/>
          <p:cNvSpPr txBox="1"/>
          <p:nvPr/>
        </p:nvSpPr>
        <p:spPr bwMode="auto">
          <a:xfrm>
            <a:off x="380997" y="888075"/>
            <a:ext cx="12384796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US" sz="4000" b="1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GroupBox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container used to organize related Controls together.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is especially useful for grouping related RadioButtons.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938309" name="object 3"/>
          <p:cNvSpPr txBox="1"/>
          <p:nvPr/>
        </p:nvSpPr>
        <p:spPr bwMode="auto">
          <a:xfrm>
            <a:off x="380997" y="888075"/>
            <a:ext cx="12387669" cy="8883606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Events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Event is something that happens to a Control and can trigger C#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Click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Occurs when the user clicks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textBox2.Text = textBox1.Text;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MouseEnter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Occurs when the mouse pointer enters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TextChanged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Occurs when the text inside a TextBox changes.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private void textBox1_TextChanged(object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textBox2.Text = textBox1.Text;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💡 Other examples: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MouseLeave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DoubleClick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KeyDown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KeyPress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7162796" name="object 3"/>
          <p:cNvSpPr txBox="1"/>
          <p:nvPr/>
        </p:nvSpPr>
        <p:spPr bwMode="auto">
          <a:xfrm>
            <a:off x="380997" y="888075"/>
            <a:ext cx="12387669" cy="374797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⚖️ Properties vs Events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Property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Describes or controls the appearance, state, or behavior of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Text, Enabled, Visible, Font, BackColor.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Event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something that happens to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Click, MouseEnter, TextChanged.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521245" name="object 3"/>
          <p:cNvSpPr txBox="1"/>
          <p:nvPr/>
        </p:nvSpPr>
        <p:spPr bwMode="auto">
          <a:xfrm>
            <a:off x="380997" y="888075"/>
            <a:ext cx="12387669" cy="4847854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Event Handler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Event Handler is the method that executes when an Event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private void button1_Click(object sender, EventArgs e)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textBox2.Text = textBox1.Text;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Visual Studio can create Event Handlers through the Properties Window → Events ⚡.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8306130" name="object 3"/>
          <p:cNvSpPr txBox="1"/>
          <p:nvPr/>
        </p:nvSpPr>
        <p:spPr bwMode="auto">
          <a:xfrm>
            <a:off x="380997" y="888075"/>
            <a:ext cx="12390549" cy="633077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WinForms Project Files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Form1.cs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Normally contains application logic and Event Handlers.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Form1.Designer.cs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code generated by the WinForms Designer.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Usually contains Control creation and visual properties.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Program.cs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Contains the application entry point and starts the main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Application.Run(new Form1());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Note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Visual changes should normally be made through the Designer and Properties Window instead of manually editing Form1.Designer.cs.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978713" name="object 3"/>
          <p:cNvSpPr txBox="1"/>
          <p:nvPr/>
        </p:nvSpPr>
        <p:spPr bwMode="auto">
          <a:xfrm>
            <a:off x="380997" y="888075"/>
            <a:ext cx="12389109" cy="6017763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Creating Another Form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WinForms application can contain multiple Forms.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🟦 Procedure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Right-click the project in Solution Explorer.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Select Add → Windows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Give the Form a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Click Add.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a Form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Form frm1 = new Form1();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Form1 → the Form class.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frm1 → an object created from Form1.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4133024" name="object 3"/>
          <p:cNvSpPr txBox="1"/>
          <p:nvPr/>
        </p:nvSpPr>
        <p:spPr bwMode="auto">
          <a:xfrm>
            <a:off x="380997" y="888075"/>
            <a:ext cx="12387669" cy="3750574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Show()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Opens another Form as a modeless window.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Form frm1 = new Form1();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frm1.Show();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main Form can still be used while the new Form is open.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Show() → Open and continue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65205" name="object 3"/>
          <p:cNvSpPr txBox="1"/>
          <p:nvPr/>
        </p:nvSpPr>
        <p:spPr bwMode="auto">
          <a:xfrm>
            <a:off x="380997" y="888075"/>
            <a:ext cx="12387669" cy="3750574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ShowDialog()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Opens another Form as a modal dialog.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Form frm1 = new Form1();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frm1.ShowDialog();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user normally cannot interact with the main Form until the dialog is closed.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ShowDialog() → Open and wait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7533391" name="object 3"/>
          <p:cNvSpPr txBox="1"/>
          <p:nvPr/>
        </p:nvSpPr>
        <p:spPr bwMode="auto">
          <a:xfrm>
            <a:off x="380997" y="888075"/>
            <a:ext cx="12387669" cy="299397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Close()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Closes the current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this.Close();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refers to the current Form/object.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6266778" name="object 3"/>
          <p:cNvSpPr txBox="1"/>
          <p:nvPr/>
        </p:nvSpPr>
        <p:spPr bwMode="auto">
          <a:xfrm>
            <a:off x="380997" y="888075"/>
            <a:ext cx="12387669" cy="818205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MessageBox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🔎 Definition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MessageBox is a small dialog used to display information or ask the user for a simple response.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MessageBox.Show("Hello");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Message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Text displayed to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Title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Text displayed in the MessageBox title bar.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MessageBox.Show("Hello", "Title");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Buttons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which buttons are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MessageBoxButtons.YesNo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Icon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Displays an icon in the MessageBox.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MessageBoxIcon.Exclamation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Default Button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Determines which button is selected by default.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MessageBoxDefaultButton.Button2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528181" name="object 3"/>
          <p:cNvSpPr txBox="1"/>
          <p:nvPr/>
        </p:nvSpPr>
        <p:spPr bwMode="auto">
          <a:xfrm>
            <a:off x="380997" y="888075"/>
            <a:ext cx="12387669" cy="5905073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Checking MessageBox Result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MessageBox can return a DialogResult indicating the user's choice.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if (MessageBox.Show(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"Do you want to continue?",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"Confirm",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MessageBoxButtons.YesNo) == DialogResult.Yes)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MessageBox.Show("You clicked Yes.");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else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MessageBox.Show("You clicked No.");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2362258" name="object 3"/>
          <p:cNvSpPr txBox="1"/>
          <p:nvPr/>
        </p:nvSpPr>
        <p:spPr bwMode="auto">
          <a:xfrm>
            <a:off x="380997" y="888075"/>
            <a:ext cx="12387669" cy="4845259"/>
          </a:xfrm>
          <a:prstGeom prst="rect">
            <a:avLst/>
          </a:prstGeom>
        </p:spPr>
        <p:txBody>
          <a:bodyPr vert="horz" wrap="square" lIns="0" tIns="154490" rIns="0" bIns="0" rtlCol="0">
            <a:spAutoFit/>
          </a:bodyPr>
          <a:lstStyle/>
          <a:p>
            <a:pPr marL="21910">
              <a:spcBef>
                <a:spcPts val="1213"/>
              </a:spcBef>
              <a:defRPr/>
            </a:pPr>
            <a:r>
              <a:rPr lang="en-GB" sz="4000" b="1" i="0" u="none" strike="noStrike" cap="none" spc="-15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🟦 Important Form Concepts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Refers to the current object/Form.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Examples: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this.Text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this.BackColor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	this.Close();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InitializeComponent()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Initializes the Form and its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new Form1()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Creates a new object of Form1.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264220" name="object 3"/>
          <p:cNvSpPr txBox="1"/>
          <p:nvPr/>
        </p:nvSpPr>
        <p:spPr bwMode="auto">
          <a:xfrm>
            <a:off x="380997" y="888075"/>
            <a:ext cx="12388391" cy="622355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Control → visual component placed on a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Property → controls or describes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Event → something that happens to a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Event Handler → method executed when an Event occurs.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Text → gets or changes displayed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Name → identifies a Control in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Location → controls position.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Size → controls width and height.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Enabled → controls user interaction.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Visible → controls whether the Control is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BackColor → background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ForeColor → text color.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Font → font family, size, and style.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4416393" name="object 3"/>
          <p:cNvSpPr txBox="1"/>
          <p:nvPr/>
        </p:nvSpPr>
        <p:spPr bwMode="auto">
          <a:xfrm>
            <a:off x="380997" y="888075"/>
            <a:ext cx="12387671" cy="661438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TextAlign → text position inside the Control.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ReadOnly → prevents editing while keeping interaction available.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Multiline → allows multiple lines in a TextBox.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TabIndex → controls Tab navigation order.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TabStop → controls whether the Control participates in Tab navigation.</a:t>
            </a:r>
            <a:endParaRPr lang="en-GB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CheckBox → independent selection.</a:t>
            </a:r>
            <a:endParaRPr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RadioButton → selection between related options.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GroupBox → organizes related Controls.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Tag → stores additional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Click / MouseEnter / TextChanged → common Events.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Show() → opens a modeless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ShowDialog() → opens a modal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Close() → closes the current Form.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MessageBox.Show() → displays a dialog to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32850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29</Slides>
  <Notes>29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2026-10-06T11:32:46Z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