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7526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94467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391051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434873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319106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290971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014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991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8124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951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609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986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236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182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613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585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02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508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493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255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087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5A040-8F7B-F6F6-80D6-48D325BBCD5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4535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253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89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74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327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6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2987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186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18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5225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904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828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640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868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746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3671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512123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80300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70214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60835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61407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275712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28511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94340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14948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487064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459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516132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3473147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157207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63233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8142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99448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7467200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2406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07602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309171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9768691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45900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410960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547266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8667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33982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90659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85870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433642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91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4515282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96755061" name="object 30"/>
          <p:cNvSpPr txBox="1"/>
          <p:nvPr/>
        </p:nvSpPr>
        <p:spPr bwMode="auto">
          <a:xfrm>
            <a:off x="0" y="1143000"/>
            <a:ext cx="13109784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Bitwise and Bit Shift 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90153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2342753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88750908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Bitwise and Bit Shift 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81264" name="object 3"/>
          <p:cNvSpPr txBox="1"/>
          <p:nvPr/>
        </p:nvSpPr>
        <p:spPr bwMode="auto">
          <a:xfrm>
            <a:off x="380997" y="888075"/>
            <a:ext cx="12367870" cy="537155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Bitwise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Work directly with the individual bits (0 and 1) of integer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Bitwise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 → Bitwise 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| → Bitwise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^ → Bitwise XOR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~ → Bitwise NOT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Bit Shift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&lt;&lt; → Left Shift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&gt;&gt; → Right Shift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&gt;&gt;&gt; → Unsigned Right Shift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98912" name="object 3"/>
          <p:cNvSpPr txBox="1"/>
          <p:nvPr/>
        </p:nvSpPr>
        <p:spPr bwMode="auto">
          <a:xfrm>
            <a:off x="380997" y="888075"/>
            <a:ext cx="12395951" cy="45195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lang="en-GB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Bitwise Operations</a:t>
            </a:r>
            <a:endParaRPr b="1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AND &amp;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Result bit is 1 only when both bits are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OR |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Result bit is 1 when at least one bit is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XOR ^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Result bit is 1 when the bits are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NOT ~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Reverses every bit: 0 → 1 and 1 →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signed integers, the result uses two's-complement representation.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889207" name="object 3"/>
          <p:cNvSpPr txBox="1"/>
          <p:nvPr/>
        </p:nvSpPr>
        <p:spPr bwMode="auto">
          <a:xfrm>
            <a:off x="380997" y="888075"/>
            <a:ext cx="12391631" cy="564941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lang="en-GB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Bit Shift Operations</a:t>
            </a:r>
            <a:endParaRPr b="1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Left Shift &lt;&lt;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Moves bits to the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suitable values, each shift left by 1 corresponds to multiplying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5 &lt;&lt; 1 →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Right Shift &gt;&gt;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Moves bits to the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positive integers, each shift right by 1 corresponds to integer division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20 &gt;&gt; 1 →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Unsigned Right Shift &gt;&gt;&gt;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Moves bits right and fills the left side with zeros.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Does not preserve the sign bit.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645748" name="object 3"/>
          <p:cNvSpPr txBox="1"/>
          <p:nvPr/>
        </p:nvSpPr>
        <p:spPr bwMode="auto">
          <a:xfrm>
            <a:off x="380997" y="888075"/>
            <a:ext cx="12372918" cy="356488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= 0101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 = 0011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&amp; 3 → 0001 →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| 3 → 0111 →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^ 3 → 0110 →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825973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&amp; and &amp;&amp; are different operators.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| and || are different operators.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Bitwise operators are commonly used with flags, masks, binary data, and low-level programming.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24085" name="object 3"/>
          <p:cNvSpPr txBox="1"/>
          <p:nvPr/>
        </p:nvSpPr>
        <p:spPr bwMode="auto">
          <a:xfrm>
            <a:off x="380997" y="888075"/>
            <a:ext cx="12370759" cy="624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&amp; → Bitwise AND → works on bits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| → Bitwise OR → works on bits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^ → Bitwise XOR → works on bits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~ → Bitwise NOT → works on bits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&amp;&amp;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Logical AND → works with Boolean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||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Logical OR → works with Boolean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Logical NOT → works with Boolean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197000" name="object 3"/>
          <p:cNvSpPr txBox="1"/>
          <p:nvPr/>
        </p:nvSpPr>
        <p:spPr bwMode="auto">
          <a:xfrm>
            <a:off x="380997" y="888075"/>
            <a:ext cx="12384432" cy="42517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Bitwise operators work with individual bits.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 → 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| →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^ → XOR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~ → NOT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&lt;&lt; → Left Shift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&gt;&gt; → Right Shift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&gt;&gt;&gt; → Unsigned Right Shift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10064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2026-10-05T11:28:44Z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