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2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47" r:id="rId2"/>
    <p:sldId id="348" r:id="rId3"/>
    <p:sldId id="325" r:id="rId4"/>
    <p:sldId id="326" r:id="rId5"/>
    <p:sldId id="322" r:id="rId6"/>
  </p:sldIdLst>
  <p:sldSz cx="13411200" cy="10058400"/>
  <p:notesSz cx="77724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372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36" d="100"/>
          <a:sy n="36" d="100"/>
        </p:scale>
        <p:origin x="129" y="12"/>
      </p:cViewPr>
      <p:guideLst>
        <p:guide orient="horz" pos="2880"/>
        <p:guide pos="372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5"/>
            <a:ext cx="7643507" cy="477951"/>
          </a:xfrm>
        </p:spPr>
        <p:txBody>
          <a:bodyPr lIns="0" tIns="0" rIns="0" bIns="0"/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3"/>
            <a:ext cx="764350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8EB70-F102-BAB5-31FD-19FC3742A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>
            <a:extLst>
              <a:ext uri="{FF2B5EF4-FFF2-40B4-BE49-F238E27FC236}">
                <a16:creationId xmlns:a16="http://schemas.microsoft.com/office/drawing/2014/main" id="{1FBE4D91-85C7-0256-4A79-65056ECD04F4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</a:pPr>
            <a:fld id="{81D60167-4931-47E6-BA6A-407CBD079E47}" type="slidenum">
              <a:rPr spc="-86" dirty="0"/>
              <a:pPr marL="65742">
                <a:lnSpc>
                  <a:spcPts val="2260"/>
                </a:lnSpc>
              </a:pPr>
              <a:t>1</a:t>
            </a:fld>
            <a:endParaRPr spc="-86" dirty="0"/>
          </a:p>
        </p:txBody>
      </p:sp>
      <p:pic>
        <p:nvPicPr>
          <p:cNvPr id="47" name="object 25">
            <a:extLst>
              <a:ext uri="{FF2B5EF4-FFF2-40B4-BE49-F238E27FC236}">
                <a16:creationId xmlns:a16="http://schemas.microsoft.com/office/drawing/2014/main" id="{98B72FCF-C42A-5F3E-FCAD-5FE306171E0D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" b="17"/>
          <a:stretch/>
        </p:blipFill>
        <p:spPr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2" name="object 30">
            <a:extLst>
              <a:ext uri="{FF2B5EF4-FFF2-40B4-BE49-F238E27FC236}">
                <a16:creationId xmlns:a16="http://schemas.microsoft.com/office/drawing/2014/main" id="{F0FF3176-3F91-64FC-E68E-9BEFB7D9E6B1}"/>
              </a:ext>
            </a:extLst>
          </p:cNvPr>
          <p:cNvSpPr txBox="1"/>
          <p:nvPr/>
        </p:nvSpPr>
        <p:spPr>
          <a:xfrm>
            <a:off x="0" y="3338091"/>
            <a:ext cx="13411198" cy="1603003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60" algn="ctr">
              <a:spcBef>
                <a:spcPts val="505"/>
              </a:spcBef>
            </a:pPr>
            <a:r>
              <a:rPr lang="en-GB" sz="5000" b="1">
                <a:solidFill>
                  <a:srgbClr val="FFCE53"/>
                </a:solidFill>
                <a:latin typeface="Comic Sans MS"/>
              </a:rPr>
              <a:t>Computer Foundations</a:t>
            </a:r>
            <a:endParaRPr lang="en-GB" sz="5000" b="1" dirty="0">
              <a:solidFill>
                <a:srgbClr val="FFCE53"/>
              </a:solidFill>
              <a:latin typeface="Comic Sans MS"/>
            </a:endParaRPr>
          </a:p>
          <a:p>
            <a:pPr marL="2089760" algn="ctr">
              <a:spcBef>
                <a:spcPts val="505"/>
              </a:spcBef>
            </a:pPr>
            <a:r>
              <a:rPr lang="en-GB" sz="5000" b="1" dirty="0">
                <a:solidFill>
                  <a:schemeClr val="bg1"/>
                </a:solidFill>
                <a:latin typeface="Comic Sans MS"/>
                <a:cs typeface="Comic Sans MS"/>
              </a:rPr>
              <a:t>Level 2</a:t>
            </a:r>
          </a:p>
        </p:txBody>
      </p:sp>
    </p:spTree>
    <p:extLst>
      <p:ext uri="{BB962C8B-B14F-4D97-AF65-F5344CB8AC3E}">
        <p14:creationId xmlns:p14="http://schemas.microsoft.com/office/powerpoint/2010/main" val="127679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3AA9CB0E-53FA-ACBF-E593-FD91CDBB5BFF}"/>
              </a:ext>
            </a:extLst>
          </p:cNvPr>
          <p:cNvSpPr txBox="1"/>
          <p:nvPr/>
        </p:nvSpPr>
        <p:spPr>
          <a:xfrm>
            <a:off x="106432" y="3084218"/>
            <a:ext cx="13304768" cy="2485296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sv-SE" sz="4000" dirty="0">
                <a:solidFill>
                  <a:srgbClr val="FFFFFF"/>
                </a:solidFill>
                <a:latin typeface="Comic Sans MS"/>
                <a:cs typeface="Comic Sans MS"/>
              </a:rPr>
              <a:t>Computer</a:t>
            </a:r>
            <a:r>
              <a:rPr lang="sv-SE" sz="4000" spc="147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lang="sv-SE" sz="4000" spc="-17" dirty="0">
                <a:solidFill>
                  <a:srgbClr val="FFFFFF"/>
                </a:solidFill>
                <a:latin typeface="Comic Sans MS"/>
                <a:cs typeface="Comic Sans MS"/>
              </a:rPr>
              <a:t>Foundations</a:t>
            </a:r>
          </a:p>
          <a:p>
            <a:pPr marL="2786346" algn="ctr">
              <a:spcBef>
                <a:spcPts val="673"/>
              </a:spcBef>
            </a:pPr>
            <a:r>
              <a:rPr lang="sv-SE" sz="2400" spc="-17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7" dirty="0">
                <a:solidFill>
                  <a:srgbClr val="FFFFFF"/>
                </a:solidFill>
                <a:latin typeface="Comic Sans MS"/>
                <a:cs typeface="Comic Sans MS"/>
              </a:rPr>
              <a:t> 2</a:t>
            </a:r>
          </a:p>
          <a:p>
            <a:pPr marL="2786346" algn="ctr">
              <a:lnSpc>
                <a:spcPct val="100000"/>
              </a:lnSpc>
              <a:spcBef>
                <a:spcPts val="673"/>
              </a:spcBef>
            </a:pPr>
            <a:r>
              <a:rPr lang="sv-SE" sz="4000" b="1" dirty="0" err="1">
                <a:solidFill>
                  <a:srgbClr val="FFCE53"/>
                </a:solidFill>
                <a:latin typeface="Comic Sans MS"/>
                <a:cs typeface="Comic Sans MS"/>
              </a:rPr>
              <a:t>What</a:t>
            </a:r>
            <a:r>
              <a:rPr lang="sv-SE" sz="4000" b="1" dirty="0">
                <a:solidFill>
                  <a:srgbClr val="FFCE53"/>
                </a:solidFill>
                <a:latin typeface="Comic Sans MS"/>
                <a:cs typeface="Comic Sans MS"/>
              </a:rPr>
              <a:t> is 3-Tier</a:t>
            </a:r>
          </a:p>
          <a:p>
            <a:pPr marL="2786346" algn="ctr">
              <a:lnSpc>
                <a:spcPct val="100000"/>
              </a:lnSpc>
              <a:spcBef>
                <a:spcPts val="673"/>
              </a:spcBef>
            </a:pPr>
            <a:r>
              <a:rPr lang="sv-SE" sz="4000" b="1" dirty="0" err="1">
                <a:solidFill>
                  <a:srgbClr val="FFCE53"/>
                </a:solidFill>
                <a:latin typeface="Comic Sans MS"/>
                <a:cs typeface="Comic Sans MS"/>
              </a:rPr>
              <a:t>Architecture</a:t>
            </a:r>
            <a:r>
              <a:rPr lang="sv-SE" sz="4000" b="1" dirty="0">
                <a:solidFill>
                  <a:srgbClr val="FFCE53"/>
                </a:solidFill>
                <a:latin typeface="Comic Sans MS"/>
                <a:cs typeface="Comic Sans MS"/>
              </a:rPr>
              <a:t>?</a:t>
            </a:r>
            <a:endParaRPr lang="sv-SE" sz="4000" b="1" spc="-60" dirty="0">
              <a:solidFill>
                <a:srgbClr val="FFC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66663D-2226-DBB9-B674-CA4A2B9F45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4">
            <a:extLst>
              <a:ext uri="{FF2B5EF4-FFF2-40B4-BE49-F238E27FC236}">
                <a16:creationId xmlns:a16="http://schemas.microsoft.com/office/drawing/2014/main" id="{73AEA099-7B4F-A744-6203-E8BCDC935AEC}"/>
              </a:ext>
            </a:extLst>
          </p:cNvPr>
          <p:cNvSpPr txBox="1"/>
          <p:nvPr/>
        </p:nvSpPr>
        <p:spPr>
          <a:xfrm>
            <a:off x="391224" y="1026884"/>
            <a:ext cx="12181776" cy="629906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R="5080">
              <a:lnSpc>
                <a:spcPct val="104400"/>
              </a:lnSpc>
              <a:spcBef>
                <a:spcPts val="680"/>
              </a:spcBef>
            </a:pPr>
            <a:r>
              <a:rPr lang="en-GB" sz="4000" b="1" dirty="0">
                <a:solidFill>
                  <a:schemeClr val="tx1"/>
                </a:solidFill>
                <a:latin typeface="Comic Sans MS"/>
                <a:cs typeface="Comic Sans MS"/>
              </a:rPr>
              <a:t> What is 3-Tier Architecture?</a:t>
            </a:r>
            <a:endParaRPr lang="en-GB" sz="2400" dirty="0">
              <a:solidFill>
                <a:schemeClr val="tx1"/>
              </a:solidFill>
              <a:latin typeface="Comic Sans MS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0D7071A1-39B7-E147-AC83-D0D9F40E494A}"/>
              </a:ext>
            </a:extLst>
          </p:cNvPr>
          <p:cNvGrpSpPr/>
          <p:nvPr/>
        </p:nvGrpSpPr>
        <p:grpSpPr>
          <a:xfrm>
            <a:off x="136378" y="2209800"/>
            <a:ext cx="13138444" cy="6172200"/>
            <a:chOff x="136378" y="2209800"/>
            <a:chExt cx="13138444" cy="6172200"/>
          </a:xfrm>
        </p:grpSpPr>
        <p:pic>
          <p:nvPicPr>
            <p:cNvPr id="6" name="Picture 5" descr="A diagram of a server&#10;&#10;AI-generated content may be incorrect.">
              <a:extLst>
                <a:ext uri="{FF2B5EF4-FFF2-40B4-BE49-F238E27FC236}">
                  <a16:creationId xmlns:a16="http://schemas.microsoft.com/office/drawing/2014/main" id="{3AF2816B-83BF-B3D9-2216-3A2E2967552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180" r="1"/>
            <a:stretch>
              <a:fillRect/>
            </a:stretch>
          </p:blipFill>
          <p:spPr>
            <a:xfrm>
              <a:off x="136378" y="2209800"/>
              <a:ext cx="8952039" cy="6172200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ACDD370-9C2B-69B0-B84C-10BE54E4AD37}"/>
                </a:ext>
              </a:extLst>
            </p:cNvPr>
            <p:cNvSpPr/>
            <p:nvPr/>
          </p:nvSpPr>
          <p:spPr>
            <a:xfrm>
              <a:off x="304800" y="3124200"/>
              <a:ext cx="4007097" cy="3581400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E">
                <a:solidFill>
                  <a:sysClr val="windowText" lastClr="000000"/>
                </a:solidFill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4B84D0D-154D-19A8-4FFC-58461FFCE04C}"/>
                </a:ext>
              </a:extLst>
            </p:cNvPr>
            <p:cNvSpPr/>
            <p:nvPr/>
          </p:nvSpPr>
          <p:spPr>
            <a:xfrm>
              <a:off x="9088417" y="2209800"/>
              <a:ext cx="4186405" cy="6172200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E">
                <a:solidFill>
                  <a:sysClr val="windowText" lastClr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96284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BFEE6F-9D08-6BA3-E4C9-6E87D097E9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51F86A40-76E6-7CED-1507-48F15A7CA292}"/>
              </a:ext>
            </a:extLst>
          </p:cNvPr>
          <p:cNvGrpSpPr/>
          <p:nvPr/>
        </p:nvGrpSpPr>
        <p:grpSpPr>
          <a:xfrm>
            <a:off x="152400" y="2209800"/>
            <a:ext cx="13122422" cy="6172200"/>
            <a:chOff x="0" y="397573"/>
            <a:chExt cx="13411200" cy="6308028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94ADB45-E63B-FC8D-648F-E2794A0762B5}"/>
                </a:ext>
              </a:extLst>
            </p:cNvPr>
            <p:cNvSpPr/>
            <p:nvPr/>
          </p:nvSpPr>
          <p:spPr>
            <a:xfrm>
              <a:off x="9132667" y="397573"/>
              <a:ext cx="4278533" cy="6308028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E">
                <a:solidFill>
                  <a:sysClr val="windowText" lastClr="000000"/>
                </a:solidFill>
              </a:endParaRPr>
            </a:p>
          </p:txBody>
        </p:sp>
        <p:pic>
          <p:nvPicPr>
            <p:cNvPr id="3" name="Picture 2" descr="A diagram of a server&#10;&#10;AI-generated content may be incorrect.">
              <a:extLst>
                <a:ext uri="{FF2B5EF4-FFF2-40B4-BE49-F238E27FC236}">
                  <a16:creationId xmlns:a16="http://schemas.microsoft.com/office/drawing/2014/main" id="{4E6AF76B-D34D-258C-D399-60EFC09214E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397573"/>
              <a:ext cx="9132667" cy="6308028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8E514D9A-CF17-2C7F-BBAA-4C28EF717E1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915400" y="3200400"/>
              <a:ext cx="4050216" cy="2956250"/>
            </a:xfrm>
            <a:prstGeom prst="rect">
              <a:avLst/>
            </a:prstGeom>
          </p:spPr>
        </p:pic>
      </p:grpSp>
      <p:sp>
        <p:nvSpPr>
          <p:cNvPr id="9" name="object 4">
            <a:extLst>
              <a:ext uri="{FF2B5EF4-FFF2-40B4-BE49-F238E27FC236}">
                <a16:creationId xmlns:a16="http://schemas.microsoft.com/office/drawing/2014/main" id="{D362C097-9541-6D0E-4A72-26E24081D63B}"/>
              </a:ext>
            </a:extLst>
          </p:cNvPr>
          <p:cNvSpPr txBox="1"/>
          <p:nvPr/>
        </p:nvSpPr>
        <p:spPr>
          <a:xfrm>
            <a:off x="391224" y="1026884"/>
            <a:ext cx="12181776" cy="629906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R="5080">
              <a:lnSpc>
                <a:spcPct val="104400"/>
              </a:lnSpc>
              <a:spcBef>
                <a:spcPts val="680"/>
              </a:spcBef>
            </a:pPr>
            <a:r>
              <a:rPr lang="en-GB" sz="4000" b="1" dirty="0">
                <a:solidFill>
                  <a:schemeClr val="tx1"/>
                </a:solidFill>
                <a:latin typeface="Comic Sans MS"/>
                <a:cs typeface="Comic Sans MS"/>
              </a:rPr>
              <a:t> What is 3-Tier Architecture?</a:t>
            </a:r>
            <a:endParaRPr lang="en-GB" sz="2400" dirty="0">
              <a:solidFill>
                <a:schemeClr val="tx1"/>
              </a:solidFill>
              <a:latin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12711000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39B773-0ADB-49E6-27E1-1347FA2F0B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4">
            <a:extLst>
              <a:ext uri="{FF2B5EF4-FFF2-40B4-BE49-F238E27FC236}">
                <a16:creationId xmlns:a16="http://schemas.microsoft.com/office/drawing/2014/main" id="{8292A482-8F29-316B-BB7F-40FBCE63271F}"/>
              </a:ext>
            </a:extLst>
          </p:cNvPr>
          <p:cNvSpPr txBox="1">
            <a:spLocks/>
          </p:cNvSpPr>
          <p:nvPr/>
        </p:nvSpPr>
        <p:spPr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 kern="0"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</a:pP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Thank</a:t>
            </a:r>
            <a:r>
              <a:rPr lang="sv-SE" sz="4000" b="1" spc="-17" dirty="0"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you</a:t>
            </a:r>
            <a:r>
              <a:rPr lang="sv-SE" sz="4000" spc="-21" dirty="0">
                <a:solidFill>
                  <a:srgbClr val="FF0000"/>
                </a:solidFill>
              </a:rPr>
              <a:t> </a:t>
            </a:r>
            <a:r>
              <a:rPr lang="sv-SE" sz="4000" spc="-67" dirty="0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 dirty="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  <p:extLst>
      <p:ext uri="{BB962C8B-B14F-4D97-AF65-F5344CB8AC3E}">
        <p14:creationId xmlns:p14="http://schemas.microsoft.com/office/powerpoint/2010/main" val="24198712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524</TotalTime>
  <Words>30</Words>
  <Application>Microsoft Office PowerPoint</Application>
  <PresentationFormat>Custom</PresentationFormat>
  <Paragraphs>11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 MT</vt:lpstr>
      <vt:lpstr>Calibri</vt:lpstr>
      <vt:lpstr>Comic Sans MS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Sara Alterkawi</cp:lastModifiedBy>
  <cp:revision>76</cp:revision>
  <dcterms:created xsi:type="dcterms:W3CDTF">2025-12-09T17:44:59Z</dcterms:created>
  <dcterms:modified xsi:type="dcterms:W3CDTF">2026-01-16T19:45:21Z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