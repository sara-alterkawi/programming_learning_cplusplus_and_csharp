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16" r:id="rId4"/>
    <p:sldId id="315" r:id="rId5"/>
    <p:sldId id="317" r:id="rId6"/>
    <p:sldId id="318" r:id="rId7"/>
    <p:sldId id="319" r:id="rId8"/>
    <p:sldId id="322" r:id="rId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http/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Https</a:t>
            </a:r>
            <a:endParaRPr lang="sv-SE" sz="4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Protocol</a:t>
            </a:r>
            <a:endParaRPr lang="sv-SE" sz="4000" b="1" dirty="0">
              <a:solidFill>
                <a:srgbClr val="FFCE53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39656-65EB-9DE0-96F0-F23BFE5F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C258F4-DDF2-AEBF-7E4C-AD0583C24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63" y="1524000"/>
            <a:ext cx="13014474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1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FA627-1BBC-A8F9-AE11-07440243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C1BAB77F-F687-6947-D61A-53791E666081}"/>
              </a:ext>
            </a:extLst>
          </p:cNvPr>
          <p:cNvSpPr txBox="1"/>
          <p:nvPr/>
        </p:nvSpPr>
        <p:spPr>
          <a:xfrm>
            <a:off x="391224" y="1026884"/>
            <a:ext cx="7685976" cy="5405957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 is Http?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H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ypertext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ransfer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rotocol (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HTTP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) is an application-layer protocol for transmitting hypermedia documents, such as HTML.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It is a protocol </a:t>
            </a:r>
            <a:r>
              <a:rPr lang="en-GB" sz="2400" u="sng" dirty="0">
                <a:solidFill>
                  <a:srgbClr val="FF0000"/>
                </a:solidFill>
                <a:latin typeface="Comic Sans MS"/>
                <a:cs typeface="Comic Sans MS"/>
              </a:rPr>
              <a:t>used to access the data on the World Wide Web (www).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 HTTP protocol can be used to transfer the data in the form of plain text, hypertext, audio, video, and so on.</a:t>
            </a:r>
          </a:p>
        </p:txBody>
      </p:sp>
      <p:pic>
        <p:nvPicPr>
          <p:cNvPr id="3" name="object 7">
            <a:extLst>
              <a:ext uri="{FF2B5EF4-FFF2-40B4-BE49-F238E27FC236}">
                <a16:creationId xmlns:a16="http://schemas.microsoft.com/office/drawing/2014/main" id="{1D78ED74-F81F-CDD4-9146-D17058674E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3352800"/>
            <a:ext cx="57150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24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03FA-1940-B977-719A-58CC3AF5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0442FE-D594-4AF2-D54A-2FFA5F5B2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295" y="1026884"/>
            <a:ext cx="5317905" cy="5145316"/>
          </a:xfrm>
          <a:prstGeom prst="rect">
            <a:avLst/>
          </a:prstGeom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90D41E70-3125-A538-7A8C-F4B03E2510C8}"/>
              </a:ext>
            </a:extLst>
          </p:cNvPr>
          <p:cNvSpPr txBox="1"/>
          <p:nvPr/>
        </p:nvSpPr>
        <p:spPr>
          <a:xfrm>
            <a:off x="391224" y="1026884"/>
            <a:ext cx="7685976" cy="5790036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 is Https?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HTTPS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is HTTP with encryption and verification.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 only difference between the two protocols is that HTTPS uses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TLS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(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ransport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L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ayer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ecurity) or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SSL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(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ecured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ocket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L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ayer) to encrypt normal HTTP requests and responses, and to digitally sign those requests and responses. As a result, HTTPS is far more secure than HTTP.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TLS is higher security than SSL and more reliable and faster.</a:t>
            </a:r>
          </a:p>
        </p:txBody>
      </p:sp>
    </p:spTree>
    <p:extLst>
      <p:ext uri="{BB962C8B-B14F-4D97-AF65-F5344CB8AC3E}">
        <p14:creationId xmlns:p14="http://schemas.microsoft.com/office/powerpoint/2010/main" val="2040546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D6CDE-3E43-E8CF-4C02-E0198DE5D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1">
            <a:extLst>
              <a:ext uri="{FF2B5EF4-FFF2-40B4-BE49-F238E27FC236}">
                <a16:creationId xmlns:a16="http://schemas.microsoft.com/office/drawing/2014/main" id="{2E3C0259-A424-31A0-2E42-158281F05E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2907507"/>
            <a:ext cx="4114800" cy="4243385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D16061BC-D7EB-65D9-9A7A-602C981C7D0C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1094216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1912" algn="l">
              <a:spcBef>
                <a:spcPts val="173"/>
              </a:spcBef>
            </a:pPr>
            <a:r>
              <a:rPr lang="en-GB" sz="4400" b="1" dirty="0">
                <a:solidFill>
                  <a:schemeClr val="tx1"/>
                </a:solidFill>
                <a:latin typeface="Comic Sans MS"/>
                <a:cs typeface="Comic Sans MS"/>
              </a:rPr>
              <a:t>How to reach a website on the internet?</a:t>
            </a:r>
          </a:p>
          <a:p>
            <a:pPr marL="21912" algn="l">
              <a:spcBef>
                <a:spcPts val="173"/>
              </a:spcBef>
            </a:pP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First you need a domain name</a:t>
            </a:r>
            <a:endParaRPr lang="en-GB" sz="2400" dirty="0">
              <a:solidFill>
                <a:srgbClr val="FF0000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210281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B17C1-C747-A4ED-F429-0B3C5CA0B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1">
            <a:extLst>
              <a:ext uri="{FF2B5EF4-FFF2-40B4-BE49-F238E27FC236}">
                <a16:creationId xmlns:a16="http://schemas.microsoft.com/office/drawing/2014/main" id="{22F6316D-114E-5CE4-2D46-FAEBD208D0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0" y="1787898"/>
            <a:ext cx="4114800" cy="4243385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A815A1E7-2CA0-70CF-D636-F8218FF6FC3A}"/>
              </a:ext>
            </a:extLst>
          </p:cNvPr>
          <p:cNvSpPr txBox="1"/>
          <p:nvPr/>
        </p:nvSpPr>
        <p:spPr>
          <a:xfrm>
            <a:off x="391224" y="1026884"/>
            <a:ext cx="7685976" cy="2729968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 is a domain name?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4000" b="1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dirty="0">
                <a:solidFill>
                  <a:schemeClr val="tx1"/>
                </a:solidFill>
                <a:latin typeface="Comic Sans MS"/>
                <a:cs typeface="Comic Sans MS"/>
              </a:rPr>
              <a:t>Will discuss it in the next lesson </a:t>
            </a:r>
            <a:r>
              <a:rPr lang="sv-SE" sz="4000" spc="-67" dirty="0">
                <a:solidFill>
                  <a:schemeClr val="tx1"/>
                </a:solidFill>
                <a:latin typeface="Wingdings"/>
                <a:cs typeface="Wingdings"/>
              </a:rPr>
              <a:t></a:t>
            </a:r>
            <a:endParaRPr lang="en-GB" sz="4000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38018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C4465891-B5EE-F648-2D7F-C7892A5FF967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</TotalTime>
  <Words>190</Words>
  <Application>Microsoft Office PowerPoint</Application>
  <PresentationFormat>Custom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49</cp:revision>
  <dcterms:created xsi:type="dcterms:W3CDTF">2025-12-09T17:44:59Z</dcterms:created>
  <dcterms:modified xsi:type="dcterms:W3CDTF">2026-01-16T19:41:00Z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