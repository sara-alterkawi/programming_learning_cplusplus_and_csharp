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257" r:id="rId4"/>
    <p:sldId id="305" r:id="rId5"/>
    <p:sldId id="296" r:id="rId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jpg"/><Relationship Id="rId16" Type="http://schemas.openxmlformats.org/officeDocument/2006/relationships/image" Target="../media/image17.pn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jpg"/><Relationship Id="rId10" Type="http://schemas.openxmlformats.org/officeDocument/2006/relationships/image" Target="../media/image11.jp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IP Part 3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(IP </a:t>
            </a:r>
            <a:r>
              <a:rPr lang="sv-SE" sz="4000" b="1">
                <a:solidFill>
                  <a:srgbClr val="FFCE53"/>
                </a:solidFill>
                <a:latin typeface="Comic Sans MS"/>
              </a:rPr>
              <a:t>Adress Types)</a:t>
            </a:r>
            <a:endParaRPr lang="sv-SE" sz="4000" b="1" dirty="0">
              <a:solidFill>
                <a:srgbClr val="FFCE53"/>
              </a:solidFill>
              <a:latin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</a:rPr>
              <a:t>What are the Types of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</a:rPr>
              <a:t>IP Addresses?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DCCB0-0E20-7366-2F53-DA4CA739E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22" y="7154899"/>
            <a:ext cx="1993248" cy="513166"/>
          </a:xfrm>
          <a:prstGeom prst="rect">
            <a:avLst/>
          </a:prstGeom>
        </p:spPr>
      </p:pic>
      <p:sp>
        <p:nvSpPr>
          <p:cNvPr id="92" name="object 3"/>
          <p:cNvSpPr txBox="1"/>
          <p:nvPr/>
        </p:nvSpPr>
        <p:spPr>
          <a:xfrm>
            <a:off x="6231512" y="7197257"/>
            <a:ext cx="6625585" cy="37910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27125" algn="ctr">
              <a:lnSpc>
                <a:spcPct val="100000"/>
              </a:lnSpc>
              <a:spcBef>
                <a:spcPts val="25"/>
              </a:spcBef>
            </a:pPr>
            <a:r>
              <a:rPr sz="200" dirty="0">
                <a:solidFill>
                  <a:srgbClr val="006FBA"/>
                </a:solidFill>
                <a:latin typeface="Arial Black"/>
                <a:cs typeface="Arial Black"/>
              </a:rPr>
              <a:t>Mohammed</a:t>
            </a:r>
            <a:r>
              <a:rPr sz="200" spc="20" dirty="0">
                <a:solidFill>
                  <a:srgbClr val="006FBA"/>
                </a:solidFill>
                <a:latin typeface="Arial Black"/>
                <a:cs typeface="Arial Black"/>
              </a:rPr>
              <a:t> </a:t>
            </a:r>
            <a:r>
              <a:rPr sz="200" spc="-10" dirty="0">
                <a:solidFill>
                  <a:srgbClr val="006FBA"/>
                </a:solidFill>
                <a:latin typeface="Arial Black"/>
                <a:cs typeface="Arial Black"/>
              </a:rPr>
              <a:t>Abu-Hadhoud</a:t>
            </a:r>
            <a:endParaRPr sz="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tabLst>
                <a:tab pos="1129030" algn="l"/>
              </a:tabLst>
            </a:pPr>
            <a:r>
              <a:rPr sz="300" b="1" baseline="-41666" dirty="0">
                <a:solidFill>
                  <a:srgbClr val="006FBA"/>
                </a:solidFill>
                <a:latin typeface="Comic Sans MS"/>
                <a:cs typeface="Comic Sans MS"/>
              </a:rPr>
              <a:t>Copyright©</a:t>
            </a:r>
            <a:r>
              <a:rPr sz="300" b="1" spc="37" baseline="-41666" dirty="0">
                <a:solidFill>
                  <a:srgbClr val="006FBA"/>
                </a:solidFill>
                <a:latin typeface="Comic Sans MS"/>
                <a:cs typeface="Comic Sans MS"/>
              </a:rPr>
              <a:t> </a:t>
            </a:r>
            <a:r>
              <a:rPr sz="300" b="1" spc="-30" baseline="-41666" dirty="0">
                <a:solidFill>
                  <a:srgbClr val="006FBA"/>
                </a:solidFill>
                <a:latin typeface="Comic Sans MS"/>
                <a:cs typeface="Comic Sans MS"/>
              </a:rPr>
              <a:t>2022</a:t>
            </a:r>
            <a:r>
              <a:rPr sz="300" b="1" baseline="-41666" dirty="0">
                <a:solidFill>
                  <a:srgbClr val="006FBA"/>
                </a:solidFill>
                <a:latin typeface="Comic Sans MS"/>
                <a:cs typeface="Comic Sans MS"/>
              </a:rPr>
              <a:t>	</a:t>
            </a:r>
            <a:r>
              <a:rPr sz="100" dirty="0">
                <a:solidFill>
                  <a:srgbClr val="006FBA"/>
                </a:solidFill>
                <a:latin typeface="Arial Black"/>
                <a:cs typeface="Arial Black"/>
              </a:rPr>
              <a:t>MBA,</a:t>
            </a:r>
            <a:r>
              <a:rPr sz="100" spc="60" dirty="0">
                <a:solidFill>
                  <a:srgbClr val="006FBA"/>
                </a:solidFill>
                <a:latin typeface="Arial Black"/>
                <a:cs typeface="Arial Black"/>
              </a:rPr>
              <a:t> </a:t>
            </a:r>
            <a:r>
              <a:rPr sz="100" dirty="0">
                <a:solidFill>
                  <a:srgbClr val="006FBA"/>
                </a:solidFill>
                <a:latin typeface="Arial Black"/>
                <a:cs typeface="Arial Black"/>
              </a:rPr>
              <a:t>PMOC,</a:t>
            </a:r>
            <a:r>
              <a:rPr sz="100" spc="50" dirty="0">
                <a:solidFill>
                  <a:srgbClr val="006FBA"/>
                </a:solidFill>
                <a:latin typeface="Arial Black"/>
                <a:cs typeface="Arial Black"/>
              </a:rPr>
              <a:t> </a:t>
            </a:r>
            <a:r>
              <a:rPr sz="100" dirty="0">
                <a:solidFill>
                  <a:srgbClr val="006FBA"/>
                </a:solidFill>
                <a:latin typeface="Arial Black"/>
                <a:cs typeface="Arial Black"/>
              </a:rPr>
              <a:t>PgMP®,</a:t>
            </a:r>
            <a:r>
              <a:rPr sz="100" spc="60" dirty="0">
                <a:solidFill>
                  <a:srgbClr val="006FBA"/>
                </a:solidFill>
                <a:latin typeface="Arial Black"/>
                <a:cs typeface="Arial Black"/>
              </a:rPr>
              <a:t> </a:t>
            </a:r>
            <a:r>
              <a:rPr sz="100" dirty="0">
                <a:solidFill>
                  <a:srgbClr val="006FBA"/>
                </a:solidFill>
                <a:latin typeface="Arial Black"/>
                <a:cs typeface="Arial Black"/>
              </a:rPr>
              <a:t>PMP®,</a:t>
            </a:r>
            <a:r>
              <a:rPr sz="100" spc="50" dirty="0">
                <a:solidFill>
                  <a:srgbClr val="006FBA"/>
                </a:solidFill>
                <a:latin typeface="Arial Black"/>
                <a:cs typeface="Arial Black"/>
              </a:rPr>
              <a:t> </a:t>
            </a:r>
            <a:r>
              <a:rPr sz="100" dirty="0">
                <a:solidFill>
                  <a:srgbClr val="006FBA"/>
                </a:solidFill>
                <a:latin typeface="Arial Black"/>
                <a:cs typeface="Arial Black"/>
              </a:rPr>
              <a:t>PMI-RMP®,</a:t>
            </a:r>
            <a:r>
              <a:rPr sz="100" spc="60" dirty="0">
                <a:solidFill>
                  <a:srgbClr val="006FBA"/>
                </a:solidFill>
                <a:latin typeface="Arial Black"/>
                <a:cs typeface="Arial Black"/>
              </a:rPr>
              <a:t> </a:t>
            </a:r>
            <a:r>
              <a:rPr sz="100" dirty="0">
                <a:solidFill>
                  <a:srgbClr val="006FBA"/>
                </a:solidFill>
                <a:latin typeface="Arial Black"/>
                <a:cs typeface="Arial Black"/>
              </a:rPr>
              <a:t>CM,</a:t>
            </a:r>
            <a:r>
              <a:rPr sz="100" spc="65" dirty="0">
                <a:solidFill>
                  <a:srgbClr val="006FBA"/>
                </a:solidFill>
                <a:latin typeface="Arial Black"/>
                <a:cs typeface="Arial Black"/>
              </a:rPr>
              <a:t> </a:t>
            </a:r>
            <a:r>
              <a:rPr sz="100" dirty="0">
                <a:solidFill>
                  <a:srgbClr val="006FBA"/>
                </a:solidFill>
                <a:latin typeface="Arial Black"/>
                <a:cs typeface="Arial Black"/>
              </a:rPr>
              <a:t>ITILF,</a:t>
            </a:r>
            <a:r>
              <a:rPr sz="100" spc="50" dirty="0">
                <a:solidFill>
                  <a:srgbClr val="006FBA"/>
                </a:solidFill>
                <a:latin typeface="Arial Black"/>
                <a:cs typeface="Arial Black"/>
              </a:rPr>
              <a:t> </a:t>
            </a:r>
            <a:r>
              <a:rPr sz="100" dirty="0">
                <a:solidFill>
                  <a:srgbClr val="006FBA"/>
                </a:solidFill>
                <a:latin typeface="Arial Black"/>
                <a:cs typeface="Arial Black"/>
              </a:rPr>
              <a:t>MCPD,</a:t>
            </a:r>
            <a:r>
              <a:rPr sz="100" spc="60" dirty="0">
                <a:solidFill>
                  <a:srgbClr val="006FBA"/>
                </a:solidFill>
                <a:latin typeface="Arial Black"/>
                <a:cs typeface="Arial Black"/>
              </a:rPr>
              <a:t> </a:t>
            </a:r>
            <a:r>
              <a:rPr sz="100" spc="-20" dirty="0">
                <a:solidFill>
                  <a:srgbClr val="006FBA"/>
                </a:solidFill>
                <a:latin typeface="Arial Black"/>
                <a:cs typeface="Arial Black"/>
              </a:rPr>
              <a:t>MCSD</a:t>
            </a:r>
            <a:endParaRPr sz="100">
              <a:latin typeface="Arial Black"/>
              <a:cs typeface="Arial Black"/>
            </a:endParaRPr>
          </a:p>
          <a:p>
            <a:pPr marL="1128395" algn="ctr">
              <a:lnSpc>
                <a:spcPct val="100000"/>
              </a:lnSpc>
              <a:spcBef>
                <a:spcPts val="90"/>
              </a:spcBef>
            </a:pPr>
            <a:r>
              <a:rPr sz="100" spc="10" dirty="0">
                <a:solidFill>
                  <a:srgbClr val="006FBA"/>
                </a:solidFill>
                <a:latin typeface="Arial Black"/>
                <a:cs typeface="Arial Black"/>
              </a:rPr>
              <a:t>26+</a:t>
            </a:r>
            <a:r>
              <a:rPr sz="100" dirty="0">
                <a:solidFill>
                  <a:srgbClr val="006FBA"/>
                </a:solidFill>
                <a:latin typeface="Arial Black"/>
                <a:cs typeface="Arial Black"/>
              </a:rPr>
              <a:t> </a:t>
            </a:r>
            <a:r>
              <a:rPr sz="100" spc="10" dirty="0">
                <a:solidFill>
                  <a:srgbClr val="006FBA"/>
                </a:solidFill>
                <a:latin typeface="Arial Black"/>
                <a:cs typeface="Arial Black"/>
              </a:rPr>
              <a:t>years of</a:t>
            </a:r>
            <a:r>
              <a:rPr sz="100" spc="5" dirty="0">
                <a:solidFill>
                  <a:srgbClr val="006FBA"/>
                </a:solidFill>
                <a:latin typeface="Arial Black"/>
                <a:cs typeface="Arial Black"/>
              </a:rPr>
              <a:t> </a:t>
            </a:r>
            <a:r>
              <a:rPr sz="100" spc="-10" dirty="0">
                <a:solidFill>
                  <a:srgbClr val="006FBA"/>
                </a:solidFill>
                <a:latin typeface="Arial Black"/>
                <a:cs typeface="Arial Black"/>
              </a:rPr>
              <a:t>experience</a:t>
            </a:r>
            <a:endParaRPr sz="100">
              <a:latin typeface="Arial Black"/>
              <a:cs typeface="Arial Black"/>
            </a:endParaRPr>
          </a:p>
        </p:txBody>
      </p:sp>
      <p:pic>
        <p:nvPicPr>
          <p:cNvPr id="93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241" y="2770191"/>
            <a:ext cx="12721733" cy="4897874"/>
          </a:xfrm>
          <a:prstGeom prst="rect">
            <a:avLst/>
          </a:prstGeom>
        </p:spPr>
      </p:pic>
      <p:grpSp>
        <p:nvGrpSpPr>
          <p:cNvPr id="95" name="object 6"/>
          <p:cNvGrpSpPr/>
          <p:nvPr/>
        </p:nvGrpSpPr>
        <p:grpSpPr>
          <a:xfrm>
            <a:off x="8612463" y="2505804"/>
            <a:ext cx="3975858" cy="1651822"/>
            <a:chOff x="2625470" y="1675257"/>
            <a:chExt cx="995680" cy="426084"/>
          </a:xfrm>
        </p:grpSpPr>
        <p:pic>
          <p:nvPicPr>
            <p:cNvPr id="126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7975" y="1694688"/>
              <a:ext cx="762" cy="3047"/>
            </a:xfrm>
            <a:prstGeom prst="rect">
              <a:avLst/>
            </a:prstGeom>
          </p:spPr>
        </p:pic>
        <p:sp>
          <p:nvSpPr>
            <p:cNvPr id="127" name="object 8"/>
            <p:cNvSpPr/>
            <p:nvPr/>
          </p:nvSpPr>
          <p:spPr>
            <a:xfrm>
              <a:off x="2627375" y="1677162"/>
              <a:ext cx="991869" cy="422275"/>
            </a:xfrm>
            <a:custGeom>
              <a:avLst/>
              <a:gdLst/>
              <a:ahLst/>
              <a:cxnLst/>
              <a:rect l="l" t="t" r="r" b="b"/>
              <a:pathLst>
                <a:path w="991870" h="422275">
                  <a:moveTo>
                    <a:pt x="22860" y="0"/>
                  </a:moveTo>
                  <a:lnTo>
                    <a:pt x="968501" y="0"/>
                  </a:lnTo>
                </a:path>
                <a:path w="991870" h="422275">
                  <a:moveTo>
                    <a:pt x="968502" y="422146"/>
                  </a:moveTo>
                  <a:lnTo>
                    <a:pt x="22860" y="422148"/>
                  </a:lnTo>
                  <a:lnTo>
                    <a:pt x="16926" y="420928"/>
                  </a:lnTo>
                </a:path>
                <a:path w="991870" h="422275">
                  <a:moveTo>
                    <a:pt x="13813" y="420302"/>
                  </a:moveTo>
                  <a:lnTo>
                    <a:pt x="6572" y="415290"/>
                  </a:lnTo>
                </a:path>
                <a:path w="991870" h="422275">
                  <a:moveTo>
                    <a:pt x="6096" y="414570"/>
                  </a:moveTo>
                  <a:lnTo>
                    <a:pt x="4560" y="412249"/>
                  </a:lnTo>
                </a:path>
                <a:path w="991870" h="422275">
                  <a:moveTo>
                    <a:pt x="3810" y="411115"/>
                  </a:moveTo>
                  <a:lnTo>
                    <a:pt x="3044" y="409958"/>
                  </a:lnTo>
                </a:path>
                <a:path w="991870" h="422275">
                  <a:moveTo>
                    <a:pt x="2286" y="408813"/>
                  </a:moveTo>
                  <a:lnTo>
                    <a:pt x="2033" y="408432"/>
                  </a:lnTo>
                </a:path>
                <a:path w="991870" h="422275">
                  <a:moveTo>
                    <a:pt x="1524" y="406876"/>
                  </a:moveTo>
                  <a:lnTo>
                    <a:pt x="1377" y="406146"/>
                  </a:lnTo>
                </a:path>
                <a:path w="991870" h="422275">
                  <a:moveTo>
                    <a:pt x="762" y="403082"/>
                  </a:moveTo>
                  <a:lnTo>
                    <a:pt x="612" y="402336"/>
                  </a:lnTo>
                </a:path>
                <a:path w="991870" h="422275">
                  <a:moveTo>
                    <a:pt x="0" y="399288"/>
                  </a:moveTo>
                  <a:lnTo>
                    <a:pt x="0" y="22860"/>
                  </a:lnTo>
                </a:path>
                <a:path w="991870" h="422275">
                  <a:moveTo>
                    <a:pt x="986027" y="8782"/>
                  </a:moveTo>
                  <a:lnTo>
                    <a:pt x="986277" y="9144"/>
                  </a:lnTo>
                </a:path>
                <a:path w="991870" h="422275">
                  <a:moveTo>
                    <a:pt x="987551" y="10991"/>
                  </a:moveTo>
                  <a:lnTo>
                    <a:pt x="987854" y="11430"/>
                  </a:lnTo>
                </a:path>
                <a:path w="991870" h="422275">
                  <a:moveTo>
                    <a:pt x="989076" y="13201"/>
                  </a:moveTo>
                  <a:lnTo>
                    <a:pt x="989504" y="13716"/>
                  </a:lnTo>
                </a:path>
                <a:path w="991870" h="422275">
                  <a:moveTo>
                    <a:pt x="990600" y="19108"/>
                  </a:moveTo>
                  <a:lnTo>
                    <a:pt x="990897" y="20574"/>
                  </a:lnTo>
                </a:path>
                <a:path w="991870" h="422275">
                  <a:moveTo>
                    <a:pt x="991357" y="22859"/>
                  </a:moveTo>
                  <a:lnTo>
                    <a:pt x="991362" y="399288"/>
                  </a:lnTo>
                  <a:lnTo>
                    <a:pt x="990376" y="403914"/>
                  </a:lnTo>
                </a:path>
                <a:path w="991870" h="422275">
                  <a:moveTo>
                    <a:pt x="978090" y="419691"/>
                  </a:moveTo>
                  <a:lnTo>
                    <a:pt x="977217" y="420290"/>
                  </a:lnTo>
                  <a:lnTo>
                    <a:pt x="970026" y="421823"/>
                  </a:lnTo>
                </a:path>
              </a:pathLst>
            </a:custGeom>
            <a:ln w="331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27376" y="1677162"/>
              <a:ext cx="991362" cy="422148"/>
            </a:xfrm>
            <a:prstGeom prst="rect">
              <a:avLst/>
            </a:prstGeom>
          </p:spPr>
        </p:pic>
        <p:sp>
          <p:nvSpPr>
            <p:cNvPr id="129" name="object 10"/>
            <p:cNvSpPr/>
            <p:nvPr/>
          </p:nvSpPr>
          <p:spPr>
            <a:xfrm>
              <a:off x="2627376" y="1677162"/>
              <a:ext cx="991869" cy="422275"/>
            </a:xfrm>
            <a:custGeom>
              <a:avLst/>
              <a:gdLst/>
              <a:ahLst/>
              <a:cxnLst/>
              <a:rect l="l" t="t" r="r" b="b"/>
              <a:pathLst>
                <a:path w="991870" h="422275">
                  <a:moveTo>
                    <a:pt x="0" y="22859"/>
                  </a:moveTo>
                  <a:lnTo>
                    <a:pt x="1750" y="13823"/>
                  </a:lnTo>
                  <a:lnTo>
                    <a:pt x="6572" y="6572"/>
                  </a:lnTo>
                  <a:lnTo>
                    <a:pt x="13823" y="1750"/>
                  </a:lnTo>
                  <a:lnTo>
                    <a:pt x="22860" y="0"/>
                  </a:lnTo>
                  <a:lnTo>
                    <a:pt x="968502" y="0"/>
                  </a:lnTo>
                  <a:lnTo>
                    <a:pt x="977217" y="1750"/>
                  </a:lnTo>
                  <a:lnTo>
                    <a:pt x="984504" y="6572"/>
                  </a:lnTo>
                  <a:lnTo>
                    <a:pt x="989504" y="13823"/>
                  </a:lnTo>
                  <a:lnTo>
                    <a:pt x="991362" y="22859"/>
                  </a:lnTo>
                  <a:lnTo>
                    <a:pt x="991362" y="399287"/>
                  </a:lnTo>
                  <a:lnTo>
                    <a:pt x="989504" y="408003"/>
                  </a:lnTo>
                  <a:lnTo>
                    <a:pt x="984504" y="415289"/>
                  </a:lnTo>
                  <a:lnTo>
                    <a:pt x="977217" y="420290"/>
                  </a:lnTo>
                  <a:lnTo>
                    <a:pt x="968502" y="422147"/>
                  </a:lnTo>
                  <a:lnTo>
                    <a:pt x="22860" y="422147"/>
                  </a:lnTo>
                  <a:lnTo>
                    <a:pt x="13823" y="420290"/>
                  </a:lnTo>
                  <a:lnTo>
                    <a:pt x="6572" y="415289"/>
                  </a:lnTo>
                  <a:lnTo>
                    <a:pt x="1750" y="408003"/>
                  </a:lnTo>
                  <a:lnTo>
                    <a:pt x="0" y="399287"/>
                  </a:lnTo>
                  <a:lnTo>
                    <a:pt x="0" y="22859"/>
                  </a:lnTo>
                  <a:close/>
                </a:path>
              </a:pathLst>
            </a:custGeom>
            <a:ln w="331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11"/>
          <p:cNvSpPr txBox="1"/>
          <p:nvPr/>
        </p:nvSpPr>
        <p:spPr>
          <a:xfrm>
            <a:off x="9475086" y="2656168"/>
            <a:ext cx="2986965" cy="120481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400" b="1" spc="-10" dirty="0">
                <a:solidFill>
                  <a:srgbClr val="8FAADC"/>
                </a:solidFill>
                <a:latin typeface="Comic Sans MS"/>
                <a:cs typeface="Comic Sans MS"/>
              </a:rPr>
              <a:t>Private</a:t>
            </a:r>
            <a:endParaRPr sz="1400" dirty="0">
              <a:latin typeface="Comic Sans MS"/>
              <a:cs typeface="Comic Sans MS"/>
            </a:endParaRPr>
          </a:p>
          <a:p>
            <a:pPr marL="171450" marR="36830" indent="-171450">
              <a:lnSpc>
                <a:spcPct val="100000"/>
              </a:lnSpc>
              <a:spcBef>
                <a:spcPts val="220"/>
              </a:spcBef>
              <a:buFont typeface="Arial" panose="020B0604020202020204" pitchFamily="34" charset="0"/>
              <a:buChar char="•"/>
              <a:tabLst>
                <a:tab pos="44450" algn="l"/>
                <a:tab pos="46355" algn="l"/>
              </a:tabLst>
            </a:pP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private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network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is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computer</a:t>
            </a:r>
            <a:r>
              <a:rPr sz="1200" spc="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64686F"/>
                </a:solidFill>
                <a:latin typeface="Comic Sans MS"/>
                <a:cs typeface="Comic Sans MS"/>
              </a:rPr>
              <a:t>network</a:t>
            </a:r>
            <a:r>
              <a:rPr sz="1200" spc="50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that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uses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its</a:t>
            </a:r>
            <a:r>
              <a:rPr sz="1200" spc="2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own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private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address</a:t>
            </a:r>
            <a:r>
              <a:rPr sz="1200" spc="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space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25" dirty="0">
                <a:solidFill>
                  <a:srgbClr val="64686F"/>
                </a:solidFill>
                <a:latin typeface="Comic Sans MS"/>
                <a:cs typeface="Comic Sans MS"/>
              </a:rPr>
              <a:t>of</a:t>
            </a:r>
            <a:r>
              <a:rPr sz="1200" spc="50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IP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64686F"/>
                </a:solidFill>
                <a:latin typeface="Comic Sans MS"/>
                <a:cs typeface="Comic Sans MS"/>
              </a:rPr>
              <a:t>addresses</a:t>
            </a:r>
            <a:r>
              <a:rPr sz="1200" spc="-10" dirty="0">
                <a:solidFill>
                  <a:srgbClr val="3F3F3F"/>
                </a:solidFill>
                <a:latin typeface="Comic Sans MS"/>
                <a:cs typeface="Comic Sans MS"/>
              </a:rPr>
              <a:t>.</a:t>
            </a:r>
            <a:endParaRPr lang="sv-SE" sz="1200" spc="-10" dirty="0">
              <a:latin typeface="Comic Sans MS"/>
              <a:cs typeface="Comic Sans MS"/>
            </a:endParaRPr>
          </a:p>
          <a:p>
            <a:pPr marL="171450" marR="36830" indent="-171450">
              <a:lnSpc>
                <a:spcPct val="100000"/>
              </a:lnSpc>
              <a:spcBef>
                <a:spcPts val="220"/>
              </a:spcBef>
              <a:buFont typeface="Arial" panose="020B0604020202020204" pitchFamily="34" charset="0"/>
              <a:buChar char="•"/>
              <a:tabLst>
                <a:tab pos="44450" algn="l"/>
                <a:tab pos="46355" algn="l"/>
              </a:tabLst>
            </a:pP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Private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IP</a:t>
            </a:r>
            <a:r>
              <a:rPr sz="1200" spc="2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address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ranges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are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defined</a:t>
            </a:r>
            <a:r>
              <a:rPr sz="1200" spc="3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64686F"/>
                </a:solidFill>
                <a:latin typeface="Comic Sans MS"/>
                <a:cs typeface="Comic Sans MS"/>
              </a:rPr>
              <a:t>under</a:t>
            </a:r>
            <a:r>
              <a:rPr sz="1200" spc="50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both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IPv4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and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IPv6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64686F"/>
                </a:solidFill>
                <a:latin typeface="Comic Sans MS"/>
                <a:cs typeface="Comic Sans MS"/>
              </a:rPr>
              <a:t>standards.</a:t>
            </a:r>
            <a:endParaRPr sz="1200" dirty="0">
              <a:latin typeface="Comic Sans MS"/>
              <a:cs typeface="Comic Sans MS"/>
            </a:endParaRPr>
          </a:p>
        </p:txBody>
      </p:sp>
      <p:grpSp>
        <p:nvGrpSpPr>
          <p:cNvPr id="97" name="object 12"/>
          <p:cNvGrpSpPr/>
          <p:nvPr/>
        </p:nvGrpSpPr>
        <p:grpSpPr>
          <a:xfrm>
            <a:off x="2578696" y="2273904"/>
            <a:ext cx="6590083" cy="4123412"/>
            <a:chOff x="1114425" y="1615439"/>
            <a:chExt cx="1650364" cy="1063625"/>
          </a:xfrm>
        </p:grpSpPr>
        <p:pic>
          <p:nvPicPr>
            <p:cNvPr id="121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53996" y="1678939"/>
              <a:ext cx="447294" cy="420370"/>
            </a:xfrm>
            <a:prstGeom prst="rect">
              <a:avLst/>
            </a:prstGeom>
          </p:spPr>
        </p:pic>
        <p:pic>
          <p:nvPicPr>
            <p:cNvPr id="122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86940" y="1615439"/>
              <a:ext cx="577595" cy="544829"/>
            </a:xfrm>
            <a:prstGeom prst="rect">
              <a:avLst/>
            </a:prstGeom>
          </p:spPr>
        </p:pic>
        <p:sp>
          <p:nvSpPr>
            <p:cNvPr id="123" name="object 15"/>
            <p:cNvSpPr/>
            <p:nvPr/>
          </p:nvSpPr>
          <p:spPr>
            <a:xfrm>
              <a:off x="1116330" y="2255519"/>
              <a:ext cx="990600" cy="421640"/>
            </a:xfrm>
            <a:custGeom>
              <a:avLst/>
              <a:gdLst/>
              <a:ahLst/>
              <a:cxnLst/>
              <a:rect l="l" t="t" r="r" b="b"/>
              <a:pathLst>
                <a:path w="990600" h="421639">
                  <a:moveTo>
                    <a:pt x="22097" y="0"/>
                  </a:moveTo>
                  <a:lnTo>
                    <a:pt x="968502" y="0"/>
                  </a:lnTo>
                </a:path>
                <a:path w="990600" h="421639">
                  <a:moveTo>
                    <a:pt x="968502" y="421382"/>
                  </a:moveTo>
                  <a:lnTo>
                    <a:pt x="22097" y="421386"/>
                  </a:lnTo>
                  <a:lnTo>
                    <a:pt x="18332" y="420624"/>
                  </a:lnTo>
                </a:path>
                <a:path w="990600" h="421639">
                  <a:moveTo>
                    <a:pt x="6581" y="414827"/>
                  </a:moveTo>
                  <a:lnTo>
                    <a:pt x="4644" y="412192"/>
                  </a:lnTo>
                </a:path>
                <a:path w="990600" h="421639">
                  <a:moveTo>
                    <a:pt x="3699" y="410792"/>
                  </a:moveTo>
                  <a:lnTo>
                    <a:pt x="3108" y="409915"/>
                  </a:lnTo>
                </a:path>
                <a:path w="990600" h="421639">
                  <a:moveTo>
                    <a:pt x="1523" y="406824"/>
                  </a:moveTo>
                  <a:lnTo>
                    <a:pt x="1386" y="406146"/>
                  </a:lnTo>
                </a:path>
                <a:path w="990600" h="421639">
                  <a:moveTo>
                    <a:pt x="0" y="399288"/>
                  </a:moveTo>
                  <a:lnTo>
                    <a:pt x="0" y="22098"/>
                  </a:lnTo>
                </a:path>
                <a:path w="990600" h="421639">
                  <a:moveTo>
                    <a:pt x="984503" y="7041"/>
                  </a:moveTo>
                  <a:lnTo>
                    <a:pt x="984894" y="7620"/>
                  </a:lnTo>
                </a:path>
                <a:path w="990600" h="421639">
                  <a:moveTo>
                    <a:pt x="989076" y="14561"/>
                  </a:moveTo>
                  <a:lnTo>
                    <a:pt x="989213" y="15239"/>
                  </a:lnTo>
                </a:path>
                <a:path w="990600" h="421639">
                  <a:moveTo>
                    <a:pt x="990590" y="22097"/>
                  </a:moveTo>
                  <a:lnTo>
                    <a:pt x="990600" y="399288"/>
                  </a:lnTo>
                  <a:lnTo>
                    <a:pt x="989839" y="403048"/>
                  </a:lnTo>
                </a:path>
                <a:path w="990600" h="421639">
                  <a:moveTo>
                    <a:pt x="989424" y="405099"/>
                  </a:moveTo>
                  <a:lnTo>
                    <a:pt x="988861" y="407884"/>
                  </a:lnTo>
                  <a:lnTo>
                    <a:pt x="988436" y="408514"/>
                  </a:lnTo>
                </a:path>
                <a:path w="990600" h="421639">
                  <a:moveTo>
                    <a:pt x="985702" y="412567"/>
                  </a:moveTo>
                  <a:lnTo>
                    <a:pt x="984503" y="414344"/>
                  </a:lnTo>
                </a:path>
                <a:path w="990600" h="421639">
                  <a:moveTo>
                    <a:pt x="983558" y="415289"/>
                  </a:moveTo>
                  <a:lnTo>
                    <a:pt x="981781" y="416488"/>
                  </a:lnTo>
                </a:path>
                <a:path w="990600" h="421639">
                  <a:moveTo>
                    <a:pt x="977728" y="419222"/>
                  </a:moveTo>
                  <a:lnTo>
                    <a:pt x="977098" y="419647"/>
                  </a:lnTo>
                  <a:lnTo>
                    <a:pt x="974717" y="420129"/>
                  </a:lnTo>
                </a:path>
              </a:pathLst>
            </a:custGeom>
            <a:ln w="331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6330" y="2255519"/>
              <a:ext cx="990600" cy="421385"/>
            </a:xfrm>
            <a:prstGeom prst="rect">
              <a:avLst/>
            </a:prstGeom>
          </p:spPr>
        </p:pic>
        <p:sp>
          <p:nvSpPr>
            <p:cNvPr id="125" name="object 17"/>
            <p:cNvSpPr/>
            <p:nvPr/>
          </p:nvSpPr>
          <p:spPr>
            <a:xfrm>
              <a:off x="1116330" y="2255519"/>
              <a:ext cx="990600" cy="421640"/>
            </a:xfrm>
            <a:custGeom>
              <a:avLst/>
              <a:gdLst/>
              <a:ahLst/>
              <a:cxnLst/>
              <a:rect l="l" t="t" r="r" b="b"/>
              <a:pathLst>
                <a:path w="990600" h="421639">
                  <a:moveTo>
                    <a:pt x="0" y="22098"/>
                  </a:moveTo>
                  <a:lnTo>
                    <a:pt x="1738" y="13501"/>
                  </a:lnTo>
                  <a:lnTo>
                    <a:pt x="6477" y="6477"/>
                  </a:lnTo>
                  <a:lnTo>
                    <a:pt x="13501" y="1738"/>
                  </a:lnTo>
                  <a:lnTo>
                    <a:pt x="22098" y="0"/>
                  </a:lnTo>
                  <a:lnTo>
                    <a:pt x="968502" y="0"/>
                  </a:lnTo>
                  <a:lnTo>
                    <a:pt x="977098" y="1738"/>
                  </a:lnTo>
                  <a:lnTo>
                    <a:pt x="984122" y="6477"/>
                  </a:lnTo>
                  <a:lnTo>
                    <a:pt x="988861" y="13501"/>
                  </a:lnTo>
                  <a:lnTo>
                    <a:pt x="990600" y="22098"/>
                  </a:lnTo>
                  <a:lnTo>
                    <a:pt x="990600" y="399288"/>
                  </a:lnTo>
                  <a:lnTo>
                    <a:pt x="988861" y="407884"/>
                  </a:lnTo>
                  <a:lnTo>
                    <a:pt x="984122" y="414909"/>
                  </a:lnTo>
                  <a:lnTo>
                    <a:pt x="977098" y="419647"/>
                  </a:lnTo>
                  <a:lnTo>
                    <a:pt x="968502" y="421386"/>
                  </a:lnTo>
                  <a:lnTo>
                    <a:pt x="22098" y="421386"/>
                  </a:lnTo>
                  <a:lnTo>
                    <a:pt x="13501" y="419647"/>
                  </a:lnTo>
                  <a:lnTo>
                    <a:pt x="6476" y="414909"/>
                  </a:lnTo>
                  <a:lnTo>
                    <a:pt x="1738" y="407884"/>
                  </a:lnTo>
                  <a:lnTo>
                    <a:pt x="0" y="399288"/>
                  </a:lnTo>
                  <a:lnTo>
                    <a:pt x="0" y="22098"/>
                  </a:lnTo>
                  <a:close/>
                </a:path>
              </a:pathLst>
            </a:custGeom>
            <a:ln w="331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18"/>
          <p:cNvSpPr txBox="1"/>
          <p:nvPr/>
        </p:nvSpPr>
        <p:spPr>
          <a:xfrm>
            <a:off x="3438269" y="4969213"/>
            <a:ext cx="3009786" cy="98937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200" b="1" spc="-10" dirty="0">
                <a:solidFill>
                  <a:srgbClr val="8FAADC"/>
                </a:solidFill>
                <a:latin typeface="Comic Sans MS"/>
                <a:cs typeface="Comic Sans MS"/>
              </a:rPr>
              <a:t>Static</a:t>
            </a:r>
            <a:endParaRPr sz="1200" dirty="0">
              <a:latin typeface="Comic Sans MS"/>
              <a:cs typeface="Comic Sans MS"/>
            </a:endParaRPr>
          </a:p>
          <a:p>
            <a:pPr marL="171450" marR="5080" indent="-171450">
              <a:lnSpc>
                <a:spcPct val="100000"/>
              </a:lnSpc>
              <a:spcBef>
                <a:spcPts val="215"/>
              </a:spcBef>
              <a:buFont typeface="Arial" panose="020B0604020202020204" pitchFamily="34" charset="0"/>
              <a:buChar char="•"/>
              <a:tabLst>
                <a:tab pos="44450" algn="l"/>
                <a:tab pos="46355" algn="l"/>
              </a:tabLst>
            </a:pP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An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IP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address</a:t>
            </a:r>
            <a:r>
              <a:rPr sz="1200" spc="-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that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does</a:t>
            </a:r>
            <a:r>
              <a:rPr sz="1200" u="sng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not</a:t>
            </a:r>
            <a:r>
              <a:rPr sz="1200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change</a:t>
            </a:r>
            <a:r>
              <a:rPr sz="1200" u="sng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is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64686F"/>
                </a:solidFill>
                <a:latin typeface="Comic Sans MS"/>
                <a:cs typeface="Comic Sans MS"/>
              </a:rPr>
              <a:t>known</a:t>
            </a:r>
            <a:r>
              <a:rPr sz="1200" spc="50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as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static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IP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64686F"/>
                </a:solidFill>
                <a:latin typeface="Comic Sans MS"/>
                <a:cs typeface="Comic Sans MS"/>
              </a:rPr>
              <a:t>address.</a:t>
            </a:r>
            <a:endParaRPr lang="sv-SE" sz="1200" spc="-10" dirty="0">
              <a:latin typeface="Comic Sans MS"/>
              <a:cs typeface="Comic Sans MS"/>
            </a:endParaRPr>
          </a:p>
          <a:p>
            <a:pPr marL="171450" marR="5080" indent="-171450">
              <a:lnSpc>
                <a:spcPct val="100000"/>
              </a:lnSpc>
              <a:spcBef>
                <a:spcPts val="215"/>
              </a:spcBef>
              <a:buFont typeface="Arial" panose="020B0604020202020204" pitchFamily="34" charset="0"/>
              <a:buChar char="•"/>
              <a:tabLst>
                <a:tab pos="44450" algn="l"/>
                <a:tab pos="46355" algn="l"/>
              </a:tabLst>
            </a:pP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The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majority of</a:t>
            </a:r>
            <a:r>
              <a:rPr sz="1200" spc="2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users</a:t>
            </a:r>
            <a:r>
              <a:rPr sz="1200" spc="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do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not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require</a:t>
            </a:r>
            <a:r>
              <a:rPr sz="1200" spc="-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64686F"/>
                </a:solidFill>
                <a:latin typeface="Comic Sans MS"/>
                <a:cs typeface="Comic Sans MS"/>
              </a:rPr>
              <a:t>static</a:t>
            </a:r>
            <a:r>
              <a:rPr sz="1200" spc="50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IP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addresses. (it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is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64686F"/>
                </a:solidFill>
                <a:latin typeface="Comic Sans MS"/>
                <a:cs typeface="Comic Sans MS"/>
              </a:rPr>
              <a:t>expensive)</a:t>
            </a:r>
            <a:endParaRPr sz="1200" dirty="0">
              <a:latin typeface="Comic Sans MS"/>
              <a:cs typeface="Comic Sans MS"/>
            </a:endParaRPr>
          </a:p>
        </p:txBody>
      </p:sp>
      <p:grpSp>
        <p:nvGrpSpPr>
          <p:cNvPr id="99" name="object 19"/>
          <p:cNvGrpSpPr/>
          <p:nvPr/>
        </p:nvGrpSpPr>
        <p:grpSpPr>
          <a:xfrm>
            <a:off x="836722" y="4530826"/>
            <a:ext cx="11750081" cy="2094939"/>
            <a:chOff x="678180" y="2197607"/>
            <a:chExt cx="2942590" cy="540385"/>
          </a:xfrm>
        </p:grpSpPr>
        <p:pic>
          <p:nvPicPr>
            <p:cNvPr id="114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2950" y="2256535"/>
              <a:ext cx="447294" cy="420370"/>
            </a:xfrm>
            <a:prstGeom prst="rect">
              <a:avLst/>
            </a:prstGeom>
          </p:spPr>
        </p:pic>
        <p:pic>
          <p:nvPicPr>
            <p:cNvPr id="115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8180" y="2197607"/>
              <a:ext cx="573786" cy="540257"/>
            </a:xfrm>
            <a:prstGeom prst="rect">
              <a:avLst/>
            </a:prstGeom>
          </p:spPr>
        </p:pic>
        <p:pic>
          <p:nvPicPr>
            <p:cNvPr id="116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17975" y="2273045"/>
              <a:ext cx="762" cy="2285"/>
            </a:xfrm>
            <a:prstGeom prst="rect">
              <a:avLst/>
            </a:prstGeom>
          </p:spPr>
        </p:pic>
        <p:pic>
          <p:nvPicPr>
            <p:cNvPr id="117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11118" y="2657093"/>
              <a:ext cx="7620" cy="14477"/>
            </a:xfrm>
            <a:prstGeom prst="rect">
              <a:avLst/>
            </a:prstGeom>
          </p:spPr>
        </p:pic>
        <p:sp>
          <p:nvSpPr>
            <p:cNvPr id="118" name="object 24"/>
            <p:cNvSpPr/>
            <p:nvPr/>
          </p:nvSpPr>
          <p:spPr>
            <a:xfrm>
              <a:off x="2627375" y="2255519"/>
              <a:ext cx="991869" cy="421640"/>
            </a:xfrm>
            <a:custGeom>
              <a:avLst/>
              <a:gdLst/>
              <a:ahLst/>
              <a:cxnLst/>
              <a:rect l="l" t="t" r="r" b="b"/>
              <a:pathLst>
                <a:path w="991870" h="421639">
                  <a:moveTo>
                    <a:pt x="22859" y="0"/>
                  </a:moveTo>
                  <a:lnTo>
                    <a:pt x="968501" y="0"/>
                  </a:lnTo>
                </a:path>
                <a:path w="991870" h="421639">
                  <a:moveTo>
                    <a:pt x="968502" y="421381"/>
                  </a:moveTo>
                  <a:lnTo>
                    <a:pt x="22860" y="421386"/>
                  </a:lnTo>
                  <a:lnTo>
                    <a:pt x="18904" y="420625"/>
                  </a:lnTo>
                </a:path>
                <a:path w="991870" h="421639">
                  <a:moveTo>
                    <a:pt x="15653" y="419999"/>
                  </a:moveTo>
                  <a:lnTo>
                    <a:pt x="13823" y="419647"/>
                  </a:lnTo>
                  <a:lnTo>
                    <a:pt x="12963" y="419085"/>
                  </a:lnTo>
                  <a:lnTo>
                    <a:pt x="10604" y="417544"/>
                  </a:lnTo>
                </a:path>
                <a:path w="991870" h="421639">
                  <a:moveTo>
                    <a:pt x="8496" y="416166"/>
                  </a:moveTo>
                  <a:lnTo>
                    <a:pt x="6572" y="414908"/>
                  </a:lnTo>
                  <a:lnTo>
                    <a:pt x="4687" y="412162"/>
                  </a:lnTo>
                </a:path>
                <a:path w="991870" h="421639">
                  <a:moveTo>
                    <a:pt x="3048" y="409774"/>
                  </a:moveTo>
                  <a:lnTo>
                    <a:pt x="2649" y="409194"/>
                  </a:lnTo>
                </a:path>
                <a:path w="991870" h="421639">
                  <a:moveTo>
                    <a:pt x="2286" y="408664"/>
                  </a:moveTo>
                  <a:lnTo>
                    <a:pt x="1750" y="407884"/>
                  </a:lnTo>
                  <a:lnTo>
                    <a:pt x="1706" y="407670"/>
                  </a:lnTo>
                </a:path>
                <a:path w="991870" h="421639">
                  <a:moveTo>
                    <a:pt x="1524" y="406773"/>
                  </a:moveTo>
                  <a:lnTo>
                    <a:pt x="1241" y="405383"/>
                  </a:lnTo>
                </a:path>
                <a:path w="991870" h="421639">
                  <a:moveTo>
                    <a:pt x="762" y="403030"/>
                  </a:moveTo>
                  <a:lnTo>
                    <a:pt x="465" y="401574"/>
                  </a:lnTo>
                </a:path>
                <a:path w="991870" h="421639">
                  <a:moveTo>
                    <a:pt x="0" y="399288"/>
                  </a:moveTo>
                  <a:lnTo>
                    <a:pt x="0" y="22097"/>
                  </a:lnTo>
                </a:path>
                <a:path w="991870" h="421639">
                  <a:moveTo>
                    <a:pt x="988313" y="11829"/>
                  </a:moveTo>
                  <a:lnTo>
                    <a:pt x="988572" y="12191"/>
                  </a:lnTo>
                </a:path>
                <a:path w="991870" h="421639">
                  <a:moveTo>
                    <a:pt x="989076" y="12899"/>
                  </a:moveTo>
                  <a:lnTo>
                    <a:pt x="989504" y="13501"/>
                  </a:lnTo>
                  <a:lnTo>
                    <a:pt x="989550" y="13715"/>
                  </a:lnTo>
                </a:path>
                <a:path w="991870" h="421639">
                  <a:moveTo>
                    <a:pt x="989838" y="15044"/>
                  </a:moveTo>
                  <a:lnTo>
                    <a:pt x="990044" y="16001"/>
                  </a:lnTo>
                </a:path>
                <a:path w="991870" h="421639">
                  <a:moveTo>
                    <a:pt x="990600" y="18571"/>
                  </a:moveTo>
                  <a:lnTo>
                    <a:pt x="990868" y="19811"/>
                  </a:lnTo>
                </a:path>
                <a:path w="991870" h="421639">
                  <a:moveTo>
                    <a:pt x="991357" y="22097"/>
                  </a:moveTo>
                  <a:lnTo>
                    <a:pt x="991362" y="399288"/>
                  </a:lnTo>
                  <a:lnTo>
                    <a:pt x="989504" y="407884"/>
                  </a:lnTo>
                  <a:lnTo>
                    <a:pt x="987509" y="410687"/>
                  </a:lnTo>
                  <a:lnTo>
                    <a:pt x="986892" y="411553"/>
                  </a:lnTo>
                  <a:lnTo>
                    <a:pt x="985916" y="412924"/>
                  </a:lnTo>
                  <a:lnTo>
                    <a:pt x="984503" y="414908"/>
                  </a:lnTo>
                  <a:lnTo>
                    <a:pt x="983260" y="415717"/>
                  </a:lnTo>
                </a:path>
                <a:path w="991870" h="421639">
                  <a:moveTo>
                    <a:pt x="977693" y="419338"/>
                  </a:moveTo>
                  <a:lnTo>
                    <a:pt x="977217" y="419647"/>
                  </a:lnTo>
                  <a:lnTo>
                    <a:pt x="976090" y="419872"/>
                  </a:lnTo>
                </a:path>
              </a:pathLst>
            </a:custGeom>
            <a:ln w="331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27375" y="2255519"/>
              <a:ext cx="991362" cy="421385"/>
            </a:xfrm>
            <a:prstGeom prst="rect">
              <a:avLst/>
            </a:prstGeom>
          </p:spPr>
        </p:pic>
        <p:sp>
          <p:nvSpPr>
            <p:cNvPr id="120" name="object 26"/>
            <p:cNvSpPr/>
            <p:nvPr/>
          </p:nvSpPr>
          <p:spPr>
            <a:xfrm>
              <a:off x="2627375" y="2255519"/>
              <a:ext cx="991869" cy="421640"/>
            </a:xfrm>
            <a:custGeom>
              <a:avLst/>
              <a:gdLst/>
              <a:ahLst/>
              <a:cxnLst/>
              <a:rect l="l" t="t" r="r" b="b"/>
              <a:pathLst>
                <a:path w="991870" h="421639">
                  <a:moveTo>
                    <a:pt x="0" y="22098"/>
                  </a:moveTo>
                  <a:lnTo>
                    <a:pt x="1750" y="13501"/>
                  </a:lnTo>
                  <a:lnTo>
                    <a:pt x="6572" y="6477"/>
                  </a:lnTo>
                  <a:lnTo>
                    <a:pt x="13823" y="1738"/>
                  </a:lnTo>
                  <a:lnTo>
                    <a:pt x="22860" y="0"/>
                  </a:lnTo>
                  <a:lnTo>
                    <a:pt x="968502" y="0"/>
                  </a:lnTo>
                  <a:lnTo>
                    <a:pt x="977217" y="1738"/>
                  </a:lnTo>
                  <a:lnTo>
                    <a:pt x="984504" y="6477"/>
                  </a:lnTo>
                  <a:lnTo>
                    <a:pt x="989504" y="13501"/>
                  </a:lnTo>
                  <a:lnTo>
                    <a:pt x="991362" y="22098"/>
                  </a:lnTo>
                  <a:lnTo>
                    <a:pt x="991362" y="399288"/>
                  </a:lnTo>
                  <a:lnTo>
                    <a:pt x="989504" y="407884"/>
                  </a:lnTo>
                  <a:lnTo>
                    <a:pt x="984504" y="414909"/>
                  </a:lnTo>
                  <a:lnTo>
                    <a:pt x="977217" y="419647"/>
                  </a:lnTo>
                  <a:lnTo>
                    <a:pt x="968502" y="421386"/>
                  </a:lnTo>
                  <a:lnTo>
                    <a:pt x="22860" y="421386"/>
                  </a:lnTo>
                  <a:lnTo>
                    <a:pt x="13823" y="419647"/>
                  </a:lnTo>
                  <a:lnTo>
                    <a:pt x="6572" y="414909"/>
                  </a:lnTo>
                  <a:lnTo>
                    <a:pt x="1750" y="407884"/>
                  </a:lnTo>
                  <a:lnTo>
                    <a:pt x="0" y="399288"/>
                  </a:lnTo>
                  <a:lnTo>
                    <a:pt x="0" y="22098"/>
                  </a:lnTo>
                  <a:close/>
                </a:path>
              </a:pathLst>
            </a:custGeom>
            <a:ln w="331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27"/>
          <p:cNvSpPr txBox="1"/>
          <p:nvPr/>
        </p:nvSpPr>
        <p:spPr>
          <a:xfrm>
            <a:off x="9475086" y="5019436"/>
            <a:ext cx="2756223" cy="114839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200" b="1" spc="-10" dirty="0">
                <a:solidFill>
                  <a:srgbClr val="B4C7E7"/>
                </a:solidFill>
                <a:latin typeface="Comic Sans MS"/>
                <a:cs typeface="Comic Sans MS"/>
              </a:rPr>
              <a:t>Dynamic</a:t>
            </a:r>
            <a:endParaRPr sz="1200" dirty="0">
              <a:latin typeface="Comic Sans MS"/>
              <a:cs typeface="Comic Sans MS"/>
            </a:endParaRPr>
          </a:p>
          <a:p>
            <a:pPr marR="5080" algn="just">
              <a:lnSpc>
                <a:spcPct val="100000"/>
              </a:lnSpc>
              <a:spcBef>
                <a:spcPts val="220"/>
              </a:spcBef>
            </a:pP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dynamic</a:t>
            </a:r>
            <a:r>
              <a:rPr sz="1200" spc="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IP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address </a:t>
            </a:r>
            <a:r>
              <a:rPr sz="1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changes</a:t>
            </a:r>
            <a:r>
              <a:rPr sz="1200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from</a:t>
            </a:r>
            <a:r>
              <a:rPr sz="1200" u="sng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time</a:t>
            </a:r>
            <a:r>
              <a:rPr sz="1200" u="sng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200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to</a:t>
            </a:r>
            <a:r>
              <a:rPr sz="1200" spc="50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time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.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Because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it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FF0000"/>
                </a:solidFill>
                <a:latin typeface="Comic Sans MS"/>
                <a:cs typeface="Comic Sans MS"/>
              </a:rPr>
              <a:t>is</a:t>
            </a:r>
            <a:r>
              <a:rPr sz="1200" spc="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more</a:t>
            </a:r>
            <a:r>
              <a:rPr sz="1200" u="sng" spc="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cost-effective</a:t>
            </a:r>
            <a:r>
              <a:rPr sz="1200" u="sng" spc="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200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for</a:t>
            </a:r>
            <a:r>
              <a:rPr lang="sv-SE" sz="1200" u="sng" spc="5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Internet</a:t>
            </a:r>
            <a:r>
              <a:rPr sz="1200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Service</a:t>
            </a:r>
            <a:r>
              <a:rPr sz="1200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Providers</a:t>
            </a:r>
            <a:r>
              <a:rPr sz="1200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(ISPs)</a:t>
            </a:r>
            <a:r>
              <a:rPr sz="1200" spc="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to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64686F"/>
                </a:solidFill>
                <a:latin typeface="Comic Sans MS"/>
                <a:cs typeface="Comic Sans MS"/>
              </a:rPr>
              <a:t>assign</a:t>
            </a:r>
            <a:r>
              <a:rPr sz="1200" spc="50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dynamic</a:t>
            </a:r>
            <a:r>
              <a:rPr sz="1200" spc="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IP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addresses to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their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64686F"/>
                </a:solidFill>
                <a:latin typeface="Comic Sans MS"/>
                <a:cs typeface="Comic Sans MS"/>
              </a:rPr>
              <a:t>clients,</a:t>
            </a:r>
            <a:endParaRPr sz="1200" dirty="0">
              <a:latin typeface="Comic Sans MS"/>
              <a:cs typeface="Comic Sans MS"/>
            </a:endParaRPr>
          </a:p>
        </p:txBody>
      </p:sp>
      <p:grpSp>
        <p:nvGrpSpPr>
          <p:cNvPr id="101" name="object 28"/>
          <p:cNvGrpSpPr/>
          <p:nvPr/>
        </p:nvGrpSpPr>
        <p:grpSpPr>
          <a:xfrm>
            <a:off x="2578696" y="2505804"/>
            <a:ext cx="6590083" cy="4120950"/>
            <a:chOff x="1114425" y="1675257"/>
            <a:chExt cx="1650364" cy="1062990"/>
          </a:xfrm>
        </p:grpSpPr>
        <p:pic>
          <p:nvPicPr>
            <p:cNvPr id="107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53996" y="2251964"/>
              <a:ext cx="447294" cy="420370"/>
            </a:xfrm>
            <a:prstGeom prst="rect">
              <a:avLst/>
            </a:prstGeom>
          </p:spPr>
        </p:pic>
        <p:pic>
          <p:nvPicPr>
            <p:cNvPr id="108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86940" y="2197608"/>
              <a:ext cx="577595" cy="540257"/>
            </a:xfrm>
            <a:prstGeom prst="rect">
              <a:avLst/>
            </a:prstGeom>
          </p:spPr>
        </p:pic>
        <p:pic>
          <p:nvPicPr>
            <p:cNvPr id="109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85594" y="2091690"/>
              <a:ext cx="16001" cy="7619"/>
            </a:xfrm>
            <a:prstGeom prst="rect">
              <a:avLst/>
            </a:prstGeom>
          </p:spPr>
        </p:pic>
        <p:pic>
          <p:nvPicPr>
            <p:cNvPr id="110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33856" y="2098548"/>
              <a:ext cx="3809" cy="761"/>
            </a:xfrm>
            <a:prstGeom prst="rect">
              <a:avLst/>
            </a:prstGeom>
          </p:spPr>
        </p:pic>
        <p:sp>
          <p:nvSpPr>
            <p:cNvPr id="111" name="object 33"/>
            <p:cNvSpPr/>
            <p:nvPr/>
          </p:nvSpPr>
          <p:spPr>
            <a:xfrm>
              <a:off x="1116330" y="1677162"/>
              <a:ext cx="990600" cy="422275"/>
            </a:xfrm>
            <a:custGeom>
              <a:avLst/>
              <a:gdLst/>
              <a:ahLst/>
              <a:cxnLst/>
              <a:rect l="l" t="t" r="r" b="b"/>
              <a:pathLst>
                <a:path w="990600" h="422275">
                  <a:moveTo>
                    <a:pt x="22097" y="0"/>
                  </a:moveTo>
                  <a:lnTo>
                    <a:pt x="968502" y="0"/>
                  </a:lnTo>
                </a:path>
                <a:path w="990600" h="422275">
                  <a:moveTo>
                    <a:pt x="968502" y="422147"/>
                  </a:moveTo>
                  <a:lnTo>
                    <a:pt x="22097" y="422148"/>
                  </a:lnTo>
                  <a:lnTo>
                    <a:pt x="17886" y="421237"/>
                  </a:lnTo>
                </a:path>
                <a:path w="990600" h="422275">
                  <a:moveTo>
                    <a:pt x="8386" y="416693"/>
                  </a:moveTo>
                  <a:lnTo>
                    <a:pt x="6477" y="415290"/>
                  </a:lnTo>
                  <a:lnTo>
                    <a:pt x="5440" y="413696"/>
                  </a:lnTo>
                </a:path>
                <a:path w="990600" h="422275">
                  <a:moveTo>
                    <a:pt x="2285" y="408845"/>
                  </a:moveTo>
                  <a:lnTo>
                    <a:pt x="2017" y="408432"/>
                  </a:lnTo>
                </a:path>
                <a:path w="990600" h="422275">
                  <a:moveTo>
                    <a:pt x="1523" y="406928"/>
                  </a:moveTo>
                  <a:lnTo>
                    <a:pt x="1367" y="406146"/>
                  </a:lnTo>
                </a:path>
                <a:path w="990600" h="422275">
                  <a:moveTo>
                    <a:pt x="0" y="399288"/>
                  </a:moveTo>
                  <a:lnTo>
                    <a:pt x="0" y="22860"/>
                  </a:lnTo>
                </a:path>
                <a:path w="990600" h="422275">
                  <a:moveTo>
                    <a:pt x="987551" y="11785"/>
                  </a:moveTo>
                  <a:lnTo>
                    <a:pt x="987813" y="12192"/>
                  </a:lnTo>
                </a:path>
                <a:path w="990600" h="422275">
                  <a:moveTo>
                    <a:pt x="988313" y="12971"/>
                  </a:moveTo>
                  <a:lnTo>
                    <a:pt x="988861" y="13716"/>
                  </a:lnTo>
                </a:path>
                <a:path w="990600" h="422275">
                  <a:moveTo>
                    <a:pt x="990590" y="22859"/>
                  </a:moveTo>
                  <a:lnTo>
                    <a:pt x="990600" y="399288"/>
                  </a:lnTo>
                  <a:lnTo>
                    <a:pt x="989839" y="403100"/>
                  </a:lnTo>
                </a:path>
                <a:path w="990600" h="422275">
                  <a:moveTo>
                    <a:pt x="977085" y="420191"/>
                  </a:moveTo>
                  <a:lnTo>
                    <a:pt x="969263" y="421974"/>
                  </a:lnTo>
                </a:path>
              </a:pathLst>
            </a:custGeom>
            <a:ln w="331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16330" y="1677162"/>
              <a:ext cx="990600" cy="422148"/>
            </a:xfrm>
            <a:prstGeom prst="rect">
              <a:avLst/>
            </a:prstGeom>
          </p:spPr>
        </p:pic>
        <p:sp>
          <p:nvSpPr>
            <p:cNvPr id="113" name="object 35"/>
            <p:cNvSpPr/>
            <p:nvPr/>
          </p:nvSpPr>
          <p:spPr>
            <a:xfrm>
              <a:off x="1116330" y="1677162"/>
              <a:ext cx="990600" cy="422275"/>
            </a:xfrm>
            <a:custGeom>
              <a:avLst/>
              <a:gdLst/>
              <a:ahLst/>
              <a:cxnLst/>
              <a:rect l="l" t="t" r="r" b="b"/>
              <a:pathLst>
                <a:path w="990600" h="422275">
                  <a:moveTo>
                    <a:pt x="0" y="22859"/>
                  </a:moveTo>
                  <a:lnTo>
                    <a:pt x="1738" y="13823"/>
                  </a:lnTo>
                  <a:lnTo>
                    <a:pt x="6477" y="6572"/>
                  </a:lnTo>
                  <a:lnTo>
                    <a:pt x="13501" y="1750"/>
                  </a:lnTo>
                  <a:lnTo>
                    <a:pt x="22098" y="0"/>
                  </a:lnTo>
                  <a:lnTo>
                    <a:pt x="968502" y="0"/>
                  </a:lnTo>
                  <a:lnTo>
                    <a:pt x="977098" y="1750"/>
                  </a:lnTo>
                  <a:lnTo>
                    <a:pt x="984122" y="6572"/>
                  </a:lnTo>
                  <a:lnTo>
                    <a:pt x="988861" y="13823"/>
                  </a:lnTo>
                  <a:lnTo>
                    <a:pt x="990600" y="22859"/>
                  </a:lnTo>
                  <a:lnTo>
                    <a:pt x="990600" y="399287"/>
                  </a:lnTo>
                  <a:lnTo>
                    <a:pt x="988861" y="408003"/>
                  </a:lnTo>
                  <a:lnTo>
                    <a:pt x="984122" y="415289"/>
                  </a:lnTo>
                  <a:lnTo>
                    <a:pt x="977098" y="420290"/>
                  </a:lnTo>
                  <a:lnTo>
                    <a:pt x="968502" y="422147"/>
                  </a:lnTo>
                  <a:lnTo>
                    <a:pt x="22098" y="422147"/>
                  </a:lnTo>
                  <a:lnTo>
                    <a:pt x="13501" y="420290"/>
                  </a:lnTo>
                  <a:lnTo>
                    <a:pt x="6476" y="415289"/>
                  </a:lnTo>
                  <a:lnTo>
                    <a:pt x="1738" y="408003"/>
                  </a:lnTo>
                  <a:lnTo>
                    <a:pt x="0" y="399287"/>
                  </a:lnTo>
                  <a:lnTo>
                    <a:pt x="0" y="22859"/>
                  </a:lnTo>
                  <a:close/>
                </a:path>
              </a:pathLst>
            </a:custGeom>
            <a:ln w="331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36"/>
          <p:cNvSpPr txBox="1"/>
          <p:nvPr/>
        </p:nvSpPr>
        <p:spPr>
          <a:xfrm>
            <a:off x="3438269" y="2656168"/>
            <a:ext cx="2860184" cy="117403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200" b="1" spc="-10" dirty="0">
                <a:solidFill>
                  <a:srgbClr val="4371C4"/>
                </a:solidFill>
                <a:latin typeface="Comic Sans MS"/>
                <a:cs typeface="Comic Sans MS"/>
              </a:rPr>
              <a:t>Public</a:t>
            </a:r>
            <a:endParaRPr sz="1200" dirty="0">
              <a:latin typeface="Comic Sans MS"/>
              <a:cs typeface="Comic Sans MS"/>
            </a:endParaRPr>
          </a:p>
          <a:p>
            <a:pPr marL="171450" marR="59690" indent="-171450">
              <a:lnSpc>
                <a:spcPct val="100000"/>
              </a:lnSpc>
              <a:spcBef>
                <a:spcPts val="220"/>
              </a:spcBef>
              <a:buFont typeface="Arial" panose="020B0604020202020204" pitchFamily="34" charset="0"/>
              <a:buChar char="•"/>
              <a:tabLst>
                <a:tab pos="44450" algn="l"/>
                <a:tab pos="46355" algn="l"/>
              </a:tabLst>
            </a:pP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IP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which</a:t>
            </a:r>
            <a:r>
              <a:rPr sz="1200" spc="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can</a:t>
            </a:r>
            <a:r>
              <a:rPr sz="1200" spc="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be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seen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on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the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internet</a:t>
            </a:r>
            <a:r>
              <a:rPr sz="1200" spc="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25" dirty="0">
                <a:solidFill>
                  <a:srgbClr val="64686F"/>
                </a:solidFill>
                <a:latin typeface="Comic Sans MS"/>
                <a:cs typeface="Comic Sans MS"/>
              </a:rPr>
              <a:t>is</a:t>
            </a:r>
            <a:r>
              <a:rPr sz="1200" spc="50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64686F"/>
                </a:solidFill>
                <a:latin typeface="Comic Sans MS"/>
                <a:cs typeface="Comic Sans MS"/>
              </a:rPr>
              <a:t>public</a:t>
            </a:r>
            <a:r>
              <a:rPr sz="1200" spc="-10" dirty="0">
                <a:solidFill>
                  <a:srgbClr val="3F3F3F"/>
                </a:solidFill>
                <a:latin typeface="Comic Sans MS"/>
                <a:cs typeface="Comic Sans MS"/>
              </a:rPr>
              <a:t>.</a:t>
            </a:r>
            <a:endParaRPr lang="sv-SE" sz="1200" spc="-10" dirty="0">
              <a:latin typeface="Comic Sans MS"/>
              <a:cs typeface="Comic Sans MS"/>
            </a:endParaRPr>
          </a:p>
          <a:p>
            <a:pPr marL="171450" marR="59690" indent="-171450">
              <a:lnSpc>
                <a:spcPct val="100000"/>
              </a:lnSpc>
              <a:spcBef>
                <a:spcPts val="220"/>
              </a:spcBef>
              <a:buFont typeface="Arial" panose="020B0604020202020204" pitchFamily="34" charset="0"/>
              <a:buChar char="•"/>
              <a:tabLst>
                <a:tab pos="44450" algn="l"/>
                <a:tab pos="46355" algn="l"/>
              </a:tabLst>
            </a:pP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The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IP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address</a:t>
            </a:r>
            <a:r>
              <a:rPr sz="1200" spc="-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assigned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to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the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64686F"/>
                </a:solidFill>
                <a:latin typeface="Comic Sans MS"/>
                <a:cs typeface="Comic Sans MS"/>
              </a:rPr>
              <a:t>home's</a:t>
            </a:r>
            <a:r>
              <a:rPr sz="1200" spc="50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network</a:t>
            </a:r>
            <a:r>
              <a:rPr sz="1200" spc="-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by</a:t>
            </a:r>
            <a:r>
              <a:rPr sz="1200" spc="1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the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ISP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is</a:t>
            </a:r>
            <a:r>
              <a:rPr sz="1200" spc="2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known</a:t>
            </a:r>
            <a:r>
              <a:rPr sz="1200" spc="1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as</a:t>
            </a:r>
            <a:r>
              <a:rPr sz="1200" spc="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a</a:t>
            </a:r>
            <a:r>
              <a:rPr sz="1200" spc="2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64686F"/>
                </a:solidFill>
                <a:latin typeface="Comic Sans MS"/>
                <a:cs typeface="Comic Sans MS"/>
              </a:rPr>
              <a:t>public</a:t>
            </a:r>
            <a:r>
              <a:rPr sz="1200" spc="5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25" dirty="0">
                <a:solidFill>
                  <a:srgbClr val="64686F"/>
                </a:solidFill>
                <a:latin typeface="Comic Sans MS"/>
                <a:cs typeface="Comic Sans MS"/>
              </a:rPr>
              <a:t>IP</a:t>
            </a:r>
            <a:r>
              <a:rPr sz="1200" spc="500" dirty="0">
                <a:solidFill>
                  <a:srgbClr val="64686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64686F"/>
                </a:solidFill>
                <a:latin typeface="Comic Sans MS"/>
                <a:cs typeface="Comic Sans MS"/>
              </a:rPr>
              <a:t>address.</a:t>
            </a:r>
            <a:endParaRPr sz="1200" dirty="0">
              <a:latin typeface="Comic Sans MS"/>
              <a:cs typeface="Comic Sans MS"/>
            </a:endParaRPr>
          </a:p>
        </p:txBody>
      </p:sp>
      <p:pic>
        <p:nvPicPr>
          <p:cNvPr id="104" name="object 3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95352" y="2520082"/>
            <a:ext cx="1786094" cy="1629671"/>
          </a:xfrm>
          <a:prstGeom prst="rect">
            <a:avLst/>
          </a:prstGeom>
        </p:spPr>
      </p:pic>
      <p:pic>
        <p:nvPicPr>
          <p:cNvPr id="105" name="object 3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36718" y="2273908"/>
            <a:ext cx="2291190" cy="2112168"/>
          </a:xfrm>
          <a:prstGeom prst="rect">
            <a:avLst/>
          </a:prstGeom>
        </p:spPr>
      </p:pic>
      <p:sp>
        <p:nvSpPr>
          <p:cNvPr id="2" name="object 6">
            <a:extLst>
              <a:ext uri="{FF2B5EF4-FFF2-40B4-BE49-F238E27FC236}">
                <a16:creationId xmlns:a16="http://schemas.microsoft.com/office/drawing/2014/main" id="{DEF07A32-B40D-B3C1-3D25-35C78958EE36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1081392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305"/>
              </a:spcBef>
            </a:pPr>
            <a:r>
              <a:rPr lang="en-GB" sz="4400" dirty="0">
                <a:latin typeface="Comic Sans MS"/>
                <a:cs typeface="Comic Sans MS"/>
              </a:rPr>
              <a:t>Types</a:t>
            </a:r>
            <a:r>
              <a:rPr lang="en-GB" sz="4400" spc="-15" dirty="0">
                <a:latin typeface="Comic Sans MS"/>
                <a:cs typeface="Comic Sans MS"/>
              </a:rPr>
              <a:t> </a:t>
            </a:r>
            <a:r>
              <a:rPr lang="en-GB" sz="4400" dirty="0">
                <a:latin typeface="Comic Sans MS"/>
                <a:cs typeface="Comic Sans MS"/>
              </a:rPr>
              <a:t>of</a:t>
            </a:r>
            <a:r>
              <a:rPr lang="en-GB" sz="4400" spc="-10" dirty="0">
                <a:latin typeface="Comic Sans MS"/>
                <a:cs typeface="Comic Sans MS"/>
              </a:rPr>
              <a:t> </a:t>
            </a:r>
            <a:r>
              <a:rPr lang="en-GB" sz="4400" dirty="0">
                <a:latin typeface="Comic Sans MS"/>
                <a:cs typeface="Comic Sans MS"/>
              </a:rPr>
              <a:t>IP</a:t>
            </a:r>
            <a:r>
              <a:rPr lang="en-GB" sz="4400" spc="-10" dirty="0">
                <a:latin typeface="Comic Sans MS"/>
                <a:cs typeface="Comic Sans MS"/>
              </a:rPr>
              <a:t> Addresses:</a:t>
            </a:r>
            <a:endParaRPr lang="en-GB" sz="4400" dirty="0">
              <a:latin typeface="Comic Sans MS"/>
              <a:cs typeface="Comic Sans MS"/>
            </a:endParaRPr>
          </a:p>
          <a:p>
            <a:pPr marL="19050">
              <a:lnSpc>
                <a:spcPct val="100000"/>
              </a:lnSpc>
              <a:spcBef>
                <a:spcPts val="114"/>
              </a:spcBef>
            </a:pPr>
            <a:r>
              <a:rPr lang="en-GB" sz="2400" dirty="0">
                <a:latin typeface="Comic Sans MS"/>
                <a:cs typeface="Comic Sans MS"/>
              </a:rPr>
              <a:t>Four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Types: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686371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1C9F7-9A4E-8ADE-F459-033126BEC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CE45E633-EF1D-AC3E-DD90-76886F3C5885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721197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197</Words>
  <Application>Microsoft Office PowerPoint</Application>
  <PresentationFormat>Custom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17</cp:revision>
  <dcterms:created xsi:type="dcterms:W3CDTF">2025-12-09T17:44:59Z</dcterms:created>
  <dcterms:modified xsi:type="dcterms:W3CDTF">2026-01-16T19:35:13Z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