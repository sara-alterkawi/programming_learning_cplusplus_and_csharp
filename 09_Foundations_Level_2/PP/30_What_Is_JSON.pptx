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7" r:id="rId4"/>
    <p:sldId id="324" r:id="rId5"/>
    <p:sldId id="316" r:id="rId6"/>
    <p:sldId id="323" r:id="rId7"/>
    <p:sldId id="322" r:id="rId8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JSON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en-GB" sz="4000" b="1">
                <a:solidFill>
                  <a:srgbClr val="FFCE53"/>
                </a:solidFill>
                <a:latin typeface="Comic Sans MS"/>
              </a:rPr>
              <a:t>JavaScript Object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en-GB" sz="4000" b="1">
                <a:solidFill>
                  <a:srgbClr val="FFCE53"/>
                </a:solidFill>
                <a:latin typeface="Comic Sans MS"/>
              </a:rPr>
              <a:t>Notation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03FA-1940-B977-719A-58CC3AF5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90D41E70-3125-A538-7A8C-F4B03E2510C8}"/>
              </a:ext>
            </a:extLst>
          </p:cNvPr>
          <p:cNvSpPr txBox="1"/>
          <p:nvPr/>
        </p:nvSpPr>
        <p:spPr>
          <a:xfrm>
            <a:off x="391224" y="1026884"/>
            <a:ext cx="7685976" cy="8518347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JSON?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 err="1">
                <a:solidFill>
                  <a:srgbClr val="FF0000"/>
                </a:solidFill>
                <a:latin typeface="Comic Sans MS"/>
                <a:cs typeface="Comic Sans MS"/>
              </a:rPr>
              <a:t>J</a:t>
            </a:r>
            <a:r>
              <a:rPr lang="en-GB" sz="2400" dirty="0" err="1">
                <a:solidFill>
                  <a:schemeClr val="tx1"/>
                </a:solidFill>
                <a:latin typeface="Comic Sans MS"/>
                <a:cs typeface="Comic Sans MS"/>
              </a:rPr>
              <a:t>ava</a:t>
            </a:r>
            <a:r>
              <a:rPr lang="en-GB" sz="2400" dirty="0" err="1">
                <a:solidFill>
                  <a:srgbClr val="FF0000"/>
                </a:solidFill>
                <a:latin typeface="Comic Sans MS"/>
                <a:cs typeface="Comic Sans MS"/>
              </a:rPr>
              <a:t>S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 err="1">
                <a:solidFill>
                  <a:schemeClr val="tx1"/>
                </a:solidFill>
                <a:latin typeface="Comic Sans MS"/>
                <a:cs typeface="Comic Sans MS"/>
              </a:rPr>
              <a:t>cript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O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bject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N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otation (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JSON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) is a lightweight data-interchange format. It is easy for humans to read and write. It is easy for machines to parse and generate.</a:t>
            </a: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is a lightweight data-interchange format.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is used to send data between computers.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is a text format.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for storing and transporting data.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is "self-describing" and easy to understand.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is language independent.</a:t>
            </a:r>
          </a:p>
        </p:txBody>
      </p:sp>
      <p:pic>
        <p:nvPicPr>
          <p:cNvPr id="3" name="object 12">
            <a:extLst>
              <a:ext uri="{FF2B5EF4-FFF2-40B4-BE49-F238E27FC236}">
                <a16:creationId xmlns:a16="http://schemas.microsoft.com/office/drawing/2014/main" id="{42B12641-867E-DBE8-0D7B-C961937AAC2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45554" y="2386707"/>
            <a:ext cx="4458644" cy="243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46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865D-1350-4995-9739-7054AB05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2758F898-3256-FEB0-CACA-1D9BD7C65E85}"/>
              </a:ext>
            </a:extLst>
          </p:cNvPr>
          <p:cNvSpPr txBox="1"/>
          <p:nvPr/>
        </p:nvSpPr>
        <p:spPr>
          <a:xfrm>
            <a:off x="391224" y="1026884"/>
            <a:ext cx="12791376" cy="6021125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</a:rPr>
              <a:t>JSON </a:t>
            </a:r>
            <a:r>
              <a:rPr lang="en-GB" sz="4000" b="1" dirty="0" err="1">
                <a:solidFill>
                  <a:schemeClr val="tx1"/>
                </a:solidFill>
                <a:latin typeface="Comic Sans MS"/>
              </a:rPr>
              <a:t>SimpLifies</a:t>
            </a:r>
            <a:r>
              <a:rPr lang="en-GB" sz="4000" b="1" dirty="0">
                <a:solidFill>
                  <a:schemeClr val="tx1"/>
                </a:solidFill>
                <a:latin typeface="Comic Sans MS"/>
              </a:rPr>
              <a:t> Things: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4000" b="1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simplifies data sharing.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simplifies data transport.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simplifies platform changes.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simplifies data availability.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JSON stores data in plain text format. This provides a software- and hardware-independent </a:t>
            </a:r>
            <a:r>
              <a:rPr lang="en-GB" sz="2400" dirty="0" err="1">
                <a:solidFill>
                  <a:schemeClr val="tx1"/>
                </a:solidFill>
                <a:latin typeface="Comic Sans MS"/>
              </a:rPr>
              <a:t>wayrof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 storing, transporting, and sharing data.</a:t>
            </a:r>
          </a:p>
        </p:txBody>
      </p:sp>
    </p:spTree>
    <p:extLst>
      <p:ext uri="{BB962C8B-B14F-4D97-AF65-F5344CB8AC3E}">
        <p14:creationId xmlns:p14="http://schemas.microsoft.com/office/powerpoint/2010/main" val="97579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E04DF6-26BD-F5E4-863F-9008D34C0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40" y="2429476"/>
            <a:ext cx="13365320" cy="5199448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C795FC39-7E00-09CF-9A18-9BE4938A44C1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 algn="ctr">
              <a:spcBef>
                <a:spcPts val="1216"/>
              </a:spcBef>
            </a:pPr>
            <a:r>
              <a:rPr lang="en-GB" sz="4000" b="1" dirty="0">
                <a:solidFill>
                  <a:srgbClr val="000000"/>
                </a:solidFill>
                <a:latin typeface="Comic Sans MS"/>
                <a:cs typeface="Comic Sans MS"/>
              </a:rPr>
              <a:t>XML			VS			JSON</a:t>
            </a:r>
          </a:p>
        </p:txBody>
      </p:sp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028A-50BD-7202-4882-DE83050DB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E80DA502-A177-C760-8573-29BBC3F65B15}"/>
              </a:ext>
            </a:extLst>
          </p:cNvPr>
          <p:cNvSpPr txBox="1"/>
          <p:nvPr/>
        </p:nvSpPr>
        <p:spPr>
          <a:xfrm>
            <a:off x="391224" y="1026884"/>
            <a:ext cx="7685976" cy="6533189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JSON VS XML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tx1"/>
                </a:solidFill>
                <a:latin typeface="Comic Sans MS"/>
              </a:rPr>
              <a:t>Main difference between JSON and XML: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Comic Sans MS"/>
              </a:rPr>
              <a:t>JSON 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supports numbers, strings, objects, Booleans, and arrays.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Comic Sans MS"/>
              </a:rPr>
              <a:t>XML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 supports all </a:t>
            </a:r>
            <a:r>
              <a:rPr lang="en-GB" sz="2400" dirty="0">
                <a:solidFill>
                  <a:srgbClr val="FF0000"/>
                </a:solidFill>
                <a:latin typeface="Comic Sans MS"/>
              </a:rPr>
              <a:t>JSON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 types plus extra ones (Boolean variations, dates, images, namespaces).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Comic Sans MS"/>
              </a:rPr>
              <a:t>JSON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 is smaller in size and faster to transmit.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Comic Sans MS"/>
              </a:rPr>
              <a:t>XML</a:t>
            </a:r>
            <a:r>
              <a:rPr lang="en-GB" sz="2400" dirty="0">
                <a:solidFill>
                  <a:schemeClr val="tx1"/>
                </a:solidFill>
                <a:latin typeface="Comic Sans MS"/>
              </a:rPr>
              <a:t> uses more complex tags, making files larger and harder to read.</a:t>
            </a:r>
          </a:p>
        </p:txBody>
      </p:sp>
      <p:pic>
        <p:nvPicPr>
          <p:cNvPr id="3" name="object 12">
            <a:extLst>
              <a:ext uri="{FF2B5EF4-FFF2-40B4-BE49-F238E27FC236}">
                <a16:creationId xmlns:a16="http://schemas.microsoft.com/office/drawing/2014/main" id="{40117E84-D20A-1A7F-1C22-ED9CD57BD16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45554" y="2438897"/>
            <a:ext cx="4458644" cy="233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08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ECA35CB7-2F22-6CA2-AB04-66F1FCF87FF0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</TotalTime>
  <Words>219</Words>
  <Application>Microsoft Office PowerPoint</Application>
  <PresentationFormat>Custom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71</cp:revision>
  <dcterms:created xsi:type="dcterms:W3CDTF">2025-12-09T17:44:59Z</dcterms:created>
  <dcterms:modified xsi:type="dcterms:W3CDTF">2026-01-16T19:44:33Z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