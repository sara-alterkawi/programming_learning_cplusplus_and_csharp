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99" r:id="rId3"/>
    <p:sldId id="258" r:id="rId4"/>
    <p:sldId id="272" r:id="rId5"/>
    <p:sldId id="273" r:id="rId6"/>
    <p:sldId id="274" r:id="rId7"/>
    <p:sldId id="275" r:id="rId8"/>
    <p:sldId id="257" r:id="rId9"/>
    <p:sldId id="279" r:id="rId10"/>
    <p:sldId id="265" r:id="rId11"/>
    <p:sldId id="317" r:id="rId12"/>
    <p:sldId id="267" r:id="rId13"/>
    <p:sldId id="318" r:id="rId14"/>
    <p:sldId id="319" r:id="rId15"/>
    <p:sldId id="282" r:id="rId16"/>
    <p:sldId id="297" r:id="rId1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4"/>
            <a:ext cx="9387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1021080"/>
          </a:xfrm>
          <a:custGeom>
            <a:avLst/>
            <a:gdLst/>
            <a:ahLst/>
            <a:cxnLst/>
            <a:rect l="l" t="t" r="r" b="b"/>
            <a:pathLst>
              <a:path w="7711440" h="1021079">
                <a:moveTo>
                  <a:pt x="0" y="1021079"/>
                </a:moveTo>
                <a:lnTo>
                  <a:pt x="7711440" y="1021079"/>
                </a:lnTo>
                <a:lnTo>
                  <a:pt x="7711440" y="0"/>
                </a:lnTo>
                <a:lnTo>
                  <a:pt x="0" y="0"/>
                </a:lnTo>
                <a:lnTo>
                  <a:pt x="0" y="102107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75278"/>
            <a:ext cx="6413271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75278"/>
            <a:ext cx="6413271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75278"/>
            <a:ext cx="6413271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75278"/>
            <a:ext cx="6413271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560" y="2313432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2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png"/><Relationship Id="rId9" Type="http://schemas.openxmlformats.org/officeDocument/2006/relationships/image" Target="../media/image3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is Server?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579" y="3520750"/>
            <a:ext cx="6248041" cy="3901005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BBFF2FED-FB84-07CF-E139-C0DFE79B8614}"/>
              </a:ext>
            </a:extLst>
          </p:cNvPr>
          <p:cNvSpPr txBox="1"/>
          <p:nvPr/>
        </p:nvSpPr>
        <p:spPr>
          <a:xfrm>
            <a:off x="381000" y="888075"/>
            <a:ext cx="12352767" cy="311065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/>
                <a:cs typeface="Comic Sans MS"/>
              </a:rPr>
              <a:t>What is Server?</a:t>
            </a:r>
          </a:p>
          <a:p>
            <a:pPr marL="21912">
              <a:spcBef>
                <a:spcPts val="1216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Server</a:t>
            </a:r>
            <a:r>
              <a:rPr lang="en-GB" sz="4000" b="1" dirty="0">
                <a:solidFill>
                  <a:srgbClr val="000000"/>
                </a:solidFill>
                <a:latin typeface="Comic Sans MS"/>
                <a:cs typeface="Comic Sans MS"/>
              </a:rPr>
              <a:t>:</a:t>
            </a:r>
          </a:p>
          <a:p>
            <a:pPr marL="21912">
              <a:spcBef>
                <a:spcPts val="1216"/>
              </a:spcBef>
            </a:pPr>
            <a:r>
              <a:rPr lang="en-GB" sz="2400" dirty="0">
                <a:solidFill>
                  <a:srgbClr val="000000"/>
                </a:solidFill>
                <a:latin typeface="Comic Sans MS"/>
                <a:cs typeface="Comic Sans MS"/>
              </a:rPr>
              <a:t>is a type of computer that shares information with other computers.</a:t>
            </a:r>
          </a:p>
          <a:p>
            <a:pPr marL="21912">
              <a:spcBef>
                <a:spcPts val="1216"/>
              </a:spcBef>
            </a:pPr>
            <a:r>
              <a:rPr lang="en-GB" sz="2400" dirty="0">
                <a:solidFill>
                  <a:srgbClr val="000000"/>
                </a:solidFill>
                <a:latin typeface="Comic Sans MS"/>
                <a:cs typeface="Comic Sans MS"/>
              </a:rPr>
              <a:t>The ultimate function of a server is to receive, store, process, and share data.</a:t>
            </a:r>
          </a:p>
          <a:p>
            <a:pPr marL="21912">
              <a:spcBef>
                <a:spcPts val="1216"/>
              </a:spcBef>
            </a:pPr>
            <a:r>
              <a:rPr lang="en-GB" sz="2400" dirty="0">
                <a:solidFill>
                  <a:srgbClr val="000000"/>
                </a:solidFill>
                <a:latin typeface="Comic Sans MS"/>
                <a:cs typeface="Comic Sans MS"/>
              </a:rPr>
              <a:t>It provides services to others.</a:t>
            </a:r>
            <a:endParaRPr sz="24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43A30F-00DE-D871-B42A-C8CB1B2B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02C8EC2C-677B-304A-CD8B-D1856A74C784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4" algn="ctr">
              <a:spcBef>
                <a:spcPts val="173"/>
              </a:spcBef>
            </a:pPr>
            <a:r>
              <a:rPr lang="en-GB" sz="4000" dirty="0">
                <a:latin typeface="Comic Sans MS"/>
                <a:cs typeface="Comic Sans MS"/>
              </a:rPr>
              <a:t>Server</a:t>
            </a:r>
            <a:r>
              <a:rPr lang="en-GB" sz="4000" spc="-121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can be</a:t>
            </a:r>
            <a:r>
              <a:rPr lang="en-GB" sz="4000" spc="-52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a</a:t>
            </a:r>
            <a:r>
              <a:rPr lang="en-GB" sz="4000" spc="-78" dirty="0">
                <a:latin typeface="Comic Sans MS"/>
                <a:cs typeface="Comic Sans MS"/>
              </a:rPr>
              <a:t> </a:t>
            </a:r>
            <a:r>
              <a:rPr lang="en-GB" sz="4000" spc="-17" dirty="0">
                <a:latin typeface="Comic Sans MS"/>
                <a:cs typeface="Comic Sans MS"/>
              </a:rPr>
              <a:t>software</a:t>
            </a:r>
            <a:endParaRPr lang="en-GB" sz="40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50526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F3DF38-0F81-75C0-7536-A1FCB8CB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5213F5DA-5FF1-AD8E-B058-46FC834CC38E}"/>
              </a:ext>
            </a:extLst>
          </p:cNvPr>
          <p:cNvSpPr txBox="1"/>
          <p:nvPr/>
        </p:nvSpPr>
        <p:spPr>
          <a:xfrm>
            <a:off x="438274" y="941415"/>
            <a:ext cx="7327950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sz="4000" dirty="0">
                <a:latin typeface="Comic Sans MS"/>
                <a:cs typeface="Comic Sans MS"/>
              </a:rPr>
              <a:t>Your</a:t>
            </a:r>
            <a:r>
              <a:rPr sz="4000" spc="-69" dirty="0">
                <a:latin typeface="Comic Sans MS"/>
                <a:cs typeface="Comic Sans MS"/>
              </a:rPr>
              <a:t> </a:t>
            </a:r>
            <a:r>
              <a:rPr sz="4000" dirty="0">
                <a:latin typeface="Comic Sans MS"/>
                <a:cs typeface="Comic Sans MS"/>
              </a:rPr>
              <a:t>laptop</a:t>
            </a:r>
            <a:r>
              <a:rPr sz="4000" spc="-9" dirty="0">
                <a:latin typeface="Comic Sans MS"/>
                <a:cs typeface="Comic Sans MS"/>
              </a:rPr>
              <a:t> </a:t>
            </a:r>
            <a:r>
              <a:rPr sz="4000" dirty="0">
                <a:latin typeface="Comic Sans MS"/>
                <a:cs typeface="Comic Sans MS"/>
              </a:rPr>
              <a:t>can</a:t>
            </a:r>
            <a:r>
              <a:rPr sz="4000" spc="-52" dirty="0">
                <a:latin typeface="Comic Sans MS"/>
                <a:cs typeface="Comic Sans MS"/>
              </a:rPr>
              <a:t> </a:t>
            </a:r>
            <a:r>
              <a:rPr sz="4000" dirty="0">
                <a:latin typeface="Comic Sans MS"/>
                <a:cs typeface="Comic Sans MS"/>
              </a:rPr>
              <a:t>be</a:t>
            </a:r>
            <a:r>
              <a:rPr sz="4000" spc="-60" dirty="0">
                <a:latin typeface="Comic Sans MS"/>
                <a:cs typeface="Comic Sans MS"/>
              </a:rPr>
              <a:t> </a:t>
            </a:r>
            <a:r>
              <a:rPr sz="4000" dirty="0">
                <a:latin typeface="Comic Sans MS"/>
                <a:cs typeface="Comic Sans MS"/>
              </a:rPr>
              <a:t>a</a:t>
            </a:r>
            <a:r>
              <a:rPr sz="4000" spc="-86" dirty="0">
                <a:latin typeface="Comic Sans MS"/>
                <a:cs typeface="Comic Sans MS"/>
              </a:rPr>
              <a:t> </a:t>
            </a:r>
            <a:r>
              <a:rPr sz="4000" dirty="0">
                <a:latin typeface="Comic Sans MS"/>
                <a:cs typeface="Comic Sans MS"/>
              </a:rPr>
              <a:t>server</a:t>
            </a:r>
            <a:r>
              <a:rPr sz="4000" spc="-121" dirty="0">
                <a:latin typeface="Comic Sans MS"/>
                <a:cs typeface="Comic Sans MS"/>
              </a:rPr>
              <a:t> </a:t>
            </a:r>
            <a:r>
              <a:rPr sz="4000" spc="-86" dirty="0">
                <a:latin typeface="Wingdings"/>
                <a:cs typeface="Wingdings"/>
              </a:rPr>
              <a:t></a:t>
            </a:r>
            <a:endParaRPr sz="4000" dirty="0">
              <a:latin typeface="Wingdings"/>
              <a:cs typeface="Wingdings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6B953BBD-3341-8073-9198-7250986195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024" y="2590800"/>
            <a:ext cx="6174494" cy="407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B01549-FE2A-9CD2-F2C2-988444B6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F6A99C39-C8ED-8DAD-A010-9127E71620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4388" y="2859741"/>
            <a:ext cx="8162424" cy="433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1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FE7A03-066E-CEFC-54C6-F04513AE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3869" y="2872641"/>
            <a:ext cx="8183462" cy="43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1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2"/>
                </a:solidFill>
                <a:latin typeface="Comic Sans MS"/>
                <a:cs typeface="Comic Sans MS"/>
              </a:rPr>
              <a:t>Server</a:t>
            </a:r>
            <a:r>
              <a:rPr lang="sv-SE" sz="4000" b="1" spc="-121" dirty="0">
                <a:solidFill>
                  <a:srgbClr val="FFCE52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>
                <a:solidFill>
                  <a:srgbClr val="FFCE52"/>
                </a:solidFill>
                <a:latin typeface="Comic Sans MS"/>
                <a:cs typeface="Comic Sans MS"/>
              </a:rPr>
              <a:t>vs</a:t>
            </a:r>
            <a:r>
              <a:rPr lang="sv-SE" sz="4000" b="1" spc="-9" dirty="0">
                <a:solidFill>
                  <a:srgbClr val="FFCE52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E52"/>
                </a:solidFill>
                <a:latin typeface="Comic Sans MS"/>
                <a:cs typeface="Comic Sans MS"/>
              </a:rPr>
              <a:t>PC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ADA2BC-1ED8-7EC3-795B-769CD68E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BB53DEA6-B4BB-6077-18AD-A9861005DD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370" y="3967032"/>
            <a:ext cx="12116459" cy="2124336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B4C27819-E296-84CC-DAAD-3899C90CE4A2}"/>
              </a:ext>
            </a:extLst>
          </p:cNvPr>
          <p:cNvSpPr txBox="1"/>
          <p:nvPr/>
        </p:nvSpPr>
        <p:spPr>
          <a:xfrm>
            <a:off x="438276" y="941415"/>
            <a:ext cx="3128184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sz="4141" dirty="0">
                <a:latin typeface="Comic Sans MS"/>
                <a:cs typeface="Comic Sans MS"/>
              </a:rPr>
              <a:t>Server</a:t>
            </a:r>
            <a:r>
              <a:rPr sz="4141" spc="-138" dirty="0">
                <a:latin typeface="Comic Sans MS"/>
                <a:cs typeface="Comic Sans MS"/>
              </a:rPr>
              <a:t> </a:t>
            </a:r>
            <a:r>
              <a:rPr sz="4141" dirty="0">
                <a:latin typeface="Comic Sans MS"/>
                <a:cs typeface="Comic Sans MS"/>
              </a:rPr>
              <a:t>vs</a:t>
            </a:r>
            <a:r>
              <a:rPr sz="4141" spc="-78" dirty="0">
                <a:latin typeface="Comic Sans MS"/>
                <a:cs typeface="Comic Sans MS"/>
              </a:rPr>
              <a:t> </a:t>
            </a:r>
            <a:r>
              <a:rPr sz="4141" spc="-43" dirty="0">
                <a:latin typeface="Comic Sans MS"/>
                <a:cs typeface="Comic Sans MS"/>
              </a:rPr>
              <a:t>PC</a:t>
            </a:r>
            <a:endParaRPr sz="414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74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253" y="1455071"/>
            <a:ext cx="12752693" cy="7148257"/>
            <a:chOff x="192023" y="2514600"/>
            <a:chExt cx="7390765" cy="414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" y="2874263"/>
              <a:ext cx="499872" cy="1310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2023" y="2514600"/>
              <a:ext cx="7390765" cy="4142740"/>
            </a:xfrm>
            <a:custGeom>
              <a:avLst/>
              <a:gdLst/>
              <a:ahLst/>
              <a:cxnLst/>
              <a:rect l="l" t="t" r="r" b="b"/>
              <a:pathLst>
                <a:path w="7390765" h="4142740">
                  <a:moveTo>
                    <a:pt x="7390257" y="0"/>
                  </a:moveTo>
                  <a:lnTo>
                    <a:pt x="0" y="0"/>
                  </a:lnTo>
                  <a:lnTo>
                    <a:pt x="0" y="4142232"/>
                  </a:lnTo>
                  <a:lnTo>
                    <a:pt x="7390257" y="4142232"/>
                  </a:lnTo>
                  <a:lnTo>
                    <a:pt x="739025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471" y="4273295"/>
              <a:ext cx="3465576" cy="3657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471" y="3825239"/>
              <a:ext cx="3465576" cy="3657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68551" y="2871215"/>
              <a:ext cx="864869" cy="871855"/>
            </a:xfrm>
            <a:custGeom>
              <a:avLst/>
              <a:gdLst/>
              <a:ahLst/>
              <a:cxnLst/>
              <a:rect l="l" t="t" r="r" b="b"/>
              <a:pathLst>
                <a:path w="864869" h="871854">
                  <a:moveTo>
                    <a:pt x="0" y="435863"/>
                  </a:moveTo>
                  <a:lnTo>
                    <a:pt x="22097" y="298703"/>
                  </a:lnTo>
                  <a:lnTo>
                    <a:pt x="83565" y="179069"/>
                  </a:lnTo>
                  <a:lnTo>
                    <a:pt x="177164" y="84581"/>
                  </a:lnTo>
                  <a:lnTo>
                    <a:pt x="295909" y="22351"/>
                  </a:lnTo>
                  <a:lnTo>
                    <a:pt x="432434" y="0"/>
                  </a:lnTo>
                  <a:lnTo>
                    <a:pt x="568960" y="22351"/>
                  </a:lnTo>
                  <a:lnTo>
                    <a:pt x="687704" y="84581"/>
                  </a:lnTo>
                  <a:lnTo>
                    <a:pt x="781304" y="179069"/>
                  </a:lnTo>
                  <a:lnTo>
                    <a:pt x="842772" y="298703"/>
                  </a:lnTo>
                  <a:lnTo>
                    <a:pt x="864870" y="435863"/>
                  </a:lnTo>
                  <a:lnTo>
                    <a:pt x="842772" y="573912"/>
                  </a:lnTo>
                  <a:lnTo>
                    <a:pt x="781304" y="693546"/>
                  </a:lnTo>
                  <a:lnTo>
                    <a:pt x="687704" y="787780"/>
                  </a:lnTo>
                  <a:lnTo>
                    <a:pt x="568960" y="849629"/>
                  </a:lnTo>
                  <a:lnTo>
                    <a:pt x="432434" y="871727"/>
                  </a:lnTo>
                  <a:lnTo>
                    <a:pt x="295909" y="849629"/>
                  </a:lnTo>
                  <a:lnTo>
                    <a:pt x="177164" y="787780"/>
                  </a:lnTo>
                  <a:lnTo>
                    <a:pt x="83565" y="693546"/>
                  </a:lnTo>
                  <a:lnTo>
                    <a:pt x="22097" y="573912"/>
                  </a:lnTo>
                  <a:lnTo>
                    <a:pt x="0" y="435863"/>
                  </a:lnTo>
                  <a:close/>
                </a:path>
              </a:pathLst>
            </a:custGeom>
            <a:ln w="6095">
              <a:solidFill>
                <a:srgbClr val="8EA9D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37646" y="2571707"/>
            <a:ext cx="1033232" cy="392790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416" b="1" spc="-17" dirty="0">
                <a:solidFill>
                  <a:srgbClr val="8FAADC"/>
                </a:solidFill>
                <a:latin typeface="Comic Sans MS"/>
                <a:cs typeface="Comic Sans MS"/>
              </a:rPr>
              <a:t>Server</a:t>
            </a:r>
            <a:endParaRPr sz="2416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77589" y="2101744"/>
            <a:ext cx="4880187" cy="1503280"/>
            <a:chOff x="3581400" y="2889376"/>
            <a:chExt cx="2828290" cy="871219"/>
          </a:xfrm>
        </p:grpSpPr>
        <p:sp>
          <p:nvSpPr>
            <p:cNvPr id="10" name="object 10"/>
            <p:cNvSpPr/>
            <p:nvPr/>
          </p:nvSpPr>
          <p:spPr>
            <a:xfrm>
              <a:off x="5538216" y="2892551"/>
              <a:ext cx="868680" cy="864869"/>
            </a:xfrm>
            <a:custGeom>
              <a:avLst/>
              <a:gdLst/>
              <a:ahLst/>
              <a:cxnLst/>
              <a:rect l="l" t="t" r="r" b="b"/>
              <a:pathLst>
                <a:path w="868679" h="864870">
                  <a:moveTo>
                    <a:pt x="0" y="432434"/>
                  </a:moveTo>
                  <a:lnTo>
                    <a:pt x="22098" y="295909"/>
                  </a:lnTo>
                  <a:lnTo>
                    <a:pt x="83693" y="177165"/>
                  </a:lnTo>
                  <a:lnTo>
                    <a:pt x="177419" y="83566"/>
                  </a:lnTo>
                  <a:lnTo>
                    <a:pt x="296291" y="22098"/>
                  </a:lnTo>
                  <a:lnTo>
                    <a:pt x="433070" y="0"/>
                  </a:lnTo>
                  <a:lnTo>
                    <a:pt x="570864" y="22098"/>
                  </a:lnTo>
                  <a:lnTo>
                    <a:pt x="690372" y="83566"/>
                  </a:lnTo>
                  <a:lnTo>
                    <a:pt x="784479" y="177165"/>
                  </a:lnTo>
                  <a:lnTo>
                    <a:pt x="846201" y="295909"/>
                  </a:lnTo>
                  <a:lnTo>
                    <a:pt x="868299" y="432434"/>
                  </a:lnTo>
                  <a:lnTo>
                    <a:pt x="846201" y="568959"/>
                  </a:lnTo>
                  <a:lnTo>
                    <a:pt x="784479" y="687705"/>
                  </a:lnTo>
                  <a:lnTo>
                    <a:pt x="690372" y="781303"/>
                  </a:lnTo>
                  <a:lnTo>
                    <a:pt x="570864" y="842772"/>
                  </a:lnTo>
                  <a:lnTo>
                    <a:pt x="433070" y="864870"/>
                  </a:lnTo>
                  <a:lnTo>
                    <a:pt x="296291" y="842772"/>
                  </a:lnTo>
                  <a:lnTo>
                    <a:pt x="177419" y="781303"/>
                  </a:lnTo>
                  <a:lnTo>
                    <a:pt x="83693" y="687705"/>
                  </a:lnTo>
                  <a:lnTo>
                    <a:pt x="22098" y="568959"/>
                  </a:lnTo>
                  <a:lnTo>
                    <a:pt x="0" y="432434"/>
                  </a:lnTo>
                  <a:close/>
                </a:path>
              </a:pathLst>
            </a:custGeom>
            <a:ln w="6096">
              <a:solidFill>
                <a:srgbClr val="FFBC4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400" y="3166871"/>
              <a:ext cx="573024" cy="57607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440774" y="2845277"/>
            <a:ext cx="449231" cy="391683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21914">
              <a:spcBef>
                <a:spcPts val="155"/>
              </a:spcBef>
            </a:pPr>
            <a:r>
              <a:rPr sz="2416" b="1" spc="-43" dirty="0">
                <a:solidFill>
                  <a:srgbClr val="6EAC46"/>
                </a:solidFill>
                <a:latin typeface="Comic Sans MS"/>
                <a:cs typeface="Comic Sans MS"/>
              </a:rPr>
              <a:t>VS</a:t>
            </a:r>
            <a:endParaRPr sz="2416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15924" y="2613869"/>
            <a:ext cx="385682" cy="391683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21914">
              <a:spcBef>
                <a:spcPts val="155"/>
              </a:spcBef>
            </a:pPr>
            <a:r>
              <a:rPr sz="2416" b="1" spc="-43" dirty="0">
                <a:solidFill>
                  <a:srgbClr val="FFBD44"/>
                </a:solidFill>
                <a:latin typeface="Comic Sans MS"/>
                <a:cs typeface="Comic Sans MS"/>
              </a:rPr>
              <a:t>PC</a:t>
            </a:r>
            <a:endParaRPr sz="2416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683" y="3867114"/>
            <a:ext cx="3704515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High</a:t>
            </a:r>
            <a:r>
              <a:rPr sz="1898" spc="52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relaiability</a:t>
            </a:r>
            <a:r>
              <a:rPr sz="1898" spc="-112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&amp;</a:t>
            </a:r>
            <a:r>
              <a:rPr sz="1898" spc="69" dirty="0">
                <a:latin typeface="Comic Sans MS"/>
                <a:cs typeface="Comic Sans MS"/>
              </a:rPr>
              <a:t> </a:t>
            </a:r>
            <a:r>
              <a:rPr sz="1898" spc="-17" dirty="0">
                <a:latin typeface="Comic Sans MS"/>
                <a:cs typeface="Comic Sans MS"/>
              </a:rPr>
              <a:t>Dependability</a:t>
            </a:r>
            <a:endParaRPr sz="1898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683" y="4639792"/>
            <a:ext cx="2069751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High </a:t>
            </a:r>
            <a:r>
              <a:rPr sz="1898" spc="-17" dirty="0">
                <a:latin typeface="Comic Sans MS"/>
                <a:cs typeface="Comic Sans MS"/>
              </a:rPr>
              <a:t>performance</a:t>
            </a:r>
            <a:endParaRPr sz="1898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479" y="5283838"/>
            <a:ext cx="5979817" cy="63111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28683" y="5435041"/>
            <a:ext cx="3974054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Can</a:t>
            </a:r>
            <a:r>
              <a:rPr sz="1898" spc="35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run</a:t>
            </a:r>
            <a:r>
              <a:rPr sz="1898" spc="35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for</a:t>
            </a:r>
            <a:r>
              <a:rPr sz="1898" spc="78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years</a:t>
            </a:r>
            <a:r>
              <a:rPr sz="1898" spc="26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without</a:t>
            </a:r>
            <a:r>
              <a:rPr sz="1898" spc="-69" dirty="0">
                <a:latin typeface="Comic Sans MS"/>
                <a:cs typeface="Comic Sans MS"/>
              </a:rPr>
              <a:t> </a:t>
            </a:r>
            <a:r>
              <a:rPr sz="1898" spc="-17" dirty="0">
                <a:latin typeface="Comic Sans MS"/>
                <a:cs typeface="Comic Sans MS"/>
              </a:rPr>
              <a:t>shudown</a:t>
            </a:r>
            <a:endParaRPr sz="1898">
              <a:latin typeface="Comic Sans MS"/>
              <a:cs typeface="Comic Sans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479" y="6067472"/>
            <a:ext cx="5979817" cy="6258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8682" y="6214293"/>
            <a:ext cx="2173842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Less</a:t>
            </a:r>
            <a:r>
              <a:rPr sz="1898" spc="69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mainance</a:t>
            </a:r>
            <a:r>
              <a:rPr sz="1898" spc="-78" dirty="0">
                <a:latin typeface="Comic Sans MS"/>
                <a:cs typeface="Comic Sans MS"/>
              </a:rPr>
              <a:t> </a:t>
            </a:r>
            <a:r>
              <a:rPr sz="1898" spc="-35" dirty="0">
                <a:latin typeface="Comic Sans MS"/>
                <a:cs typeface="Comic Sans MS"/>
              </a:rPr>
              <a:t>cost</a:t>
            </a:r>
            <a:endParaRPr sz="1898">
              <a:latin typeface="Comic Sans MS"/>
              <a:cs typeface="Comic Sans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699" y="6845848"/>
            <a:ext cx="5979817" cy="62585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16060" y="6993766"/>
            <a:ext cx="1218403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High </a:t>
            </a:r>
            <a:r>
              <a:rPr sz="1898" spc="-17" dirty="0">
                <a:latin typeface="Comic Sans MS"/>
                <a:cs typeface="Comic Sans MS"/>
              </a:rPr>
              <a:t>Price</a:t>
            </a:r>
            <a:endParaRPr sz="1898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71889" y="3716569"/>
            <a:ext cx="5980254" cy="1404668"/>
            <a:chOff x="3925823" y="3825240"/>
            <a:chExt cx="3465829" cy="814069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5823" y="4273296"/>
              <a:ext cx="3465576" cy="3657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5823" y="3825240"/>
              <a:ext cx="3465576" cy="36576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064503" y="3867114"/>
            <a:ext cx="3711089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Less</a:t>
            </a:r>
            <a:r>
              <a:rPr sz="1898" spc="9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Relaiability</a:t>
            </a:r>
            <a:r>
              <a:rPr sz="1898" spc="-86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&amp;</a:t>
            </a:r>
            <a:r>
              <a:rPr sz="1898" spc="26" dirty="0">
                <a:latin typeface="Comic Sans MS"/>
                <a:cs typeface="Comic Sans MS"/>
              </a:rPr>
              <a:t> </a:t>
            </a:r>
            <a:r>
              <a:rPr sz="1898" spc="-17" dirty="0">
                <a:latin typeface="Comic Sans MS"/>
                <a:cs typeface="Comic Sans MS"/>
              </a:rPr>
              <a:t>Dependability</a:t>
            </a:r>
            <a:endParaRPr sz="1898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37616" y="4639792"/>
            <a:ext cx="2039072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Less</a:t>
            </a:r>
            <a:r>
              <a:rPr sz="1898" spc="-17" dirty="0">
                <a:latin typeface="Comic Sans MS"/>
                <a:cs typeface="Comic Sans MS"/>
              </a:rPr>
              <a:t> performance</a:t>
            </a:r>
            <a:endParaRPr sz="1898">
              <a:latin typeface="Comic Sans MS"/>
              <a:cs typeface="Comic Sans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1888" y="5283838"/>
            <a:ext cx="5979817" cy="63111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328203" y="5435041"/>
            <a:ext cx="4452869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Cannot run</a:t>
            </a:r>
            <a:r>
              <a:rPr sz="1898" spc="43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for</a:t>
            </a:r>
            <a:r>
              <a:rPr sz="1898" spc="112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years</a:t>
            </a:r>
            <a:r>
              <a:rPr sz="1898" spc="26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without</a:t>
            </a:r>
            <a:r>
              <a:rPr sz="1898" spc="-69" dirty="0">
                <a:latin typeface="Comic Sans MS"/>
                <a:cs typeface="Comic Sans MS"/>
              </a:rPr>
              <a:t> </a:t>
            </a:r>
            <a:r>
              <a:rPr sz="1898" spc="-17" dirty="0">
                <a:latin typeface="Comic Sans MS"/>
                <a:cs typeface="Comic Sans MS"/>
              </a:rPr>
              <a:t>shutdown</a:t>
            </a:r>
            <a:endParaRPr sz="1898">
              <a:latin typeface="Comic Sans MS"/>
              <a:cs typeface="Comic Sans M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1888" y="6067472"/>
            <a:ext cx="5979817" cy="62585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201168" y="6214293"/>
            <a:ext cx="2578150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High</a:t>
            </a:r>
            <a:r>
              <a:rPr sz="1898" spc="78" dirty="0">
                <a:latin typeface="Comic Sans MS"/>
                <a:cs typeface="Comic Sans MS"/>
              </a:rPr>
              <a:t> </a:t>
            </a:r>
            <a:r>
              <a:rPr sz="1898" dirty="0">
                <a:latin typeface="Comic Sans MS"/>
                <a:cs typeface="Comic Sans MS"/>
              </a:rPr>
              <a:t>maintenance</a:t>
            </a:r>
            <a:r>
              <a:rPr sz="1898" spc="-52" dirty="0">
                <a:latin typeface="Comic Sans MS"/>
                <a:cs typeface="Comic Sans MS"/>
              </a:rPr>
              <a:t> </a:t>
            </a:r>
            <a:r>
              <a:rPr sz="1898" spc="-35" dirty="0">
                <a:latin typeface="Comic Sans MS"/>
                <a:cs typeface="Comic Sans MS"/>
              </a:rPr>
              <a:t>cost</a:t>
            </a:r>
            <a:endParaRPr sz="1898">
              <a:latin typeface="Comic Sans MS"/>
              <a:cs typeface="Comic Sans MS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1371" y="6845848"/>
            <a:ext cx="5979817" cy="625856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1577569" y="6993766"/>
            <a:ext cx="1186628" cy="315301"/>
          </a:xfrm>
          <a:prstGeom prst="rect">
            <a:avLst/>
          </a:prstGeom>
        </p:spPr>
        <p:txBody>
          <a:bodyPr vert="horz" wrap="square" lIns="0" tIns="23009" rIns="0" bIns="0" rtlCol="0">
            <a:spAutoFit/>
          </a:bodyPr>
          <a:lstStyle/>
          <a:p>
            <a:pPr marL="21914">
              <a:spcBef>
                <a:spcPts val="181"/>
              </a:spcBef>
            </a:pPr>
            <a:r>
              <a:rPr sz="1898" dirty="0">
                <a:latin typeface="Comic Sans MS"/>
                <a:cs typeface="Comic Sans MS"/>
              </a:rPr>
              <a:t>Less</a:t>
            </a:r>
            <a:r>
              <a:rPr sz="1898" spc="-9" dirty="0">
                <a:latin typeface="Comic Sans MS"/>
                <a:cs typeface="Comic Sans MS"/>
              </a:rPr>
              <a:t> </a:t>
            </a:r>
            <a:r>
              <a:rPr sz="1898" spc="-17" dirty="0">
                <a:latin typeface="Comic Sans MS"/>
                <a:cs typeface="Comic Sans MS"/>
              </a:rPr>
              <a:t>Price</a:t>
            </a:r>
            <a:endParaRPr sz="1898">
              <a:latin typeface="Comic Sans MS"/>
              <a:cs typeface="Comic Sans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30917" y="4132052"/>
            <a:ext cx="2935342" cy="2934248"/>
            <a:chOff x="3032760" y="4066032"/>
            <a:chExt cx="1701164" cy="170053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0" y="4078224"/>
              <a:ext cx="1676400" cy="167335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1504" y="4672584"/>
              <a:ext cx="472439" cy="4724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46476" y="4079748"/>
              <a:ext cx="1673860" cy="1673225"/>
            </a:xfrm>
            <a:custGeom>
              <a:avLst/>
              <a:gdLst/>
              <a:ahLst/>
              <a:cxnLst/>
              <a:rect l="l" t="t" r="r" b="b"/>
              <a:pathLst>
                <a:path w="1673860" h="1673225">
                  <a:moveTo>
                    <a:pt x="838200" y="0"/>
                  </a:moveTo>
                  <a:lnTo>
                    <a:pt x="838200" y="1673098"/>
                  </a:lnTo>
                </a:path>
                <a:path w="1673860" h="1673225">
                  <a:moveTo>
                    <a:pt x="0" y="835151"/>
                  </a:moveTo>
                  <a:lnTo>
                    <a:pt x="1673352" y="835151"/>
                  </a:lnTo>
                </a:path>
                <a:path w="1673860" h="1673225">
                  <a:moveTo>
                    <a:pt x="768096" y="88391"/>
                  </a:moveTo>
                  <a:lnTo>
                    <a:pt x="910336" y="88391"/>
                  </a:lnTo>
                </a:path>
                <a:path w="1673860" h="1673225">
                  <a:moveTo>
                    <a:pt x="789432" y="152400"/>
                  </a:moveTo>
                  <a:lnTo>
                    <a:pt x="890015" y="152400"/>
                  </a:lnTo>
                </a:path>
                <a:path w="1673860" h="1673225">
                  <a:moveTo>
                    <a:pt x="807720" y="213360"/>
                  </a:moveTo>
                  <a:lnTo>
                    <a:pt x="868426" y="213360"/>
                  </a:lnTo>
                </a:path>
                <a:path w="1673860" h="1673225">
                  <a:moveTo>
                    <a:pt x="1588008" y="765048"/>
                  </a:moveTo>
                  <a:lnTo>
                    <a:pt x="1588008" y="907288"/>
                  </a:lnTo>
                </a:path>
                <a:path w="1673860" h="1673225">
                  <a:moveTo>
                    <a:pt x="1527048" y="786384"/>
                  </a:moveTo>
                  <a:lnTo>
                    <a:pt x="1527048" y="886967"/>
                  </a:lnTo>
                </a:path>
                <a:path w="1673860" h="1673225">
                  <a:moveTo>
                    <a:pt x="1463039" y="804672"/>
                  </a:moveTo>
                  <a:lnTo>
                    <a:pt x="1463039" y="865377"/>
                  </a:lnTo>
                </a:path>
                <a:path w="1673860" h="1673225">
                  <a:moveTo>
                    <a:pt x="907541" y="1584960"/>
                  </a:moveTo>
                  <a:lnTo>
                    <a:pt x="765048" y="1584960"/>
                  </a:lnTo>
                </a:path>
                <a:path w="1673860" h="1673225">
                  <a:moveTo>
                    <a:pt x="890015" y="1524000"/>
                  </a:moveTo>
                  <a:lnTo>
                    <a:pt x="789432" y="1524000"/>
                  </a:lnTo>
                </a:path>
                <a:path w="1673860" h="1673225">
                  <a:moveTo>
                    <a:pt x="868426" y="1463039"/>
                  </a:moveTo>
                  <a:lnTo>
                    <a:pt x="807720" y="1463039"/>
                  </a:lnTo>
                </a:path>
                <a:path w="1673860" h="1673225">
                  <a:moveTo>
                    <a:pt x="88392" y="907288"/>
                  </a:moveTo>
                  <a:lnTo>
                    <a:pt x="88392" y="768096"/>
                  </a:lnTo>
                </a:path>
                <a:path w="1673860" h="1673225">
                  <a:moveTo>
                    <a:pt x="149351" y="886967"/>
                  </a:moveTo>
                  <a:lnTo>
                    <a:pt x="149351" y="786384"/>
                  </a:lnTo>
                </a:path>
                <a:path w="1673860" h="1673225">
                  <a:moveTo>
                    <a:pt x="210312" y="868426"/>
                  </a:moveTo>
                  <a:lnTo>
                    <a:pt x="210312" y="807719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46476" y="4079748"/>
              <a:ext cx="1673860" cy="1673225"/>
            </a:xfrm>
            <a:custGeom>
              <a:avLst/>
              <a:gdLst/>
              <a:ahLst/>
              <a:cxnLst/>
              <a:rect l="l" t="t" r="r" b="b"/>
              <a:pathLst>
                <a:path w="1673860" h="1673225">
                  <a:moveTo>
                    <a:pt x="0" y="835787"/>
                  </a:moveTo>
                  <a:lnTo>
                    <a:pt x="5587" y="738251"/>
                  </a:lnTo>
                  <a:lnTo>
                    <a:pt x="22098" y="644016"/>
                  </a:lnTo>
                  <a:lnTo>
                    <a:pt x="48768" y="553719"/>
                  </a:lnTo>
                  <a:lnTo>
                    <a:pt x="85090" y="467994"/>
                  </a:lnTo>
                  <a:lnTo>
                    <a:pt x="130301" y="387476"/>
                  </a:lnTo>
                  <a:lnTo>
                    <a:pt x="183896" y="312800"/>
                  </a:lnTo>
                  <a:lnTo>
                    <a:pt x="245237" y="244601"/>
                  </a:lnTo>
                  <a:lnTo>
                    <a:pt x="313563" y="183514"/>
                  </a:lnTo>
                  <a:lnTo>
                    <a:pt x="388365" y="130048"/>
                  </a:lnTo>
                  <a:lnTo>
                    <a:pt x="468884" y="84836"/>
                  </a:lnTo>
                  <a:lnTo>
                    <a:pt x="554609" y="48640"/>
                  </a:lnTo>
                  <a:lnTo>
                    <a:pt x="644906" y="22098"/>
                  </a:lnTo>
                  <a:lnTo>
                    <a:pt x="739139" y="5587"/>
                  </a:lnTo>
                  <a:lnTo>
                    <a:pt x="836676" y="0"/>
                  </a:lnTo>
                  <a:lnTo>
                    <a:pt x="934212" y="5587"/>
                  </a:lnTo>
                  <a:lnTo>
                    <a:pt x="1028446" y="22098"/>
                  </a:lnTo>
                  <a:lnTo>
                    <a:pt x="1118743" y="48640"/>
                  </a:lnTo>
                  <a:lnTo>
                    <a:pt x="1204468" y="84836"/>
                  </a:lnTo>
                  <a:lnTo>
                    <a:pt x="1284986" y="130048"/>
                  </a:lnTo>
                  <a:lnTo>
                    <a:pt x="1359789" y="183514"/>
                  </a:lnTo>
                  <a:lnTo>
                    <a:pt x="1428114" y="244601"/>
                  </a:lnTo>
                  <a:lnTo>
                    <a:pt x="1489456" y="312800"/>
                  </a:lnTo>
                  <a:lnTo>
                    <a:pt x="1543050" y="387476"/>
                  </a:lnTo>
                  <a:lnTo>
                    <a:pt x="1588262" y="467994"/>
                  </a:lnTo>
                  <a:lnTo>
                    <a:pt x="1624584" y="553719"/>
                  </a:lnTo>
                  <a:lnTo>
                    <a:pt x="1651253" y="644016"/>
                  </a:lnTo>
                  <a:lnTo>
                    <a:pt x="1667764" y="738251"/>
                  </a:lnTo>
                  <a:lnTo>
                    <a:pt x="1673352" y="835787"/>
                  </a:lnTo>
                  <a:lnTo>
                    <a:pt x="1667764" y="933323"/>
                  </a:lnTo>
                  <a:lnTo>
                    <a:pt x="1651253" y="1027684"/>
                  </a:lnTo>
                  <a:lnTo>
                    <a:pt x="1624584" y="1117980"/>
                  </a:lnTo>
                  <a:lnTo>
                    <a:pt x="1588262" y="1203832"/>
                  </a:lnTo>
                  <a:lnTo>
                    <a:pt x="1543050" y="1284477"/>
                  </a:lnTo>
                  <a:lnTo>
                    <a:pt x="1489456" y="1359280"/>
                  </a:lnTo>
                  <a:lnTo>
                    <a:pt x="1428114" y="1427734"/>
                  </a:lnTo>
                  <a:lnTo>
                    <a:pt x="1359789" y="1489075"/>
                  </a:lnTo>
                  <a:lnTo>
                    <a:pt x="1284986" y="1542668"/>
                  </a:lnTo>
                  <a:lnTo>
                    <a:pt x="1204468" y="1587880"/>
                  </a:lnTo>
                  <a:lnTo>
                    <a:pt x="1118743" y="1624202"/>
                  </a:lnTo>
                  <a:lnTo>
                    <a:pt x="1028446" y="1651000"/>
                  </a:lnTo>
                  <a:lnTo>
                    <a:pt x="934212" y="1667510"/>
                  </a:lnTo>
                  <a:lnTo>
                    <a:pt x="836676" y="1673098"/>
                  </a:lnTo>
                  <a:lnTo>
                    <a:pt x="739139" y="1667510"/>
                  </a:lnTo>
                  <a:lnTo>
                    <a:pt x="644906" y="1651000"/>
                  </a:lnTo>
                  <a:lnTo>
                    <a:pt x="554609" y="1624202"/>
                  </a:lnTo>
                  <a:lnTo>
                    <a:pt x="468884" y="1587880"/>
                  </a:lnTo>
                  <a:lnTo>
                    <a:pt x="388365" y="1542668"/>
                  </a:lnTo>
                  <a:lnTo>
                    <a:pt x="313563" y="1489075"/>
                  </a:lnTo>
                  <a:lnTo>
                    <a:pt x="245237" y="1427734"/>
                  </a:lnTo>
                  <a:lnTo>
                    <a:pt x="183896" y="1359280"/>
                  </a:lnTo>
                  <a:lnTo>
                    <a:pt x="130301" y="1284477"/>
                  </a:lnTo>
                  <a:lnTo>
                    <a:pt x="85090" y="1203832"/>
                  </a:lnTo>
                  <a:lnTo>
                    <a:pt x="48768" y="1117980"/>
                  </a:lnTo>
                  <a:lnTo>
                    <a:pt x="22098" y="1027684"/>
                  </a:lnTo>
                  <a:lnTo>
                    <a:pt x="5587" y="933323"/>
                  </a:lnTo>
                  <a:lnTo>
                    <a:pt x="0" y="835787"/>
                  </a:lnTo>
                  <a:close/>
                </a:path>
                <a:path w="1673860" h="1673225">
                  <a:moveTo>
                    <a:pt x="0" y="835787"/>
                  </a:moveTo>
                  <a:lnTo>
                    <a:pt x="5587" y="738251"/>
                  </a:lnTo>
                  <a:lnTo>
                    <a:pt x="22098" y="644016"/>
                  </a:lnTo>
                  <a:lnTo>
                    <a:pt x="48768" y="553719"/>
                  </a:lnTo>
                  <a:lnTo>
                    <a:pt x="85090" y="467994"/>
                  </a:lnTo>
                  <a:lnTo>
                    <a:pt x="130301" y="387476"/>
                  </a:lnTo>
                  <a:lnTo>
                    <a:pt x="183896" y="312800"/>
                  </a:lnTo>
                  <a:lnTo>
                    <a:pt x="245237" y="244601"/>
                  </a:lnTo>
                  <a:lnTo>
                    <a:pt x="313563" y="183514"/>
                  </a:lnTo>
                  <a:lnTo>
                    <a:pt x="388365" y="130048"/>
                  </a:lnTo>
                  <a:lnTo>
                    <a:pt x="468884" y="84836"/>
                  </a:lnTo>
                  <a:lnTo>
                    <a:pt x="554609" y="48640"/>
                  </a:lnTo>
                  <a:lnTo>
                    <a:pt x="644906" y="22098"/>
                  </a:lnTo>
                  <a:lnTo>
                    <a:pt x="739139" y="5587"/>
                  </a:lnTo>
                  <a:lnTo>
                    <a:pt x="836676" y="0"/>
                  </a:lnTo>
                  <a:lnTo>
                    <a:pt x="934212" y="5587"/>
                  </a:lnTo>
                  <a:lnTo>
                    <a:pt x="1028446" y="22098"/>
                  </a:lnTo>
                  <a:lnTo>
                    <a:pt x="1118743" y="48640"/>
                  </a:lnTo>
                  <a:lnTo>
                    <a:pt x="1204468" y="84836"/>
                  </a:lnTo>
                  <a:lnTo>
                    <a:pt x="1284986" y="130048"/>
                  </a:lnTo>
                  <a:lnTo>
                    <a:pt x="1359789" y="183514"/>
                  </a:lnTo>
                  <a:lnTo>
                    <a:pt x="1428114" y="244601"/>
                  </a:lnTo>
                  <a:lnTo>
                    <a:pt x="1489456" y="312800"/>
                  </a:lnTo>
                  <a:lnTo>
                    <a:pt x="1543050" y="387476"/>
                  </a:lnTo>
                  <a:lnTo>
                    <a:pt x="1588262" y="467994"/>
                  </a:lnTo>
                  <a:lnTo>
                    <a:pt x="1624584" y="553719"/>
                  </a:lnTo>
                  <a:lnTo>
                    <a:pt x="1651253" y="644016"/>
                  </a:lnTo>
                  <a:lnTo>
                    <a:pt x="1667764" y="738251"/>
                  </a:lnTo>
                  <a:lnTo>
                    <a:pt x="1673352" y="835787"/>
                  </a:lnTo>
                  <a:lnTo>
                    <a:pt x="1667764" y="933323"/>
                  </a:lnTo>
                  <a:lnTo>
                    <a:pt x="1651253" y="1027684"/>
                  </a:lnTo>
                  <a:lnTo>
                    <a:pt x="1624584" y="1117980"/>
                  </a:lnTo>
                  <a:lnTo>
                    <a:pt x="1588262" y="1203832"/>
                  </a:lnTo>
                  <a:lnTo>
                    <a:pt x="1543050" y="1284477"/>
                  </a:lnTo>
                  <a:lnTo>
                    <a:pt x="1489456" y="1359280"/>
                  </a:lnTo>
                  <a:lnTo>
                    <a:pt x="1428114" y="1427734"/>
                  </a:lnTo>
                  <a:lnTo>
                    <a:pt x="1359789" y="1489075"/>
                  </a:lnTo>
                  <a:lnTo>
                    <a:pt x="1284986" y="1542668"/>
                  </a:lnTo>
                  <a:lnTo>
                    <a:pt x="1204468" y="1587880"/>
                  </a:lnTo>
                  <a:lnTo>
                    <a:pt x="1118743" y="1624202"/>
                  </a:lnTo>
                  <a:lnTo>
                    <a:pt x="1028446" y="1651000"/>
                  </a:lnTo>
                  <a:lnTo>
                    <a:pt x="934212" y="1667510"/>
                  </a:lnTo>
                  <a:lnTo>
                    <a:pt x="836676" y="1673098"/>
                  </a:lnTo>
                  <a:lnTo>
                    <a:pt x="739139" y="1667510"/>
                  </a:lnTo>
                  <a:lnTo>
                    <a:pt x="644906" y="1651000"/>
                  </a:lnTo>
                  <a:lnTo>
                    <a:pt x="554609" y="1624202"/>
                  </a:lnTo>
                  <a:lnTo>
                    <a:pt x="468884" y="1587880"/>
                  </a:lnTo>
                  <a:lnTo>
                    <a:pt x="388365" y="1542668"/>
                  </a:lnTo>
                  <a:lnTo>
                    <a:pt x="313563" y="1489075"/>
                  </a:lnTo>
                  <a:lnTo>
                    <a:pt x="245237" y="1427734"/>
                  </a:lnTo>
                  <a:lnTo>
                    <a:pt x="183896" y="1359280"/>
                  </a:lnTo>
                  <a:lnTo>
                    <a:pt x="130301" y="1284477"/>
                  </a:lnTo>
                  <a:lnTo>
                    <a:pt x="85090" y="1203832"/>
                  </a:lnTo>
                  <a:lnTo>
                    <a:pt x="48768" y="1117980"/>
                  </a:lnTo>
                  <a:lnTo>
                    <a:pt x="22098" y="1027684"/>
                  </a:lnTo>
                  <a:lnTo>
                    <a:pt x="5587" y="933323"/>
                  </a:lnTo>
                  <a:lnTo>
                    <a:pt x="0" y="835787"/>
                  </a:lnTo>
                  <a:close/>
                </a:path>
              </a:pathLst>
            </a:custGeom>
            <a:ln w="27432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01696" y="5386087"/>
            <a:ext cx="1597511" cy="392790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416" spc="-17" dirty="0">
                <a:solidFill>
                  <a:srgbClr val="C00000"/>
                </a:solidFill>
                <a:latin typeface="Comic Sans MS"/>
                <a:cs typeface="Comic Sans MS"/>
              </a:rPr>
              <a:t>Diffrences</a:t>
            </a:r>
            <a:endParaRPr sz="2416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CA8B-CE32-E742-D7F6-9E57D03A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CCCE990-E087-CBE8-72DC-BADAC753DC6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BD67C29-0A4A-F4DC-BC77-5B951D8C1C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8A3003F-7164-2644-575C-8BC980FAAD7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03A0ACA-3ABE-31B3-2626-5C30FC3A1D1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A681AD86-4255-DF6E-E0D3-984A4EB21177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2"/>
                </a:solidFill>
                <a:latin typeface="Comic Sans MS"/>
                <a:cs typeface="Comic Sans MS"/>
              </a:rPr>
              <a:t>Types</a:t>
            </a:r>
            <a:r>
              <a:rPr lang="sv-SE" sz="4000" b="1" spc="-52" dirty="0">
                <a:solidFill>
                  <a:srgbClr val="FFCE52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2"/>
                </a:solidFill>
                <a:latin typeface="Comic Sans MS"/>
                <a:cs typeface="Comic Sans MS"/>
              </a:rPr>
              <a:t>of</a:t>
            </a:r>
            <a:r>
              <a:rPr lang="sv-SE" sz="4000" b="1" spc="-104" dirty="0">
                <a:solidFill>
                  <a:srgbClr val="FFCE52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7" dirty="0">
                <a:solidFill>
                  <a:srgbClr val="FFCE52"/>
                </a:solidFill>
                <a:latin typeface="Comic Sans MS"/>
                <a:cs typeface="Comic Sans MS"/>
              </a:rPr>
              <a:t>Server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6967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5FA465-3B85-BCDD-90C6-6859D129E32D}"/>
              </a:ext>
            </a:extLst>
          </p:cNvPr>
          <p:cNvGrpSpPr/>
          <p:nvPr/>
        </p:nvGrpSpPr>
        <p:grpSpPr>
          <a:xfrm>
            <a:off x="687082" y="3034412"/>
            <a:ext cx="12037035" cy="3989576"/>
            <a:chOff x="702290" y="2236513"/>
            <a:chExt cx="12037035" cy="398957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9131" y="4340231"/>
              <a:ext cx="1172823" cy="142000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7595" y="4424380"/>
              <a:ext cx="1167563" cy="14200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9131" y="2236513"/>
              <a:ext cx="1172823" cy="14357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709" y="2236513"/>
              <a:ext cx="1199119" cy="14357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5709" y="4340231"/>
              <a:ext cx="1235934" cy="14200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21817" y="2236513"/>
              <a:ext cx="1183341" cy="14357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09611" y="2268070"/>
              <a:ext cx="1136008" cy="13884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09686" y="4377046"/>
              <a:ext cx="1349863" cy="14357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29034" y="4492750"/>
              <a:ext cx="899339" cy="138845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702291" y="3696187"/>
              <a:ext cx="1470409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Web</a:t>
              </a:r>
              <a:r>
                <a:rPr sz="1898" b="1" spc="-17" dirty="0">
                  <a:latin typeface="Comic Sans MS"/>
                  <a:cs typeface="Comic Sans MS"/>
                </a:rPr>
                <a:t> 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094657" y="3696187"/>
              <a:ext cx="2196851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Application</a:t>
              </a:r>
              <a:r>
                <a:rPr sz="1898" b="1" spc="-95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168287" y="5779306"/>
              <a:ext cx="2039072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Database</a:t>
              </a:r>
              <a:r>
                <a:rPr sz="1898" b="1" spc="43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02290" y="5910788"/>
              <a:ext cx="1422201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Mail</a:t>
              </a:r>
              <a:r>
                <a:rPr sz="1898" b="1" spc="-35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 dirty="0">
                <a:latin typeface="Comic Sans MS"/>
                <a:cs typeface="Comic Sans MS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6168276" y="3696187"/>
              <a:ext cx="1354268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File</a:t>
              </a:r>
              <a:r>
                <a:rPr sz="1898" b="1" spc="-43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6067251" y="5898736"/>
              <a:ext cx="1658869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Image</a:t>
              </a:r>
              <a:r>
                <a:rPr sz="1898" b="1" spc="-9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8450810" y="3729715"/>
              <a:ext cx="1493420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VoIP</a:t>
              </a:r>
              <a:r>
                <a:rPr sz="1898" b="1" spc="-17" dirty="0">
                  <a:latin typeface="Comic Sans MS"/>
                  <a:cs typeface="Comic Sans MS"/>
                </a:rPr>
                <a:t> 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8334665" y="5898736"/>
              <a:ext cx="1564640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Game</a:t>
              </a:r>
              <a:r>
                <a:rPr sz="1898" b="1" spc="17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>
                <a:latin typeface="Comic Sans MS"/>
                <a:cs typeface="Comic Sans MS"/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65922" y="2236514"/>
              <a:ext cx="1046600" cy="1420008"/>
            </a:xfrm>
            <a:prstGeom prst="rect">
              <a:avLst/>
            </a:prstGeom>
          </p:spPr>
        </p:pic>
        <p:sp>
          <p:nvSpPr>
            <p:cNvPr id="21" name="object 21"/>
            <p:cNvSpPr txBox="1"/>
            <p:nvPr/>
          </p:nvSpPr>
          <p:spPr>
            <a:xfrm>
              <a:off x="10288931" y="3729715"/>
              <a:ext cx="2359013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Printing/Fax</a:t>
              </a:r>
              <a:r>
                <a:rPr sz="1898" b="1" spc="-86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</a:t>
              </a:r>
              <a:endParaRPr sz="1898">
                <a:latin typeface="Comic Sans MS"/>
                <a:cs typeface="Comic Sans MS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0267457" y="5910788"/>
              <a:ext cx="2471868" cy="315301"/>
            </a:xfrm>
            <a:prstGeom prst="rect">
              <a:avLst/>
            </a:prstGeom>
          </p:spPr>
          <p:txBody>
            <a:bodyPr vert="horz" wrap="square" lIns="0" tIns="23009" rIns="0" bIns="0" rtlCol="0">
              <a:spAutoFit/>
            </a:bodyPr>
            <a:lstStyle/>
            <a:p>
              <a:pPr marL="21914">
                <a:spcBef>
                  <a:spcPts val="181"/>
                </a:spcBef>
              </a:pPr>
              <a:r>
                <a:rPr sz="1898" b="1" dirty="0">
                  <a:latin typeface="Comic Sans MS"/>
                  <a:cs typeface="Comic Sans MS"/>
                </a:rPr>
                <a:t>Many</a:t>
              </a:r>
              <a:r>
                <a:rPr sz="1898" b="1" spc="60" dirty="0">
                  <a:latin typeface="Comic Sans MS"/>
                  <a:cs typeface="Comic Sans MS"/>
                </a:rPr>
                <a:t> </a:t>
              </a:r>
              <a:r>
                <a:rPr sz="1898" b="1" dirty="0">
                  <a:latin typeface="Comic Sans MS"/>
                  <a:cs typeface="Comic Sans MS"/>
                </a:rPr>
                <a:t>Other</a:t>
              </a:r>
              <a:r>
                <a:rPr sz="1898" b="1" spc="-43" dirty="0">
                  <a:latin typeface="Comic Sans MS"/>
                  <a:cs typeface="Comic Sans MS"/>
                </a:rPr>
                <a:t> </a:t>
              </a:r>
              <a:r>
                <a:rPr sz="1898" b="1" spc="-17" dirty="0">
                  <a:latin typeface="Comic Sans MS"/>
                  <a:cs typeface="Comic Sans MS"/>
                </a:rPr>
                <a:t>Servers</a:t>
              </a:r>
              <a:endParaRPr sz="1898">
                <a:latin typeface="Comic Sans MS"/>
                <a:cs typeface="Comic Sans MS"/>
              </a:endParaRPr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38275" y="941415"/>
            <a:ext cx="5824668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sz="4141" dirty="0">
                <a:solidFill>
                  <a:srgbClr val="000000"/>
                </a:solidFill>
                <a:latin typeface="Comic Sans MS"/>
                <a:cs typeface="Comic Sans MS"/>
              </a:rPr>
              <a:t>Some</a:t>
            </a:r>
            <a:r>
              <a:rPr sz="4141" spc="-69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4141" dirty="0">
                <a:solidFill>
                  <a:srgbClr val="000000"/>
                </a:solidFill>
                <a:latin typeface="Comic Sans MS"/>
                <a:cs typeface="Comic Sans MS"/>
              </a:rPr>
              <a:t>Types</a:t>
            </a:r>
            <a:r>
              <a:rPr sz="4141" spc="-26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4141" dirty="0">
                <a:solidFill>
                  <a:srgbClr val="000000"/>
                </a:solidFill>
                <a:latin typeface="Comic Sans MS"/>
                <a:cs typeface="Comic Sans MS"/>
              </a:rPr>
              <a:t>of</a:t>
            </a:r>
            <a:r>
              <a:rPr sz="4141" spc="-69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4141" spc="-17" dirty="0">
                <a:solidFill>
                  <a:srgbClr val="000000"/>
                </a:solidFill>
                <a:latin typeface="Comic Sans MS"/>
                <a:cs typeface="Comic Sans MS"/>
              </a:rPr>
              <a:t>Servers</a:t>
            </a:r>
            <a:endParaRPr sz="4141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7539-08A3-D8A2-EAC0-7E744757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85798E3-4797-CBF4-A3BE-E48A3204637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1B48BCA-DBC6-B715-ADE9-E577185C03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0D1E3EF-93D1-4E3C-5679-9AB7EEE191D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62735F2-02A8-2D7B-91B7-D64D6D11BF0E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85B43E58-F61E-686B-9D43-FF18F132BF97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>
                <a:solidFill>
                  <a:srgbClr val="FFCE52"/>
                </a:solidFill>
                <a:latin typeface="Comic Sans MS"/>
                <a:cs typeface="Comic Sans MS"/>
              </a:rPr>
              <a:t>Forms</a:t>
            </a:r>
            <a:r>
              <a:rPr lang="sv-SE" sz="4000" b="1" spc="-112">
                <a:solidFill>
                  <a:srgbClr val="FFCE52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 err="1">
                <a:solidFill>
                  <a:srgbClr val="FFCE52"/>
                </a:solidFill>
                <a:latin typeface="Comic Sans MS"/>
                <a:cs typeface="Comic Sans MS"/>
              </a:rPr>
              <a:t>of</a:t>
            </a:r>
            <a:r>
              <a:rPr lang="sv-SE" sz="4000" b="1" spc="-9" dirty="0">
                <a:solidFill>
                  <a:srgbClr val="FFCE52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7" dirty="0">
                <a:solidFill>
                  <a:srgbClr val="FFCE52"/>
                </a:solidFill>
                <a:latin typeface="Comic Sans MS"/>
                <a:cs typeface="Comic Sans MS"/>
              </a:rPr>
              <a:t>Server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5662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E491E4-99A8-7E09-3643-0AE60791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>
            <a:extLst>
              <a:ext uri="{FF2B5EF4-FFF2-40B4-BE49-F238E27FC236}">
                <a16:creationId xmlns:a16="http://schemas.microsoft.com/office/drawing/2014/main" id="{22DA25F9-4670-1754-FBCC-509730128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275" y="941415"/>
            <a:ext cx="5824668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lang="sv-SE" sz="4141" dirty="0">
                <a:solidFill>
                  <a:schemeClr val="tx1"/>
                </a:solidFill>
                <a:latin typeface="Comic Sans MS"/>
                <a:cs typeface="Comic Sans MS"/>
              </a:rPr>
              <a:t>Forms</a:t>
            </a:r>
            <a:r>
              <a:rPr lang="sv-SE" sz="4141" spc="-104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sv-SE" sz="4141" dirty="0" err="1">
                <a:solidFill>
                  <a:schemeClr val="tx1"/>
                </a:solidFill>
                <a:latin typeface="Comic Sans MS"/>
                <a:cs typeface="Comic Sans MS"/>
              </a:rPr>
              <a:t>of</a:t>
            </a:r>
            <a:r>
              <a:rPr lang="sv-SE" sz="4141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sv-SE" sz="4141" spc="-17" dirty="0">
                <a:solidFill>
                  <a:schemeClr val="tx1"/>
                </a:solidFill>
                <a:latin typeface="Comic Sans MS"/>
                <a:cs typeface="Comic Sans MS"/>
              </a:rPr>
              <a:t>Servers</a:t>
            </a:r>
            <a:endParaRPr lang="sv-SE" sz="4141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85104B-93FF-1AD3-4D7B-3A0D3FEEAEE4}"/>
              </a:ext>
            </a:extLst>
          </p:cNvPr>
          <p:cNvGrpSpPr/>
          <p:nvPr/>
        </p:nvGrpSpPr>
        <p:grpSpPr>
          <a:xfrm>
            <a:off x="1320084" y="2046852"/>
            <a:ext cx="10771032" cy="5964696"/>
            <a:chOff x="1320083" y="1279323"/>
            <a:chExt cx="10771032" cy="5964696"/>
          </a:xfrm>
        </p:grpSpPr>
        <p:grpSp>
          <p:nvGrpSpPr>
            <p:cNvPr id="25" name="object 2"/>
            <p:cNvGrpSpPr/>
            <p:nvPr/>
          </p:nvGrpSpPr>
          <p:grpSpPr>
            <a:xfrm>
              <a:off x="1320083" y="1899918"/>
              <a:ext cx="3234466" cy="3087644"/>
              <a:chOff x="765048" y="3215639"/>
              <a:chExt cx="1874520" cy="1789430"/>
            </a:xfrm>
          </p:grpSpPr>
          <p:pic>
            <p:nvPicPr>
              <p:cNvPr id="34" name="object 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35594" y="4812791"/>
                <a:ext cx="1654179" cy="192024"/>
              </a:xfrm>
              <a:prstGeom prst="rect">
                <a:avLst/>
              </a:prstGeom>
            </p:spPr>
          </p:pic>
          <p:pic>
            <p:nvPicPr>
              <p:cNvPr id="35" name="object 4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65048" y="3215639"/>
                <a:ext cx="1874520" cy="1767839"/>
              </a:xfrm>
              <a:prstGeom prst="rect">
                <a:avLst/>
              </a:prstGeom>
            </p:spPr>
          </p:pic>
        </p:grpSp>
        <p:grpSp>
          <p:nvGrpSpPr>
            <p:cNvPr id="26" name="object 5"/>
            <p:cNvGrpSpPr/>
            <p:nvPr/>
          </p:nvGrpSpPr>
          <p:grpSpPr>
            <a:xfrm>
              <a:off x="4307360" y="1915697"/>
              <a:ext cx="7783755" cy="5328322"/>
              <a:chOff x="2496311" y="3224783"/>
              <a:chExt cx="4511040" cy="3088005"/>
            </a:xfrm>
          </p:grpSpPr>
          <p:pic>
            <p:nvPicPr>
              <p:cNvPr id="31" name="object 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557215" y="4749461"/>
                <a:ext cx="2450136" cy="255354"/>
              </a:xfrm>
              <a:prstGeom prst="rect">
                <a:avLst/>
              </a:prstGeom>
            </p:spPr>
          </p:pic>
          <p:pic>
            <p:nvPicPr>
              <p:cNvPr id="32" name="object 7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27447" y="3224783"/>
                <a:ext cx="2231136" cy="1712975"/>
              </a:xfrm>
              <a:prstGeom prst="rect">
                <a:avLst/>
              </a:prstGeom>
            </p:spPr>
          </p:pic>
          <p:pic>
            <p:nvPicPr>
              <p:cNvPr id="33" name="object 8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496311" y="4626863"/>
                <a:ext cx="2212848" cy="1685543"/>
              </a:xfrm>
              <a:prstGeom prst="rect">
                <a:avLst/>
              </a:prstGeom>
            </p:spPr>
          </p:pic>
        </p:grpSp>
        <p:pic>
          <p:nvPicPr>
            <p:cNvPr id="27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6833" y="1279323"/>
              <a:ext cx="1262229" cy="1051859"/>
            </a:xfrm>
            <a:prstGeom prst="rect">
              <a:avLst/>
            </a:prstGeom>
          </p:spPr>
        </p:pic>
        <p:pic>
          <p:nvPicPr>
            <p:cNvPr id="28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97770" y="1421324"/>
              <a:ext cx="1293785" cy="941414"/>
            </a:xfrm>
            <a:prstGeom prst="rect">
              <a:avLst/>
            </a:prstGeom>
          </p:spPr>
        </p:pic>
        <p:pic>
          <p:nvPicPr>
            <p:cNvPr id="29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3891" y="3798523"/>
              <a:ext cx="1614603" cy="888821"/>
            </a:xfrm>
            <a:prstGeom prst="rect">
              <a:avLst/>
            </a:prstGeom>
          </p:spPr>
        </p:pic>
        <p:pic>
          <p:nvPicPr>
            <p:cNvPr id="30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97991" y="4908236"/>
              <a:ext cx="1725047" cy="999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1451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52F3EA-7848-E245-987D-8254F852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C53FCE-733A-A255-7AF5-170748D671E7}"/>
              </a:ext>
            </a:extLst>
          </p:cNvPr>
          <p:cNvGrpSpPr/>
          <p:nvPr/>
        </p:nvGrpSpPr>
        <p:grpSpPr>
          <a:xfrm>
            <a:off x="1856532" y="2875520"/>
            <a:ext cx="9698136" cy="4307360"/>
            <a:chOff x="1856531" y="2662518"/>
            <a:chExt cx="9698136" cy="4307360"/>
          </a:xfrm>
        </p:grpSpPr>
        <p:pic>
          <p:nvPicPr>
            <p:cNvPr id="3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6531" y="2799258"/>
              <a:ext cx="3481653" cy="4170620"/>
            </a:xfrm>
            <a:prstGeom prst="rect">
              <a:avLst/>
            </a:prstGeom>
          </p:spPr>
        </p:pic>
        <p:pic>
          <p:nvPicPr>
            <p:cNvPr id="4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026" y="2662518"/>
              <a:ext cx="1919641" cy="3844544"/>
            </a:xfrm>
            <a:prstGeom prst="rect">
              <a:avLst/>
            </a:prstGeom>
          </p:spPr>
        </p:pic>
      </p:grpSp>
      <p:sp>
        <p:nvSpPr>
          <p:cNvPr id="5" name="object 4"/>
          <p:cNvSpPr txBox="1"/>
          <p:nvPr/>
        </p:nvSpPr>
        <p:spPr>
          <a:xfrm>
            <a:off x="6154030" y="1339366"/>
            <a:ext cx="1452880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sz="4141" spc="-17" dirty="0">
                <a:latin typeface="Comic Sans MS"/>
                <a:cs typeface="Comic Sans MS"/>
              </a:rPr>
              <a:t>Racks</a:t>
            </a:r>
            <a:endParaRPr sz="4141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680118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6ADD99-8FF4-EE88-B327-570D367C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967942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167</Words>
  <Application>Microsoft Office PowerPoint</Application>
  <PresentationFormat>Custom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Types of Servers</vt:lpstr>
      <vt:lpstr>PowerPoint Presentation</vt:lpstr>
      <vt:lpstr>Forms of Servers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12</cp:revision>
  <dcterms:created xsi:type="dcterms:W3CDTF">2025-12-09T17:44:25Z</dcterms:created>
  <dcterms:modified xsi:type="dcterms:W3CDTF">2026-01-16T19:32:52Z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