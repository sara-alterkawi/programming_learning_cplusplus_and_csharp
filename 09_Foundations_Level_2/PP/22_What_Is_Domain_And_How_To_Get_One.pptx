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47" r:id="rId2"/>
    <p:sldId id="348" r:id="rId3"/>
    <p:sldId id="316" r:id="rId4"/>
    <p:sldId id="323" r:id="rId5"/>
    <p:sldId id="324" r:id="rId6"/>
    <p:sldId id="315" r:id="rId7"/>
    <p:sldId id="325" r:id="rId8"/>
    <p:sldId id="322" r:id="rId9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6" d="100"/>
          <a:sy n="36" d="100"/>
        </p:scale>
        <p:origin x="129" y="12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>
                <a:solidFill>
                  <a:srgbClr val="FFCE53"/>
                </a:solidFill>
                <a:latin typeface="Comic Sans MS"/>
              </a:rPr>
              <a:t>Computer Foundations</a:t>
            </a:r>
            <a:endParaRPr lang="en-GB" sz="5000" b="1" dirty="0">
              <a:solidFill>
                <a:srgbClr val="FFCE53"/>
              </a:solidFill>
              <a:latin typeface="Comic Sans MS"/>
            </a:endParaRP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2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lnSpc>
                <a:spcPct val="100000"/>
              </a:lnSpc>
              <a:spcBef>
                <a:spcPts val="673"/>
              </a:spcBef>
            </a:pPr>
            <a:r>
              <a:rPr lang="sv-SE" sz="4000" b="1" dirty="0" err="1">
                <a:solidFill>
                  <a:srgbClr val="FFCE53"/>
                </a:solidFill>
                <a:latin typeface="Comic Sans MS"/>
              </a:rPr>
              <a:t>Domain</a:t>
            </a:r>
            <a:r>
              <a:rPr lang="sv-SE" sz="4000" b="1" dirty="0">
                <a:solidFill>
                  <a:srgbClr val="FFCE53"/>
                </a:solidFill>
                <a:latin typeface="Comic Sans MS"/>
              </a:rPr>
              <a:t> </a:t>
            </a:r>
            <a:r>
              <a:rPr lang="sv-SE" sz="4000" b="1" dirty="0" err="1">
                <a:solidFill>
                  <a:srgbClr val="FFCE53"/>
                </a:solidFill>
                <a:latin typeface="Comic Sans MS"/>
              </a:rPr>
              <a:t>Name</a:t>
            </a:r>
            <a:endParaRPr lang="sv-SE" sz="4000" b="1" dirty="0">
              <a:solidFill>
                <a:srgbClr val="FFCE53"/>
              </a:solidFill>
              <a:latin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239656-65EB-9DE0-96F0-F23BFE5F7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374C0AB-3EB0-AA6E-6F9A-49FF553B3F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358194"/>
            <a:ext cx="13411200" cy="7342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310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420E5B-A8F4-BF56-8E4D-B74FAE133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DFFBB8-97E4-2BC2-2874-8FB27138F1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463257"/>
            <a:ext cx="13411200" cy="7131886"/>
          </a:xfrm>
          <a:prstGeom prst="rect">
            <a:avLst/>
          </a:prstGeom>
        </p:spPr>
      </p:pic>
      <p:sp>
        <p:nvSpPr>
          <p:cNvPr id="2" name="object 4">
            <a:extLst>
              <a:ext uri="{FF2B5EF4-FFF2-40B4-BE49-F238E27FC236}">
                <a16:creationId xmlns:a16="http://schemas.microsoft.com/office/drawing/2014/main" id="{35D64FEA-D07F-AF5E-C5DF-7A1EA0AAAE83}"/>
              </a:ext>
            </a:extLst>
          </p:cNvPr>
          <p:cNvSpPr txBox="1"/>
          <p:nvPr/>
        </p:nvSpPr>
        <p:spPr>
          <a:xfrm>
            <a:off x="391224" y="1026884"/>
            <a:ext cx="11114976" cy="636574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50"/>
              </a:spcBef>
            </a:pPr>
            <a:r>
              <a:rPr lang="sv-SE" sz="4000" b="1" dirty="0" err="1">
                <a:latin typeface="Comic Sans MS"/>
                <a:cs typeface="Comic Sans MS"/>
              </a:rPr>
              <a:t>What</a:t>
            </a:r>
            <a:r>
              <a:rPr lang="sv-SE" sz="4000" b="1" spc="-60" dirty="0">
                <a:latin typeface="Comic Sans MS"/>
                <a:cs typeface="Comic Sans MS"/>
              </a:rPr>
              <a:t> </a:t>
            </a:r>
            <a:r>
              <a:rPr lang="sv-SE" sz="4000" b="1" dirty="0" err="1">
                <a:latin typeface="Comic Sans MS"/>
                <a:cs typeface="Comic Sans MS"/>
              </a:rPr>
              <a:t>does</a:t>
            </a:r>
            <a:r>
              <a:rPr lang="sv-SE" sz="4000" b="1" spc="-60" dirty="0">
                <a:latin typeface="Comic Sans MS"/>
                <a:cs typeface="Comic Sans MS"/>
              </a:rPr>
              <a:t> </a:t>
            </a:r>
            <a:r>
              <a:rPr lang="sv-SE" sz="4000" b="1" dirty="0" err="1">
                <a:latin typeface="Comic Sans MS"/>
                <a:cs typeface="Comic Sans MS"/>
              </a:rPr>
              <a:t>this</a:t>
            </a:r>
            <a:r>
              <a:rPr lang="sv-SE" sz="4000" b="1" spc="-55" dirty="0">
                <a:latin typeface="Comic Sans MS"/>
                <a:cs typeface="Comic Sans MS"/>
              </a:rPr>
              <a:t> </a:t>
            </a:r>
            <a:r>
              <a:rPr lang="sv-SE" sz="4000" b="1" spc="-10" dirty="0" err="1">
                <a:latin typeface="Comic Sans MS"/>
                <a:cs typeface="Comic Sans MS"/>
              </a:rPr>
              <a:t>mean</a:t>
            </a:r>
            <a:r>
              <a:rPr lang="sv-SE" sz="4000" b="1" spc="-10" dirty="0">
                <a:latin typeface="Comic Sans MS"/>
                <a:cs typeface="Comic Sans MS"/>
              </a:rPr>
              <a:t>?</a:t>
            </a:r>
            <a:endParaRPr lang="sv-SE" sz="4000" b="1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930200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A7D14B-1576-373E-E5A2-C4F8F4A2D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7C6CAA4-CBEB-90F9-7A8B-F0FBCE5D51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2906" y="1445757"/>
            <a:ext cx="13477012" cy="7166885"/>
          </a:xfrm>
          <a:prstGeom prst="rect">
            <a:avLst/>
          </a:prstGeom>
        </p:spPr>
      </p:pic>
      <p:sp>
        <p:nvSpPr>
          <p:cNvPr id="2" name="object 4">
            <a:extLst>
              <a:ext uri="{FF2B5EF4-FFF2-40B4-BE49-F238E27FC236}">
                <a16:creationId xmlns:a16="http://schemas.microsoft.com/office/drawing/2014/main" id="{B9246AD7-BC08-EA6D-F259-087BC8D87042}"/>
              </a:ext>
            </a:extLst>
          </p:cNvPr>
          <p:cNvSpPr txBox="1"/>
          <p:nvPr/>
        </p:nvSpPr>
        <p:spPr>
          <a:xfrm>
            <a:off x="391224" y="1026884"/>
            <a:ext cx="11114976" cy="636574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50"/>
              </a:spcBef>
            </a:pPr>
            <a:r>
              <a:rPr lang="sv-SE" sz="4000" b="1" dirty="0" err="1">
                <a:latin typeface="Comic Sans MS"/>
                <a:cs typeface="Comic Sans MS"/>
              </a:rPr>
              <a:t>What</a:t>
            </a:r>
            <a:r>
              <a:rPr lang="sv-SE" sz="4000" b="1" spc="-60" dirty="0">
                <a:latin typeface="Comic Sans MS"/>
                <a:cs typeface="Comic Sans MS"/>
              </a:rPr>
              <a:t> </a:t>
            </a:r>
            <a:r>
              <a:rPr lang="sv-SE" sz="4000" b="1" dirty="0" err="1">
                <a:latin typeface="Comic Sans MS"/>
                <a:cs typeface="Comic Sans MS"/>
              </a:rPr>
              <a:t>does</a:t>
            </a:r>
            <a:r>
              <a:rPr lang="sv-SE" sz="4000" b="1" spc="-60" dirty="0">
                <a:latin typeface="Comic Sans MS"/>
                <a:cs typeface="Comic Sans MS"/>
              </a:rPr>
              <a:t> </a:t>
            </a:r>
            <a:r>
              <a:rPr lang="sv-SE" sz="4000" b="1" dirty="0" err="1">
                <a:latin typeface="Comic Sans MS"/>
                <a:cs typeface="Comic Sans MS"/>
              </a:rPr>
              <a:t>this</a:t>
            </a:r>
            <a:r>
              <a:rPr lang="sv-SE" sz="4000" b="1" spc="-55" dirty="0">
                <a:latin typeface="Comic Sans MS"/>
                <a:cs typeface="Comic Sans MS"/>
              </a:rPr>
              <a:t> </a:t>
            </a:r>
            <a:r>
              <a:rPr lang="sv-SE" sz="4000" b="1" spc="-10" dirty="0" err="1">
                <a:latin typeface="Comic Sans MS"/>
                <a:cs typeface="Comic Sans MS"/>
              </a:rPr>
              <a:t>mean</a:t>
            </a:r>
            <a:r>
              <a:rPr lang="sv-SE" sz="4000" b="1" spc="-10" dirty="0">
                <a:latin typeface="Comic Sans MS"/>
                <a:cs typeface="Comic Sans MS"/>
              </a:rPr>
              <a:t>?</a:t>
            </a:r>
            <a:endParaRPr lang="sv-SE" sz="4000" b="1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329959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FA627-1BBC-A8F9-AE11-07440243C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4">
            <a:extLst>
              <a:ext uri="{FF2B5EF4-FFF2-40B4-BE49-F238E27FC236}">
                <a16:creationId xmlns:a16="http://schemas.microsoft.com/office/drawing/2014/main" id="{C1BAB77F-F687-6947-D61A-53791E666081}"/>
              </a:ext>
            </a:extLst>
          </p:cNvPr>
          <p:cNvSpPr txBox="1"/>
          <p:nvPr/>
        </p:nvSpPr>
        <p:spPr>
          <a:xfrm>
            <a:off x="391224" y="1026884"/>
            <a:ext cx="7685976" cy="4548030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4000" b="1" dirty="0">
                <a:solidFill>
                  <a:schemeClr val="tx1"/>
                </a:solidFill>
                <a:latin typeface="Comic Sans MS"/>
                <a:cs typeface="Comic Sans MS"/>
              </a:rPr>
              <a:t>What is Domain?</a:t>
            </a: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endParaRPr lang="en-GB" sz="2400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A domain name (often simply called a domain) </a:t>
            </a:r>
            <a:r>
              <a:rPr lang="en-GB" sz="2400" u="sng" dirty="0">
                <a:solidFill>
                  <a:srgbClr val="FF0000"/>
                </a:solidFill>
                <a:latin typeface="Comic Sans MS"/>
                <a:cs typeface="Comic Sans MS"/>
              </a:rPr>
              <a:t>is an easy-to-remember name that’s associated with a physical IP address on the Internet.</a:t>
            </a: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endParaRPr lang="en-GB" sz="2400" u="sng" dirty="0">
              <a:solidFill>
                <a:srgbClr val="FF0000"/>
              </a:solidFill>
              <a:latin typeface="Comic Sans MS"/>
              <a:cs typeface="Comic Sans MS"/>
            </a:endParaRP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It’s the unique name that appears after the @ sign in email addresses, and after www. in web addresses.</a:t>
            </a:r>
            <a:r>
              <a:rPr lang="en-GB" sz="1400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endParaRPr lang="en-GB" sz="2400" dirty="0">
              <a:solidFill>
                <a:srgbClr val="FF0000"/>
              </a:solidFill>
              <a:latin typeface="Comic Sans MS"/>
              <a:cs typeface="Comic Sans MS"/>
            </a:endParaRPr>
          </a:p>
        </p:txBody>
      </p:sp>
      <p:pic>
        <p:nvPicPr>
          <p:cNvPr id="3" name="object 7">
            <a:extLst>
              <a:ext uri="{FF2B5EF4-FFF2-40B4-BE49-F238E27FC236}">
                <a16:creationId xmlns:a16="http://schemas.microsoft.com/office/drawing/2014/main" id="{1D78ED74-F81F-CDD4-9146-D17058674E2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39201" y="1295399"/>
            <a:ext cx="4572000" cy="5748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724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2461FF-C6F5-9F81-3F1F-E08253966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1B5D298-BA60-96A7-CA5B-F5208D6E7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0530" y="1358194"/>
            <a:ext cx="13070139" cy="7342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84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9B773-0ADB-49E6-27E1-1347FA2F0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D963C633-76F3-56DB-5FB4-A6E4BC41254C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2419871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406</TotalTime>
  <Words>76</Words>
  <Application>Microsoft Office PowerPoint</Application>
  <PresentationFormat>Custom</PresentationFormat>
  <Paragraphs>15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50</cp:revision>
  <dcterms:created xsi:type="dcterms:W3CDTF">2025-12-09T17:44:59Z</dcterms:created>
  <dcterms:modified xsi:type="dcterms:W3CDTF">2026-01-16T19:41:23Z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