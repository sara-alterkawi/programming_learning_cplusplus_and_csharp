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2.jp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347" r:id="rId2"/>
    <p:sldId id="257" r:id="rId3"/>
    <p:sldId id="301" r:id="rId4"/>
    <p:sldId id="312" r:id="rId5"/>
    <p:sldId id="296" r:id="rId6"/>
    <p:sldId id="266" r:id="rId7"/>
    <p:sldId id="313" r:id="rId8"/>
    <p:sldId id="314" r:id="rId9"/>
    <p:sldId id="315" r:id="rId10"/>
    <p:sldId id="316" r:id="rId11"/>
    <p:sldId id="317" r:id="rId12"/>
    <p:sldId id="309" r:id="rId13"/>
    <p:sldId id="318" r:id="rId14"/>
    <p:sldId id="303" r:id="rId15"/>
  </p:sldIdLst>
  <p:sldSz cx="13411200" cy="10058400"/>
  <p:notesSz cx="7772400" cy="10058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372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36" d="100"/>
          <a:sy n="36" d="100"/>
        </p:scale>
        <p:origin x="129" y="12"/>
      </p:cViewPr>
      <p:guideLst>
        <p:guide orient="horz" pos="2880"/>
        <p:guide pos="372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5"/>
            <a:ext cx="7643507" cy="477951"/>
          </a:xfrm>
        </p:spPr>
        <p:txBody>
          <a:bodyPr lIns="0" tIns="0" rIns="0" bIns="0"/>
          <a:lstStyle>
            <a:lvl1pPr>
              <a:defRPr sz="3106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67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7089" y="3228213"/>
            <a:ext cx="7643507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7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58EB70-F102-BAB5-31FD-19FC3742A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object 46">
            <a:extLst>
              <a:ext uri="{FF2B5EF4-FFF2-40B4-BE49-F238E27FC236}">
                <a16:creationId xmlns:a16="http://schemas.microsoft.com/office/drawing/2014/main" id="{1FBE4D91-85C7-0256-4A79-65056ECD04F4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</a:pPr>
            <a:fld id="{81D60167-4931-47E6-BA6A-407CBD079E47}" type="slidenum">
              <a:rPr spc="-86" dirty="0"/>
              <a:pPr marL="65742">
                <a:lnSpc>
                  <a:spcPts val="2260"/>
                </a:lnSpc>
              </a:pPr>
              <a:t>1</a:t>
            </a:fld>
            <a:endParaRPr spc="-86" dirty="0"/>
          </a:p>
        </p:txBody>
      </p:sp>
      <p:pic>
        <p:nvPicPr>
          <p:cNvPr id="47" name="object 25">
            <a:extLst>
              <a:ext uri="{FF2B5EF4-FFF2-40B4-BE49-F238E27FC236}">
                <a16:creationId xmlns:a16="http://schemas.microsoft.com/office/drawing/2014/main" id="{98B72FCF-C42A-5F3E-FCAD-5FE306171E0D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" b="17"/>
          <a:stretch/>
        </p:blipFill>
        <p:spPr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2" name="object 30">
            <a:extLst>
              <a:ext uri="{FF2B5EF4-FFF2-40B4-BE49-F238E27FC236}">
                <a16:creationId xmlns:a16="http://schemas.microsoft.com/office/drawing/2014/main" id="{F0FF3176-3F91-64FC-E68E-9BEFB7D9E6B1}"/>
              </a:ext>
            </a:extLst>
          </p:cNvPr>
          <p:cNvSpPr txBox="1"/>
          <p:nvPr/>
        </p:nvSpPr>
        <p:spPr>
          <a:xfrm>
            <a:off x="0" y="3338091"/>
            <a:ext cx="13411198" cy="1603003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60" algn="ctr">
              <a:spcBef>
                <a:spcPts val="505"/>
              </a:spcBef>
            </a:pPr>
            <a:r>
              <a:rPr lang="en-GB" sz="5000" b="1">
                <a:solidFill>
                  <a:srgbClr val="FFCE53"/>
                </a:solidFill>
                <a:latin typeface="Comic Sans MS"/>
              </a:rPr>
              <a:t>Computer Foundations</a:t>
            </a:r>
            <a:endParaRPr lang="en-GB" sz="5000" b="1" dirty="0">
              <a:solidFill>
                <a:srgbClr val="FFCE53"/>
              </a:solidFill>
              <a:latin typeface="Comic Sans MS"/>
            </a:endParaRPr>
          </a:p>
          <a:p>
            <a:pPr marL="2089760" algn="ctr">
              <a:spcBef>
                <a:spcPts val="505"/>
              </a:spcBef>
            </a:pPr>
            <a:r>
              <a:rPr lang="en-GB" sz="5000" b="1" dirty="0">
                <a:solidFill>
                  <a:schemeClr val="bg1"/>
                </a:solidFill>
                <a:latin typeface="Comic Sans MS"/>
                <a:cs typeface="Comic Sans MS"/>
              </a:rPr>
              <a:t>Level 2</a:t>
            </a:r>
          </a:p>
        </p:txBody>
      </p:sp>
    </p:spTree>
    <p:extLst>
      <p:ext uri="{BB962C8B-B14F-4D97-AF65-F5344CB8AC3E}">
        <p14:creationId xmlns:p14="http://schemas.microsoft.com/office/powerpoint/2010/main" val="12767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3AA9CB0E-53FA-ACBF-E593-FD91CDBB5BF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Modem vs Router vs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Gateway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FFEC3-9D6D-6C48-69EB-216BA8854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bject 7">
            <a:extLst>
              <a:ext uri="{FF2B5EF4-FFF2-40B4-BE49-F238E27FC236}">
                <a16:creationId xmlns:a16="http://schemas.microsoft.com/office/drawing/2014/main" id="{B33F80DE-61C1-B835-7DA7-3F6D862C278C}"/>
              </a:ext>
            </a:extLst>
          </p:cNvPr>
          <p:cNvSpPr/>
          <p:nvPr/>
        </p:nvSpPr>
        <p:spPr>
          <a:xfrm>
            <a:off x="1304585" y="3108946"/>
            <a:ext cx="1488016" cy="998134"/>
          </a:xfrm>
          <a:custGeom>
            <a:avLst/>
            <a:gdLst/>
            <a:ahLst/>
            <a:cxnLst/>
            <a:rect l="l" t="t" r="r" b="b"/>
            <a:pathLst>
              <a:path w="308609" h="207010">
                <a:moveTo>
                  <a:pt x="0" y="0"/>
                </a:moveTo>
                <a:lnTo>
                  <a:pt x="308610" y="0"/>
                </a:lnTo>
                <a:lnTo>
                  <a:pt x="308610" y="183642"/>
                </a:lnTo>
                <a:lnTo>
                  <a:pt x="128778" y="183642"/>
                </a:lnTo>
                <a:lnTo>
                  <a:pt x="89916" y="206502"/>
                </a:lnTo>
                <a:lnTo>
                  <a:pt x="51816" y="183642"/>
                </a:lnTo>
                <a:lnTo>
                  <a:pt x="0" y="183642"/>
                </a:lnTo>
                <a:lnTo>
                  <a:pt x="0" y="107442"/>
                </a:lnTo>
                <a:lnTo>
                  <a:pt x="0" y="0"/>
                </a:lnTo>
                <a:close/>
              </a:path>
            </a:pathLst>
          </a:custGeom>
          <a:ln w="3314">
            <a:solidFill>
              <a:srgbClr val="2E518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76A726F-57EE-0832-B3C5-4A82E0251F36}"/>
              </a:ext>
            </a:extLst>
          </p:cNvPr>
          <p:cNvGrpSpPr/>
          <p:nvPr/>
        </p:nvGrpSpPr>
        <p:grpSpPr>
          <a:xfrm>
            <a:off x="587652" y="961814"/>
            <a:ext cx="12235896" cy="8134772"/>
            <a:chOff x="1304585" y="838200"/>
            <a:chExt cx="10947102" cy="7277945"/>
          </a:xfrm>
        </p:grpSpPr>
        <p:pic>
          <p:nvPicPr>
            <p:cNvPr id="5" name="object 5">
              <a:extLst>
                <a:ext uri="{FF2B5EF4-FFF2-40B4-BE49-F238E27FC236}">
                  <a16:creationId xmlns:a16="http://schemas.microsoft.com/office/drawing/2014/main" id="{7E4CE90F-D96D-D920-AF18-476669EAB262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00165" y="838200"/>
              <a:ext cx="10851522" cy="6778878"/>
            </a:xfrm>
            <a:prstGeom prst="rect">
              <a:avLst/>
            </a:prstGeom>
          </p:spPr>
        </p:pic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6C6260C2-1731-6895-1C1B-084BA4719852}"/>
                </a:ext>
              </a:extLst>
            </p:cNvPr>
            <p:cNvGrpSpPr/>
            <p:nvPr/>
          </p:nvGrpSpPr>
          <p:grpSpPr>
            <a:xfrm>
              <a:off x="1304585" y="3108946"/>
              <a:ext cx="1488016" cy="998134"/>
              <a:chOff x="1304585" y="3108946"/>
              <a:chExt cx="1488016" cy="998134"/>
            </a:xfrm>
          </p:grpSpPr>
          <p:sp>
            <p:nvSpPr>
              <p:cNvPr id="6" name="object 6">
                <a:extLst>
                  <a:ext uri="{FF2B5EF4-FFF2-40B4-BE49-F238E27FC236}">
                    <a16:creationId xmlns:a16="http://schemas.microsoft.com/office/drawing/2014/main" id="{1CA33729-E6D9-0150-533A-D0D8FE63D9A9}"/>
                  </a:ext>
                </a:extLst>
              </p:cNvPr>
              <p:cNvSpPr/>
              <p:nvPr/>
            </p:nvSpPr>
            <p:spPr>
              <a:xfrm>
                <a:off x="1304585" y="3108946"/>
                <a:ext cx="1488016" cy="998134"/>
              </a:xfrm>
              <a:custGeom>
                <a:avLst/>
                <a:gdLst/>
                <a:ahLst/>
                <a:cxnLst/>
                <a:rect l="l" t="t" r="r" b="b"/>
                <a:pathLst>
                  <a:path w="308609" h="207010">
                    <a:moveTo>
                      <a:pt x="308610" y="0"/>
                    </a:moveTo>
                    <a:lnTo>
                      <a:pt x="0" y="0"/>
                    </a:lnTo>
                    <a:lnTo>
                      <a:pt x="0" y="183642"/>
                    </a:lnTo>
                    <a:lnTo>
                      <a:pt x="51816" y="183642"/>
                    </a:lnTo>
                    <a:lnTo>
                      <a:pt x="89916" y="206502"/>
                    </a:lnTo>
                    <a:lnTo>
                      <a:pt x="128778" y="183642"/>
                    </a:lnTo>
                    <a:lnTo>
                      <a:pt x="308610" y="183642"/>
                    </a:lnTo>
                    <a:lnTo>
                      <a:pt x="308610" y="0"/>
                    </a:lnTo>
                    <a:close/>
                  </a:path>
                </a:pathLst>
              </a:custGeom>
              <a:solidFill>
                <a:srgbClr val="4371C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2" name="object 13">
                <a:extLst>
                  <a:ext uri="{FF2B5EF4-FFF2-40B4-BE49-F238E27FC236}">
                    <a16:creationId xmlns:a16="http://schemas.microsoft.com/office/drawing/2014/main" id="{615B431F-2E0D-2C33-2128-800202526C5C}"/>
                  </a:ext>
                </a:extLst>
              </p:cNvPr>
              <p:cNvSpPr txBox="1"/>
              <p:nvPr/>
            </p:nvSpPr>
            <p:spPr>
              <a:xfrm>
                <a:off x="1304585" y="3124201"/>
                <a:ext cx="1488016" cy="578338"/>
              </a:xfrm>
              <a:prstGeom prst="rect">
                <a:avLst/>
              </a:prstGeom>
            </p:spPr>
            <p:txBody>
              <a:bodyPr vert="horz" wrap="square" lIns="0" tIns="24105" rIns="0" bIns="0" rtlCol="0">
                <a:spAutoFit/>
              </a:bodyPr>
              <a:lstStyle/>
              <a:p>
                <a:pPr algn="ctr">
                  <a:spcBef>
                    <a:spcPts val="190"/>
                  </a:spcBef>
                </a:pPr>
                <a:r>
                  <a:rPr lang="sv-SE" dirty="0">
                    <a:solidFill>
                      <a:srgbClr val="FFFFFF"/>
                    </a:solidFill>
                    <a:latin typeface="Calibri"/>
                    <a:cs typeface="Calibri"/>
                  </a:rPr>
                  <a:t>DSL or Cable or Fiber</a:t>
                </a:r>
                <a:endParaRPr dirty="0">
                  <a:latin typeface="Calibri"/>
                  <a:cs typeface="Calibri"/>
                </a:endParaRP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1806533D-19E2-2C1D-1878-3F4C34A12716}"/>
                </a:ext>
              </a:extLst>
            </p:cNvPr>
            <p:cNvGrpSpPr/>
            <p:nvPr/>
          </p:nvGrpSpPr>
          <p:grpSpPr>
            <a:xfrm>
              <a:off x="6711462" y="7118011"/>
              <a:ext cx="1488016" cy="998134"/>
              <a:chOff x="1304585" y="3108946"/>
              <a:chExt cx="1488016" cy="998134"/>
            </a:xfrm>
          </p:grpSpPr>
          <p:sp>
            <p:nvSpPr>
              <p:cNvPr id="13" name="object 6">
                <a:extLst>
                  <a:ext uri="{FF2B5EF4-FFF2-40B4-BE49-F238E27FC236}">
                    <a16:creationId xmlns:a16="http://schemas.microsoft.com/office/drawing/2014/main" id="{5FBC4FE1-88E2-9AAC-B51D-4942C0B48653}"/>
                  </a:ext>
                </a:extLst>
              </p:cNvPr>
              <p:cNvSpPr/>
              <p:nvPr/>
            </p:nvSpPr>
            <p:spPr>
              <a:xfrm>
                <a:off x="1304585" y="3108946"/>
                <a:ext cx="1488016" cy="998134"/>
              </a:xfrm>
              <a:custGeom>
                <a:avLst/>
                <a:gdLst/>
                <a:ahLst/>
                <a:cxnLst/>
                <a:rect l="l" t="t" r="r" b="b"/>
                <a:pathLst>
                  <a:path w="308609" h="207010">
                    <a:moveTo>
                      <a:pt x="308610" y="0"/>
                    </a:moveTo>
                    <a:lnTo>
                      <a:pt x="0" y="0"/>
                    </a:lnTo>
                    <a:lnTo>
                      <a:pt x="0" y="183642"/>
                    </a:lnTo>
                    <a:lnTo>
                      <a:pt x="51816" y="183642"/>
                    </a:lnTo>
                    <a:lnTo>
                      <a:pt x="89916" y="206502"/>
                    </a:lnTo>
                    <a:lnTo>
                      <a:pt x="128778" y="183642"/>
                    </a:lnTo>
                    <a:lnTo>
                      <a:pt x="308610" y="183642"/>
                    </a:lnTo>
                    <a:lnTo>
                      <a:pt x="308610" y="0"/>
                    </a:lnTo>
                    <a:close/>
                  </a:path>
                </a:pathLst>
              </a:custGeom>
              <a:solidFill>
                <a:srgbClr val="4371C3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4" name="object 13">
                <a:extLst>
                  <a:ext uri="{FF2B5EF4-FFF2-40B4-BE49-F238E27FC236}">
                    <a16:creationId xmlns:a16="http://schemas.microsoft.com/office/drawing/2014/main" id="{51762534-04EA-430C-9B97-D80A39312693}"/>
                  </a:ext>
                </a:extLst>
              </p:cNvPr>
              <p:cNvSpPr txBox="1"/>
              <p:nvPr/>
            </p:nvSpPr>
            <p:spPr>
              <a:xfrm>
                <a:off x="1304585" y="3124201"/>
                <a:ext cx="1488016" cy="906633"/>
              </a:xfrm>
              <a:prstGeom prst="rect">
                <a:avLst/>
              </a:prstGeom>
            </p:spPr>
            <p:txBody>
              <a:bodyPr vert="horz" wrap="square" lIns="0" tIns="24105" rIns="0" bIns="0" rtlCol="0">
                <a:spAutoFit/>
              </a:bodyPr>
              <a:lstStyle/>
              <a:p>
                <a:pPr algn="ctr">
                  <a:spcBef>
                    <a:spcPts val="190"/>
                  </a:spcBef>
                </a:pPr>
                <a:r>
                  <a:rPr lang="sv-SE" dirty="0">
                    <a:solidFill>
                      <a:srgbClr val="FFFFFF"/>
                    </a:solidFill>
                    <a:latin typeface="Calibri"/>
                    <a:cs typeface="Calibri"/>
                  </a:rPr>
                  <a:t>2.4 GHz</a:t>
                </a:r>
              </a:p>
              <a:p>
                <a:pPr algn="ctr">
                  <a:spcBef>
                    <a:spcPts val="190"/>
                  </a:spcBef>
                </a:pPr>
                <a:r>
                  <a:rPr lang="sv-SE" dirty="0">
                    <a:solidFill>
                      <a:srgbClr val="FFFFFF"/>
                    </a:solidFill>
                    <a:latin typeface="Calibri"/>
                    <a:cs typeface="Calibri"/>
                  </a:rPr>
                  <a:t>Or</a:t>
                </a:r>
              </a:p>
              <a:p>
                <a:pPr algn="ctr">
                  <a:spcBef>
                    <a:spcPts val="190"/>
                  </a:spcBef>
                </a:pPr>
                <a:r>
                  <a:rPr lang="sv-SE" dirty="0">
                    <a:solidFill>
                      <a:srgbClr val="FFFFFF"/>
                    </a:solidFill>
                    <a:latin typeface="Calibri"/>
                    <a:cs typeface="Calibri"/>
                  </a:rPr>
                  <a:t>5 GHz</a:t>
                </a:r>
                <a:endParaRPr dirty="0">
                  <a:latin typeface="Calibri"/>
                  <a:cs typeface="Calibri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077700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584AFC-23AC-1006-C00D-C4291E4F9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A96088F3-504B-15C3-8739-F2AFAA851401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64A85E5-990A-17A8-57CB-2CEE85DBB3F3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95ECC75-D60F-7BAA-DB94-A3F3049F8CA8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E8690D6A-EA4F-14C9-394C-AF008043946E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BC753EF9-E326-64E8-2DC8-BD836FE1C8D8}"/>
              </a:ext>
            </a:extLst>
          </p:cNvPr>
          <p:cNvSpPr txBox="1"/>
          <p:nvPr/>
        </p:nvSpPr>
        <p:spPr>
          <a:xfrm>
            <a:off x="106432" y="3084218"/>
            <a:ext cx="13304768" cy="18415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Gateway?</a:t>
            </a:r>
          </a:p>
        </p:txBody>
      </p:sp>
    </p:spTree>
    <p:extLst>
      <p:ext uri="{BB962C8B-B14F-4D97-AF65-F5344CB8AC3E}">
        <p14:creationId xmlns:p14="http://schemas.microsoft.com/office/powerpoint/2010/main" val="3140058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41C9F7-9A4E-8ADE-F459-033126BEC7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ject 22"/>
          <p:cNvPicPr/>
          <p:nvPr/>
        </p:nvPicPr>
        <p:blipFill>
          <a:blip r:embed="rId2" cstate="print"/>
          <a:srcRect r="2470" b="3082"/>
          <a:stretch>
            <a:fillRect/>
          </a:stretch>
        </p:blipFill>
        <p:spPr>
          <a:xfrm>
            <a:off x="1642600" y="1638300"/>
            <a:ext cx="9025399" cy="67818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741D88D-43B6-89C0-0B0E-EA611CF65A24}"/>
              </a:ext>
            </a:extLst>
          </p:cNvPr>
          <p:cNvSpPr/>
          <p:nvPr/>
        </p:nvSpPr>
        <p:spPr>
          <a:xfrm>
            <a:off x="9924268" y="8214430"/>
            <a:ext cx="762000" cy="376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94489C-74EC-5BD1-178A-7A78AAC1AF1B}"/>
              </a:ext>
            </a:extLst>
          </p:cNvPr>
          <p:cNvSpPr/>
          <p:nvPr/>
        </p:nvSpPr>
        <p:spPr>
          <a:xfrm>
            <a:off x="1371600" y="8067375"/>
            <a:ext cx="762000" cy="37651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82B144C-FE46-3244-3554-A3CEDD16A8D7}"/>
              </a:ext>
            </a:extLst>
          </p:cNvPr>
          <p:cNvSpPr/>
          <p:nvPr/>
        </p:nvSpPr>
        <p:spPr>
          <a:xfrm>
            <a:off x="5944284" y="8079788"/>
            <a:ext cx="931300" cy="36410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7211973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8CF252-7F95-9272-7CF1-6C13A3AF71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6">
            <a:extLst>
              <a:ext uri="{FF2B5EF4-FFF2-40B4-BE49-F238E27FC236}">
                <a16:creationId xmlns:a16="http://schemas.microsoft.com/office/drawing/2014/main" id="{C7756538-41AD-A0E5-896C-405EC0934B78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15600" y="762000"/>
            <a:ext cx="2535005" cy="1981200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A0D3D626-89F5-B53B-6DB4-3CF49190925C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4931164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spcBef>
                <a:spcPts val="164"/>
              </a:spcBef>
            </a:pPr>
            <a:r>
              <a:rPr lang="en-GB" sz="4000" b="1" dirty="0">
                <a:latin typeface="Comic Sans MS"/>
                <a:cs typeface="Comic Sans MS"/>
              </a:rPr>
              <a:t>What</a:t>
            </a:r>
            <a:r>
              <a:rPr lang="en-GB" sz="4000" b="1" spc="-17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is</a:t>
            </a:r>
            <a:r>
              <a:rPr lang="en-GB" sz="4000" b="1" spc="-43" dirty="0">
                <a:latin typeface="Comic Sans MS"/>
                <a:cs typeface="Comic Sans MS"/>
              </a:rPr>
              <a:t> </a:t>
            </a:r>
            <a:r>
              <a:rPr lang="en-GB" sz="4000" b="1" dirty="0">
                <a:latin typeface="Comic Sans MS"/>
                <a:cs typeface="Comic Sans MS"/>
              </a:rPr>
              <a:t>Gateway</a:t>
            </a:r>
            <a:r>
              <a:rPr lang="en-GB" sz="4000" b="1" spc="-17" dirty="0">
                <a:latin typeface="Comic Sans MS"/>
                <a:cs typeface="Comic Sans MS"/>
              </a:rPr>
              <a:t>?</a:t>
            </a:r>
            <a:endParaRPr lang="en-GB" sz="4800" b="1" dirty="0">
              <a:latin typeface="Comic Sans MS"/>
              <a:cs typeface="Comic Sans MS"/>
            </a:endParaRPr>
          </a:p>
          <a:p>
            <a:pPr>
              <a:spcBef>
                <a:spcPts val="164"/>
              </a:spcBef>
            </a:pPr>
            <a:endParaRPr lang="en-GB" sz="2400" b="1" dirty="0">
              <a:latin typeface="Comic Sans MS"/>
              <a:cs typeface="Comic Sans MS"/>
            </a:endParaRPr>
          </a:p>
          <a:p>
            <a:pPr>
              <a:spcBef>
                <a:spcPts val="164"/>
              </a:spcBef>
            </a:pPr>
            <a:r>
              <a:rPr lang="en-GB" sz="2400" b="1" dirty="0">
                <a:latin typeface="Comic Sans MS"/>
                <a:cs typeface="Comic Sans MS"/>
              </a:rPr>
              <a:t>Gateway is:</a:t>
            </a:r>
          </a:p>
          <a:p>
            <a:pPr marL="342900" indent="-342900">
              <a:spcBef>
                <a:spcPts val="164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omic Sans MS"/>
                <a:cs typeface="Comic Sans MS"/>
              </a:rPr>
              <a:t>A </a:t>
            </a:r>
            <a:r>
              <a:rPr lang="en-GB" sz="2400" u="sng" dirty="0">
                <a:solidFill>
                  <a:srgbClr val="FF0000"/>
                </a:solidFill>
                <a:latin typeface="Comic Sans MS"/>
                <a:cs typeface="Comic Sans MS"/>
              </a:rPr>
              <a:t>computer that sits between different networks or applications</a:t>
            </a:r>
            <a:r>
              <a:rPr lang="en-GB" sz="2400" dirty="0">
                <a:latin typeface="Comic Sans MS"/>
                <a:cs typeface="Comic Sans MS"/>
              </a:rPr>
              <a:t>.</a:t>
            </a:r>
          </a:p>
          <a:p>
            <a:pPr marL="342900" indent="-342900">
              <a:spcBef>
                <a:spcPts val="164"/>
              </a:spcBef>
              <a:buFont typeface="Arial" panose="020B0604020202020204" pitchFamily="34" charset="0"/>
              <a:buChar char="•"/>
            </a:pPr>
            <a:endParaRPr lang="en-GB" sz="2400" dirty="0">
              <a:latin typeface="Comic Sans MS"/>
              <a:cs typeface="Comic Sans MS"/>
            </a:endParaRPr>
          </a:p>
          <a:p>
            <a:pPr marL="342900" indent="-342900">
              <a:spcBef>
                <a:spcPts val="164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omic Sans MS"/>
                <a:cs typeface="Comic Sans MS"/>
              </a:rPr>
              <a:t>The gateway converts information, data or other communications from one protocol or </a:t>
            </a:r>
            <a:r>
              <a:rPr lang="en-GB" sz="2400" u="sng" dirty="0">
                <a:solidFill>
                  <a:srgbClr val="FF0000"/>
                </a:solidFill>
                <a:latin typeface="Comic Sans MS"/>
                <a:cs typeface="Comic Sans MS"/>
              </a:rPr>
              <a:t>format to another</a:t>
            </a:r>
            <a:r>
              <a:rPr lang="en-GB" sz="2400" dirty="0">
                <a:latin typeface="Comic Sans MS"/>
                <a:cs typeface="Comic Sans MS"/>
              </a:rPr>
              <a:t>.</a:t>
            </a:r>
          </a:p>
          <a:p>
            <a:pPr marL="342900" indent="-342900">
              <a:spcBef>
                <a:spcPts val="164"/>
              </a:spcBef>
              <a:buFont typeface="Arial" panose="020B0604020202020204" pitchFamily="34" charset="0"/>
              <a:buChar char="•"/>
            </a:pPr>
            <a:endParaRPr lang="en-GB" sz="2400" dirty="0">
              <a:latin typeface="Comic Sans MS"/>
              <a:cs typeface="Comic Sans MS"/>
            </a:endParaRPr>
          </a:p>
          <a:p>
            <a:pPr marL="342900" indent="-342900">
              <a:spcBef>
                <a:spcPts val="164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omic Sans MS"/>
                <a:cs typeface="Comic Sans MS"/>
              </a:rPr>
              <a:t>A router may perform some of the functions of a gateway.</a:t>
            </a:r>
          </a:p>
          <a:p>
            <a:pPr marL="342900" indent="-342900">
              <a:spcBef>
                <a:spcPts val="164"/>
              </a:spcBef>
              <a:buFont typeface="Arial" panose="020B0604020202020204" pitchFamily="34" charset="0"/>
              <a:buChar char="•"/>
            </a:pPr>
            <a:endParaRPr lang="en-GB" sz="2400" dirty="0">
              <a:latin typeface="Comic Sans MS"/>
              <a:cs typeface="Comic Sans MS"/>
            </a:endParaRPr>
          </a:p>
          <a:p>
            <a:pPr marL="342900" indent="-342900">
              <a:spcBef>
                <a:spcPts val="164"/>
              </a:spcBef>
              <a:buFont typeface="Arial" panose="020B0604020202020204" pitchFamily="34" charset="0"/>
              <a:buChar char="•"/>
            </a:pPr>
            <a:r>
              <a:rPr lang="en-GB" sz="2400" dirty="0">
                <a:latin typeface="Comic Sans MS"/>
                <a:cs typeface="Comic Sans MS"/>
              </a:rPr>
              <a:t>An Internet gateway can transfer communications between an enterprise network and the Internet.</a:t>
            </a:r>
          </a:p>
        </p:txBody>
      </p:sp>
    </p:spTree>
    <p:extLst>
      <p:ext uri="{BB962C8B-B14F-4D97-AF65-F5344CB8AC3E}">
        <p14:creationId xmlns:p14="http://schemas.microsoft.com/office/powerpoint/2010/main" val="26870821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AB2504-2C2C-2BD7-2547-76D26A7DF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DBD2F46C-A53C-4197-0EFE-455DE6CFBFEE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DDF4D617-0F77-D170-DC7F-385D1FBC8888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6F10F101-1B38-3724-7C48-C209BADBC32B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3E6543B4-8F81-C8B9-758E-8AA703991F37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416DD78C-F94E-008F-B9DA-4F4AC81B4E35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Is gateway same as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router?</a:t>
            </a:r>
          </a:p>
        </p:txBody>
      </p:sp>
    </p:spTree>
    <p:extLst>
      <p:ext uri="{BB962C8B-B14F-4D97-AF65-F5344CB8AC3E}">
        <p14:creationId xmlns:p14="http://schemas.microsoft.com/office/powerpoint/2010/main" val="19969643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A67E4-3984-3137-4AB8-2C780A013C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BBCB0ECB-0771-A4D3-B177-EA957E99C386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4691868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64"/>
              </a:spcBef>
            </a:pPr>
            <a:r>
              <a:rPr lang="en-GB" sz="4000" b="1" dirty="0">
                <a:latin typeface="Comic Sans MS"/>
              </a:rPr>
              <a:t>Is gateway same as router?</a:t>
            </a:r>
          </a:p>
          <a:p>
            <a:pPr marL="438150" marR="5080" indent="-342900">
              <a:lnSpc>
                <a:spcPct val="1044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170180" algn="l"/>
              </a:tabLst>
            </a:pPr>
            <a:endParaRPr lang="en-GB" sz="2400" dirty="0">
              <a:solidFill>
                <a:srgbClr val="1F2023"/>
              </a:solidFill>
              <a:latin typeface="Comic Sans MS"/>
              <a:cs typeface="Comic Sans MS"/>
            </a:endParaRPr>
          </a:p>
          <a:p>
            <a:pPr marL="438150" marR="5080" indent="-342900">
              <a:lnSpc>
                <a:spcPct val="1044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170180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router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is</a:t>
            </a:r>
            <a:r>
              <a:rPr lang="en-GB" sz="2400" u="sng" spc="35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a</a:t>
            </a:r>
            <a:r>
              <a:rPr lang="en-GB" sz="2400" u="sng" spc="45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device</a:t>
            </a:r>
            <a:r>
              <a:rPr lang="en-GB" sz="2400" u="sng" spc="45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that</a:t>
            </a:r>
            <a:r>
              <a:rPr lang="en-GB" sz="2400" u="sng" spc="45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is</a:t>
            </a:r>
            <a:r>
              <a:rPr lang="en-GB" sz="2400" u="sng" spc="45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capable</a:t>
            </a:r>
            <a:r>
              <a:rPr lang="en-GB" sz="2400" u="sng" spc="50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of</a:t>
            </a:r>
            <a:r>
              <a:rPr lang="en-GB" sz="2400" u="sng" spc="45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sending</a:t>
            </a:r>
            <a:r>
              <a:rPr lang="en-GB" sz="2400" u="sng" spc="40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and</a:t>
            </a:r>
            <a:r>
              <a:rPr lang="en-GB" sz="2400" u="sng" spc="45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receiving</a:t>
            </a:r>
            <a:r>
              <a:rPr lang="en-GB" sz="2400" u="sng" spc="30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data</a:t>
            </a:r>
            <a:r>
              <a:rPr lang="en-GB" sz="2400" u="sng" spc="50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packets</a:t>
            </a:r>
            <a:r>
              <a:rPr lang="en-GB" sz="2400" u="sng" spc="55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between</a:t>
            </a:r>
            <a:r>
              <a:rPr lang="en-GB" sz="2400" u="sng" spc="50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0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computer</a:t>
            </a:r>
            <a:r>
              <a:rPr lang="en-GB" sz="2400" u="sng" spc="500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0" dirty="0">
                <a:solidFill>
                  <a:srgbClr val="1F2023"/>
                </a:solidFill>
                <a:uFill>
                  <a:solidFill>
                    <a:srgbClr val="1F2023"/>
                  </a:solidFill>
                </a:uFill>
                <a:latin typeface="Comic Sans MS"/>
                <a:cs typeface="Comic Sans MS"/>
              </a:rPr>
              <a:t>networks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.</a:t>
            </a:r>
          </a:p>
          <a:p>
            <a:pPr marL="438150" marR="5080" indent="-342900">
              <a:lnSpc>
                <a:spcPct val="1044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170180" algn="l"/>
              </a:tabLst>
            </a:pPr>
            <a:endParaRPr lang="en-GB" sz="2400" spc="-10" dirty="0">
              <a:latin typeface="Comic Sans MS"/>
              <a:cs typeface="Comic Sans MS"/>
            </a:endParaRPr>
          </a:p>
          <a:p>
            <a:pPr marL="438150" marR="5080" indent="-342900">
              <a:lnSpc>
                <a:spcPct val="1044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170180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Gateway,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on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other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hand,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joins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dissimilar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systems.</a:t>
            </a:r>
          </a:p>
          <a:p>
            <a:pPr marL="438150" marR="5080" indent="-342900">
              <a:lnSpc>
                <a:spcPct val="1044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170180" algn="l"/>
              </a:tabLst>
            </a:pPr>
            <a:endParaRPr lang="en-GB" sz="2400" spc="-10" dirty="0">
              <a:latin typeface="Comic Sans MS"/>
              <a:cs typeface="Comic Sans MS"/>
            </a:endParaRPr>
          </a:p>
          <a:p>
            <a:pPr marL="438150" marR="5080" indent="-342900">
              <a:lnSpc>
                <a:spcPct val="104400"/>
              </a:lnSpc>
              <a:spcBef>
                <a:spcPts val="1300"/>
              </a:spcBef>
              <a:buFont typeface="Arial" panose="020B0604020202020204" pitchFamily="34" charset="0"/>
              <a:buChar char="•"/>
              <a:tabLst>
                <a:tab pos="170180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Gateway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it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is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defined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as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network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entity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that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allows</a:t>
            </a:r>
            <a:r>
              <a:rPr lang="en-GB" sz="2400" spc="5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a</a:t>
            </a:r>
            <a:r>
              <a:rPr lang="en-GB" sz="24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network</a:t>
            </a:r>
            <a:r>
              <a:rPr lang="en-GB" sz="24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to</a:t>
            </a:r>
            <a:r>
              <a:rPr lang="en-GB" sz="2400" spc="4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interface</a:t>
            </a:r>
            <a:r>
              <a:rPr lang="en-GB" sz="2400" spc="3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with</a:t>
            </a:r>
            <a:r>
              <a:rPr lang="en-GB" sz="2400" spc="5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another</a:t>
            </a:r>
            <a:r>
              <a:rPr lang="en-GB" sz="2400" spc="50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network</a:t>
            </a:r>
            <a:r>
              <a:rPr lang="en-GB" sz="2400" spc="6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with</a:t>
            </a:r>
            <a:r>
              <a:rPr lang="en-GB" sz="2400" spc="70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FF0000"/>
                </a:solidFill>
                <a:latin typeface="Comic Sans MS"/>
                <a:cs typeface="Comic Sans MS"/>
              </a:rPr>
              <a:t>different</a:t>
            </a:r>
            <a:r>
              <a:rPr lang="en-GB" sz="2400" spc="45" dirty="0">
                <a:solidFill>
                  <a:srgbClr val="FF0000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FF0000"/>
                </a:solidFill>
                <a:latin typeface="Comic Sans MS"/>
                <a:cs typeface="Comic Sans MS"/>
              </a:rPr>
              <a:t>protocols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8396075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B689A-71DA-987E-C92E-D1D4CEAC30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7AD1310F-16E8-B16F-E83F-EB5053D2C1C9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E13F0CC3-3DFD-56BF-957F-F9649A25335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FA290C33-4F34-CA11-EA82-9898BC4F6325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203F7A09-CB09-176A-502D-5469DCFD8D79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F0EEFBDF-D4A1-DB59-1708-8484780EB7DF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Is gateway better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than router?</a:t>
            </a:r>
          </a:p>
        </p:txBody>
      </p:sp>
    </p:spTree>
    <p:extLst>
      <p:ext uri="{BB962C8B-B14F-4D97-AF65-F5344CB8AC3E}">
        <p14:creationId xmlns:p14="http://schemas.microsoft.com/office/powerpoint/2010/main" val="2083776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EF82A-A904-D36D-0E43-CE58D2E738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530ECD49-038F-D9FC-76E2-3033BE917B70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3659021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64"/>
              </a:spcBef>
            </a:pPr>
            <a:r>
              <a:rPr lang="en-GB" sz="4000" b="1" dirty="0">
                <a:latin typeface="Comic Sans MS"/>
              </a:rPr>
              <a:t>Is gateway better than router?</a:t>
            </a:r>
          </a:p>
          <a:p>
            <a:pPr>
              <a:lnSpc>
                <a:spcPct val="100000"/>
              </a:lnSpc>
              <a:spcBef>
                <a:spcPts val="164"/>
              </a:spcBef>
            </a:pPr>
            <a:endParaRPr lang="en-GB" sz="2400" b="1" dirty="0">
              <a:latin typeface="Comic Sans MS"/>
            </a:endParaRPr>
          </a:p>
          <a:p>
            <a:pPr marL="88900">
              <a:lnSpc>
                <a:spcPct val="100000"/>
              </a:lnSpc>
              <a:spcBef>
                <a:spcPts val="1060"/>
              </a:spcBef>
            </a:pPr>
            <a:r>
              <a:rPr lang="en-GB" sz="2400" dirty="0">
                <a:latin typeface="Comic Sans MS"/>
                <a:cs typeface="Comic Sans MS"/>
              </a:rPr>
              <a:t>It</a:t>
            </a:r>
            <a:r>
              <a:rPr lang="en-GB" sz="2400" spc="30" dirty="0">
                <a:latin typeface="Comic Sans MS"/>
                <a:cs typeface="Comic Sans MS"/>
              </a:rPr>
              <a:t> </a:t>
            </a:r>
            <a:r>
              <a:rPr lang="en-GB" sz="2400" spc="-10" dirty="0">
                <a:latin typeface="Comic Sans MS"/>
                <a:cs typeface="Comic Sans MS"/>
              </a:rPr>
              <a:t>Depends:</a:t>
            </a:r>
            <a:endParaRPr lang="en-GB" sz="2400" dirty="0">
              <a:latin typeface="Comic Sans MS"/>
              <a:cs typeface="Comic Sans MS"/>
            </a:endParaRPr>
          </a:p>
          <a:p>
            <a:pPr marL="431800" indent="-34290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  <a:tabLst>
                <a:tab pos="162560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If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your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devices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are</a:t>
            </a:r>
            <a:r>
              <a:rPr lang="en-GB" sz="2400" u="sng" spc="2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on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the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same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,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then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routers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and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gateways</a:t>
            </a:r>
            <a:r>
              <a:rPr lang="en-GB" sz="2400" u="sng" spc="5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can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be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peer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to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spc="-1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peer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.</a:t>
            </a:r>
          </a:p>
          <a:p>
            <a:pPr marL="431800" indent="-34290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  <a:tabLst>
                <a:tab pos="162560" algn="l"/>
              </a:tabLst>
            </a:pPr>
            <a:endParaRPr lang="en-GB" sz="2400" spc="-10" dirty="0">
              <a:latin typeface="Comic Sans MS"/>
              <a:cs typeface="Comic Sans MS"/>
            </a:endParaRPr>
          </a:p>
          <a:p>
            <a:pPr marL="431800" indent="-342900">
              <a:lnSpc>
                <a:spcPct val="100000"/>
              </a:lnSpc>
              <a:spcBef>
                <a:spcPts val="695"/>
              </a:spcBef>
              <a:buFont typeface="Arial" panose="020B0604020202020204" pitchFamily="34" charset="0"/>
              <a:buChar char="•"/>
              <a:tabLst>
                <a:tab pos="162560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But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if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you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want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to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connect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two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different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networks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with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different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protocols,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gateway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25" dirty="0">
                <a:solidFill>
                  <a:srgbClr val="1F2023"/>
                </a:solidFill>
                <a:latin typeface="Comic Sans MS"/>
                <a:cs typeface="Comic Sans MS"/>
              </a:rPr>
              <a:t>can</a:t>
            </a:r>
            <a:r>
              <a:rPr lang="en-GB" sz="2400" spc="50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suit</a:t>
            </a:r>
            <a:r>
              <a:rPr lang="en-GB" sz="2400" spc="2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your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demands.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31091913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B11282-F058-AD61-8749-BD54671F77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>
            <a:extLst>
              <a:ext uri="{FF2B5EF4-FFF2-40B4-BE49-F238E27FC236}">
                <a16:creationId xmlns:a16="http://schemas.microsoft.com/office/drawing/2014/main" id="{0E0DD871-5701-F323-EED2-9E1EA103F811}"/>
              </a:ext>
            </a:extLst>
          </p:cNvPr>
          <p:cNvGrpSpPr/>
          <p:nvPr/>
        </p:nvGrpSpPr>
        <p:grpSpPr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>
              <a:extLst>
                <a:ext uri="{FF2B5EF4-FFF2-40B4-BE49-F238E27FC236}">
                  <a16:creationId xmlns:a16="http://schemas.microsoft.com/office/drawing/2014/main" id="{81F2B318-F15E-A158-2B07-519229CD9C5D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>
              <a:extLst>
                <a:ext uri="{FF2B5EF4-FFF2-40B4-BE49-F238E27FC236}">
                  <a16:creationId xmlns:a16="http://schemas.microsoft.com/office/drawing/2014/main" id="{0D63AD3D-CAE9-152C-AE5A-004575850BA4}"/>
                </a:ext>
              </a:extLst>
            </p:cNvPr>
            <p:cNvSpPr/>
            <p:nvPr/>
          </p:nvSpPr>
          <p:spPr>
            <a:xfrm>
              <a:off x="60960" y="3901439"/>
              <a:ext cx="7711440" cy="1264920"/>
            </a:xfrm>
            <a:custGeom>
              <a:avLst/>
              <a:gdLst/>
              <a:ahLst/>
              <a:cxnLst/>
              <a:rect l="l" t="t" r="r" b="b"/>
              <a:pathLst>
                <a:path w="7711440" h="126492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>
            <a:extLst>
              <a:ext uri="{FF2B5EF4-FFF2-40B4-BE49-F238E27FC236}">
                <a16:creationId xmlns:a16="http://schemas.microsoft.com/office/drawing/2014/main" id="{43BCC0AD-D872-5E51-391E-CE28D689CEC4}"/>
              </a:ext>
            </a:extLst>
          </p:cNvPr>
          <p:cNvSpPr txBox="1"/>
          <p:nvPr/>
        </p:nvSpPr>
        <p:spPr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4"/>
              </a:spcBef>
            </a:pPr>
            <a:r>
              <a:rPr sz="2157" spc="-86" dirty="0">
                <a:latin typeface="Calibri"/>
                <a:cs typeface="Calibri"/>
              </a:rPr>
              <a:t>2</a:t>
            </a:r>
            <a:endParaRPr sz="2157">
              <a:latin typeface="Calibri"/>
              <a:cs typeface="Calibri"/>
            </a:endParaRPr>
          </a:p>
        </p:txBody>
      </p:sp>
      <p:sp>
        <p:nvSpPr>
          <p:cNvPr id="9" name="object 30">
            <a:extLst>
              <a:ext uri="{FF2B5EF4-FFF2-40B4-BE49-F238E27FC236}">
                <a16:creationId xmlns:a16="http://schemas.microsoft.com/office/drawing/2014/main" id="{46365187-CDAA-6264-2D3A-53B4FF4745C8}"/>
              </a:ext>
            </a:extLst>
          </p:cNvPr>
          <p:cNvSpPr txBox="1"/>
          <p:nvPr/>
        </p:nvSpPr>
        <p:spPr>
          <a:xfrm>
            <a:off x="106432" y="3084218"/>
            <a:ext cx="13304768" cy="2485296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</a:pPr>
            <a:r>
              <a:rPr lang="sv-SE" sz="4000" dirty="0">
                <a:solidFill>
                  <a:srgbClr val="FFFFFF"/>
                </a:solidFill>
                <a:latin typeface="Comic Sans MS"/>
                <a:cs typeface="Comic Sans MS"/>
              </a:rPr>
              <a:t>Computer</a:t>
            </a:r>
            <a:r>
              <a:rPr lang="sv-SE" sz="4000" spc="147" dirty="0">
                <a:solidFill>
                  <a:srgbClr val="FFFFFF"/>
                </a:solidFill>
                <a:latin typeface="Comic Sans MS"/>
                <a:cs typeface="Comic Sans MS"/>
              </a:rPr>
              <a:t> </a:t>
            </a:r>
            <a:r>
              <a:rPr lang="sv-SE" sz="4000" spc="-17" dirty="0">
                <a:solidFill>
                  <a:srgbClr val="FFFFFF"/>
                </a:solidFill>
                <a:latin typeface="Comic Sans MS"/>
                <a:cs typeface="Comic Sans MS"/>
              </a:rPr>
              <a:t>Foundations</a:t>
            </a:r>
          </a:p>
          <a:p>
            <a:pPr marL="2786346" algn="ctr">
              <a:spcBef>
                <a:spcPts val="673"/>
              </a:spcBef>
            </a:pPr>
            <a:r>
              <a:rPr lang="sv-SE" sz="2400" spc="-17" dirty="0" err="1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7" dirty="0">
                <a:solidFill>
                  <a:srgbClr val="FFFFFF"/>
                </a:solidFill>
                <a:latin typeface="Comic Sans MS"/>
                <a:cs typeface="Comic Sans MS"/>
              </a:rPr>
              <a:t> 2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What is Mesh</a:t>
            </a:r>
          </a:p>
          <a:p>
            <a:pPr marL="2786346" algn="ctr">
              <a:spcBef>
                <a:spcPts val="673"/>
              </a:spcBef>
            </a:pPr>
            <a:r>
              <a:rPr lang="en-GB" sz="4000" b="1" dirty="0">
                <a:solidFill>
                  <a:srgbClr val="FFCE53"/>
                </a:solidFill>
                <a:latin typeface="Comic Sans MS"/>
                <a:cs typeface="Comic Sans MS"/>
              </a:rPr>
              <a:t>Network?</a:t>
            </a:r>
          </a:p>
        </p:txBody>
      </p:sp>
    </p:spTree>
    <p:extLst>
      <p:ext uri="{BB962C8B-B14F-4D97-AF65-F5344CB8AC3E}">
        <p14:creationId xmlns:p14="http://schemas.microsoft.com/office/powerpoint/2010/main" val="14173417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DF14D-ABE0-2EB5-C1BE-FC1536A456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6753" y="1449675"/>
            <a:ext cx="12777694" cy="7146408"/>
          </a:xfrm>
          <a:prstGeom prst="rect">
            <a:avLst/>
          </a:prstGeom>
        </p:spPr>
      </p:pic>
      <p:sp>
        <p:nvSpPr>
          <p:cNvPr id="3" name="object 6">
            <a:extLst>
              <a:ext uri="{FF2B5EF4-FFF2-40B4-BE49-F238E27FC236}">
                <a16:creationId xmlns:a16="http://schemas.microsoft.com/office/drawing/2014/main" id="{075A1B94-6928-94A9-E4C4-208DE4023E7B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699236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305"/>
              </a:spcBef>
            </a:pPr>
            <a:r>
              <a:rPr lang="en-GB" sz="4400" dirty="0">
                <a:latin typeface="Comic Sans MS"/>
                <a:cs typeface="Comic Sans MS"/>
              </a:rPr>
              <a:t>Mesh Network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4176014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C9B6A-75D9-96B6-A909-1C934809E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6">
            <a:extLst>
              <a:ext uri="{FF2B5EF4-FFF2-40B4-BE49-F238E27FC236}">
                <a16:creationId xmlns:a16="http://schemas.microsoft.com/office/drawing/2014/main" id="{8D2FCA9C-C999-C7F1-A074-D020CB805314}"/>
              </a:ext>
            </a:extLst>
          </p:cNvPr>
          <p:cNvSpPr txBox="1">
            <a:spLocks/>
          </p:cNvSpPr>
          <p:nvPr/>
        </p:nvSpPr>
        <p:spPr>
          <a:xfrm>
            <a:off x="352021" y="785608"/>
            <a:ext cx="12068579" cy="4137870"/>
          </a:xfrm>
          <a:prstGeom prst="rect">
            <a:avLst/>
          </a:prstGeom>
        </p:spPr>
        <p:txBody>
          <a:bodyPr vert="horz" wrap="square" lIns="0" tIns="21914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00000"/>
              </a:lnSpc>
              <a:spcBef>
                <a:spcPts val="164"/>
              </a:spcBef>
            </a:pPr>
            <a:r>
              <a:rPr lang="en-GB" sz="4000" b="1" dirty="0">
                <a:latin typeface="Comic Sans MS"/>
              </a:rPr>
              <a:t>What is Mesh Network?</a:t>
            </a:r>
          </a:p>
          <a:p>
            <a:pPr>
              <a:lnSpc>
                <a:spcPct val="100000"/>
              </a:lnSpc>
              <a:spcBef>
                <a:spcPts val="164"/>
              </a:spcBef>
            </a:pPr>
            <a:endParaRPr lang="en-GB" sz="2400" b="1" dirty="0">
              <a:latin typeface="Comic Sans MS"/>
            </a:endParaRPr>
          </a:p>
          <a:p>
            <a:pPr marL="342900" marR="170180" indent="-342900">
              <a:lnSpc>
                <a:spcPct val="10440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74295" algn="l"/>
              </a:tabLst>
            </a:pP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Mesh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networks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still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have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router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that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connects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to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modem,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but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it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includes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mini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 err="1">
                <a:solidFill>
                  <a:srgbClr val="1F2023"/>
                </a:solidFill>
                <a:latin typeface="Comic Sans MS"/>
                <a:cs typeface="Comic Sans MS"/>
              </a:rPr>
              <a:t>Wi</a:t>
            </a:r>
            <a:r>
              <a:rPr lang="en-GB" sz="2400" spc="-25" dirty="0" err="1">
                <a:solidFill>
                  <a:srgbClr val="1F2023"/>
                </a:solidFill>
                <a:latin typeface="Comic Sans MS"/>
                <a:cs typeface="Comic Sans MS"/>
              </a:rPr>
              <a:t>Fi</a:t>
            </a:r>
            <a:r>
              <a:rPr lang="en-GB" sz="2400" spc="50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devices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that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are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set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up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around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your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home.</a:t>
            </a:r>
            <a:endParaRPr lang="en-GB" sz="2400" spc="-10" dirty="0">
              <a:latin typeface="Comic Sans MS"/>
              <a:cs typeface="Comic Sans MS"/>
            </a:endParaRPr>
          </a:p>
          <a:p>
            <a:pPr marL="342900" marR="170180" indent="-342900">
              <a:lnSpc>
                <a:spcPct val="10440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74295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These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mini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 err="1">
                <a:solidFill>
                  <a:srgbClr val="1F2023"/>
                </a:solidFill>
                <a:latin typeface="Comic Sans MS"/>
                <a:cs typeface="Comic Sans MS"/>
              </a:rPr>
              <a:t>WiFi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devices,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or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nodes,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communicate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with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each</a:t>
            </a:r>
            <a:r>
              <a:rPr lang="en-GB" sz="2400" spc="5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other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and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repeat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signal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20" dirty="0">
                <a:solidFill>
                  <a:srgbClr val="1F2023"/>
                </a:solidFill>
                <a:latin typeface="Comic Sans MS"/>
                <a:cs typeface="Comic Sans MS"/>
              </a:rPr>
              <a:t>from</a:t>
            </a:r>
            <a:r>
              <a:rPr lang="en-GB" sz="2400" spc="50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your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router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from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one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node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to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another,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which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can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extend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the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range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of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your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wireless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network.</a:t>
            </a:r>
          </a:p>
          <a:p>
            <a:pPr marL="342900" marR="170180" indent="-342900">
              <a:lnSpc>
                <a:spcPct val="10440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74295" algn="l"/>
              </a:tabLst>
            </a:pPr>
            <a:endParaRPr lang="en-GB" sz="2400" spc="-10" dirty="0">
              <a:latin typeface="Comic Sans MS"/>
              <a:cs typeface="Comic Sans MS"/>
            </a:endParaRPr>
          </a:p>
          <a:p>
            <a:pPr marL="342900" marR="170180" indent="-342900">
              <a:lnSpc>
                <a:spcPct val="104400"/>
              </a:lnSpc>
              <a:spcBef>
                <a:spcPts val="90"/>
              </a:spcBef>
              <a:buFont typeface="Arial" panose="020B0604020202020204" pitchFamily="34" charset="0"/>
              <a:buChar char="•"/>
              <a:tabLst>
                <a:tab pos="74295" algn="l"/>
              </a:tabLst>
            </a:pP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This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means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that</a:t>
            </a:r>
            <a:r>
              <a:rPr lang="en-GB" sz="2400" spc="5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your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Wi-Fi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connection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will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be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strong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in</a:t>
            </a:r>
            <a:r>
              <a:rPr lang="en-GB" sz="2400" u="sng" spc="3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every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corner</a:t>
            </a:r>
            <a:r>
              <a:rPr lang="en-GB" sz="2400" u="sng" spc="40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of</a:t>
            </a:r>
            <a:r>
              <a:rPr lang="en-GB" sz="2400" u="sng" spc="3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your</a:t>
            </a:r>
            <a:r>
              <a:rPr lang="en-GB" sz="2400" u="sng" spc="4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 </a:t>
            </a:r>
            <a:r>
              <a:rPr lang="en-GB" sz="2400" u="sng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omic Sans MS"/>
                <a:cs typeface="Comic Sans MS"/>
              </a:rPr>
              <a:t>house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,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even</a:t>
            </a:r>
            <a:r>
              <a:rPr lang="en-GB" sz="2400" spc="3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25" dirty="0">
                <a:solidFill>
                  <a:srgbClr val="1F2023"/>
                </a:solidFill>
                <a:latin typeface="Comic Sans MS"/>
                <a:cs typeface="Comic Sans MS"/>
              </a:rPr>
              <a:t>in</a:t>
            </a:r>
            <a:r>
              <a:rPr lang="en-GB" sz="2400" spc="50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areas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where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you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may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have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previously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had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a</a:t>
            </a:r>
            <a:r>
              <a:rPr lang="en-GB" sz="2400" spc="4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hard</a:t>
            </a:r>
            <a:r>
              <a:rPr lang="en-GB" sz="2400" spc="45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dirty="0">
                <a:solidFill>
                  <a:srgbClr val="1F2023"/>
                </a:solidFill>
                <a:latin typeface="Comic Sans MS"/>
                <a:cs typeface="Comic Sans MS"/>
              </a:rPr>
              <a:t>time</a:t>
            </a:r>
            <a:r>
              <a:rPr lang="en-GB" sz="2400" spc="30" dirty="0">
                <a:solidFill>
                  <a:srgbClr val="1F2023"/>
                </a:solidFill>
                <a:latin typeface="Comic Sans MS"/>
                <a:cs typeface="Comic Sans MS"/>
              </a:rPr>
              <a:t> </a:t>
            </a:r>
            <a:r>
              <a:rPr lang="en-GB" sz="2400" spc="-10" dirty="0">
                <a:solidFill>
                  <a:srgbClr val="1F2023"/>
                </a:solidFill>
                <a:latin typeface="Comic Sans MS"/>
                <a:cs typeface="Comic Sans MS"/>
              </a:rPr>
              <a:t>connecting.</a:t>
            </a:r>
            <a:endParaRPr lang="en-GB" sz="2400" dirty="0">
              <a:latin typeface="Comic Sans MS"/>
              <a:cs typeface="Comic Sans MS"/>
            </a:endParaRPr>
          </a:p>
        </p:txBody>
      </p:sp>
    </p:spTree>
    <p:extLst>
      <p:ext uri="{BB962C8B-B14F-4D97-AF65-F5344CB8AC3E}">
        <p14:creationId xmlns:p14="http://schemas.microsoft.com/office/powerpoint/2010/main" val="12201692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727CA-133E-F75D-840C-68A986A88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4">
            <a:extLst>
              <a:ext uri="{FF2B5EF4-FFF2-40B4-BE49-F238E27FC236}">
                <a16:creationId xmlns:a16="http://schemas.microsoft.com/office/drawing/2014/main" id="{242B42CE-0773-5BF6-1EE5-681C8F37E5D6}"/>
              </a:ext>
            </a:extLst>
          </p:cNvPr>
          <p:cNvSpPr txBox="1">
            <a:spLocks/>
          </p:cNvSpPr>
          <p:nvPr/>
        </p:nvSpPr>
        <p:spPr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 kern="0"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</a:pP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 dirty="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 dirty="0" err="1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 dirty="0">
                <a:solidFill>
                  <a:srgbClr val="FF0000"/>
                </a:solidFill>
              </a:rPr>
              <a:t> </a:t>
            </a:r>
            <a:r>
              <a:rPr lang="sv-SE" sz="4000" spc="-67" dirty="0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 dirty="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  <p:extLst>
      <p:ext uri="{BB962C8B-B14F-4D97-AF65-F5344CB8AC3E}">
        <p14:creationId xmlns:p14="http://schemas.microsoft.com/office/powerpoint/2010/main" val="41211140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241</TotalTime>
  <Words>332</Words>
  <Application>Microsoft Office PowerPoint</Application>
  <PresentationFormat>Custom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Arial MT</vt:lpstr>
      <vt:lpstr>Calibri</vt:lpstr>
      <vt:lpstr>Comic Sans MS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Sara Alterkawi</dc:creator>
  <cp:lastModifiedBy>Sara Alterkawi</cp:lastModifiedBy>
  <cp:revision>25</cp:revision>
  <dcterms:created xsi:type="dcterms:W3CDTF">2025-12-09T17:44:59Z</dcterms:created>
  <dcterms:modified xsi:type="dcterms:W3CDTF">2026-01-16T19:35:36Z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