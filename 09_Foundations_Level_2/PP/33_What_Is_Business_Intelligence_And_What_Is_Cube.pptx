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22" r:id="rId2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Business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Intelligence?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and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Cube?</a:t>
            </a:r>
            <a:endParaRPr lang="sv-SE" sz="4000" b="1" dirty="0">
              <a:solidFill>
                <a:srgbClr val="FFC000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B124CCF6-5FF7-ABAC-2355-06490655BE91}"/>
              </a:ext>
            </a:extLst>
          </p:cNvPr>
          <p:cNvPicPr/>
          <p:nvPr/>
        </p:nvPicPr>
        <p:blipFill>
          <a:blip r:embed="rId2" cstate="print"/>
          <a:srcRect b="9947"/>
          <a:stretch>
            <a:fillRect/>
          </a:stretch>
        </p:blipFill>
        <p:spPr>
          <a:xfrm>
            <a:off x="3032706" y="545123"/>
            <a:ext cx="7345787" cy="896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62FB70-4373-4F97-DFF0-4D7B3949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8B820A89-56D4-5E0B-D649-A5D393E29AAC}"/>
              </a:ext>
            </a:extLst>
          </p:cNvPr>
          <p:cNvSpPr txBox="1"/>
          <p:nvPr/>
        </p:nvSpPr>
        <p:spPr>
          <a:xfrm>
            <a:off x="391224" y="1026884"/>
            <a:ext cx="12181776" cy="629906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>
                <a:solidFill>
                  <a:schemeClr val="bg1"/>
                </a:solidFill>
                <a:latin typeface="Comic Sans MS"/>
                <a:cs typeface="Comic Sans MS"/>
              </a:rPr>
              <a:t>Business Intelligence (BI)</a:t>
            </a:r>
            <a:endParaRPr lang="en-GB" sz="2400" dirty="0">
              <a:solidFill>
                <a:schemeClr val="bg1"/>
              </a:solidFill>
              <a:latin typeface="Comic Sans MS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3DD2C3FD-1301-A97F-DB5A-160AF856E14B}"/>
              </a:ext>
            </a:extLst>
          </p:cNvPr>
          <p:cNvPicPr/>
          <p:nvPr/>
        </p:nvPicPr>
        <p:blipFill>
          <a:blip r:embed="rId2" cstate="print"/>
          <a:srcRect b="16530"/>
          <a:stretch>
            <a:fillRect/>
          </a:stretch>
        </p:blipFill>
        <p:spPr>
          <a:xfrm>
            <a:off x="1571425" y="2542395"/>
            <a:ext cx="10268349" cy="497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3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05D73-D7F1-0275-A942-E3449B71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5BBBEF69-5313-876E-F419-13FEC20124BC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74191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4000" b="1" dirty="0">
                <a:solidFill>
                  <a:schemeClr val="bg1"/>
                </a:solidFill>
                <a:latin typeface="Comic Sans MS"/>
                <a:cs typeface="Comic Sans MS"/>
              </a:rPr>
              <a:t>Common Pain..</a:t>
            </a: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lang="en-GB" sz="4000" b="1" spc="-20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50" spc="285" dirty="0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175" dirty="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565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320" dirty="0">
                <a:solidFill>
                  <a:srgbClr val="FFFFFF"/>
                </a:solidFill>
                <a:latin typeface="Trebuchet MS"/>
                <a:cs typeface="Trebuchet MS"/>
              </a:rPr>
              <a:t>distributed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290" dirty="0">
                <a:solidFill>
                  <a:srgbClr val="FFFFFF"/>
                </a:solidFill>
                <a:latin typeface="Trebuchet MS"/>
                <a:cs typeface="Trebuchet MS"/>
              </a:rPr>
              <a:t>across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18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lang="en-GB" sz="2450" spc="310" dirty="0">
                <a:solidFill>
                  <a:srgbClr val="FFFFFF"/>
                </a:solidFill>
                <a:latin typeface="Trebuchet MS"/>
                <a:cs typeface="Trebuchet MS"/>
              </a:rPr>
              <a:t>enterprise.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50" dirty="0"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50" spc="150" dirty="0">
                <a:solidFill>
                  <a:srgbClr val="FFFFFF"/>
                </a:solidFill>
                <a:latin typeface="Trebuchet MS"/>
                <a:cs typeface="Trebuchet MS"/>
              </a:rPr>
              <a:t>Data </a:t>
            </a:r>
            <a:r>
              <a:rPr lang="en-GB" sz="2450" spc="170" dirty="0">
                <a:solidFill>
                  <a:srgbClr val="FFFFFF"/>
                </a:solidFill>
                <a:latin typeface="Trebuchet MS"/>
                <a:cs typeface="Trebuchet MS"/>
              </a:rPr>
              <a:t>everywhere, </a:t>
            </a:r>
            <a:r>
              <a:rPr lang="en-GB" sz="2450" spc="245" dirty="0">
                <a:solidFill>
                  <a:srgbClr val="FFFFFF"/>
                </a:solidFill>
                <a:latin typeface="Trebuchet MS"/>
                <a:cs typeface="Trebuchet MS"/>
              </a:rPr>
              <a:t>information </a:t>
            </a:r>
            <a:r>
              <a:rPr lang="en-GB" sz="2450" spc="120" dirty="0">
                <a:solidFill>
                  <a:srgbClr val="FFFFFF"/>
                </a:solidFill>
                <a:latin typeface="Trebuchet MS"/>
                <a:cs typeface="Trebuchet MS"/>
              </a:rPr>
              <a:t>nowhere.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50" spc="12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50" spc="165" dirty="0">
                <a:solidFill>
                  <a:srgbClr val="FFFFFF"/>
                </a:solidFill>
                <a:latin typeface="Trebuchet MS"/>
                <a:cs typeface="Trebuchet MS"/>
              </a:rPr>
              <a:t>Takes </a:t>
            </a:r>
            <a:r>
              <a:rPr lang="en-GB" sz="2450" spc="200" dirty="0">
                <a:solidFill>
                  <a:srgbClr val="FFFFFF"/>
                </a:solidFill>
                <a:latin typeface="Trebuchet MS"/>
                <a:cs typeface="Trebuchet MS"/>
              </a:rPr>
              <a:t>too </a:t>
            </a:r>
            <a:r>
              <a:rPr lang="en-GB" sz="2450" spc="254" dirty="0">
                <a:solidFill>
                  <a:srgbClr val="FFFFFF"/>
                </a:solidFill>
                <a:latin typeface="Trebuchet MS"/>
                <a:cs typeface="Trebuchet MS"/>
              </a:rPr>
              <a:t>long </a:t>
            </a:r>
            <a:r>
              <a:rPr lang="en-GB" sz="2450" spc="490" dirty="0">
                <a:solidFill>
                  <a:srgbClr val="FFFFFF"/>
                </a:solidFill>
                <a:latin typeface="Trebuchet MS"/>
                <a:cs typeface="Trebuchet MS"/>
              </a:rPr>
              <a:t>– </a:t>
            </a:r>
            <a:r>
              <a:rPr lang="en-GB" sz="2450" spc="114" dirty="0">
                <a:solidFill>
                  <a:srgbClr val="FFFFFF"/>
                </a:solidFill>
                <a:latin typeface="Trebuchet MS"/>
                <a:cs typeface="Trebuchet MS"/>
              </a:rPr>
              <a:t>wasted </a:t>
            </a:r>
            <a:r>
              <a:rPr lang="en-GB" sz="2450" spc="305" dirty="0">
                <a:solidFill>
                  <a:srgbClr val="FFFFFF"/>
                </a:solidFill>
                <a:latin typeface="Trebuchet MS"/>
                <a:cs typeface="Trebuchet MS"/>
              </a:rPr>
              <a:t>resources/efforts.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50" dirty="0"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50" spc="165" dirty="0">
                <a:solidFill>
                  <a:srgbClr val="FFFFFF"/>
                </a:solidFill>
                <a:latin typeface="Trebuchet MS"/>
                <a:cs typeface="Trebuchet MS"/>
              </a:rPr>
              <a:t>So </a:t>
            </a:r>
            <a:r>
              <a:rPr lang="en-GB" sz="2450" spc="-20" dirty="0">
                <a:solidFill>
                  <a:srgbClr val="FFFFFF"/>
                </a:solidFill>
                <a:latin typeface="Trebuchet MS"/>
                <a:cs typeface="Trebuchet MS"/>
              </a:rPr>
              <a:t>many </a:t>
            </a:r>
            <a:r>
              <a:rPr lang="en-GB" sz="2450" spc="210" dirty="0">
                <a:solidFill>
                  <a:srgbClr val="FFFFFF"/>
                </a:solidFill>
                <a:latin typeface="Trebuchet MS"/>
                <a:cs typeface="Trebuchet MS"/>
              </a:rPr>
              <a:t>excuses </a:t>
            </a:r>
            <a:r>
              <a:rPr lang="en-GB" sz="2450" spc="49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-25" dirty="0">
                <a:solidFill>
                  <a:srgbClr val="FFFFFF"/>
                </a:solidFill>
                <a:latin typeface="Trebuchet MS"/>
                <a:cs typeface="Trebuchet MS"/>
              </a:rPr>
              <a:t>Why </a:t>
            </a:r>
            <a:r>
              <a:rPr lang="en-GB" sz="2450" spc="69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lang="en-GB" sz="2450" spc="365" dirty="0">
                <a:solidFill>
                  <a:srgbClr val="FFFFFF"/>
                </a:solidFill>
                <a:latin typeface="Trebuchet MS"/>
                <a:cs typeface="Trebuchet MS"/>
              </a:rPr>
              <a:t>just </a:t>
            </a:r>
            <a:r>
              <a:rPr lang="en-GB" sz="2450" spc="270" dirty="0">
                <a:solidFill>
                  <a:srgbClr val="FFFFFF"/>
                </a:solidFill>
                <a:latin typeface="Trebuchet MS"/>
                <a:cs typeface="Trebuchet MS"/>
              </a:rPr>
              <a:t>can’t </a:t>
            </a:r>
            <a:r>
              <a:rPr lang="en-GB" sz="2450" spc="225" dirty="0">
                <a:solidFill>
                  <a:srgbClr val="FFFFFF"/>
                </a:solidFill>
                <a:latin typeface="Trebuchet MS"/>
                <a:cs typeface="Trebuchet MS"/>
              </a:rPr>
              <a:t>get</a:t>
            </a:r>
            <a:r>
              <a:rPr lang="en-GB" sz="245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450" spc="560" dirty="0">
                <a:solidFill>
                  <a:srgbClr val="FFFFFF"/>
                </a:solidFill>
                <a:latin typeface="Trebuchet MS"/>
                <a:cs typeface="Trebuchet MS"/>
              </a:rPr>
              <a:t>it </a:t>
            </a:r>
            <a:r>
              <a:rPr lang="en-GB" sz="2450" spc="265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lang="en-GB" sz="2450" spc="114" dirty="0">
                <a:solidFill>
                  <a:srgbClr val="FFFFFF"/>
                </a:solidFill>
                <a:latin typeface="Trebuchet MS"/>
                <a:cs typeface="Trebuchet MS"/>
              </a:rPr>
              <a:t>you </a:t>
            </a:r>
            <a:r>
              <a:rPr lang="en-GB" sz="2450" spc="-20" dirty="0">
                <a:solidFill>
                  <a:srgbClr val="FFFFFF"/>
                </a:solidFill>
                <a:latin typeface="Trebuchet MS"/>
                <a:cs typeface="Trebuchet MS"/>
              </a:rPr>
              <a:t>when </a:t>
            </a:r>
            <a:r>
              <a:rPr lang="en-GB" sz="2450" spc="114" dirty="0">
                <a:solidFill>
                  <a:srgbClr val="FFFFFF"/>
                </a:solidFill>
                <a:latin typeface="Trebuchet MS"/>
                <a:cs typeface="Trebuchet MS"/>
              </a:rPr>
              <a:t>you </a:t>
            </a:r>
            <a:r>
              <a:rPr lang="en-GB" sz="2450" spc="45" dirty="0">
                <a:solidFill>
                  <a:srgbClr val="FFFFFF"/>
                </a:solidFill>
                <a:latin typeface="Trebuchet MS"/>
                <a:cs typeface="Trebuchet MS"/>
              </a:rPr>
              <a:t>want </a:t>
            </a:r>
            <a:r>
              <a:rPr lang="en-GB" sz="2450" spc="550" dirty="0">
                <a:solidFill>
                  <a:srgbClr val="FFFFFF"/>
                </a:solidFill>
                <a:latin typeface="Trebuchet MS"/>
                <a:cs typeface="Trebuchet MS"/>
              </a:rPr>
              <a:t>it.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50" spc="55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50" spc="315" dirty="0">
                <a:solidFill>
                  <a:srgbClr val="FFFFFF"/>
                </a:solidFill>
                <a:latin typeface="Trebuchet MS"/>
                <a:cs typeface="Trebuchet MS"/>
              </a:rPr>
              <a:t>Different </a:t>
            </a:r>
            <a:r>
              <a:rPr lang="en-GB" sz="2450" spc="295" dirty="0">
                <a:solidFill>
                  <a:srgbClr val="FFFFFF"/>
                </a:solidFill>
                <a:latin typeface="Trebuchet MS"/>
                <a:cs typeface="Trebuchet MS"/>
              </a:rPr>
              <a:t>users </a:t>
            </a:r>
            <a:r>
              <a:rPr lang="en-GB" sz="2450" spc="114" dirty="0">
                <a:solidFill>
                  <a:srgbClr val="FFFFFF"/>
                </a:solidFill>
                <a:latin typeface="Trebuchet MS"/>
                <a:cs typeface="Trebuchet MS"/>
              </a:rPr>
              <a:t>have </a:t>
            </a:r>
            <a:r>
              <a:rPr lang="en-GB" sz="2450" spc="330" dirty="0">
                <a:solidFill>
                  <a:srgbClr val="FFFFFF"/>
                </a:solidFill>
                <a:latin typeface="Trebuchet MS"/>
                <a:cs typeface="Trebuchet MS"/>
              </a:rPr>
              <a:t>different </a:t>
            </a:r>
            <a:r>
              <a:rPr lang="en-GB" sz="2450" spc="204" dirty="0">
                <a:solidFill>
                  <a:srgbClr val="FFFFFF"/>
                </a:solidFill>
                <a:latin typeface="Trebuchet MS"/>
                <a:cs typeface="Trebuchet MS"/>
              </a:rPr>
              <a:t>needs:</a:t>
            </a:r>
          </a:p>
          <a:p>
            <a:pPr marL="354013" marR="1645285" lvl="2" indent="9525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100" spc="215" dirty="0">
                <a:solidFill>
                  <a:srgbClr val="FFFFFF"/>
                </a:solidFill>
                <a:latin typeface="Trebuchet MS"/>
                <a:cs typeface="Trebuchet MS"/>
              </a:rPr>
              <a:t>Excel </a:t>
            </a:r>
            <a:r>
              <a:rPr lang="en-GB" sz="2100" spc="245" dirty="0">
                <a:solidFill>
                  <a:srgbClr val="FFFFFF"/>
                </a:solidFill>
                <a:latin typeface="Trebuchet MS"/>
                <a:cs typeface="Trebuchet MS"/>
              </a:rPr>
              <a:t>versus </a:t>
            </a:r>
            <a:r>
              <a:rPr lang="en-GB" sz="2100" spc="-25" dirty="0">
                <a:solidFill>
                  <a:srgbClr val="FFFFFF"/>
                </a:solidFill>
                <a:latin typeface="Trebuchet MS"/>
                <a:cs typeface="Trebuchet MS"/>
              </a:rPr>
              <a:t>PDF</a:t>
            </a:r>
          </a:p>
          <a:p>
            <a:pPr marL="354013" marR="1645285" lvl="2" indent="9525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100" spc="310" dirty="0">
                <a:solidFill>
                  <a:srgbClr val="FFFFFF"/>
                </a:solidFill>
                <a:latin typeface="Trebuchet MS"/>
                <a:cs typeface="Trebuchet MS"/>
              </a:rPr>
              <a:t>Pull </a:t>
            </a:r>
            <a:r>
              <a:rPr lang="en-GB" sz="2100" spc="245" dirty="0">
                <a:solidFill>
                  <a:srgbClr val="FFFFFF"/>
                </a:solidFill>
                <a:latin typeface="Trebuchet MS"/>
                <a:cs typeface="Trebuchet MS"/>
              </a:rPr>
              <a:t>versus </a:t>
            </a:r>
            <a:r>
              <a:rPr lang="en-GB" sz="2100" spc="120" dirty="0">
                <a:solidFill>
                  <a:srgbClr val="FFFFFF"/>
                </a:solidFill>
                <a:latin typeface="Trebuchet MS"/>
                <a:cs typeface="Trebuchet MS"/>
              </a:rPr>
              <a:t>push</a:t>
            </a:r>
          </a:p>
          <a:p>
            <a:pPr marL="354013" marR="1645285" lvl="2" indent="9525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100" spc="-25" dirty="0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lang="en-GB" sz="2100" spc="-10" dirty="0">
                <a:solidFill>
                  <a:srgbClr val="FFFFFF"/>
                </a:solidFill>
                <a:latin typeface="Trebuchet MS"/>
                <a:cs typeface="Trebuchet MS"/>
              </a:rPr>
              <a:t>demand </a:t>
            </a:r>
            <a:r>
              <a:rPr lang="en-GB" sz="2100" spc="395" dirty="0">
                <a:solidFill>
                  <a:srgbClr val="FFFFFF"/>
                </a:solidFill>
                <a:latin typeface="Trebuchet MS"/>
                <a:cs typeface="Trebuchet MS"/>
              </a:rPr>
              <a:t>– </a:t>
            </a:r>
            <a:r>
              <a:rPr lang="en-GB" sz="2100" spc="60" dirty="0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lang="en-GB" sz="2100" spc="175" dirty="0">
                <a:solidFill>
                  <a:srgbClr val="FFFFFF"/>
                </a:solidFill>
                <a:latin typeface="Trebuchet MS"/>
                <a:cs typeface="Trebuchet MS"/>
              </a:rPr>
              <a:t>schedule</a:t>
            </a:r>
          </a:p>
          <a:p>
            <a:pPr marL="354013" marR="1645285" lvl="2" indent="9525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100" spc="135" dirty="0">
                <a:solidFill>
                  <a:srgbClr val="FFFFFF"/>
                </a:solidFill>
                <a:latin typeface="Trebuchet MS"/>
                <a:cs typeface="Trebuchet MS"/>
              </a:rPr>
              <a:t>Your </a:t>
            </a:r>
            <a:r>
              <a:rPr lang="en-GB" sz="2100" spc="155" dirty="0">
                <a:solidFill>
                  <a:srgbClr val="FFFFFF"/>
                </a:solidFill>
                <a:latin typeface="Trebuchet MS"/>
                <a:cs typeface="Trebuchet MS"/>
              </a:rPr>
              <a:t>format </a:t>
            </a:r>
            <a:r>
              <a:rPr lang="en-GB" sz="2100" spc="395" dirty="0">
                <a:solidFill>
                  <a:srgbClr val="FFFFFF"/>
                </a:solidFill>
                <a:latin typeface="Trebuchet MS"/>
                <a:cs typeface="Trebuchet MS"/>
              </a:rPr>
              <a:t>- </a:t>
            </a:r>
            <a:r>
              <a:rPr lang="en-GB" sz="2100" spc="-25" dirty="0">
                <a:solidFill>
                  <a:srgbClr val="FFFFFF"/>
                </a:solidFill>
                <a:latin typeface="Trebuchet MS"/>
                <a:cs typeface="Trebuchet MS"/>
              </a:rPr>
              <a:t>My</a:t>
            </a:r>
            <a:r>
              <a:rPr lang="en-GB" sz="21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lang="en-GB" sz="2100" spc="150" dirty="0">
                <a:solidFill>
                  <a:srgbClr val="FFFFFF"/>
                </a:solidFill>
                <a:latin typeface="Trebuchet MS"/>
                <a:cs typeface="Trebuchet MS"/>
              </a:rPr>
              <a:t>format</a:t>
            </a:r>
            <a:endParaRPr lang="en-GB" sz="2100" dirty="0">
              <a:latin typeface="Trebuchet MS"/>
              <a:cs typeface="Trebuchet MS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BCE4104B-BB38-78E2-B38C-47D6E632E08D}"/>
              </a:ext>
            </a:extLst>
          </p:cNvPr>
          <p:cNvPicPr/>
          <p:nvPr/>
        </p:nvPicPr>
        <p:blipFill>
          <a:blip r:embed="rId2" cstate="print"/>
          <a:srcRect b="27662"/>
          <a:stretch>
            <a:fillRect/>
          </a:stretch>
        </p:blipFill>
        <p:spPr>
          <a:xfrm>
            <a:off x="8839200" y="7162800"/>
            <a:ext cx="4382268" cy="267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1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93641-402D-ADAE-CC76-43B3C3632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3">
            <a:extLst>
              <a:ext uri="{FF2B5EF4-FFF2-40B4-BE49-F238E27FC236}">
                <a16:creationId xmlns:a16="http://schemas.microsoft.com/office/drawing/2014/main" id="{DC8A99A5-D6BC-5250-8732-1AA0D3F3B53A}"/>
              </a:ext>
            </a:extLst>
          </p:cNvPr>
          <p:cNvPicPr/>
          <p:nvPr/>
        </p:nvPicPr>
        <p:blipFill>
          <a:blip r:embed="rId2" cstate="print"/>
          <a:srcRect b="51093"/>
          <a:stretch>
            <a:fillRect/>
          </a:stretch>
        </p:blipFill>
        <p:spPr>
          <a:xfrm>
            <a:off x="1571425" y="2895600"/>
            <a:ext cx="10341745" cy="2336292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21F2B5E0-DA2F-8E59-F07C-E3ABDDF57A3B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Example: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You can see the total number of products sold ever.</a:t>
            </a:r>
          </a:p>
        </p:txBody>
      </p:sp>
    </p:spTree>
    <p:extLst>
      <p:ext uri="{BB962C8B-B14F-4D97-AF65-F5344CB8AC3E}">
        <p14:creationId xmlns:p14="http://schemas.microsoft.com/office/powerpoint/2010/main" val="337817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EDC6E-6D27-AA30-D043-493733AE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0A71284F-E8E1-487F-513D-E19FC7B821B3}"/>
              </a:ext>
            </a:extLst>
          </p:cNvPr>
          <p:cNvPicPr/>
          <p:nvPr/>
        </p:nvPicPr>
        <p:blipFill>
          <a:blip r:embed="rId2" cstate="print"/>
          <a:srcRect b="51093"/>
          <a:stretch>
            <a:fillRect/>
          </a:stretch>
        </p:blipFill>
        <p:spPr>
          <a:xfrm>
            <a:off x="1571425" y="2895600"/>
            <a:ext cx="10341745" cy="2336292"/>
          </a:xfrm>
          <a:prstGeom prst="rect">
            <a:avLst/>
          </a:prstGeom>
        </p:spPr>
      </p:pic>
      <p:pic>
        <p:nvPicPr>
          <p:cNvPr id="4" name="object 6">
            <a:extLst>
              <a:ext uri="{FF2B5EF4-FFF2-40B4-BE49-F238E27FC236}">
                <a16:creationId xmlns:a16="http://schemas.microsoft.com/office/drawing/2014/main" id="{541E4B37-CC6F-E0B3-CB9A-2D35A5ED8042}"/>
              </a:ext>
            </a:extLst>
          </p:cNvPr>
          <p:cNvPicPr/>
          <p:nvPr/>
        </p:nvPicPr>
        <p:blipFill>
          <a:blip r:embed="rId3" cstate="print"/>
          <a:srcRect b="45632"/>
          <a:stretch>
            <a:fillRect/>
          </a:stretch>
        </p:blipFill>
        <p:spPr>
          <a:xfrm>
            <a:off x="1571425" y="7315200"/>
            <a:ext cx="10355974" cy="2324569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9F41AD34-E23C-BE51-0AD2-7B12106EF7DD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58559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Example: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You can see the total number of products sold ever.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The total number (200) is divided among the individual products.</a:t>
            </a:r>
          </a:p>
        </p:txBody>
      </p:sp>
    </p:spTree>
    <p:extLst>
      <p:ext uri="{BB962C8B-B14F-4D97-AF65-F5344CB8AC3E}">
        <p14:creationId xmlns:p14="http://schemas.microsoft.com/office/powerpoint/2010/main" val="609982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C607F-6A93-0E8E-0239-D51B683EE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D65A9A54-6FF2-8EB2-6BFB-6B9CF504A54F}"/>
              </a:ext>
            </a:extLst>
          </p:cNvPr>
          <p:cNvPicPr/>
          <p:nvPr/>
        </p:nvPicPr>
        <p:blipFill>
          <a:blip r:embed="rId2" cstate="print"/>
          <a:srcRect b="49619"/>
          <a:stretch>
            <a:fillRect/>
          </a:stretch>
        </p:blipFill>
        <p:spPr>
          <a:xfrm>
            <a:off x="1571425" y="2895600"/>
            <a:ext cx="10380707" cy="3962400"/>
          </a:xfrm>
          <a:prstGeom prst="rect">
            <a:avLst/>
          </a:prstGeom>
        </p:spPr>
      </p:pic>
      <p:sp>
        <p:nvSpPr>
          <p:cNvPr id="4" name="object 6">
            <a:extLst>
              <a:ext uri="{FF2B5EF4-FFF2-40B4-BE49-F238E27FC236}">
                <a16:creationId xmlns:a16="http://schemas.microsoft.com/office/drawing/2014/main" id="{738FD5F3-D9C2-6451-6893-837DA87454D4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Example: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Adding the “Time” dimension to it.</a:t>
            </a:r>
          </a:p>
        </p:txBody>
      </p:sp>
    </p:spTree>
    <p:extLst>
      <p:ext uri="{BB962C8B-B14F-4D97-AF65-F5344CB8AC3E}">
        <p14:creationId xmlns:p14="http://schemas.microsoft.com/office/powerpoint/2010/main" val="681952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468D7-96FB-3015-52F4-440EAE85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rcRect b="18938"/>
          <a:stretch>
            <a:fillRect/>
          </a:stretch>
        </p:blipFill>
        <p:spPr>
          <a:xfrm>
            <a:off x="1547979" y="2895600"/>
            <a:ext cx="10366675" cy="6858000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B5D6B808-2866-CC85-E852-981FF13F7587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Example: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Adding the “Customer” dimension.</a:t>
            </a:r>
            <a:endParaRPr lang="en-GB" sz="4000" dirty="0">
              <a:solidFill>
                <a:schemeClr val="bg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7912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BBDDB-9032-D077-47E7-1B4D052D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3CEC3FB-D0DF-0C43-4755-F2EA6B273967}"/>
              </a:ext>
            </a:extLst>
          </p:cNvPr>
          <p:cNvPicPr/>
          <p:nvPr/>
        </p:nvPicPr>
        <p:blipFill>
          <a:blip r:embed="rId2" cstate="print"/>
          <a:srcRect b="22597"/>
          <a:stretch>
            <a:fillRect/>
          </a:stretch>
        </p:blipFill>
        <p:spPr>
          <a:xfrm>
            <a:off x="1547979" y="2895600"/>
            <a:ext cx="10416614" cy="7010400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0EDE6744-E8B6-63FB-9A50-152B50B07800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</a:rPr>
              <a:t>1st scenario</a:t>
            </a: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The following cube will be used to Answer the following example scenarios</a:t>
            </a:r>
            <a:endParaRPr lang="en-GB" sz="4000" dirty="0">
              <a:solidFill>
                <a:schemeClr val="bg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690862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506E3-0310-6D82-FC21-22A2AEE7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product&#10;&#10;AI-generated content may be incorrect.">
            <a:extLst>
              <a:ext uri="{FF2B5EF4-FFF2-40B4-BE49-F238E27FC236}">
                <a16:creationId xmlns:a16="http://schemas.microsoft.com/office/drawing/2014/main" id="{E7FDCA96-484B-33FB-C611-44013C13C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978" y="2895600"/>
            <a:ext cx="11574209" cy="6858000"/>
          </a:xfrm>
          <a:prstGeom prst="rect">
            <a:avLst/>
          </a:prstGeom>
        </p:spPr>
      </p:pic>
      <p:sp>
        <p:nvSpPr>
          <p:cNvPr id="11" name="object 6">
            <a:extLst>
              <a:ext uri="{FF2B5EF4-FFF2-40B4-BE49-F238E27FC236}">
                <a16:creationId xmlns:a16="http://schemas.microsoft.com/office/drawing/2014/main" id="{E0991131-132D-7873-40F1-46B3CB43A70B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</a:rPr>
              <a:t>1st scenario</a:t>
            </a: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How many products purchased by customer-D in March?</a:t>
            </a:r>
          </a:p>
        </p:txBody>
      </p:sp>
    </p:spTree>
    <p:extLst>
      <p:ext uri="{BB962C8B-B14F-4D97-AF65-F5344CB8AC3E}">
        <p14:creationId xmlns:p14="http://schemas.microsoft.com/office/powerpoint/2010/main" val="475025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93841-59AB-97B1-9531-608F02B5B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7">
            <a:extLst>
              <a:ext uri="{FF2B5EF4-FFF2-40B4-BE49-F238E27FC236}">
                <a16:creationId xmlns:a16="http://schemas.microsoft.com/office/drawing/2014/main" id="{EDA9265D-F420-4246-1B2D-3AF56CB21D69}"/>
              </a:ext>
            </a:extLst>
          </p:cNvPr>
          <p:cNvPicPr/>
          <p:nvPr/>
        </p:nvPicPr>
        <p:blipFill>
          <a:blip r:embed="rId2" cstate="print"/>
          <a:srcRect b="17097"/>
          <a:stretch>
            <a:fillRect/>
          </a:stretch>
        </p:blipFill>
        <p:spPr>
          <a:xfrm>
            <a:off x="1547979" y="2895599"/>
            <a:ext cx="10416614" cy="6896343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E01409B0-ABB7-EB73-08C0-C08AECF5AC5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</a:rPr>
              <a:t>1st scenario</a:t>
            </a: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Grouping Dimensions.</a:t>
            </a:r>
            <a:endParaRPr lang="en-GB" sz="4000" dirty="0">
              <a:solidFill>
                <a:schemeClr val="bg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0994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AF0AB-6B92-A6F4-016A-6D54AC73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8">
            <a:extLst>
              <a:ext uri="{FF2B5EF4-FFF2-40B4-BE49-F238E27FC236}">
                <a16:creationId xmlns:a16="http://schemas.microsoft.com/office/drawing/2014/main" id="{DCCB5356-212F-3C47-E69C-12B30CF78827}"/>
              </a:ext>
            </a:extLst>
          </p:cNvPr>
          <p:cNvGrpSpPr/>
          <p:nvPr/>
        </p:nvGrpSpPr>
        <p:grpSpPr>
          <a:xfrm>
            <a:off x="1565618" y="2895599"/>
            <a:ext cx="10375686" cy="6553201"/>
            <a:chOff x="1565618" y="2895599"/>
            <a:chExt cx="10375686" cy="6553201"/>
          </a:xfrm>
        </p:grpSpPr>
        <p:pic>
          <p:nvPicPr>
            <p:cNvPr id="5" name="object 9">
              <a:extLst>
                <a:ext uri="{FF2B5EF4-FFF2-40B4-BE49-F238E27FC236}">
                  <a16:creationId xmlns:a16="http://schemas.microsoft.com/office/drawing/2014/main" id="{8DB70462-9E60-A8B7-D5FA-64FE9B939D22}"/>
                </a:ext>
              </a:extLst>
            </p:cNvPr>
            <p:cNvPicPr/>
            <p:nvPr/>
          </p:nvPicPr>
          <p:blipFill>
            <a:blip r:embed="rId2" cstate="print"/>
            <a:srcRect b="14901"/>
            <a:stretch>
              <a:fillRect/>
            </a:stretch>
          </p:blipFill>
          <p:spPr>
            <a:xfrm>
              <a:off x="1565618" y="2895599"/>
              <a:ext cx="10375686" cy="6553201"/>
            </a:xfrm>
            <a:prstGeom prst="rect">
              <a:avLst/>
            </a:prstGeom>
          </p:spPr>
        </p:pic>
        <p:pic>
          <p:nvPicPr>
            <p:cNvPr id="6" name="object 10">
              <a:extLst>
                <a:ext uri="{FF2B5EF4-FFF2-40B4-BE49-F238E27FC236}">
                  <a16:creationId xmlns:a16="http://schemas.microsoft.com/office/drawing/2014/main" id="{871E9E8C-D991-D46D-981C-1CBCBAAAD52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9644" y="3246119"/>
              <a:ext cx="533400" cy="534924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9A808BF0-7C44-797B-65CC-E9C7F8C9000D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159127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</a:rPr>
              <a:t>2nd scenario</a:t>
            </a:r>
            <a:r>
              <a:rPr lang="en-GB" sz="4000" b="1" dirty="0">
                <a:solidFill>
                  <a:schemeClr val="bg1"/>
                </a:solidFill>
                <a:latin typeface="Comic Sans MS"/>
                <a:cs typeface="Comic Sans MS"/>
              </a:rPr>
              <a:t>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b="1" dirty="0">
              <a:solidFill>
                <a:schemeClr val="bg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bg1"/>
                </a:solidFill>
                <a:latin typeface="Comic Sans MS"/>
              </a:rPr>
              <a:t>How many “Category2” products in Italy 1 Quarter sold?</a:t>
            </a:r>
            <a:endParaRPr lang="en-GB" sz="4000" dirty="0">
              <a:solidFill>
                <a:schemeClr val="bg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993594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77BE5-7B97-14ED-C57A-AED59A211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CAEBD1B-9007-66B9-1F0C-190211C8EB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617" y="2895599"/>
            <a:ext cx="10375686" cy="6205768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82381296-66BC-662A-34D8-3A84A4392661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3101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bg1"/>
                </a:solidFill>
                <a:latin typeface="Comic Sans MS"/>
              </a:rPr>
              <a:t>So the Cube is:</a:t>
            </a:r>
            <a:endParaRPr lang="en-GB" sz="4000" b="1" dirty="0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9814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DE0C5-ADF7-F5B3-DA06-13D2C5A8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B0D71F3-D243-0132-8F7E-5617354517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430" y="1371599"/>
            <a:ext cx="10480340" cy="731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43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D1A02-F956-7283-806D-E9749BC7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DFDE03B2-51F1-AD70-F909-A6950A9462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42" y="1513341"/>
            <a:ext cx="10491316" cy="703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96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2C70B-5B69-2BD3-08F6-C1738A13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663BA67-0F08-9CDE-0DD5-C5CBE41562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2119" y="1632970"/>
            <a:ext cx="10586961" cy="679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6B66B-5DB6-E4CE-515F-9494FD82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5">
            <a:extLst>
              <a:ext uri="{FF2B5EF4-FFF2-40B4-BE49-F238E27FC236}">
                <a16:creationId xmlns:a16="http://schemas.microsoft.com/office/drawing/2014/main" id="{92620C5E-FF6C-4E6B-914C-0CDDC287E960}"/>
              </a:ext>
            </a:extLst>
          </p:cNvPr>
          <p:cNvPicPr/>
          <p:nvPr/>
        </p:nvPicPr>
        <p:blipFill>
          <a:blip r:embed="rId2" cstate="print"/>
          <a:srcRect b="50000"/>
          <a:stretch>
            <a:fillRect/>
          </a:stretch>
        </p:blipFill>
        <p:spPr>
          <a:xfrm>
            <a:off x="8781645" y="7156938"/>
            <a:ext cx="4421092" cy="2596662"/>
          </a:xfrm>
          <a:prstGeom prst="rect">
            <a:avLst/>
          </a:prstGeom>
        </p:spPr>
      </p:pic>
      <p:sp>
        <p:nvSpPr>
          <p:cNvPr id="4" name="object 6">
            <a:extLst>
              <a:ext uri="{FF2B5EF4-FFF2-40B4-BE49-F238E27FC236}">
                <a16:creationId xmlns:a16="http://schemas.microsoft.com/office/drawing/2014/main" id="{9A808BF0-7C44-797B-65CC-E9C7F8C9000D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3355348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sv-SE" sz="3600" b="1" dirty="0" err="1">
                <a:solidFill>
                  <a:schemeClr val="bg1"/>
                </a:solidFill>
                <a:latin typeface="Comic Sans MS"/>
                <a:cs typeface="Comic Sans MS"/>
              </a:rPr>
              <a:t>What</a:t>
            </a:r>
            <a:r>
              <a:rPr lang="sv-SE" sz="3600" b="1" dirty="0">
                <a:solidFill>
                  <a:schemeClr val="bg1"/>
                </a:solidFill>
                <a:latin typeface="Comic Sans MS"/>
                <a:cs typeface="Comic Sans MS"/>
              </a:rPr>
              <a:t> is Business	</a:t>
            </a:r>
            <a:r>
              <a:rPr lang="sv-SE" sz="3600" b="1" dirty="0" err="1">
                <a:solidFill>
                  <a:schemeClr val="bg1"/>
                </a:solidFill>
                <a:latin typeface="Comic Sans MS"/>
                <a:cs typeface="Comic Sans MS"/>
              </a:rPr>
              <a:t>Intelligencefi</a:t>
            </a:r>
            <a:endParaRPr lang="en-GB" sz="3600" b="1" spc="-20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Looking for information?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BI transforms raw Data into valuable Information.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dirty="0"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150" dirty="0">
                <a:solidFill>
                  <a:srgbClr val="FFFFFF"/>
                </a:solidFill>
                <a:latin typeface="Trebuchet MS"/>
                <a:cs typeface="Trebuchet MS"/>
              </a:rPr>
              <a:t>Information can be transformed into knowledge through discovery.</a:t>
            </a:r>
          </a:p>
        </p:txBody>
      </p:sp>
    </p:spTree>
    <p:extLst>
      <p:ext uri="{BB962C8B-B14F-4D97-AF65-F5344CB8AC3E}">
        <p14:creationId xmlns:p14="http://schemas.microsoft.com/office/powerpoint/2010/main" val="2964594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76394-A7DF-DC18-26C4-6F2F4D9A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DAB57D56-B5BE-03F1-9A60-C12D0B847DB1}"/>
              </a:ext>
            </a:extLst>
          </p:cNvPr>
          <p:cNvSpPr txBox="1">
            <a:spLocks/>
          </p:cNvSpPr>
          <p:nvPr/>
        </p:nvSpPr>
        <p:spPr>
          <a:xfrm>
            <a:off x="290310" y="4094806"/>
            <a:ext cx="12830579" cy="1868787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dirty="0">
                <a:solidFill>
                  <a:schemeClr val="bg1"/>
                </a:solidFill>
                <a:latin typeface="Comic Sans MS"/>
                <a:cs typeface="Comic Sans MS"/>
              </a:rPr>
              <a:t>Business Intelligence (BI) is about getting the right information, to the right decision makers, at the right time.</a:t>
            </a:r>
            <a:endParaRPr lang="en-GB" sz="2450" spc="150" dirty="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42150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F0376-5D1F-3EB1-8483-2695DAD8E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98FF2161-EFE3-5F65-2272-848A12B8FC40}"/>
              </a:ext>
            </a:extLst>
          </p:cNvPr>
          <p:cNvPicPr/>
          <p:nvPr/>
        </p:nvPicPr>
        <p:blipFill>
          <a:blip r:embed="rId2" cstate="print"/>
          <a:srcRect b="28687"/>
          <a:stretch>
            <a:fillRect/>
          </a:stretch>
        </p:blipFill>
        <p:spPr>
          <a:xfrm>
            <a:off x="10223651" y="7156938"/>
            <a:ext cx="2967364" cy="2596662"/>
          </a:xfrm>
          <a:prstGeom prst="rect">
            <a:avLst/>
          </a:prstGeom>
        </p:spPr>
      </p:pic>
      <p:sp>
        <p:nvSpPr>
          <p:cNvPr id="4" name="object 6">
            <a:extLst>
              <a:ext uri="{FF2B5EF4-FFF2-40B4-BE49-F238E27FC236}">
                <a16:creationId xmlns:a16="http://schemas.microsoft.com/office/drawing/2014/main" id="{2135E972-8C6B-6D80-8D61-3C658C25FD30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359913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sv-SE" sz="3600" b="1" dirty="0" err="1">
                <a:solidFill>
                  <a:schemeClr val="bg1"/>
                </a:solidFill>
                <a:latin typeface="Comic Sans MS"/>
                <a:cs typeface="Comic Sans MS"/>
              </a:rPr>
              <a:t>What</a:t>
            </a:r>
            <a:r>
              <a:rPr lang="sv-SE" sz="3600" b="1" dirty="0">
                <a:solidFill>
                  <a:schemeClr val="bg1"/>
                </a:solidFill>
                <a:latin typeface="Comic Sans MS"/>
                <a:cs typeface="Comic Sans MS"/>
              </a:rPr>
              <a:t> is Business	</a:t>
            </a:r>
            <a:r>
              <a:rPr lang="sv-SE" sz="3600" b="1" dirty="0" err="1">
                <a:solidFill>
                  <a:schemeClr val="bg1"/>
                </a:solidFill>
                <a:latin typeface="Comic Sans MS"/>
                <a:cs typeface="Comic Sans MS"/>
              </a:rPr>
              <a:t>Intelligencefi</a:t>
            </a:r>
            <a:endParaRPr lang="en-GB" sz="3600" b="1" spc="-20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BI is an enterprise-wide platform that supports reporting, analysis and decision making.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BI Leads to:</a:t>
            </a:r>
          </a:p>
          <a:p>
            <a:pPr marL="620713" marR="1645285" indent="-342900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714375" algn="l"/>
                <a:tab pos="1852613" algn="l"/>
                <a:tab pos="2765425" algn="l"/>
                <a:tab pos="3311525" algn="l"/>
                <a:tab pos="5502275" algn="l"/>
                <a:tab pos="6777038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Fact-based decision making not assumption-based decision making.</a:t>
            </a:r>
          </a:p>
          <a:p>
            <a:pPr marL="620713" marR="1645285" indent="-342900">
              <a:lnSpc>
                <a:spcPts val="2360"/>
              </a:lnSpc>
              <a:spcBef>
                <a:spcPts val="670"/>
              </a:spcBef>
              <a:buFont typeface="Wingdings" panose="05000000000000000000" pitchFamily="2" charset="2"/>
              <a:buChar char="v"/>
              <a:tabLst>
                <a:tab pos="714375" algn="l"/>
                <a:tab pos="1852613" algn="l"/>
                <a:tab pos="2765425" algn="l"/>
                <a:tab pos="3311525" algn="l"/>
                <a:tab pos="5502275" algn="l"/>
                <a:tab pos="6777038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“Single version of the truth”</a:t>
            </a:r>
          </a:p>
        </p:txBody>
      </p:sp>
    </p:spTree>
    <p:extLst>
      <p:ext uri="{BB962C8B-B14F-4D97-AF65-F5344CB8AC3E}">
        <p14:creationId xmlns:p14="http://schemas.microsoft.com/office/powerpoint/2010/main" val="3385857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EBCCD-969A-37DD-F4E4-8549144CA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57AA56-AE34-3D0E-C783-EB6326B3B2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95" y="2895599"/>
            <a:ext cx="8603209" cy="6205768"/>
          </a:xfrm>
          <a:prstGeom prst="rect">
            <a:avLst/>
          </a:prstGeom>
        </p:spPr>
      </p:pic>
      <p:sp>
        <p:nvSpPr>
          <p:cNvPr id="12" name="object 6">
            <a:extLst>
              <a:ext uri="{FF2B5EF4-FFF2-40B4-BE49-F238E27FC236}">
                <a16:creationId xmlns:a16="http://schemas.microsoft.com/office/drawing/2014/main" id="{09589B9A-F802-EC9E-90E5-1D1AF07C2ECB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57016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3600" b="1" dirty="0">
                <a:solidFill>
                  <a:schemeClr val="bg1"/>
                </a:solidFill>
                <a:latin typeface="Comic Sans MS"/>
              </a:rPr>
              <a:t>Why </a:t>
            </a:r>
            <a:r>
              <a:rPr lang="en-GB" sz="3600" b="1" dirty="0" err="1">
                <a:solidFill>
                  <a:schemeClr val="bg1"/>
                </a:solidFill>
                <a:latin typeface="Comic Sans MS"/>
              </a:rPr>
              <a:t>BIfi</a:t>
            </a:r>
            <a:r>
              <a:rPr lang="en-GB" sz="3600" b="1" dirty="0">
                <a:solidFill>
                  <a:schemeClr val="bg1"/>
                </a:solidFill>
                <a:latin typeface="Comic Sans MS"/>
              </a:rPr>
              <a:t> The Five Questions</a:t>
            </a:r>
          </a:p>
        </p:txBody>
      </p:sp>
    </p:spTree>
    <p:extLst>
      <p:ext uri="{BB962C8B-B14F-4D97-AF65-F5344CB8AC3E}">
        <p14:creationId xmlns:p14="http://schemas.microsoft.com/office/powerpoint/2010/main" val="1578581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FAAD1-5245-7A11-893F-64632DEC7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CA341F0B-A843-8C80-B60F-3C79D37924AB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914257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sv-SE" sz="3600" b="1" dirty="0" err="1">
                <a:solidFill>
                  <a:schemeClr val="bg1"/>
                </a:solidFill>
                <a:latin typeface="Comic Sans MS"/>
                <a:cs typeface="Comic Sans MS"/>
              </a:rPr>
              <a:t>Benefits</a:t>
            </a:r>
            <a:r>
              <a:rPr lang="sv-SE" sz="3600" b="1" dirty="0">
                <a:solidFill>
                  <a:schemeClr val="bg1"/>
                </a:solidFill>
                <a:latin typeface="Comic Sans MS"/>
                <a:cs typeface="Comic Sans MS"/>
              </a:rPr>
              <a:t>..</a:t>
            </a:r>
            <a:endParaRPr lang="en-GB" sz="3600" b="1" spc="-20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Give user the means to make better decisions.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Leverage your investment in your legacy systems (e.g. ERP) or data warehouse, it is the best way to get value form existing applications.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Challenge assumption with factual information.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Eliminate report backlog and delays.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Find root causes and take action.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Identify waste resources and reduce cost.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Improve operational efficiency.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Creates organizational language.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Negotiate better contracts with suppliers and customers.</a:t>
            </a: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endParaRPr lang="en-GB" sz="2400" spc="28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4965" marR="1645285" indent="-342900">
              <a:lnSpc>
                <a:spcPts val="236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213360" algn="l"/>
                <a:tab pos="1853564" algn="l"/>
                <a:tab pos="2766060" algn="l"/>
                <a:tab pos="3312795" algn="l"/>
                <a:tab pos="5502910" algn="l"/>
                <a:tab pos="6777355" algn="l"/>
              </a:tabLst>
            </a:pPr>
            <a:r>
              <a:rPr lang="en-GB" sz="2400" spc="285" dirty="0">
                <a:solidFill>
                  <a:srgbClr val="FFFFFF"/>
                </a:solidFill>
                <a:latin typeface="Trebuchet MS"/>
                <a:cs typeface="Trebuchet MS"/>
              </a:rPr>
              <a:t>Improve strategies with better marketing analysis.</a:t>
            </a:r>
          </a:p>
        </p:txBody>
      </p:sp>
    </p:spTree>
    <p:extLst>
      <p:ext uri="{BB962C8B-B14F-4D97-AF65-F5344CB8AC3E}">
        <p14:creationId xmlns:p14="http://schemas.microsoft.com/office/powerpoint/2010/main" val="4287047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1A774-485E-0BB0-E7CA-BC45D387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rectangular buttons with white text&#10;&#10;AI-generated content may be incorrect.">
            <a:extLst>
              <a:ext uri="{FF2B5EF4-FFF2-40B4-BE49-F238E27FC236}">
                <a16:creationId xmlns:a16="http://schemas.microsoft.com/office/drawing/2014/main" id="{6E0B47FA-F0B7-822F-1B12-20F3F7528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943" y="2913184"/>
            <a:ext cx="9281314" cy="4232032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F52D35AF-6E7A-E89B-33E4-1625B80D7008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57016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3600" b="1" dirty="0">
                <a:solidFill>
                  <a:schemeClr val="bg1"/>
                </a:solidFill>
                <a:latin typeface="Comic Sans MS"/>
              </a:rPr>
              <a:t>BI Tools</a:t>
            </a:r>
          </a:p>
        </p:txBody>
      </p:sp>
    </p:spTree>
    <p:extLst>
      <p:ext uri="{BB962C8B-B14F-4D97-AF65-F5344CB8AC3E}">
        <p14:creationId xmlns:p14="http://schemas.microsoft.com/office/powerpoint/2010/main" val="3404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771FE63B-2F86-84C5-669D-A9F5FCD1F953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397</Words>
  <Application>Microsoft Office PowerPoint</Application>
  <PresentationFormat>Custom</PresentationFormat>
  <Paragraphs>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MT</vt:lpstr>
      <vt:lpstr>Calibri</vt:lpstr>
      <vt:lpstr>Comic Sans MS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80</cp:revision>
  <dcterms:created xsi:type="dcterms:W3CDTF">2025-12-09T17:44:59Z</dcterms:created>
  <dcterms:modified xsi:type="dcterms:W3CDTF">2026-01-16T19:45:52Z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