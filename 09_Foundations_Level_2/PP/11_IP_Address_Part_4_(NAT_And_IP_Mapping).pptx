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47" r:id="rId2"/>
    <p:sldId id="257" r:id="rId3"/>
    <p:sldId id="348" r:id="rId4"/>
    <p:sldId id="304" r:id="rId5"/>
    <p:sldId id="314" r:id="rId6"/>
    <p:sldId id="315" r:id="rId7"/>
    <p:sldId id="299" r:id="rId8"/>
    <p:sldId id="303" r:id="rId9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6" d="100"/>
          <a:sy n="36" d="100"/>
        </p:scale>
        <p:origin x="129" y="12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F0FF3176-3F91-64FC-E68E-9BEFB7D9E6B1}"/>
              </a:ext>
            </a:extLst>
          </p:cNvPr>
          <p:cNvSpPr txBox="1"/>
          <p:nvPr/>
        </p:nvSpPr>
        <p:spPr>
          <a:xfrm>
            <a:off x="0" y="3338091"/>
            <a:ext cx="13411198" cy="160300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5000" b="1">
                <a:solidFill>
                  <a:srgbClr val="FFCE53"/>
                </a:solidFill>
                <a:latin typeface="Comic Sans MS"/>
              </a:rPr>
              <a:t>Computer Foundations</a:t>
            </a:r>
            <a:endParaRPr lang="en-GB" sz="5000" b="1" dirty="0">
              <a:solidFill>
                <a:srgbClr val="FFCE53"/>
              </a:solidFill>
              <a:latin typeface="Comic Sans MS"/>
            </a:endParaRPr>
          </a:p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chemeClr val="bg1"/>
                </a:solidFill>
                <a:latin typeface="Comic Sans MS"/>
                <a:cs typeface="Comic Sans MS"/>
              </a:rPr>
              <a:t>Level 2</a:t>
            </a:r>
          </a:p>
        </p:txBody>
      </p:sp>
    </p:spTree>
    <p:extLst>
      <p:ext uri="{BB962C8B-B14F-4D97-AF65-F5344CB8AC3E}">
        <p14:creationId xmlns:p14="http://schemas.microsoft.com/office/powerpoint/2010/main" val="12767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2485296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dirty="0">
                <a:solidFill>
                  <a:srgbClr val="FFFFFF"/>
                </a:solidFill>
                <a:latin typeface="Comic Sans MS"/>
                <a:cs typeface="Comic Sans MS"/>
              </a:rPr>
              <a:t>Computer</a:t>
            </a:r>
            <a:r>
              <a:rPr lang="sv-SE" sz="4000" spc="147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Foundations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2</a:t>
            </a:r>
          </a:p>
          <a:p>
            <a:pPr marL="2786346" algn="ctr">
              <a:lnSpc>
                <a:spcPct val="100000"/>
              </a:lnSpc>
              <a:spcBef>
                <a:spcPts val="673"/>
              </a:spcBef>
            </a:pPr>
            <a:r>
              <a:rPr lang="sv-SE" sz="4000" b="1" dirty="0">
                <a:solidFill>
                  <a:srgbClr val="FFCE53"/>
                </a:solidFill>
                <a:latin typeface="Comic Sans MS"/>
              </a:rPr>
              <a:t>IP Part 5</a:t>
            </a:r>
          </a:p>
          <a:p>
            <a:pPr marL="2786346" algn="ctr">
              <a:lnSpc>
                <a:spcPct val="100000"/>
              </a:lnSpc>
              <a:spcBef>
                <a:spcPts val="673"/>
              </a:spcBef>
            </a:pPr>
            <a:r>
              <a:rPr lang="sv-SE" sz="4000" b="1" dirty="0">
                <a:solidFill>
                  <a:srgbClr val="FFCE53"/>
                </a:solidFill>
                <a:latin typeface="Comic Sans MS"/>
              </a:rPr>
              <a:t>(NAT and </a:t>
            </a:r>
            <a:r>
              <a:rPr lang="sv-SE" sz="4000" b="1" dirty="0" err="1">
                <a:solidFill>
                  <a:srgbClr val="FFCE53"/>
                </a:solidFill>
                <a:latin typeface="Comic Sans MS"/>
              </a:rPr>
              <a:t>Mapping</a:t>
            </a:r>
            <a:r>
              <a:rPr lang="sv-SE" sz="4000" b="1" dirty="0">
                <a:solidFill>
                  <a:srgbClr val="FFCE53"/>
                </a:solidFill>
                <a:latin typeface="Comic Sans MS"/>
              </a:rPr>
              <a:t>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6E558-5A20-0491-E27D-54BD7E0D6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B2F4D946-1A19-735D-3F2A-EA4D5BAEE982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7D45DE0C-B691-097D-7142-932E2A69B1A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0274F89-17BB-CA28-DCA0-0C1C2C1B2774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8C77CB28-BD4F-0EE1-FCCB-F82D24462640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9A522297-A244-AFA3-4297-9AEE2C616F45}"/>
              </a:ext>
            </a:extLst>
          </p:cNvPr>
          <p:cNvSpPr txBox="1"/>
          <p:nvPr/>
        </p:nvSpPr>
        <p:spPr>
          <a:xfrm>
            <a:off x="106432" y="3084218"/>
            <a:ext cx="13304768" cy="2485296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dirty="0">
                <a:solidFill>
                  <a:srgbClr val="FFFFFF"/>
                </a:solidFill>
                <a:latin typeface="Comic Sans MS"/>
                <a:cs typeface="Comic Sans MS"/>
              </a:rPr>
              <a:t>Computer</a:t>
            </a:r>
            <a:r>
              <a:rPr lang="sv-SE" sz="4000" spc="147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Foundations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2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What is NAT &amp; IP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Mapping?</a:t>
            </a:r>
          </a:p>
        </p:txBody>
      </p:sp>
    </p:spTree>
    <p:extLst>
      <p:ext uri="{BB962C8B-B14F-4D97-AF65-F5344CB8AC3E}">
        <p14:creationId xmlns:p14="http://schemas.microsoft.com/office/powerpoint/2010/main" val="1453123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CF252-7F95-9272-7CF1-6C13A3AF7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0E1BC9C-AA70-4C90-F364-EF9912C39BCB}"/>
              </a:ext>
            </a:extLst>
          </p:cNvPr>
          <p:cNvGrpSpPr/>
          <p:nvPr/>
        </p:nvGrpSpPr>
        <p:grpSpPr>
          <a:xfrm>
            <a:off x="1070737" y="1494928"/>
            <a:ext cx="11269725" cy="7068543"/>
            <a:chOff x="394447" y="721786"/>
            <a:chExt cx="11269725" cy="7068543"/>
          </a:xfrm>
        </p:grpSpPr>
        <p:pic>
          <p:nvPicPr>
            <p:cNvPr id="31" name="object 31">
              <a:extLst>
                <a:ext uri="{FF2B5EF4-FFF2-40B4-BE49-F238E27FC236}">
                  <a16:creationId xmlns:a16="http://schemas.microsoft.com/office/drawing/2014/main" id="{D1075B9B-CCF8-20C7-69BF-63BDB597E3E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4447" y="721786"/>
              <a:ext cx="2069429" cy="7068543"/>
            </a:xfrm>
            <a:prstGeom prst="rect">
              <a:avLst/>
            </a:prstGeom>
          </p:spPr>
        </p:pic>
        <p:pic>
          <p:nvPicPr>
            <p:cNvPr id="2" name="object 6">
              <a:extLst>
                <a:ext uri="{FF2B5EF4-FFF2-40B4-BE49-F238E27FC236}">
                  <a16:creationId xmlns:a16="http://schemas.microsoft.com/office/drawing/2014/main" id="{BB400718-A364-5F7F-6807-D8A505E0269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47027" y="1284257"/>
              <a:ext cx="9917145" cy="5943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1223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A67E4-3984-3137-4AB8-2C780A013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6">
            <a:extLst>
              <a:ext uri="{FF2B5EF4-FFF2-40B4-BE49-F238E27FC236}">
                <a16:creationId xmlns:a16="http://schemas.microsoft.com/office/drawing/2014/main" id="{BBCB0ECB-0771-A4D3-B177-EA957E99C386}"/>
              </a:ext>
            </a:extLst>
          </p:cNvPr>
          <p:cNvSpPr txBox="1">
            <a:spLocks/>
          </p:cNvSpPr>
          <p:nvPr/>
        </p:nvSpPr>
        <p:spPr>
          <a:xfrm>
            <a:off x="352021" y="785608"/>
            <a:ext cx="12068579" cy="6313466"/>
          </a:xfrm>
          <a:prstGeom prst="rect">
            <a:avLst/>
          </a:prstGeom>
        </p:spPr>
        <p:txBody>
          <a:bodyPr vert="horz" wrap="square" lIns="0" tIns="21914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95"/>
              </a:spcBef>
            </a:pPr>
            <a:r>
              <a:rPr lang="en-GB" sz="4000" b="1" dirty="0">
                <a:latin typeface="Comic Sans MS"/>
                <a:cs typeface="Comic Sans MS"/>
              </a:rPr>
              <a:t>What</a:t>
            </a:r>
            <a:r>
              <a:rPr lang="en-GB" sz="4000" b="1" spc="-20" dirty="0">
                <a:latin typeface="Comic Sans MS"/>
                <a:cs typeface="Comic Sans MS"/>
              </a:rPr>
              <a:t> </a:t>
            </a:r>
            <a:r>
              <a:rPr lang="en-GB" sz="4000" b="1" dirty="0">
                <a:latin typeface="Comic Sans MS"/>
                <a:cs typeface="Comic Sans MS"/>
              </a:rPr>
              <a:t>is</a:t>
            </a:r>
            <a:r>
              <a:rPr lang="en-GB" sz="4000" b="1" spc="-25" dirty="0">
                <a:latin typeface="Comic Sans MS"/>
                <a:cs typeface="Comic Sans MS"/>
              </a:rPr>
              <a:t> </a:t>
            </a:r>
            <a:r>
              <a:rPr lang="en-GB" sz="4000" b="1" dirty="0">
                <a:latin typeface="Comic Sans MS"/>
                <a:cs typeface="Comic Sans MS"/>
              </a:rPr>
              <a:t>NAT</a:t>
            </a:r>
            <a:r>
              <a:rPr lang="en-GB" sz="4000" b="1" spc="-10" dirty="0">
                <a:latin typeface="Comic Sans MS"/>
                <a:cs typeface="Comic Sans MS"/>
              </a:rPr>
              <a:t> </a:t>
            </a:r>
            <a:r>
              <a:rPr lang="en-GB" sz="4000" b="1" dirty="0">
                <a:latin typeface="Comic Sans MS"/>
                <a:cs typeface="Comic Sans MS"/>
              </a:rPr>
              <a:t>and</a:t>
            </a:r>
            <a:r>
              <a:rPr lang="en-GB" sz="4000" b="1" spc="-10" dirty="0">
                <a:latin typeface="Comic Sans MS"/>
                <a:cs typeface="Comic Sans MS"/>
              </a:rPr>
              <a:t> </a:t>
            </a:r>
            <a:r>
              <a:rPr lang="en-GB" sz="4000" b="1" dirty="0">
                <a:latin typeface="Comic Sans MS"/>
                <a:cs typeface="Comic Sans MS"/>
              </a:rPr>
              <a:t>IP</a:t>
            </a:r>
            <a:r>
              <a:rPr lang="en-GB" sz="4000" b="1" spc="-10" dirty="0">
                <a:latin typeface="Comic Sans MS"/>
                <a:cs typeface="Comic Sans MS"/>
              </a:rPr>
              <a:t> Mapping?</a:t>
            </a:r>
            <a:endParaRPr lang="en-GB" sz="4000" b="1" dirty="0">
              <a:latin typeface="Comic Sans MS"/>
              <a:cs typeface="Comic Sans MS"/>
            </a:endParaRPr>
          </a:p>
          <a:p>
            <a:pPr marL="88900">
              <a:lnSpc>
                <a:spcPct val="100000"/>
              </a:lnSpc>
              <a:spcBef>
                <a:spcPts val="1060"/>
              </a:spcBef>
            </a:pPr>
            <a:endParaRPr lang="en-GB" sz="2400" dirty="0">
              <a:latin typeface="Comic Sans MS"/>
              <a:cs typeface="Comic Sans MS"/>
            </a:endParaRPr>
          </a:p>
          <a:p>
            <a:pPr marL="88900">
              <a:lnSpc>
                <a:spcPct val="100000"/>
              </a:lnSpc>
              <a:spcBef>
                <a:spcPts val="1060"/>
              </a:spcBef>
            </a:pPr>
            <a:r>
              <a:rPr lang="en-GB" sz="2400" dirty="0">
                <a:latin typeface="Comic Sans MS"/>
                <a:cs typeface="Comic Sans MS"/>
              </a:rPr>
              <a:t>NAT:</a:t>
            </a:r>
            <a:r>
              <a:rPr lang="en-GB" sz="2400" spc="105" dirty="0"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N</a:t>
            </a:r>
            <a:r>
              <a:rPr lang="en-GB" sz="2400" dirty="0">
                <a:latin typeface="Comic Sans MS"/>
                <a:cs typeface="Comic Sans MS"/>
              </a:rPr>
              <a:t>etwork</a:t>
            </a:r>
            <a:r>
              <a:rPr lang="en-GB" sz="2400" spc="105" dirty="0"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A</a:t>
            </a:r>
            <a:r>
              <a:rPr lang="en-GB" sz="2400" dirty="0">
                <a:latin typeface="Comic Sans MS"/>
                <a:cs typeface="Comic Sans MS"/>
              </a:rPr>
              <a:t>ddress</a:t>
            </a:r>
            <a:r>
              <a:rPr lang="en-GB" sz="2400" spc="105" dirty="0">
                <a:latin typeface="Comic Sans MS"/>
                <a:cs typeface="Comic Sans MS"/>
              </a:rPr>
              <a:t> </a:t>
            </a:r>
            <a:r>
              <a:rPr lang="en-GB" sz="2400" spc="-10" dirty="0">
                <a:solidFill>
                  <a:srgbClr val="FF0000"/>
                </a:solidFill>
                <a:latin typeface="Comic Sans MS"/>
                <a:cs typeface="Comic Sans MS"/>
              </a:rPr>
              <a:t>T</a:t>
            </a:r>
            <a:r>
              <a:rPr lang="en-GB" sz="2400" spc="-10" dirty="0">
                <a:latin typeface="Comic Sans MS"/>
                <a:cs typeface="Comic Sans MS"/>
              </a:rPr>
              <a:t>ranslation</a:t>
            </a:r>
            <a:endParaRPr lang="en-GB" sz="2400" dirty="0">
              <a:latin typeface="Comic Sans MS"/>
              <a:cs typeface="Comic Sans MS"/>
            </a:endParaRPr>
          </a:p>
          <a:p>
            <a:pPr marL="431165" marR="5080" indent="-342900">
              <a:lnSpc>
                <a:spcPct val="104400"/>
              </a:lnSpc>
              <a:spcBef>
                <a:spcPts val="670"/>
              </a:spcBef>
              <a:buFont typeface="Arial" panose="020B0604020202020204" pitchFamily="34" charset="0"/>
              <a:buChar char="•"/>
              <a:tabLst>
                <a:tab pos="163195" algn="l"/>
              </a:tabLst>
            </a:pP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It</a:t>
            </a:r>
            <a:r>
              <a:rPr lang="en-GB" sz="2400" spc="4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is</a:t>
            </a:r>
            <a:r>
              <a:rPr lang="en-GB" sz="2400" spc="4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a</a:t>
            </a:r>
            <a:r>
              <a:rPr lang="en-GB" sz="2400" spc="4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technique</a:t>
            </a:r>
            <a:r>
              <a:rPr lang="en-GB" sz="2400" spc="4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implemented</a:t>
            </a:r>
            <a:r>
              <a:rPr lang="en-GB" sz="2400" spc="5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in</a:t>
            </a:r>
            <a:r>
              <a:rPr lang="en-GB" sz="2400" spc="3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network</a:t>
            </a:r>
            <a:r>
              <a:rPr lang="en-GB" sz="2400" spc="5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gateways</a:t>
            </a:r>
            <a:r>
              <a:rPr lang="en-GB" sz="2400" spc="5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(typically</a:t>
            </a:r>
            <a:r>
              <a:rPr lang="en-GB" sz="2400" spc="5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a</a:t>
            </a:r>
            <a:r>
              <a:rPr lang="en-GB" sz="2400" spc="4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router);</a:t>
            </a:r>
            <a:r>
              <a:rPr lang="en-GB" sz="2400" spc="4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it</a:t>
            </a:r>
            <a:r>
              <a:rPr lang="en-GB" sz="2400" spc="4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maps</a:t>
            </a:r>
            <a:r>
              <a:rPr lang="en-GB" sz="2400" u="sng" spc="5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the</a:t>
            </a:r>
            <a:r>
              <a:rPr lang="en-GB" sz="2400" u="sng" spc="4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private</a:t>
            </a:r>
            <a:r>
              <a:rPr lang="en-GB" sz="2400" u="sng" spc="4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spc="-2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IP</a:t>
            </a:r>
            <a:r>
              <a:rPr lang="en-GB" sz="2400" u="sng" spc="50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addresses</a:t>
            </a:r>
            <a:r>
              <a:rPr lang="en-GB" sz="2400" spc="4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of</a:t>
            </a:r>
            <a:r>
              <a:rPr lang="en-GB" sz="2400" spc="4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the</a:t>
            </a:r>
            <a:r>
              <a:rPr lang="en-GB" sz="2400" spc="4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locally</a:t>
            </a:r>
            <a:r>
              <a:rPr lang="en-GB" sz="2400" spc="5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connected</a:t>
            </a:r>
            <a:r>
              <a:rPr lang="en-GB" sz="2400" spc="5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devices</a:t>
            </a:r>
            <a:r>
              <a:rPr lang="en-GB" sz="2400" spc="5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to</a:t>
            </a:r>
            <a:r>
              <a:rPr lang="en-GB" sz="2400" u="sng" spc="4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its</a:t>
            </a:r>
            <a:r>
              <a:rPr lang="en-GB" sz="2400" u="sng" spc="3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own</a:t>
            </a:r>
            <a:r>
              <a:rPr lang="en-GB" sz="2400" u="sng" spc="5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public</a:t>
            </a:r>
            <a:r>
              <a:rPr lang="en-GB" sz="2400" u="sng" spc="4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IP</a:t>
            </a:r>
            <a:r>
              <a:rPr lang="en-GB" sz="2400" u="sng" spc="3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address</a:t>
            </a:r>
            <a:r>
              <a:rPr lang="en-GB" sz="2400" spc="-10" dirty="0">
                <a:solidFill>
                  <a:srgbClr val="1F2023"/>
                </a:solidFill>
                <a:latin typeface="Comic Sans MS"/>
                <a:cs typeface="Comic Sans MS"/>
              </a:rPr>
              <a:t>.</a:t>
            </a:r>
          </a:p>
          <a:p>
            <a:pPr marL="431165" marR="5080" indent="-342900">
              <a:lnSpc>
                <a:spcPct val="104400"/>
              </a:lnSpc>
              <a:spcBef>
                <a:spcPts val="670"/>
              </a:spcBef>
              <a:buFont typeface="Arial" panose="020B0604020202020204" pitchFamily="34" charset="0"/>
              <a:buChar char="•"/>
              <a:tabLst>
                <a:tab pos="163195" algn="l"/>
              </a:tabLst>
            </a:pPr>
            <a:endParaRPr lang="en-GB" sz="2400" spc="-10" dirty="0">
              <a:latin typeface="Comic Sans MS"/>
              <a:cs typeface="Comic Sans MS"/>
            </a:endParaRPr>
          </a:p>
          <a:p>
            <a:pPr marL="431165" marR="5080" indent="-342900">
              <a:lnSpc>
                <a:spcPct val="104400"/>
              </a:lnSpc>
              <a:spcBef>
                <a:spcPts val="670"/>
              </a:spcBef>
              <a:buFont typeface="Arial" panose="020B0604020202020204" pitchFamily="34" charset="0"/>
              <a:buChar char="•"/>
              <a:tabLst>
                <a:tab pos="163195" algn="l"/>
              </a:tabLst>
            </a:pP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Which</a:t>
            </a:r>
            <a:r>
              <a:rPr lang="en-GB" sz="2400" spc="4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means</a:t>
            </a:r>
            <a:r>
              <a:rPr lang="en-GB" sz="2400" spc="3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all</a:t>
            </a:r>
            <a:r>
              <a:rPr lang="en-GB" sz="2400" spc="4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the</a:t>
            </a:r>
            <a:r>
              <a:rPr lang="en-GB" sz="2400" spc="4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locally</a:t>
            </a:r>
            <a:r>
              <a:rPr lang="en-GB" sz="2400" spc="5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connected</a:t>
            </a:r>
            <a:r>
              <a:rPr lang="en-GB" sz="2400" spc="5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devices</a:t>
            </a:r>
            <a:r>
              <a:rPr lang="en-GB" sz="2400" spc="4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can</a:t>
            </a:r>
            <a:r>
              <a:rPr lang="en-GB" sz="2400" spc="4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access</a:t>
            </a:r>
            <a:r>
              <a:rPr lang="en-GB" sz="2400" spc="5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the</a:t>
            </a:r>
            <a:r>
              <a:rPr lang="en-GB" sz="2400" spc="4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Internet</a:t>
            </a:r>
            <a:r>
              <a:rPr lang="en-GB" sz="2400" spc="4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using</a:t>
            </a:r>
            <a:r>
              <a:rPr lang="en-GB" sz="2400" spc="4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a</a:t>
            </a:r>
            <a:r>
              <a:rPr lang="en-GB" sz="2400" spc="4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similar</a:t>
            </a:r>
            <a:r>
              <a:rPr lang="en-GB" sz="2400" spc="4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spc="-10" dirty="0">
                <a:solidFill>
                  <a:srgbClr val="1F2023"/>
                </a:solidFill>
                <a:latin typeface="Comic Sans MS"/>
                <a:cs typeface="Comic Sans MS"/>
              </a:rPr>
              <a:t>public</a:t>
            </a:r>
            <a:r>
              <a:rPr lang="en-GB" sz="2400" spc="50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IP</a:t>
            </a:r>
            <a:r>
              <a:rPr lang="en-GB" sz="2400" spc="2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address</a:t>
            </a:r>
            <a:r>
              <a:rPr lang="en-GB" sz="2400" spc="4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of</a:t>
            </a:r>
            <a:r>
              <a:rPr lang="en-GB" sz="2400" spc="3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the</a:t>
            </a:r>
            <a:r>
              <a:rPr lang="en-GB" sz="2400" spc="2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spc="-10" dirty="0">
                <a:solidFill>
                  <a:srgbClr val="1F2023"/>
                </a:solidFill>
                <a:latin typeface="Comic Sans MS"/>
                <a:cs typeface="Comic Sans MS"/>
              </a:rPr>
              <a:t>gateway.</a:t>
            </a:r>
          </a:p>
          <a:p>
            <a:pPr marL="431165" marR="5080" indent="-342900">
              <a:lnSpc>
                <a:spcPct val="104400"/>
              </a:lnSpc>
              <a:spcBef>
                <a:spcPts val="670"/>
              </a:spcBef>
              <a:buFont typeface="Arial" panose="020B0604020202020204" pitchFamily="34" charset="0"/>
              <a:buChar char="•"/>
              <a:tabLst>
                <a:tab pos="163195" algn="l"/>
              </a:tabLst>
            </a:pPr>
            <a:endParaRPr lang="en-GB" sz="2400" spc="-10" dirty="0">
              <a:latin typeface="Comic Sans MS"/>
              <a:cs typeface="Comic Sans MS"/>
            </a:endParaRPr>
          </a:p>
          <a:p>
            <a:pPr marL="431165" marR="5080" indent="-342900">
              <a:lnSpc>
                <a:spcPct val="104400"/>
              </a:lnSpc>
              <a:spcBef>
                <a:spcPts val="670"/>
              </a:spcBef>
              <a:buFont typeface="Arial" panose="020B0604020202020204" pitchFamily="34" charset="0"/>
              <a:buChar char="•"/>
              <a:tabLst>
                <a:tab pos="163195" algn="l"/>
              </a:tabLst>
            </a:pP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The</a:t>
            </a:r>
            <a:r>
              <a:rPr lang="en-GB" sz="2400" spc="4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router</a:t>
            </a:r>
            <a:r>
              <a:rPr lang="en-GB" sz="2400" spc="3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keeps</a:t>
            </a:r>
            <a:r>
              <a:rPr lang="en-GB" sz="2400" spc="5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track</a:t>
            </a:r>
            <a:r>
              <a:rPr lang="en-GB" sz="2400" spc="4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of</a:t>
            </a:r>
            <a:r>
              <a:rPr lang="en-GB" sz="2400" spc="4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the</a:t>
            </a:r>
            <a:r>
              <a:rPr lang="en-GB" sz="2400" spc="3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addresses</a:t>
            </a:r>
            <a:r>
              <a:rPr lang="en-GB" sz="2400" spc="5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and</a:t>
            </a:r>
            <a:r>
              <a:rPr lang="en-GB" sz="2400" spc="4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data</a:t>
            </a:r>
            <a:r>
              <a:rPr lang="en-GB" sz="2400" spc="4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routing</a:t>
            </a:r>
            <a:r>
              <a:rPr lang="en-GB" sz="2400" spc="3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in</a:t>
            </a:r>
            <a:r>
              <a:rPr lang="en-GB" sz="2400" spc="3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a</a:t>
            </a:r>
            <a:r>
              <a:rPr lang="en-GB" sz="2400" spc="4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NAT</a:t>
            </a:r>
            <a:r>
              <a:rPr lang="en-GB" sz="2400" spc="5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table,</a:t>
            </a:r>
            <a:r>
              <a:rPr lang="en-GB" sz="2400" spc="4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which</a:t>
            </a:r>
            <a:r>
              <a:rPr lang="en-GB" sz="2400" spc="5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the</a:t>
            </a:r>
            <a:r>
              <a:rPr lang="en-GB" sz="2400" spc="4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spc="-10" dirty="0">
                <a:solidFill>
                  <a:srgbClr val="1F2023"/>
                </a:solidFill>
                <a:latin typeface="Comic Sans MS"/>
                <a:cs typeface="Comic Sans MS"/>
              </a:rPr>
              <a:t>router</a:t>
            </a:r>
            <a:r>
              <a:rPr lang="en-GB" sz="2400" spc="50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maintains</a:t>
            </a:r>
            <a:r>
              <a:rPr lang="en-GB" sz="2400" spc="6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in</a:t>
            </a:r>
            <a:r>
              <a:rPr lang="en-GB" sz="2400" spc="4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its</a:t>
            </a:r>
            <a:r>
              <a:rPr lang="en-GB" sz="2400" spc="4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working</a:t>
            </a:r>
            <a:r>
              <a:rPr lang="en-GB" sz="2400" spc="7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memory</a:t>
            </a:r>
            <a:r>
              <a:rPr lang="en-GB" sz="2400" spc="4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to</a:t>
            </a:r>
            <a:r>
              <a:rPr lang="en-GB" sz="2400" spc="6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distinguish</a:t>
            </a:r>
            <a:r>
              <a:rPr lang="en-GB" sz="2400" spc="5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communication</a:t>
            </a:r>
            <a:r>
              <a:rPr lang="en-GB" sz="2400" spc="6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data</a:t>
            </a:r>
            <a:r>
              <a:rPr lang="en-GB" sz="2400" spc="6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of</a:t>
            </a:r>
            <a:r>
              <a:rPr lang="en-GB" sz="2400" spc="6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different</a:t>
            </a:r>
            <a:r>
              <a:rPr lang="en-GB" sz="2400" spc="4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devices.</a:t>
            </a:r>
            <a:r>
              <a:rPr lang="en-GB" sz="2400" spc="6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spc="-25" dirty="0">
                <a:solidFill>
                  <a:srgbClr val="1F2023"/>
                </a:solidFill>
                <a:latin typeface="Comic Sans MS"/>
                <a:cs typeface="Comic Sans MS"/>
              </a:rPr>
              <a:t>The</a:t>
            </a:r>
            <a:r>
              <a:rPr lang="en-GB" sz="2400" spc="50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following</a:t>
            </a:r>
            <a:r>
              <a:rPr lang="en-GB" sz="2400" spc="5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paragraph</a:t>
            </a:r>
            <a:r>
              <a:rPr lang="en-GB" sz="2400" spc="5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explains</a:t>
            </a:r>
            <a:r>
              <a:rPr lang="en-GB" sz="2400" spc="5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the</a:t>
            </a:r>
            <a:r>
              <a:rPr lang="en-GB" sz="2400" spc="5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concept</a:t>
            </a:r>
            <a:r>
              <a:rPr lang="en-GB" sz="2400" spc="5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of</a:t>
            </a:r>
            <a:r>
              <a:rPr lang="en-GB" sz="2400" spc="4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NAT</a:t>
            </a:r>
            <a:r>
              <a:rPr lang="en-GB" sz="2400" spc="6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and</a:t>
            </a:r>
            <a:r>
              <a:rPr lang="en-GB" sz="2400" spc="5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IP</a:t>
            </a:r>
            <a:r>
              <a:rPr lang="en-GB" sz="2400" spc="5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spc="-10" dirty="0">
                <a:solidFill>
                  <a:srgbClr val="1F2023"/>
                </a:solidFill>
                <a:latin typeface="Comic Sans MS"/>
                <a:cs typeface="Comic Sans MS"/>
              </a:rPr>
              <a:t>mapping.</a:t>
            </a:r>
            <a:endParaRPr lang="en-GB" sz="2400" dirty="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1839607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A67E4-3984-3137-4AB8-2C780A013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6">
            <a:extLst>
              <a:ext uri="{FF2B5EF4-FFF2-40B4-BE49-F238E27FC236}">
                <a16:creationId xmlns:a16="http://schemas.microsoft.com/office/drawing/2014/main" id="{BBCB0ECB-0771-A4D3-B177-EA957E99C386}"/>
              </a:ext>
            </a:extLst>
          </p:cNvPr>
          <p:cNvSpPr txBox="1">
            <a:spLocks/>
          </p:cNvSpPr>
          <p:nvPr/>
        </p:nvSpPr>
        <p:spPr>
          <a:xfrm>
            <a:off x="352021" y="785608"/>
            <a:ext cx="12068579" cy="1771325"/>
          </a:xfrm>
          <a:prstGeom prst="rect">
            <a:avLst/>
          </a:prstGeom>
        </p:spPr>
        <p:txBody>
          <a:bodyPr vert="horz" wrap="square" lIns="0" tIns="21914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95"/>
              </a:spcBef>
            </a:pPr>
            <a:r>
              <a:rPr lang="en-GB" sz="4000" b="1" dirty="0">
                <a:latin typeface="Comic Sans MS"/>
                <a:cs typeface="Comic Sans MS"/>
              </a:rPr>
              <a:t>Big Question????</a:t>
            </a: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lang="en-GB" sz="2400" dirty="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r>
              <a:rPr lang="en-GB" sz="2400" dirty="0">
                <a:latin typeface="Comic Sans MS"/>
                <a:cs typeface="Comic Sans MS"/>
              </a:rPr>
              <a:t>How Does the router distinguish that the data received by public IP should go to which program in that device?</a:t>
            </a:r>
          </a:p>
        </p:txBody>
      </p:sp>
      <p:pic>
        <p:nvPicPr>
          <p:cNvPr id="4" name="object 6">
            <a:extLst>
              <a:ext uri="{FF2B5EF4-FFF2-40B4-BE49-F238E27FC236}">
                <a16:creationId xmlns:a16="http://schemas.microsoft.com/office/drawing/2014/main" id="{03920803-E093-EEBA-490D-738AA6B16EF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67951" y="2968928"/>
            <a:ext cx="6875298" cy="4120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466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78DFC-FEC3-2F9A-40EE-97847D9F1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">
            <a:extLst>
              <a:ext uri="{FF2B5EF4-FFF2-40B4-BE49-F238E27FC236}">
                <a16:creationId xmlns:a16="http://schemas.microsoft.com/office/drawing/2014/main" id="{73997921-5D69-53AA-4636-BAE06910C995}"/>
              </a:ext>
            </a:extLst>
          </p:cNvPr>
          <p:cNvSpPr txBox="1">
            <a:spLocks/>
          </p:cNvSpPr>
          <p:nvPr/>
        </p:nvSpPr>
        <p:spPr>
          <a:xfrm>
            <a:off x="0" y="4097064"/>
            <a:ext cx="13411200" cy="186427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R="8766" indent="101891" algn="ctr">
              <a:lnSpc>
                <a:spcPct val="101299"/>
              </a:lnSpc>
              <a:spcBef>
                <a:spcPts val="155"/>
              </a:spcBef>
            </a:pPr>
            <a:r>
              <a:rPr lang="en-GB" sz="6000" dirty="0">
                <a:latin typeface="Comic Sans MS"/>
                <a:cs typeface="Comic Sans MS"/>
              </a:rPr>
              <a:t>The answer is:</a:t>
            </a:r>
          </a:p>
          <a:p>
            <a:pPr marR="8766" indent="101891" algn="ctr">
              <a:lnSpc>
                <a:spcPct val="101299"/>
              </a:lnSpc>
              <a:spcBef>
                <a:spcPts val="155"/>
              </a:spcBef>
            </a:pPr>
            <a:r>
              <a:rPr lang="en-GB" sz="6000" dirty="0">
                <a:latin typeface="Comic Sans MS"/>
                <a:cs typeface="Comic Sans MS"/>
              </a:rPr>
              <a:t>In the next lesson </a:t>
            </a:r>
            <a:r>
              <a:rPr lang="en-GB" sz="6000" spc="-86" dirty="0">
                <a:latin typeface="Wingdings"/>
                <a:cs typeface="Wingdings"/>
              </a:rPr>
              <a:t></a:t>
            </a:r>
            <a:endParaRPr lang="sv-SE" sz="5934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25065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727CA-133E-F75D-840C-68A986A88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">
            <a:extLst>
              <a:ext uri="{FF2B5EF4-FFF2-40B4-BE49-F238E27FC236}">
                <a16:creationId xmlns:a16="http://schemas.microsoft.com/office/drawing/2014/main" id="{4C578395-1408-5196-8BA0-181C95998319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4121114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253</TotalTime>
  <Words>173</Words>
  <Application>Microsoft Office PowerPoint</Application>
  <PresentationFormat>Custom</PresentationFormat>
  <Paragraphs>27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Sara Alterkawi</cp:lastModifiedBy>
  <cp:revision>29</cp:revision>
  <dcterms:created xsi:type="dcterms:W3CDTF">2025-12-09T17:44:59Z</dcterms:created>
  <dcterms:modified xsi:type="dcterms:W3CDTF">2026-01-16T19:36:13Z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