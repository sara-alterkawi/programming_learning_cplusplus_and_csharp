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33" r:id="rId4"/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13" r:id="rId14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66" y="771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48859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Data Structure</a:t>
            </a:r>
            <a:endParaRPr lang="sv-SE" sz="6000" b="1" dirty="0">
              <a:solidFill>
                <a:srgbClr val="FFCE53"/>
              </a:solidFill>
              <a:latin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What is Data Structure and Why</a:t>
            </a:r>
            <a:r>
              <a:rPr lang="en-SE" sz="6000" b="1" dirty="0">
                <a:solidFill>
                  <a:srgbClr val="FFCE53"/>
                </a:solidFill>
                <a:latin typeface="Comic Sans MS"/>
                <a:cs typeface="Comic Sans MS"/>
              </a:rPr>
              <a:t>?</a:t>
            </a:r>
            <a:endParaRPr lang="en-GB" sz="6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What is Data Structure and Why</a:t>
            </a: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?</a:t>
            </a:r>
            <a:endParaRPr lang="en-GB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424942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🔎 Definition: Program</a:t>
            </a:r>
            <a:endParaRPr lang="en-GB" sz="4000" b="1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  <a:p>
            <a:pPr marL="21912">
              <a:spcBef>
                <a:spcPts val="1216"/>
              </a:spcBef>
            </a:pPr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</a:t>
            </a:r>
            <a:r>
              <a:rPr lang="en-GB" sz="2400" b="1" dirty="0">
                <a:latin typeface="Comic Sans MS" panose="030F0702030302020204" pitchFamily="66" charset="0"/>
              </a:rPr>
              <a:t>A Program</a:t>
            </a:r>
            <a:r>
              <a:rPr lang="en-GB" sz="2400" dirty="0">
                <a:latin typeface="Comic Sans MS" panose="030F0702030302020204" pitchFamily="66" charset="0"/>
              </a:rPr>
              <a:t> is a complete solution written in a programming language to solve a </a:t>
            </a:r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specific problem.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🔹 It is commonly expressed as: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⚖️ </a:t>
            </a:r>
            <a:r>
              <a:rPr lang="en-GB" sz="2400" b="1" dirty="0">
                <a:latin typeface="Comic Sans MS" panose="030F0702030302020204" pitchFamily="66" charset="0"/>
              </a:rPr>
              <a:t>Comparison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b="1" dirty="0">
                <a:latin typeface="Comic Sans MS" panose="030F0702030302020204" pitchFamily="66" charset="0"/>
              </a:rPr>
              <a:t>Program = Algorithms + Data Structures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📌 </a:t>
            </a:r>
            <a:r>
              <a:rPr lang="en-GB" sz="2400" b="1" dirty="0">
                <a:latin typeface="Comic Sans MS" panose="030F0702030302020204" pitchFamily="66" charset="0"/>
              </a:rPr>
              <a:t>Note: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An algorithm alone is not enough; without a proper data structure, the program </a:t>
            </a:r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may be inefficient or impractical.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📖 Explanation: Algorithm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An </a:t>
            </a:r>
            <a:r>
              <a:rPr lang="en-GB" sz="2400" b="1" dirty="0">
                <a:latin typeface="Comic Sans MS" panose="030F0702030302020204" pitchFamily="66" charset="0"/>
              </a:rPr>
              <a:t>Algorithm</a:t>
            </a:r>
            <a:r>
              <a:rPr lang="en-GB" sz="2400" dirty="0">
                <a:latin typeface="Comic Sans MS" panose="030F0702030302020204" pitchFamily="66" charset="0"/>
              </a:rPr>
              <a:t> is a step-by-step logical procedure used to solve a particular </a:t>
            </a:r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problem.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🔹 It defines </a:t>
            </a:r>
            <a:r>
              <a:rPr lang="en-GB" sz="2400" b="1" dirty="0">
                <a:latin typeface="Comic Sans MS" panose="030F0702030302020204" pitchFamily="66" charset="0"/>
              </a:rPr>
              <a:t>what to do</a:t>
            </a:r>
            <a:r>
              <a:rPr lang="en-GB" sz="2400" dirty="0">
                <a:latin typeface="Comic Sans MS" panose="030F0702030302020204" pitchFamily="66" charset="0"/>
              </a:rPr>
              <a:t>, but not </a:t>
            </a:r>
            <a:r>
              <a:rPr lang="en-GB" sz="2400" b="1" dirty="0">
                <a:latin typeface="Comic Sans MS" panose="030F0702030302020204" pitchFamily="66" charset="0"/>
              </a:rPr>
              <a:t>how data is stored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💡 </a:t>
            </a:r>
            <a:r>
              <a:rPr lang="en-GB" sz="2400" b="1" dirty="0">
                <a:latin typeface="Comic Sans MS" panose="030F0702030302020204" pitchFamily="66" charset="0"/>
              </a:rPr>
              <a:t>Example: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Steps to find the largest number in a list.</a:t>
            </a:r>
          </a:p>
        </p:txBody>
      </p:sp>
    </p:spTree>
    <p:extLst>
      <p:ext uri="{BB962C8B-B14F-4D97-AF65-F5344CB8AC3E}">
        <p14:creationId xmlns:p14="http://schemas.microsoft.com/office/powerpoint/2010/main" val="1889232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🔎 Definition: Data Structure</a:t>
            </a:r>
            <a:endParaRPr lang="en-GB" sz="4000" b="1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A </a:t>
            </a:r>
            <a:r>
              <a:rPr lang="en-GB" sz="2400" b="1" dirty="0">
                <a:latin typeface="Comic Sans MS" panose="030F0702030302020204" pitchFamily="66" charset="0"/>
              </a:rPr>
              <a:t>Data Structure</a:t>
            </a:r>
            <a:r>
              <a:rPr lang="en-GB" sz="2400" dirty="0">
                <a:latin typeface="Comic Sans MS" panose="030F0702030302020204" pitchFamily="66" charset="0"/>
              </a:rPr>
              <a:t> is a way of organizing, managing, and storing data items and </a:t>
            </a:r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their relationships inside a program so they can be used efficiently.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🧐 </a:t>
            </a:r>
            <a:r>
              <a:rPr lang="en-GB" sz="2400" b="1" dirty="0">
                <a:latin typeface="Comic Sans MS" panose="030F0702030302020204" pitchFamily="66" charset="0"/>
              </a:rPr>
              <a:t>Interpretation: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Data structures decide </a:t>
            </a:r>
            <a:r>
              <a:rPr lang="en-GB" sz="2400" b="1" dirty="0">
                <a:latin typeface="Comic Sans MS" panose="030F0702030302020204" pitchFamily="66" charset="0"/>
              </a:rPr>
              <a:t>how data lives in memory</a:t>
            </a:r>
            <a:r>
              <a:rPr lang="en-GB" sz="2400" dirty="0">
                <a:latin typeface="Comic Sans MS" panose="030F0702030302020204" pitchFamily="66" charset="0"/>
              </a:rPr>
              <a:t> and </a:t>
            </a:r>
            <a:r>
              <a:rPr lang="en-GB" sz="2400" b="1" dirty="0">
                <a:latin typeface="Comic Sans MS" panose="030F0702030302020204" pitchFamily="66" charset="0"/>
              </a:rPr>
              <a:t>how easily it can be </a:t>
            </a:r>
            <a:r>
              <a:rPr lang="en-SE" sz="2400" b="1" dirty="0">
                <a:latin typeface="Comic Sans MS" panose="030F0702030302020204" pitchFamily="66" charset="0"/>
              </a:rPr>
              <a:t>	</a:t>
            </a:r>
            <a:r>
              <a:rPr lang="en-GB" sz="2400" b="1" dirty="0">
                <a:latin typeface="Comic Sans MS" panose="030F0702030302020204" pitchFamily="66" charset="0"/>
              </a:rPr>
              <a:t>accessed or modified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7748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37262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📖 Explanation: Why Data Structures Matter?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/>
              <a:t>🔹 Data structures affect:</a:t>
            </a:r>
            <a:br>
              <a:rPr lang="en-GB" sz="2400" dirty="0"/>
            </a:br>
            <a:r>
              <a:rPr lang="en-SE" sz="2400" dirty="0"/>
              <a:t>	</a:t>
            </a:r>
            <a:r>
              <a:rPr lang="en-GB" sz="2400" dirty="0"/>
              <a:t>🟨</a:t>
            </a:r>
            <a:r>
              <a:rPr lang="en-SE" sz="2400" dirty="0"/>
              <a:t> </a:t>
            </a:r>
            <a:r>
              <a:rPr lang="en-GB" sz="2400" dirty="0"/>
              <a:t>Program efficiency</a:t>
            </a:r>
          </a:p>
          <a:p>
            <a:pPr lvl="4"/>
            <a:r>
              <a:rPr lang="en-SE" sz="2400" dirty="0"/>
              <a:t>	</a:t>
            </a:r>
            <a:r>
              <a:rPr lang="en-GB" sz="2400" dirty="0"/>
              <a:t>🟨</a:t>
            </a:r>
            <a:r>
              <a:rPr lang="en-SE" sz="2400" dirty="0"/>
              <a:t> </a:t>
            </a:r>
            <a:r>
              <a:rPr lang="en-GB" sz="2400" dirty="0"/>
              <a:t>Memory usage</a:t>
            </a:r>
            <a:endParaRPr lang="en-SE" sz="2400" dirty="0"/>
          </a:p>
          <a:p>
            <a:pPr lvl="4"/>
            <a:r>
              <a:rPr lang="en-SE" sz="2400" dirty="0"/>
              <a:t>	</a:t>
            </a:r>
            <a:r>
              <a:rPr lang="en-GB" sz="2400" dirty="0"/>
              <a:t>🟨</a:t>
            </a:r>
            <a:r>
              <a:rPr lang="en-SE" sz="2400" dirty="0"/>
              <a:t> </a:t>
            </a:r>
            <a:r>
              <a:rPr lang="en-GB" sz="2400" dirty="0"/>
              <a:t>Speed of execution</a:t>
            </a:r>
            <a:endParaRPr lang="en-SE" sz="2400" dirty="0"/>
          </a:p>
          <a:p>
            <a:pPr lvl="4"/>
            <a:r>
              <a:rPr lang="en-SE" sz="2400" dirty="0"/>
              <a:t>	</a:t>
            </a:r>
            <a:r>
              <a:rPr lang="en-GB" sz="2400" dirty="0"/>
              <a:t>🟨</a:t>
            </a:r>
            <a:r>
              <a:rPr lang="en-SE" sz="2400" dirty="0"/>
              <a:t> </a:t>
            </a:r>
            <a:r>
              <a:rPr lang="en-GB" sz="2400" dirty="0"/>
              <a:t>Ease of data processing</a:t>
            </a:r>
          </a:p>
          <a:p>
            <a:r>
              <a:rPr lang="en-GB" sz="2400" dirty="0"/>
              <a:t>📌 </a:t>
            </a:r>
            <a:r>
              <a:rPr lang="en-GB" sz="2400" b="1" dirty="0"/>
              <a:t>Note:</a:t>
            </a:r>
            <a:br>
              <a:rPr lang="en-GB" sz="2400" dirty="0"/>
            </a:br>
            <a:r>
              <a:rPr lang="en-SE" sz="2400" dirty="0"/>
              <a:t>	</a:t>
            </a:r>
            <a:r>
              <a:rPr lang="en-GB" sz="2400" dirty="0"/>
              <a:t>Choosing the wrong data structure can make a correct algorithm slow or unusable.</a:t>
            </a:r>
          </a:p>
        </p:txBody>
      </p:sp>
    </p:spTree>
    <p:extLst>
      <p:ext uri="{BB962C8B-B14F-4D97-AF65-F5344CB8AC3E}">
        <p14:creationId xmlns:p14="http://schemas.microsoft.com/office/powerpoint/2010/main" val="978866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37262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🔎 Definition: Role of Data Structures</a:t>
            </a:r>
            <a:endParaRPr lang="en-GB" sz="4000" b="1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/>
              <a:t>🔹 A data structure is not only used for organizing data, but also for:</a:t>
            </a:r>
            <a:br>
              <a:rPr lang="en-GB" sz="2400" dirty="0"/>
            </a:br>
            <a:r>
              <a:rPr lang="en-SE" sz="2400" dirty="0"/>
              <a:t>	</a:t>
            </a:r>
            <a:r>
              <a:rPr lang="en-GB" sz="2400" dirty="0"/>
              <a:t>🟨</a:t>
            </a:r>
            <a:r>
              <a:rPr lang="en-SE" sz="2400" dirty="0"/>
              <a:t> </a:t>
            </a:r>
            <a:r>
              <a:rPr lang="en-GB" sz="2400" dirty="0"/>
              <a:t>Processing data</a:t>
            </a:r>
            <a:endParaRPr lang="en-SE" sz="2400" dirty="0"/>
          </a:p>
          <a:p>
            <a:r>
              <a:rPr lang="en-SE" sz="2400" dirty="0"/>
              <a:t>	</a:t>
            </a:r>
            <a:r>
              <a:rPr lang="en-GB" sz="2400" dirty="0"/>
              <a:t>🟨</a:t>
            </a:r>
            <a:r>
              <a:rPr lang="en-SE" sz="2400" dirty="0"/>
              <a:t> </a:t>
            </a:r>
            <a:r>
              <a:rPr lang="en-GB" sz="2400" dirty="0"/>
              <a:t>Retrieving data</a:t>
            </a:r>
            <a:endParaRPr lang="en-SE" sz="2400" dirty="0"/>
          </a:p>
          <a:p>
            <a:r>
              <a:rPr lang="en-SE" sz="2400" dirty="0"/>
              <a:t>	</a:t>
            </a:r>
            <a:r>
              <a:rPr lang="en-GB" sz="2400" dirty="0"/>
              <a:t>🟨</a:t>
            </a:r>
            <a:r>
              <a:rPr lang="en-SE" sz="2400" dirty="0"/>
              <a:t> </a:t>
            </a:r>
            <a:r>
              <a:rPr lang="en-GB" sz="2400" dirty="0"/>
              <a:t>Storing data</a:t>
            </a:r>
            <a:endParaRPr lang="en-SE" sz="2400" dirty="0"/>
          </a:p>
          <a:p>
            <a:r>
              <a:rPr lang="en-SE" sz="2400" dirty="0"/>
              <a:t>	</a:t>
            </a:r>
            <a:r>
              <a:rPr lang="en-GB" sz="2400" dirty="0"/>
              <a:t>🟨</a:t>
            </a:r>
            <a:r>
              <a:rPr lang="en-SE" sz="2400" dirty="0"/>
              <a:t> </a:t>
            </a:r>
            <a:r>
              <a:rPr lang="en-GB" sz="2400" dirty="0"/>
              <a:t>Accessing data efficiently</a:t>
            </a:r>
          </a:p>
          <a:p>
            <a:r>
              <a:rPr lang="en-GB" sz="2400" dirty="0"/>
              <a:t>➡️ </a:t>
            </a:r>
            <a:r>
              <a:rPr lang="en-GB" sz="2400" b="1" dirty="0"/>
              <a:t>Result:</a:t>
            </a:r>
            <a:br>
              <a:rPr lang="en-GB" sz="2400" dirty="0"/>
            </a:br>
            <a:r>
              <a:rPr lang="en-SE" sz="2400" dirty="0"/>
              <a:t>	</a:t>
            </a:r>
            <a:r>
              <a:rPr lang="en-GB" sz="2400" dirty="0"/>
              <a:t>Better performance and cleaner program design.</a:t>
            </a:r>
          </a:p>
        </p:txBody>
      </p:sp>
    </p:spTree>
    <p:extLst>
      <p:ext uri="{BB962C8B-B14F-4D97-AF65-F5344CB8AC3E}">
        <p14:creationId xmlns:p14="http://schemas.microsoft.com/office/powerpoint/2010/main" val="1625893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47110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📖 Explanation: Data Structures &amp; Program Design</a:t>
            </a:r>
            <a:endParaRPr lang="en-SE" sz="2400" b="1" dirty="0">
              <a:latin typeface="Comic Sans MS" panose="030F0702030302020204" pitchFamily="66" charset="0"/>
            </a:endParaRP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Data structures influence both: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🟨</a:t>
            </a:r>
            <a:r>
              <a:rPr lang="en-SE" sz="2400" dirty="0">
                <a:latin typeface="Comic Sans MS" panose="030F0702030302020204" pitchFamily="66" charset="0"/>
              </a:rPr>
              <a:t> </a:t>
            </a:r>
            <a:r>
              <a:rPr lang="en-GB" sz="2400" b="1" dirty="0">
                <a:latin typeface="Comic Sans MS" panose="030F0702030302020204" pitchFamily="66" charset="0"/>
              </a:rPr>
              <a:t>Structural design</a:t>
            </a:r>
            <a:r>
              <a:rPr lang="en-GB" sz="2400" dirty="0">
                <a:latin typeface="Comic Sans MS" panose="030F0702030302020204" pitchFamily="66" charset="0"/>
              </a:rPr>
              <a:t> (how the program is built)</a:t>
            </a:r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🟨</a:t>
            </a:r>
            <a:r>
              <a:rPr lang="en-SE" sz="2400" dirty="0">
                <a:latin typeface="Comic Sans MS" panose="030F0702030302020204" pitchFamily="66" charset="0"/>
              </a:rPr>
              <a:t> </a:t>
            </a:r>
            <a:r>
              <a:rPr lang="en-GB" sz="2400" b="1" dirty="0">
                <a:latin typeface="Comic Sans MS" panose="030F0702030302020204" pitchFamily="66" charset="0"/>
              </a:rPr>
              <a:t>Functional design</a:t>
            </a:r>
            <a:r>
              <a:rPr lang="en-GB" sz="2400" dirty="0">
                <a:latin typeface="Comic Sans MS" panose="030F0702030302020204" pitchFamily="66" charset="0"/>
              </a:rPr>
              <a:t> (how the program works)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🚫 </a:t>
            </a:r>
            <a:r>
              <a:rPr lang="en-GB" sz="2400" b="1" dirty="0">
                <a:latin typeface="Comic Sans MS" panose="030F0702030302020204" pitchFamily="66" charset="0"/>
              </a:rPr>
              <a:t>Warning: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Ignoring data structure selection often leads to: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latin typeface="Comic Sans MS" panose="030F0702030302020204" pitchFamily="66" charset="0"/>
              </a:rPr>
              <a:t>🟨</a:t>
            </a:r>
            <a:r>
              <a:rPr lang="en-SE" sz="2400" dirty="0">
                <a:latin typeface="Comic Sans MS" panose="030F0702030302020204" pitchFamily="66" charset="0"/>
              </a:rPr>
              <a:t> </a:t>
            </a:r>
            <a:r>
              <a:rPr lang="en-GB" sz="2400" dirty="0">
                <a:latin typeface="Comic Sans MS" panose="030F0702030302020204" pitchFamily="66" charset="0"/>
              </a:rPr>
              <a:t>High time complexity</a:t>
            </a:r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latin typeface="Comic Sans MS" panose="030F0702030302020204" pitchFamily="66" charset="0"/>
              </a:rPr>
              <a:t>🟨</a:t>
            </a:r>
            <a:r>
              <a:rPr lang="en-SE" sz="2400" dirty="0">
                <a:latin typeface="Comic Sans MS" panose="030F0702030302020204" pitchFamily="66" charset="0"/>
              </a:rPr>
              <a:t> </a:t>
            </a:r>
            <a:r>
              <a:rPr lang="en-GB" sz="2400" dirty="0">
                <a:latin typeface="Comic Sans MS" panose="030F0702030302020204" pitchFamily="66" charset="0"/>
              </a:rPr>
              <a:t>Wasted memory</a:t>
            </a:r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latin typeface="Comic Sans MS" panose="030F0702030302020204" pitchFamily="66" charset="0"/>
              </a:rPr>
              <a:t>🟨</a:t>
            </a:r>
            <a:r>
              <a:rPr lang="en-SE" sz="2400" dirty="0">
                <a:latin typeface="Comic Sans MS" panose="030F0702030302020204" pitchFamily="66" charset="0"/>
              </a:rPr>
              <a:t> </a:t>
            </a:r>
            <a:r>
              <a:rPr lang="en-GB" sz="2400" dirty="0">
                <a:latin typeface="Comic Sans MS" panose="030F0702030302020204" pitchFamily="66" charset="0"/>
              </a:rPr>
              <a:t>Poor scalability</a:t>
            </a:r>
          </a:p>
        </p:txBody>
      </p:sp>
    </p:spTree>
    <p:extLst>
      <p:ext uri="{BB962C8B-B14F-4D97-AF65-F5344CB8AC3E}">
        <p14:creationId xmlns:p14="http://schemas.microsoft.com/office/powerpoint/2010/main" val="2932667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631153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🔎 Definition: Type of Data Structures</a:t>
            </a:r>
            <a:endParaRPr lang="en-GB" sz="4000" b="1" spc="-17" dirty="0">
              <a:solidFill>
                <a:schemeClr val="tx1"/>
              </a:solidFill>
              <a:latin typeface="Comic Sans MS" panose="030F0702030302020204" pitchFamily="66" charset="0"/>
              <a:cs typeface="Comic Sans MS"/>
            </a:endParaRP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There are </a:t>
            </a:r>
            <a:r>
              <a:rPr lang="en-GB" sz="2400" b="1" dirty="0">
                <a:latin typeface="Comic Sans MS" panose="030F0702030302020204" pitchFamily="66" charset="0"/>
              </a:rPr>
              <a:t>basic</a:t>
            </a:r>
            <a:r>
              <a:rPr lang="en-GB" sz="2400" dirty="0">
                <a:latin typeface="Comic Sans MS" panose="030F0702030302020204" pitchFamily="66" charset="0"/>
              </a:rPr>
              <a:t> and </a:t>
            </a:r>
            <a:r>
              <a:rPr lang="en-GB" sz="2400" b="1" dirty="0">
                <a:latin typeface="Comic Sans MS" panose="030F0702030302020204" pitchFamily="66" charset="0"/>
              </a:rPr>
              <a:t>advanced</a:t>
            </a:r>
            <a:r>
              <a:rPr lang="en-GB" sz="2400" dirty="0">
                <a:latin typeface="Comic Sans MS" panose="030F0702030302020204" pitchFamily="66" charset="0"/>
              </a:rPr>
              <a:t> data structures used in almost every software </a:t>
            </a:r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system.</a:t>
            </a:r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🟨 </a:t>
            </a:r>
            <a:r>
              <a:rPr lang="en-GB" sz="2400" b="1" dirty="0">
                <a:latin typeface="Comic Sans MS" panose="030F0702030302020204" pitchFamily="66" charset="0"/>
              </a:rPr>
              <a:t>Basic Data Structures</a:t>
            </a:r>
            <a:endParaRPr lang="en-SE" sz="2400" b="1" dirty="0">
              <a:latin typeface="Comic Sans MS" panose="030F0702030302020204" pitchFamily="66" charset="0"/>
            </a:endParaRPr>
          </a:p>
          <a:p>
            <a:r>
              <a:rPr lang="en-SE" sz="2400" b="1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latin typeface="Comic Sans MS" panose="030F0702030302020204" pitchFamily="66" charset="0"/>
              </a:rPr>
              <a:t>🟩</a:t>
            </a:r>
            <a:r>
              <a:rPr lang="en-SE" sz="2400" dirty="0">
                <a:latin typeface="Comic Sans MS" panose="030F0702030302020204" pitchFamily="66" charset="0"/>
              </a:rPr>
              <a:t> </a:t>
            </a:r>
            <a:r>
              <a:rPr lang="en-GB" sz="2400" dirty="0">
                <a:latin typeface="Comic Sans MS" panose="030F0702030302020204" pitchFamily="66" charset="0"/>
              </a:rPr>
              <a:t>Arrays</a:t>
            </a:r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latin typeface="Comic Sans MS" panose="030F0702030302020204" pitchFamily="66" charset="0"/>
              </a:rPr>
              <a:t>🟩</a:t>
            </a:r>
            <a:r>
              <a:rPr lang="en-SE" sz="2400" dirty="0">
                <a:latin typeface="Comic Sans MS" panose="030F0702030302020204" pitchFamily="66" charset="0"/>
              </a:rPr>
              <a:t> </a:t>
            </a:r>
            <a:r>
              <a:rPr lang="en-GB" sz="2400" dirty="0">
                <a:latin typeface="Comic Sans MS" panose="030F0702030302020204" pitchFamily="66" charset="0"/>
              </a:rPr>
              <a:t>Linked Lists</a:t>
            </a:r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latin typeface="Comic Sans MS" panose="030F0702030302020204" pitchFamily="66" charset="0"/>
              </a:rPr>
              <a:t>🟩</a:t>
            </a:r>
            <a:r>
              <a:rPr lang="en-SE" sz="2400" dirty="0">
                <a:latin typeface="Comic Sans MS" panose="030F0702030302020204" pitchFamily="66" charset="0"/>
              </a:rPr>
              <a:t> </a:t>
            </a:r>
            <a:r>
              <a:rPr lang="en-GB" sz="2400" dirty="0">
                <a:latin typeface="Comic Sans MS" panose="030F0702030302020204" pitchFamily="66" charset="0"/>
              </a:rPr>
              <a:t>Stacks</a:t>
            </a:r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latin typeface="Comic Sans MS" panose="030F0702030302020204" pitchFamily="66" charset="0"/>
              </a:rPr>
              <a:t>🟩</a:t>
            </a:r>
            <a:r>
              <a:rPr lang="en-SE" sz="2400" dirty="0">
                <a:latin typeface="Comic Sans MS" panose="030F0702030302020204" pitchFamily="66" charset="0"/>
              </a:rPr>
              <a:t> </a:t>
            </a:r>
            <a:r>
              <a:rPr lang="en-GB" sz="2400" dirty="0">
                <a:latin typeface="Comic Sans MS" panose="030F0702030302020204" pitchFamily="66" charset="0"/>
              </a:rPr>
              <a:t>Queues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🟨 </a:t>
            </a:r>
            <a:r>
              <a:rPr lang="en-GB" sz="2400" b="1" dirty="0">
                <a:latin typeface="Comic Sans MS" panose="030F0702030302020204" pitchFamily="66" charset="0"/>
              </a:rPr>
              <a:t>Advanced Data Structures</a:t>
            </a:r>
            <a:endParaRPr lang="en-SE" sz="2400" b="1" dirty="0">
              <a:latin typeface="Comic Sans MS" panose="030F0702030302020204" pitchFamily="66" charset="0"/>
            </a:endParaRPr>
          </a:p>
          <a:p>
            <a:r>
              <a:rPr lang="en-SE" sz="2400" b="1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latin typeface="Comic Sans MS" panose="030F0702030302020204" pitchFamily="66" charset="0"/>
              </a:rPr>
              <a:t>🟩</a:t>
            </a:r>
            <a:r>
              <a:rPr lang="en-SE" sz="2400" dirty="0">
                <a:latin typeface="Comic Sans MS" panose="030F0702030302020204" pitchFamily="66" charset="0"/>
              </a:rPr>
              <a:t> </a:t>
            </a:r>
            <a:r>
              <a:rPr lang="en-GB" sz="2400" dirty="0">
                <a:latin typeface="Comic Sans MS" panose="030F0702030302020204" pitchFamily="66" charset="0"/>
              </a:rPr>
              <a:t>Trees</a:t>
            </a:r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latin typeface="Comic Sans MS" panose="030F0702030302020204" pitchFamily="66" charset="0"/>
              </a:rPr>
              <a:t>🟩</a:t>
            </a:r>
            <a:r>
              <a:rPr lang="en-SE" sz="2400" dirty="0">
                <a:latin typeface="Comic Sans MS" panose="030F0702030302020204" pitchFamily="66" charset="0"/>
              </a:rPr>
              <a:t> </a:t>
            </a:r>
            <a:r>
              <a:rPr lang="en-GB" sz="2400" dirty="0">
                <a:latin typeface="Comic Sans MS" panose="030F0702030302020204" pitchFamily="66" charset="0"/>
              </a:rPr>
              <a:t>Graphs</a:t>
            </a:r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latin typeface="Comic Sans MS" panose="030F0702030302020204" pitchFamily="66" charset="0"/>
              </a:rPr>
              <a:t>🟩</a:t>
            </a:r>
            <a:r>
              <a:rPr lang="en-SE" sz="2400" dirty="0">
                <a:latin typeface="Comic Sans MS" panose="030F0702030302020204" pitchFamily="66" charset="0"/>
              </a:rPr>
              <a:t> </a:t>
            </a:r>
            <a:r>
              <a:rPr lang="en-GB" sz="2400" dirty="0">
                <a:latin typeface="Comic Sans MS" panose="030F0702030302020204" pitchFamily="66" charset="0"/>
              </a:rPr>
              <a:t>Hash Tables</a:t>
            </a:r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latin typeface="Comic Sans MS" panose="030F0702030302020204" pitchFamily="66" charset="0"/>
              </a:rPr>
              <a:t>🟩</a:t>
            </a:r>
            <a:r>
              <a:rPr lang="en-SE" sz="2400" dirty="0">
                <a:latin typeface="Comic Sans MS" panose="030F0702030302020204" pitchFamily="66" charset="0"/>
              </a:rPr>
              <a:t> </a:t>
            </a:r>
            <a:r>
              <a:rPr lang="en-GB" sz="2400" dirty="0">
                <a:latin typeface="Comic Sans MS" panose="030F0702030302020204" pitchFamily="66" charset="0"/>
              </a:rPr>
              <a:t>Heaps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📌 </a:t>
            </a:r>
            <a:r>
              <a:rPr lang="en-GB" sz="2400" b="1" dirty="0">
                <a:latin typeface="Comic Sans MS" panose="030F0702030302020204" pitchFamily="66" charset="0"/>
              </a:rPr>
              <a:t>Note: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Each type has its own advantages, disadvantages, and use cases.</a:t>
            </a:r>
          </a:p>
        </p:txBody>
      </p:sp>
    </p:spTree>
    <p:extLst>
      <p:ext uri="{BB962C8B-B14F-4D97-AF65-F5344CB8AC3E}">
        <p14:creationId xmlns:p14="http://schemas.microsoft.com/office/powerpoint/2010/main" val="977631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37262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🤔 Question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🔹 How do you identify the best data structure for a task?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🟦 </a:t>
            </a:r>
            <a:r>
              <a:rPr lang="en-SE" sz="2400" b="1" dirty="0">
                <a:latin typeface="Comic Sans MS" panose="030F0702030302020204" pitchFamily="66" charset="0"/>
              </a:rPr>
              <a:t>Procedures</a:t>
            </a:r>
            <a:br>
              <a:rPr lang="en-SE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	1️⃣ </a:t>
            </a:r>
            <a:r>
              <a:rPr lang="en-SE" sz="2400" dirty="0" err="1">
                <a:latin typeface="Comic Sans MS" panose="030F0702030302020204" pitchFamily="66" charset="0"/>
              </a:rPr>
              <a:t>Analyze</a:t>
            </a:r>
            <a:r>
              <a:rPr lang="en-SE" sz="2400" dirty="0">
                <a:latin typeface="Comic Sans MS" panose="030F0702030302020204" pitchFamily="66" charset="0"/>
              </a:rPr>
              <a:t> the problem</a:t>
            </a:r>
            <a:br>
              <a:rPr lang="en-SE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	2️⃣ Identify operations needed (search, insert, delete)</a:t>
            </a:r>
            <a:br>
              <a:rPr lang="en-SE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	3️⃣ Consider time complexity</a:t>
            </a:r>
            <a:br>
              <a:rPr lang="en-SE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	4️⃣ Consider memory constraints</a:t>
            </a:r>
            <a:br>
              <a:rPr lang="en-SE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	5️⃣ Choose the most efficient structure</a:t>
            </a:r>
          </a:p>
        </p:txBody>
      </p:sp>
    </p:spTree>
    <p:extLst>
      <p:ext uri="{BB962C8B-B14F-4D97-AF65-F5344CB8AC3E}">
        <p14:creationId xmlns:p14="http://schemas.microsoft.com/office/powerpoint/2010/main" val="626011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59422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spc="-17" dirty="0">
                <a:solidFill>
                  <a:schemeClr val="tx1"/>
                </a:solidFill>
                <a:latin typeface="Comic Sans MS" panose="030F0702030302020204" pitchFamily="66" charset="0"/>
              </a:rPr>
              <a:t>⚖️ Comparison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🟩 </a:t>
            </a:r>
            <a:r>
              <a:rPr lang="en-GB" sz="2400" b="1" dirty="0">
                <a:latin typeface="Comic Sans MS" panose="030F0702030302020204" pitchFamily="66" charset="0"/>
              </a:rPr>
              <a:t>Algorithm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Defines the step-by-step logic to solve a problem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Focuses on </a:t>
            </a:r>
            <a:r>
              <a:rPr lang="en-GB" sz="2400" i="1" dirty="0">
                <a:latin typeface="Comic Sans MS" panose="030F0702030302020204" pitchFamily="66" charset="0"/>
              </a:rPr>
              <a:t>what to do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Independent of how data is stored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Measured mainly by time complexity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Cannot work alone without data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🟥 </a:t>
            </a:r>
            <a:r>
              <a:rPr lang="en-GB" sz="2400" b="1" dirty="0">
                <a:latin typeface="Comic Sans MS" panose="030F0702030302020204" pitchFamily="66" charset="0"/>
              </a:rPr>
              <a:t>Data Structure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Organizes and stores data efficiently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Focuses on </a:t>
            </a:r>
            <a:r>
              <a:rPr lang="en-GB" sz="2400" i="1" dirty="0">
                <a:latin typeface="Comic Sans MS" panose="030F0702030302020204" pitchFamily="66" charset="0"/>
              </a:rPr>
              <a:t>how data is stored and accessed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Directly affects program performance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Measured by time and space complexity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Supports and optimizes algorithms</a:t>
            </a:r>
          </a:p>
        </p:txBody>
      </p:sp>
    </p:spTree>
    <p:extLst>
      <p:ext uri="{BB962C8B-B14F-4D97-AF65-F5344CB8AC3E}">
        <p14:creationId xmlns:p14="http://schemas.microsoft.com/office/powerpoint/2010/main" val="3261076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✨ Summary</a:t>
            </a:r>
          </a:p>
          <a:p>
            <a:endParaRPr lang="en-SE" sz="2400">
              <a:latin typeface="Comic Sans MS" panose="030F0702030302020204" pitchFamily="66" charset="0"/>
            </a:endParaRPr>
          </a:p>
          <a:p>
            <a:r>
              <a:rPr lang="en-GB" sz="2400">
                <a:latin typeface="Comic Sans MS" panose="030F0702030302020204" pitchFamily="66" charset="0"/>
              </a:rPr>
              <a:t>✅ </a:t>
            </a:r>
            <a:r>
              <a:rPr lang="en-GB" sz="2400" dirty="0">
                <a:latin typeface="Comic Sans MS" panose="030F0702030302020204" pitchFamily="66" charset="0"/>
              </a:rPr>
              <a:t>A </a:t>
            </a:r>
            <a:r>
              <a:rPr lang="en-GB" sz="2400" b="1" dirty="0">
                <a:latin typeface="Comic Sans MS" panose="030F0702030302020204" pitchFamily="66" charset="0"/>
              </a:rPr>
              <a:t>Program</a:t>
            </a:r>
            <a:r>
              <a:rPr lang="en-GB" sz="2400" dirty="0">
                <a:latin typeface="Comic Sans MS" panose="030F0702030302020204" pitchFamily="66" charset="0"/>
              </a:rPr>
              <a:t> is built using algorithms and data structures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✅ Algorithms define the logic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✅ Data structures define how data is stored and managed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✅ Proper data structure selection improves efficiency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</a:rPr>
              <a:t>✅ Every real-world program depends heavily on data structures</a:t>
            </a:r>
          </a:p>
        </p:txBody>
      </p:sp>
    </p:spTree>
    <p:extLst>
      <p:ext uri="{BB962C8B-B14F-4D97-AF65-F5344CB8AC3E}">
        <p14:creationId xmlns:p14="http://schemas.microsoft.com/office/powerpoint/2010/main" val="3645532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3013</TotalTime>
  <Words>656</Words>
  <Application>Microsoft Office PowerPoint</Application>
  <PresentationFormat>Custom</PresentationFormat>
  <Paragraphs>70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234</cp:revision>
  <dcterms:created xsi:type="dcterms:W3CDTF">2025-12-09T17:44:59Z</dcterms:created>
  <dcterms:modified xsi:type="dcterms:W3CDTF">2026-01-29T12:28:31Z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