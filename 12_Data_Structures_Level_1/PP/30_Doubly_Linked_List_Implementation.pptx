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54" r:id="rId4"/>
    <p:sldId id="355" r:id="rId5"/>
    <p:sldId id="356" r:id="rId6"/>
    <p:sldId id="357" r:id="rId7"/>
    <p:sldId id="358" r:id="rId8"/>
    <p:sldId id="359" r:id="rId9"/>
    <p:sldId id="362" r:id="rId10"/>
    <p:sldId id="361" r:id="rId11"/>
    <p:sldId id="353" r:id="rId12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E53"/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0" d="100"/>
          <a:sy n="40" d="100"/>
        </p:scale>
        <p:origin x="1020" y="63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48859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Data Structure</a:t>
            </a:r>
            <a:endParaRPr lang="sv-SE" sz="6000" b="1" dirty="0">
              <a:solidFill>
                <a:srgbClr val="FFCE53"/>
              </a:solidFill>
              <a:latin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SE" sz="6000" b="1" dirty="0">
                <a:solidFill>
                  <a:srgbClr val="FFCE53"/>
                </a:solidFill>
                <a:latin typeface="Comic Sans MS"/>
                <a:cs typeface="Comic Sans MS"/>
              </a:rPr>
              <a:t>Doubly Linked List Implementation</a:t>
            </a:r>
            <a:endParaRPr lang="en-GB" sz="6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SE" sz="4000" b="1">
                <a:solidFill>
                  <a:srgbClr val="FFCE53"/>
                </a:solidFill>
                <a:latin typeface="Comic Sans MS"/>
                <a:cs typeface="Comic Sans MS"/>
              </a:rPr>
              <a:t>Doubly Linked List Implementation</a:t>
            </a:r>
            <a:endParaRPr lang="en-GB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🔎 Definition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Doubly Linked List (DLL):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A linear data structure where each node contains: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🟨 Three parts: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🟩 value → stores the data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🟩 next → pointer to the next node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🟩 </a:t>
            </a:r>
            <a:r>
              <a:rPr lang="en-GB" sz="2400" dirty="0" err="1">
                <a:latin typeface="Comic Sans MS" panose="030F0702030302020204" pitchFamily="66" charset="0"/>
              </a:rPr>
              <a:t>prev</a:t>
            </a:r>
            <a:r>
              <a:rPr lang="en-GB" sz="2400" dirty="0">
                <a:latin typeface="Comic Sans MS" panose="030F0702030302020204" pitchFamily="66" charset="0"/>
              </a:rPr>
              <a:t> → pointer to the previous node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This allows traversal forward and backward.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809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📖 Explanation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The program performs the following actions: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🟩 Creates a Node class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🟩 Allocates 3 nodes dynamically using new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🟩 Assigns values to each node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🟩 Connects nodes using next and </a:t>
            </a:r>
            <a:r>
              <a:rPr lang="en-GB" sz="2400" dirty="0" err="1">
                <a:latin typeface="Comic Sans MS" panose="030F0702030302020204" pitchFamily="66" charset="0"/>
              </a:rPr>
              <a:t>prev</a:t>
            </a:r>
            <a:r>
              <a:rPr lang="en-GB" sz="2400" dirty="0">
                <a:latin typeface="Comic Sans MS" panose="030F0702030302020204" pitchFamily="66" charset="0"/>
              </a:rPr>
              <a:t> pointers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🟩 Traverses the list forward and prints values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654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44648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>
                <a:latin typeface="Comic Sans MS" panose="030F0702030302020204" pitchFamily="66" charset="0"/>
              </a:rPr>
              <a:t>🟦 Procedures</a:t>
            </a:r>
            <a:endParaRPr lang="en-GB" sz="4000" b="1" dirty="0">
              <a:latin typeface="Comic Sans MS" panose="030F0702030302020204" pitchFamily="66" charset="0"/>
            </a:endParaRP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1️⃣ Define a Node class with value, next, and prev.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2️⃣ Create pointers: Node1, Node2, Node3.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3️⃣ Allocate memory using new.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4️⃣ Assign values (1, 2, 3).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5️⃣ Link nodes forward using next.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6️⃣ Link nodes backward using prev.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7️⃣ Set head = Node1.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8️⃣ Traverse using while (head != NULL).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9️⃣ Print values using </a:t>
            </a:r>
            <a:r>
              <a:rPr lang="en-GB" sz="2400" dirty="0" err="1">
                <a:latin typeface="Comic Sans MS" panose="030F0702030302020204" pitchFamily="66" charset="0"/>
              </a:rPr>
              <a:t>cout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3508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44648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💡 Example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Structure in memory: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NULL ← 1 ⇄ 2 ⇄ 3 → NULL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➡️ Result (Output):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1  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2  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3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387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📌 Note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The first node’s </a:t>
            </a:r>
            <a:r>
              <a:rPr lang="en-GB" sz="2400" dirty="0" err="1">
                <a:latin typeface="Comic Sans MS" panose="030F0702030302020204" pitchFamily="66" charset="0"/>
              </a:rPr>
              <a:t>prev</a:t>
            </a:r>
            <a:r>
              <a:rPr lang="en-GB" sz="2400" dirty="0">
                <a:latin typeface="Comic Sans MS" panose="030F0702030302020204" pitchFamily="66" charset="0"/>
              </a:rPr>
              <a:t> must be NULL.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The last node’s next must be NULL.</a:t>
            </a:r>
          </a:p>
        </p:txBody>
      </p:sp>
    </p:spTree>
    <p:extLst>
      <p:ext uri="{BB962C8B-B14F-4D97-AF65-F5344CB8AC3E}">
        <p14:creationId xmlns:p14="http://schemas.microsoft.com/office/powerpoint/2010/main" val="3393738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557286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⚖️ Comparison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🟩 Singly Linked List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Each node has 1 pointer (next)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Can traverse only forward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Uses less memory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Deleting or inserting at a specific position requires traversal from head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🟥 Doubly Linked List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Each node has 2 pointers (next and </a:t>
            </a:r>
            <a:r>
              <a:rPr lang="en-GB" sz="2400" dirty="0" err="1">
                <a:latin typeface="Comic Sans MS" panose="030F0702030302020204" pitchFamily="66" charset="0"/>
              </a:rPr>
              <a:t>prev</a:t>
            </a:r>
            <a:r>
              <a:rPr lang="en-GB" sz="2400" dirty="0">
                <a:latin typeface="Comic Sans MS" panose="030F0702030302020204" pitchFamily="66" charset="0"/>
              </a:rPr>
              <a:t>)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Can traverse forward and backward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Uses more memory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Deleting or inserting at a specific position is easier because you can access </a:t>
            </a:r>
            <a:r>
              <a:rPr lang="en-SE" sz="2400">
                <a:latin typeface="Comic Sans MS" panose="030F0702030302020204" pitchFamily="66" charset="0"/>
              </a:rPr>
              <a:t>		</a:t>
            </a:r>
            <a:r>
              <a:rPr lang="en-GB" sz="2400">
                <a:latin typeface="Comic Sans MS" panose="030F0702030302020204" pitchFamily="66" charset="0"/>
              </a:rPr>
              <a:t>the </a:t>
            </a:r>
            <a:r>
              <a:rPr lang="en-GB" sz="2400" dirty="0">
                <a:latin typeface="Comic Sans MS" panose="030F0702030302020204" pitchFamily="66" charset="0"/>
              </a:rPr>
              <a:t>previous node directly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656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2488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🚫 Warning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Memory allocated with new is not deleted in this program.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This may cause a memory leak.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Always use delete when dynamic memory is no longer needed.</a:t>
            </a:r>
          </a:p>
        </p:txBody>
      </p:sp>
    </p:spTree>
    <p:extLst>
      <p:ext uri="{BB962C8B-B14F-4D97-AF65-F5344CB8AC3E}">
        <p14:creationId xmlns:p14="http://schemas.microsoft.com/office/powerpoint/2010/main" val="3134236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✨ Summary</a:t>
            </a:r>
            <a:endParaRPr lang="en-SE" sz="2400" dirty="0">
              <a:latin typeface="Comic Sans MS" panose="030F0702030302020204" pitchFamily="66" charset="0"/>
            </a:endParaRP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✅ Each node contains data + two pointers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✅ Supports forward and backward traversal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✅ Uses dynamic memory allocation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✅ More flexible than singly linked lists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🚫 Requires careful memory management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177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2330413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11888</TotalTime>
  <Words>402</Words>
  <Application>Microsoft Office PowerPoint</Application>
  <PresentationFormat>Custom</PresentationFormat>
  <Paragraphs>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443</cp:revision>
  <dcterms:created xsi:type="dcterms:W3CDTF">2025-12-09T17:44:59Z</dcterms:created>
  <dcterms:modified xsi:type="dcterms:W3CDTF">2026-02-11T16:42:49Z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