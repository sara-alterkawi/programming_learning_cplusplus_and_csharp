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63" r:id="rId4"/>
    <p:sldId id="364" r:id="rId5"/>
    <p:sldId id="354" r:id="rId6"/>
    <p:sldId id="355" r:id="rId7"/>
    <p:sldId id="356" r:id="rId8"/>
    <p:sldId id="357" r:id="rId9"/>
    <p:sldId id="358" r:id="rId10"/>
    <p:sldId id="359" r:id="rId11"/>
    <p:sldId id="362" r:id="rId12"/>
    <p:sldId id="361" r:id="rId13"/>
    <p:sldId id="353" r:id="rId1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1020" y="63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Singly Linked List </a:t>
            </a: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Data Structures</a:t>
            </a:r>
            <a:r>
              <a:rPr lang="en-SE" sz="6000" b="1" dirty="0">
                <a:solidFill>
                  <a:srgbClr val="FFCE53"/>
                </a:solidFill>
                <a:latin typeface="Comic Sans MS"/>
                <a:cs typeface="Comic Sans MS"/>
              </a:rPr>
              <a:t> Operations</a:t>
            </a:r>
            <a:endParaRPr lang="en-GB" sz="6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Delete Node</a:t>
            </a:r>
            <a:endParaRPr lang="en-GB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3B6B9DA-84E3-ED50-76DA-2D7C05C73E07}"/>
              </a:ext>
            </a:extLst>
          </p:cNvPr>
          <p:cNvSpPr/>
          <p:nvPr/>
        </p:nvSpPr>
        <p:spPr>
          <a:xfrm>
            <a:off x="53340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D3A4721-9E6B-D418-2ADB-F6D428D7B23E}"/>
              </a:ext>
            </a:extLst>
          </p:cNvPr>
          <p:cNvCxnSpPr>
            <a:cxnSpLocks/>
          </p:cNvCxnSpPr>
          <p:nvPr/>
        </p:nvCxnSpPr>
        <p:spPr>
          <a:xfrm>
            <a:off x="65913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F5ABA8-3D75-8B6F-2F00-DBBA9720F566}"/>
              </a:ext>
            </a:extLst>
          </p:cNvPr>
          <p:cNvSpPr txBox="1"/>
          <p:nvPr/>
        </p:nvSpPr>
        <p:spPr>
          <a:xfrm>
            <a:off x="56388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2 	Next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2259595-FAED-9E7F-9A36-812E7BE40881}"/>
              </a:ext>
            </a:extLst>
          </p:cNvPr>
          <p:cNvSpPr/>
          <p:nvPr/>
        </p:nvSpPr>
        <p:spPr>
          <a:xfrm>
            <a:off x="78486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BD1E801-60CF-B7DB-2851-37DDA0A74D9B}"/>
              </a:ext>
            </a:extLst>
          </p:cNvPr>
          <p:cNvCxnSpPr>
            <a:cxnSpLocks/>
          </p:cNvCxnSpPr>
          <p:nvPr/>
        </p:nvCxnSpPr>
        <p:spPr>
          <a:xfrm flipH="1">
            <a:off x="5791200" y="3505200"/>
            <a:ext cx="15240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4D971E-88CF-0900-5410-23DD78C5FAF7}"/>
              </a:ext>
            </a:extLst>
          </p:cNvPr>
          <p:cNvCxnSpPr>
            <a:cxnSpLocks/>
          </p:cNvCxnSpPr>
          <p:nvPr/>
        </p:nvCxnSpPr>
        <p:spPr>
          <a:xfrm flipH="1" flipV="1">
            <a:off x="5867400" y="3505200"/>
            <a:ext cx="1447800" cy="1905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Arrow: Bent-Up 43">
            <a:extLst>
              <a:ext uri="{FF2B5EF4-FFF2-40B4-BE49-F238E27FC236}">
                <a16:creationId xmlns:a16="http://schemas.microsoft.com/office/drawing/2014/main" id="{C22F8E37-8710-9641-DB26-BD7EE0D169C6}"/>
              </a:ext>
            </a:extLst>
          </p:cNvPr>
          <p:cNvSpPr/>
          <p:nvPr/>
        </p:nvSpPr>
        <p:spPr>
          <a:xfrm>
            <a:off x="4343393" y="5410200"/>
            <a:ext cx="5048266" cy="609600"/>
          </a:xfrm>
          <a:prstGeom prst="bentUp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85748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357F53-BE7F-8529-0684-467F58693C6F}"/>
              </a:ext>
            </a:extLst>
          </p:cNvPr>
          <p:cNvSpPr/>
          <p:nvPr/>
        </p:nvSpPr>
        <p:spPr>
          <a:xfrm>
            <a:off x="8839207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0BD1C94-884C-57BB-F049-73C473EE5335}"/>
              </a:ext>
            </a:extLst>
          </p:cNvPr>
          <p:cNvSpPr/>
          <p:nvPr/>
        </p:nvSpPr>
        <p:spPr>
          <a:xfrm>
            <a:off x="1828800" y="3657600"/>
            <a:ext cx="2514593" cy="1676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Linked List Data Structure</a:t>
            </a:r>
            <a:endParaRPr kumimoji="0" lang="en-SE" sz="24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E49478-9F5A-9389-3DB5-E33272AEE85E}"/>
              </a:ext>
            </a:extLst>
          </p:cNvPr>
          <p:cNvCxnSpPr>
            <a:cxnSpLocks/>
          </p:cNvCxnSpPr>
          <p:nvPr/>
        </p:nvCxnSpPr>
        <p:spPr>
          <a:xfrm>
            <a:off x="30861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DC4E3B-47C1-B910-1F46-076D10036280}"/>
              </a:ext>
            </a:extLst>
          </p:cNvPr>
          <p:cNvSpPr txBox="1"/>
          <p:nvPr/>
        </p:nvSpPr>
        <p:spPr>
          <a:xfrm>
            <a:off x="21336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1 	Next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AD2ECFB-5DC2-363F-5C0D-5807350B2A3F}"/>
              </a:ext>
            </a:extLst>
          </p:cNvPr>
          <p:cNvSpPr/>
          <p:nvPr/>
        </p:nvSpPr>
        <p:spPr>
          <a:xfrm>
            <a:off x="8382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555685-A19C-1CDC-C9DC-19FAD2EE5263}"/>
              </a:ext>
            </a:extLst>
          </p:cNvPr>
          <p:cNvSpPr txBox="1"/>
          <p:nvPr/>
        </p:nvSpPr>
        <p:spPr>
          <a:xfrm>
            <a:off x="0" y="4267201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Head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E5B2B0-C60C-0C34-4EA4-80D44DA68DAB}"/>
              </a:ext>
            </a:extLst>
          </p:cNvPr>
          <p:cNvSpPr/>
          <p:nvPr/>
        </p:nvSpPr>
        <p:spPr>
          <a:xfrm>
            <a:off x="4343400" y="4419600"/>
            <a:ext cx="4495800" cy="3048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5DF8E3-BC90-FA52-0698-1BB9E2F17C7F}"/>
              </a:ext>
            </a:extLst>
          </p:cNvPr>
          <p:cNvCxnSpPr>
            <a:cxnSpLocks/>
          </p:cNvCxnSpPr>
          <p:nvPr/>
        </p:nvCxnSpPr>
        <p:spPr>
          <a:xfrm>
            <a:off x="10096500" y="3733800"/>
            <a:ext cx="0" cy="1600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9160DA4-DBE0-B7C0-C676-4C605068D9F0}"/>
              </a:ext>
            </a:extLst>
          </p:cNvPr>
          <p:cNvSpPr txBox="1"/>
          <p:nvPr/>
        </p:nvSpPr>
        <p:spPr>
          <a:xfrm>
            <a:off x="9144000" y="4262735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3 	Next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D04C025-22A1-C7E1-6F3A-BB2E0F7668A2}"/>
              </a:ext>
            </a:extLst>
          </p:cNvPr>
          <p:cNvSpPr/>
          <p:nvPr/>
        </p:nvSpPr>
        <p:spPr>
          <a:xfrm>
            <a:off x="11353800" y="4419600"/>
            <a:ext cx="990600" cy="228600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C0AB2-4825-D50A-687C-EE6056A099A4}"/>
              </a:ext>
            </a:extLst>
          </p:cNvPr>
          <p:cNvSpPr txBox="1"/>
          <p:nvPr/>
        </p:nvSpPr>
        <p:spPr>
          <a:xfrm>
            <a:off x="12458699" y="4267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Null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4F879-0B14-8DEE-59B3-891268A2C549}"/>
              </a:ext>
            </a:extLst>
          </p:cNvPr>
          <p:cNvSpPr txBox="1"/>
          <p:nvPr/>
        </p:nvSpPr>
        <p:spPr>
          <a:xfrm>
            <a:off x="2667000" y="5410200"/>
            <a:ext cx="952501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2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Node</a:t>
            </a:r>
          </a:p>
        </p:txBody>
      </p:sp>
    </p:spTree>
    <p:extLst>
      <p:ext uri="{BB962C8B-B14F-4D97-AF65-F5344CB8AC3E}">
        <p14:creationId xmlns:p14="http://schemas.microsoft.com/office/powerpoint/2010/main" val="13513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🔎 Definition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DeleteNode</a:t>
            </a:r>
            <a:r>
              <a:rPr lang="en-GB" sz="2400" dirty="0">
                <a:latin typeface="Comic Sans MS" panose="030F0702030302020204" pitchFamily="66" charset="0"/>
              </a:rPr>
              <a:t>() Function: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Removes the first node that contains a given value from the linked list and frees its memory.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🟨 Responsibilities: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Locate the node to delete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Update links between nodes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	</a:t>
            </a:r>
            <a:r>
              <a:rPr lang="en-GB" sz="2400" dirty="0">
                <a:latin typeface="Comic Sans MS" panose="030F0702030302020204" pitchFamily="66" charset="0"/>
              </a:rPr>
              <a:t>🟩 Free memory using delete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809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📖 Explanation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🔹 If the list is empty → nothing to delete.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If the node to delete is the head, move head to the next node.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Otherwise, traverse the list while keeping track of: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Current → node being checked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Prev → previous node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Once found, connect Prev-&gt;next to Current-&gt;next.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🔹 Free memory using delete Current.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654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520353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🟦 Procedures (</a:t>
            </a:r>
            <a:r>
              <a:rPr lang="en-SE" sz="4000" b="1" dirty="0">
                <a:latin typeface="Comic Sans MS" panose="030F0702030302020204" pitchFamily="66" charset="0"/>
              </a:rPr>
              <a:t>Delete</a:t>
            </a:r>
            <a:r>
              <a:rPr lang="en-GB" sz="4000" b="1" dirty="0">
                <a:latin typeface="Comic Sans MS" panose="030F0702030302020204" pitchFamily="66" charset="0"/>
              </a:rPr>
              <a:t> </a:t>
            </a:r>
            <a:r>
              <a:rPr lang="en-SE" sz="4000" b="1">
                <a:latin typeface="Comic Sans MS" panose="030F0702030302020204" pitchFamily="66" charset="0"/>
              </a:rPr>
              <a:t>Node</a:t>
            </a:r>
            <a:r>
              <a:rPr lang="en-GB" sz="4000" b="1">
                <a:latin typeface="Comic Sans MS" panose="030F0702030302020204" pitchFamily="66" charset="0"/>
              </a:rPr>
              <a:t>)</a:t>
            </a:r>
            <a:endParaRPr lang="en-GB" sz="4000" b="1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1️⃣ Check if list is empty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 Set Current = head and Prev = head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3️⃣ If head contains the value: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Move head to Current-&gt;next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🟩 Delete Current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4️⃣ Otherwise, traverse list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5️⃣ Move Prev and Current forward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6️⃣ Stop when value is found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7️⃣ If value not found → return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8️⃣ Update Prev-&gt;next = Current-&gt;next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9️⃣ Delete Current from memory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508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05019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💡 Example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Initial operations in main():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(1)</a:t>
            </a: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(2)</a:t>
            </a:r>
          </a:p>
          <a:p>
            <a:r>
              <a:rPr lang="en-GB" sz="2400" dirty="0" err="1">
                <a:latin typeface="Comic Sans MS" panose="030F0702030302020204" pitchFamily="66" charset="0"/>
              </a:rPr>
              <a:t>InsertAtEnd</a:t>
            </a:r>
            <a:r>
              <a:rPr lang="en-GB" sz="2400" dirty="0">
                <a:latin typeface="Comic Sans MS" panose="030F0702030302020204" pitchFamily="66" charset="0"/>
              </a:rPr>
              <a:t>(3)</a:t>
            </a:r>
          </a:p>
          <a:p>
            <a:r>
              <a:rPr lang="en-GB" sz="2400" dirty="0" err="1">
                <a:latin typeface="Comic Sans MS" panose="030F0702030302020204" pitchFamily="66" charset="0"/>
              </a:rPr>
              <a:t>InsertAtBeginning</a:t>
            </a:r>
            <a:r>
              <a:rPr lang="en-GB" sz="2400" dirty="0">
                <a:latin typeface="Comic Sans MS" panose="030F0702030302020204" pitchFamily="66" charset="0"/>
              </a:rPr>
              <a:t>(0)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List becomes: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0 → 1 → 2 → 3 → NULL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 err="1">
                <a:latin typeface="Comic Sans MS" panose="030F0702030302020204" pitchFamily="66" charset="0"/>
              </a:rPr>
              <a:t>DeleteNode</a:t>
            </a:r>
            <a:r>
              <a:rPr lang="en-GB" sz="2400" dirty="0">
                <a:latin typeface="Comic Sans MS" panose="030F0702030302020204" pitchFamily="66" charset="0"/>
              </a:rPr>
              <a:t>(head, 4)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➡️ Since 4 is not in the list → no change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Final list remains: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0 → 1 → 2 → 3 → NULL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87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📌 Note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The function deletes only the first occurrence of the value.</a:t>
            </a:r>
          </a:p>
        </p:txBody>
      </p:sp>
    </p:spTree>
    <p:extLst>
      <p:ext uri="{BB962C8B-B14F-4D97-AF65-F5344CB8AC3E}">
        <p14:creationId xmlns:p14="http://schemas.microsoft.com/office/powerpoint/2010/main" val="3393738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372620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⚖️ Comparison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🟩 Delete Head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O(1) time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Simple pointer update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🟥 Delete Middle/Last Node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Requires traversal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✔️ Time Complexity: O(n)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5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🚫 Warning</a:t>
            </a: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If you forget delete Current, it causes a memory leak.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If you update pointers incorrectly, the list structure may break.</a:t>
            </a:r>
          </a:p>
        </p:txBody>
      </p:sp>
    </p:spTree>
    <p:extLst>
      <p:ext uri="{BB962C8B-B14F-4D97-AF65-F5344CB8AC3E}">
        <p14:creationId xmlns:p14="http://schemas.microsoft.com/office/powerpoint/2010/main" val="3134236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✨ Summary</a:t>
            </a:r>
            <a:endParaRPr lang="en-SE" sz="2400" dirty="0">
              <a:latin typeface="Comic Sans MS" panose="030F0702030302020204" pitchFamily="66" charset="0"/>
            </a:endParaRPr>
          </a:p>
          <a:p>
            <a:endParaRPr lang="en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✅ </a:t>
            </a:r>
            <a:r>
              <a:rPr lang="en-GB" sz="2400" dirty="0" err="1">
                <a:latin typeface="Comic Sans MS" panose="030F0702030302020204" pitchFamily="66" charset="0"/>
              </a:rPr>
              <a:t>DeleteNode</a:t>
            </a:r>
            <a:r>
              <a:rPr lang="en-GB" sz="2400" dirty="0">
                <a:latin typeface="Comic Sans MS" panose="030F0702030302020204" pitchFamily="66" charset="0"/>
              </a:rPr>
              <a:t> removes node by value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Handles head deletion separately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Requires traversal for non-head nodes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✅ Time complexity is O(n)</a:t>
            </a:r>
          </a:p>
          <a:p>
            <a:r>
              <a:rPr lang="en-GB" sz="2400">
                <a:latin typeface="Comic Sans MS" panose="030F0702030302020204" pitchFamily="66" charset="0"/>
              </a:rPr>
              <a:t>✅ Memory must be freed using delete</a:t>
            </a:r>
            <a:endParaRPr lang="en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177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330413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11851</TotalTime>
  <Words>428</Words>
  <Application>Microsoft Office PowerPoint</Application>
  <PresentationFormat>Custom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416</cp:revision>
  <dcterms:created xsi:type="dcterms:W3CDTF">2025-12-09T17:44:59Z</dcterms:created>
  <dcterms:modified xsi:type="dcterms:W3CDTF">2026-02-11T16:34:06Z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