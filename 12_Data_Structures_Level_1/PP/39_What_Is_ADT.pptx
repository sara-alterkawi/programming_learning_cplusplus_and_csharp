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6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0" d="100"/>
          <a:sy n="40" d="100"/>
        </p:scale>
        <p:origin x="1020" y="15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078370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778411948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970813400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974304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82474379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52326218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00744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01444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018681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1B19FB-1F24-56FF-A8BE-9390EC213F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67134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672659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125940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0C8EBA-8310-7B43-135E-972095A2236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608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03592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3864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6BAC8-0397-C05D-8A33-BD247E1D4F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89920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891199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96413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9C68DBD-214F-3E52-CC17-FD353F81AC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21845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23003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28543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ED1DA7-75DA-5BE2-D6E2-61F7C8AF1C6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5041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596569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8040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F6A1EF-173E-DD46-1719-C0707F500C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53840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2694397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259644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B65EC0-1AB6-4EC8-A94D-D733A132345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8870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20861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53000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438E186-C734-1AD8-A56C-8761ABB3FB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7480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380293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35559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0DA427-8AC8-61A4-0158-786C0ADED0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9747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0665897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9903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11B92A-77BF-FAD8-A1A1-CF52750EB77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50839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061072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8915444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346100-C241-7595-1D0F-24EC2DFB45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94968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17328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046876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3EEF3B-C251-9D44-A68F-B314C47247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3794694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42033346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8459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84648927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98050798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2626876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6947632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9904927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9453489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87977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56356212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7476187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29531608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882927962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15302444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7136727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085295672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5417598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812305779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93165215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0098545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3331795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393050167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21071771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9937423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33083978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83886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156792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14741972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554290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2/11/2026</a:t>
            </a:fld>
            <a:endParaRPr lang="en-US"/>
          </a:p>
        </p:txBody>
      </p:sp>
      <p:sp>
        <p:nvSpPr>
          <p:cNvPr id="130436963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72736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89143088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485901317" name="object 30"/>
          <p:cNvSpPr txBox="1"/>
          <p:nvPr/>
        </p:nvSpPr>
        <p:spPr bwMode="auto">
          <a:xfrm>
            <a:off x="0" y="1143000"/>
            <a:ext cx="12726839" cy="382890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rgbClr val="FFCE53"/>
                </a:solidFill>
                <a:latin typeface="Comic Sans MS"/>
              </a:rPr>
              <a:t>Data Structure</a:t>
            </a:r>
            <a:endParaRPr lang="sv-SE" sz="6000" b="1">
              <a:solidFill>
                <a:srgbClr val="FFCE53"/>
              </a:solidFill>
              <a:latin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2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Abstract Data Type (ADT)</a:t>
            </a:r>
            <a:endParaRPr sz="6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897331483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1982092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217256203" name="object 30"/>
          <p:cNvSpPr txBox="1"/>
          <p:nvPr/>
        </p:nvSpPr>
        <p:spPr bwMode="auto">
          <a:xfrm>
            <a:off x="106431" y="3084217"/>
            <a:ext cx="13313407" cy="175626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GB" sz="4000" spc="-17">
                <a:solidFill>
                  <a:srgbClr val="FFFFFF"/>
                </a:solidFill>
                <a:latin typeface="Comic Sans MS"/>
                <a:cs typeface="Comic Sans MS"/>
              </a:rPr>
              <a:t>Data Structure</a:t>
            </a:r>
            <a:endParaRPr sz="4000" spc="-17">
              <a:solidFill>
                <a:srgbClr val="FFFFFF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sz="4000" b="1">
                <a:solidFill>
                  <a:srgbClr val="FFCE53"/>
                </a:solidFill>
                <a:latin typeface="Comic Sans MS"/>
                <a:cs typeface="Comic Sans MS"/>
              </a:rPr>
              <a:t>Abstract Data Type (ADT)</a:t>
            </a:r>
            <a:endParaRPr lang="en-GB" sz="4000" b="1"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6439083" name="object 3"/>
          <p:cNvSpPr txBox="1"/>
          <p:nvPr/>
        </p:nvSpPr>
        <p:spPr bwMode="auto">
          <a:xfrm>
            <a:off x="380999" y="888075"/>
            <a:ext cx="12353126" cy="2239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🔎 Definition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>
                <a:latin typeface="Comic Sans MS"/>
              </a:rPr>
              <a:t>D</a:t>
            </a: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An Abstract Data Type (ADT) is a logical description of a data type that defines what operations can be performed on the data, without specifying how those operations are implemented.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2140807" name="object 3"/>
          <p:cNvSpPr txBox="1"/>
          <p:nvPr/>
        </p:nvSpPr>
        <p:spPr bwMode="auto">
          <a:xfrm>
            <a:off x="380999" y="888075"/>
            <a:ext cx="12358166" cy="487523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📖 Explanation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An ADT focuses on what the data structure does, not how it works internally.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It defines: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The type of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The operations that can be performed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The behavior of those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It does not define: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How the data is stored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The exact code used to implement the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Which specific data structure must be used</a:t>
            </a:r>
            <a:endParaRPr/>
          </a:p>
          <a:p>
            <a:pPr>
              <a:defRPr/>
            </a:pPr>
            <a:r>
              <a:rPr lang="en-GB" sz="2400">
                <a:latin typeface="Comic Sans MS"/>
              </a:rPr>
              <a:t>🔹 Delete the last node using delete.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633106" name="object 3"/>
          <p:cNvSpPr txBox="1"/>
          <p:nvPr/>
        </p:nvSpPr>
        <p:spPr bwMode="auto">
          <a:xfrm>
            <a:off x="380999" y="888075"/>
            <a:ext cx="12363205" cy="496314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ADT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Define the Data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Decide what type of data the ADT represents.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Stack → stores elements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Define the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Specify what operations are available.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`Push()` → adds an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`Pop()` → removes the top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`Top()` → returns the top element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`IsEmpty()` → checks whether the stack is empty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677861" name="object 3"/>
          <p:cNvSpPr txBox="1"/>
          <p:nvPr/>
        </p:nvSpPr>
        <p:spPr bwMode="auto">
          <a:xfrm>
            <a:off x="380999" y="888075"/>
            <a:ext cx="12372566" cy="8345011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🟦 Procedures (</a:t>
            </a:r>
            <a:r>
              <a:rPr sz="4000" b="1">
                <a:latin typeface="Comic Sans MS"/>
              </a:rPr>
              <a:t>ADT</a:t>
            </a:r>
            <a:r>
              <a:rPr lang="en-GB" sz="4000" b="1">
                <a:latin typeface="Comic Sans MS"/>
              </a:rPr>
              <a:t>)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Choose an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The ADT can be implemented using different data structures.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Array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Linked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➡️ Result: The user can use the same operations without needing to know 		the internal implementation.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💡 Example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Stack ADT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Stack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├── Push()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├── Pop()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├── Top()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└── IsEmpty()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can be implemented using an Array: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→ Stack ADT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Or using a Linked List: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Linked List → Stack ADT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📌 The interface and behavior remain the same even though the implementation is different.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2492630" name="object 3"/>
          <p:cNvSpPr txBox="1"/>
          <p:nvPr/>
        </p:nvSpPr>
        <p:spPr bwMode="auto">
          <a:xfrm>
            <a:off x="380999" y="888075"/>
            <a:ext cx="12357806" cy="6386119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📌 Note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ADT = What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Data Structure = How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💡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Stack ADT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	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What can we do?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Push, Pop, Top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How do we do it?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Array or Linked List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953036" name="object 3"/>
          <p:cNvSpPr txBox="1"/>
          <p:nvPr/>
        </p:nvSpPr>
        <p:spPr bwMode="auto">
          <a:xfrm>
            <a:off x="380999" y="888075"/>
            <a:ext cx="12354205" cy="339490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💡 Example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Stack ADT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┌───────────────┐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↓               ↓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Array        Linked List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Both can provide the same Stack operations.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795529" name="object 3"/>
          <p:cNvSpPr txBox="1"/>
          <p:nvPr/>
        </p:nvSpPr>
        <p:spPr bwMode="auto">
          <a:xfrm>
            <a:off x="380999" y="888075"/>
            <a:ext cx="12356366" cy="5240994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Abstract Data Type (ADT)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what operations are available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behavior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Hides implementation details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have multiple implementations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Data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ea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Defines how data is stored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Focuses on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Determines how operations are performed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Examples: Array, Linked List, Tree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2125755" name="object 3"/>
          <p:cNvSpPr txBox="1"/>
          <p:nvPr/>
        </p:nvSpPr>
        <p:spPr bwMode="auto">
          <a:xfrm>
            <a:off x="380999" y="888075"/>
            <a:ext cx="12354205" cy="18967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🚫 Warning</a:t>
            </a:r>
            <a:endParaRPr/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Do not confuse an ADT with a data structure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🟨 An ADT describes the behavior and operations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🟩 A data structure describes how the data is organized and stored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2437564" name="object 3"/>
          <p:cNvSpPr txBox="1"/>
          <p:nvPr/>
        </p:nvSpPr>
        <p:spPr bwMode="auto">
          <a:xfrm>
            <a:off x="380999" y="888075"/>
            <a:ext cx="12353126" cy="3008966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>
                <a:latin typeface="Comic Sans MS"/>
              </a:rPr>
              <a:t>✨ Summary</a:t>
            </a:r>
            <a:endParaRPr sz="2400">
              <a:latin typeface="Comic Sans MS"/>
            </a:endParaRPr>
          </a:p>
          <a:p>
            <a:pPr>
              <a:defRPr/>
            </a:pPr>
            <a:endParaRPr sz="2400"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ADT defines what operations can be performed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Focuses on behavior, not implementation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Hides internal implementation details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One ADT can have multiple implementations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ADT = What, Data Structure = How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1515503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/>
  <cp:revision>437</cp:revision>
  <dcterms:created xsi:type="dcterms:W3CDTF">2025-12-09T17:44:59Z</dcterms:created>
  <dcterms:modified xsi:type="dcterms:W3CDTF">2026-08-23T21:09:59Z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