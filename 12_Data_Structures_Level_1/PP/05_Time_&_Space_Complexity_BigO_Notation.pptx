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4" r:id="rId4"/>
    <p:sldId id="343" r:id="rId5"/>
    <p:sldId id="345" r:id="rId6"/>
    <p:sldId id="347" r:id="rId7"/>
    <p:sldId id="346" r:id="rId8"/>
    <p:sldId id="348" r:id="rId9"/>
    <p:sldId id="342" r:id="rId10"/>
    <p:sldId id="349" r:id="rId11"/>
    <p:sldId id="350" r:id="rId12"/>
    <p:sldId id="313" r:id="rId13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66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Time &amp; Space Complexity Big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O Notation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T</a:t>
            </a:r>
            <a:r>
              <a:rPr lang="en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hings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affect your program speed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and efficiency?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Things Affect Program Speed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4"/>
          <a:stretch/>
        </p:blipFill>
        <p:spPr>
          <a:xfrm>
            <a:off x="1546" y="2400300"/>
            <a:ext cx="13409654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3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Big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8531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What is Big O?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4"/>
          <a:stretch/>
        </p:blipFill>
        <p:spPr>
          <a:xfrm>
            <a:off x="0" y="3638550"/>
            <a:ext cx="7093513" cy="2781300"/>
          </a:xfrm>
          <a:prstGeom prst="rect">
            <a:avLst/>
          </a:prstGeom>
        </p:spPr>
      </p:pic>
      <p:pic>
        <p:nvPicPr>
          <p:cNvPr id="2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2253" y="2514600"/>
            <a:ext cx="581894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Big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is NOT?</a:t>
            </a:r>
          </a:p>
        </p:txBody>
      </p:sp>
    </p:spTree>
    <p:extLst>
      <p:ext uri="{BB962C8B-B14F-4D97-AF65-F5344CB8AC3E}">
        <p14:creationId xmlns:p14="http://schemas.microsoft.com/office/powerpoint/2010/main" val="334256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What is Big O is NOT?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SE" sz="2400" b="1" i="0" u="none" strike="noStrike" kern="0" cap="none" spc="-17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4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Comic Sans MS"/>
              </a:rPr>
              <a:t>Big O is not going to give you an exact answer on how long a piece of code will take to run.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24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Comic Sans MS"/>
              </a:rPr>
              <a:t>Does not consider the performance of hardware.</a:t>
            </a:r>
          </a:p>
        </p:txBody>
      </p:sp>
      <p:pic>
        <p:nvPicPr>
          <p:cNvPr id="2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0954" y="3115126"/>
            <a:ext cx="4429291" cy="382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71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time and space complexity?</a:t>
            </a:r>
          </a:p>
        </p:txBody>
      </p:sp>
    </p:spTree>
    <p:extLst>
      <p:ext uri="{BB962C8B-B14F-4D97-AF65-F5344CB8AC3E}">
        <p14:creationId xmlns:p14="http://schemas.microsoft.com/office/powerpoint/2010/main" val="2145249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12206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Time &amp; Space Complexity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  <a:p>
            <a:pPr marL="21912" marR="0" lvl="0" indent="0" defTabSz="914400" eaLnBrk="1" fontAlgn="auto" latinLnBrk="0" hangingPunct="1">
              <a:lnSpc>
                <a:spcPct val="100000"/>
              </a:lnSpc>
              <a:spcBef>
                <a:spcPts val="12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An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algorithm's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114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time</a:t>
            </a:r>
            <a:r>
              <a:rPr lang="en-GB" sz="2400" u="sng" spc="45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160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complexity: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4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specifies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how</a:t>
            </a:r>
            <a:r>
              <a:rPr lang="en-GB" sz="2400" u="sng" spc="440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180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long</a:t>
            </a:r>
            <a:r>
              <a:rPr lang="en-GB" sz="2400" u="sng" spc="450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38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it</a:t>
            </a:r>
            <a:r>
              <a:rPr lang="en-GB" sz="2400" u="sng" spc="45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28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will</a:t>
            </a:r>
            <a:r>
              <a:rPr lang="en-GB" sz="2400" u="sng" spc="450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14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take</a:t>
            </a:r>
            <a:r>
              <a:rPr lang="en-GB" sz="2400" u="sng" spc="450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6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to </a:t>
            </a:r>
            <a:r>
              <a:rPr lang="en-GB" sz="2400" spc="1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execute</a:t>
            </a:r>
            <a:r>
              <a:rPr lang="en-GB" sz="2400" spc="44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8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an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6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algorithm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as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0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</a:t>
            </a:r>
            <a:r>
              <a:rPr lang="en-GB" sz="2400" spc="43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9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function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0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of</a:t>
            </a:r>
            <a:r>
              <a:rPr lang="en-GB" sz="2400" spc="43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35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its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9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input</a:t>
            </a:r>
            <a:r>
              <a:rPr lang="en-GB" sz="2400" spc="45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4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size.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>
              <a:lnSpc>
                <a:spcPts val="1590"/>
              </a:lnSpc>
            </a:pPr>
            <a:r>
              <a:rPr lang="en-GB" sz="2400" spc="25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Similarly,</a:t>
            </a:r>
            <a:r>
              <a:rPr lang="en-GB" sz="2400" spc="47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8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an</a:t>
            </a:r>
            <a:r>
              <a:rPr lang="en-GB" sz="2400" spc="47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algorithm's</a:t>
            </a:r>
            <a:r>
              <a:rPr lang="en-GB" sz="2400" spc="459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12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space</a:t>
            </a:r>
            <a:r>
              <a:rPr lang="en-GB" sz="2400" u="sng" spc="47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16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complexity:</a:t>
            </a:r>
            <a:r>
              <a:rPr lang="en-GB" sz="2400" spc="48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4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specifies</a:t>
            </a:r>
            <a:r>
              <a:rPr lang="en-GB" sz="2400" spc="47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4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the</a:t>
            </a:r>
            <a:r>
              <a:rPr lang="en-GB" sz="2400" spc="459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24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total</a:t>
            </a:r>
            <a:r>
              <a:rPr lang="en-GB" sz="2400" u="sng" spc="47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amount</a:t>
            </a:r>
            <a:r>
              <a:rPr lang="en-GB" sz="2400" u="sng" spc="47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18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of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471805">
              <a:lnSpc>
                <a:spcPct val="70300"/>
              </a:lnSpc>
              <a:spcBef>
                <a:spcPts val="280"/>
              </a:spcBef>
            </a:pPr>
            <a:r>
              <a:rPr lang="en-GB" sz="2400" u="sng" spc="130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space</a:t>
            </a:r>
            <a:r>
              <a:rPr lang="en-GB" sz="2400" u="sng" spc="420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spc="195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or</a:t>
            </a:r>
            <a:r>
              <a:rPr lang="en-GB" sz="2400" u="sng" spc="434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u="sng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Comic Sans MS" panose="030F0702030302020204" pitchFamily="66" charset="0"/>
                <a:cs typeface="Trebuchet MS"/>
              </a:rPr>
              <a:t>memory</a:t>
            </a:r>
            <a:r>
              <a:rPr lang="en-GB" sz="2400" spc="4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7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required</a:t>
            </a:r>
            <a:r>
              <a:rPr lang="en-GB" sz="2400" spc="43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8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to</a:t>
            </a:r>
            <a:r>
              <a:rPr lang="en-GB" sz="2400" spc="4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execute</a:t>
            </a:r>
            <a:r>
              <a:rPr lang="en-GB" sz="2400" spc="43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8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an</a:t>
            </a:r>
            <a:r>
              <a:rPr lang="en-GB" sz="2400" spc="4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7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algorithm</a:t>
            </a:r>
            <a:r>
              <a:rPr lang="en-GB" sz="2400" spc="4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as</a:t>
            </a:r>
            <a:r>
              <a:rPr lang="en-GB" sz="2400" spc="4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0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</a:t>
            </a:r>
            <a:r>
              <a:rPr lang="en-GB" sz="2400" spc="43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9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function</a:t>
            </a:r>
            <a:r>
              <a:rPr lang="en-GB" sz="2400" spc="43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0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of</a:t>
            </a:r>
            <a:r>
              <a:rPr lang="en-GB" sz="2400" spc="43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1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the </a:t>
            </a:r>
            <a:r>
              <a:rPr lang="en-GB" sz="2400" spc="25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size</a:t>
            </a:r>
            <a:r>
              <a:rPr lang="en-GB" sz="2400" spc="4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0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of</a:t>
            </a:r>
            <a:r>
              <a:rPr lang="en-GB" sz="2400" spc="44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4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the</a:t>
            </a:r>
            <a:r>
              <a:rPr lang="en-GB" sz="2400" spc="44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input.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9004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38200"/>
            <a:ext cx="12352767" cy="932774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What is 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BigO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 Notation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endParaRPr lang="en-SE" sz="2400" dirty="0">
              <a:latin typeface="Comic Sans MS" panose="030F0702030302020204" pitchFamily="66" charset="0"/>
            </a:endParaRP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The big-O originally stands for “Order Of“.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Efficiency of Algorithm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Time Factor of Algorithm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Space Complexity of Algorithm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Represented by O(n) where n is the number of Inputs.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Big O, also known as Big O notation, represents an algorithm's worst-case complexity.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It uses algebraic terms to describe the complexity of an algorithm.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Big O defines the runtime required to execute an algorithm, by identifying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 how the performance of your algorithm will change as the input size grows.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Relationship between Input Size and Performance.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But it does not tell you the exact time your algorithm's runtime is.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Big O notation measures the efficiency and performance of your algorithm using time and space complexity.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Big O allows us to discuss our code algebraically to get a sense of how quickly it might operate under the strain of large data sets.</a:t>
            </a:r>
          </a:p>
          <a:p>
            <a:pPr marL="201295" indent="-18859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GB" sz="2400" dirty="0">
                <a:latin typeface="Comic Sans MS" panose="030F0702030302020204" pitchFamily="66" charset="0"/>
              </a:rPr>
              <a:t>with Big O	</a:t>
            </a:r>
            <a:r>
              <a:rPr lang="en-GB" sz="2400" dirty="0" err="1">
                <a:latin typeface="Comic Sans MS" panose="030F0702030302020204" pitchFamily="66" charset="0"/>
              </a:rPr>
              <a:t>otation</a:t>
            </a:r>
            <a:r>
              <a:rPr lang="en-GB" sz="2400" dirty="0">
                <a:latin typeface="Comic Sans MS" panose="030F0702030302020204" pitchFamily="66" charset="0"/>
              </a:rPr>
              <a:t>, we can look at our algorithm and see that it will take O(n) time to run. Big O	</a:t>
            </a:r>
            <a:r>
              <a:rPr lang="en-GB" sz="2400" dirty="0" err="1">
                <a:latin typeface="Comic Sans MS" panose="030F0702030302020204" pitchFamily="66" charset="0"/>
              </a:rPr>
              <a:t>otation</a:t>
            </a:r>
            <a:r>
              <a:rPr lang="en-GB" sz="2400" dirty="0">
                <a:latin typeface="Comic Sans MS" panose="030F0702030302020204" pitchFamily="66" charset="0"/>
              </a:rPr>
              <a:t>, written as O(blank), show us how many operations our code will run, and how its runtime grows in comparison to other possible solutions.</a:t>
            </a:r>
          </a:p>
        </p:txBody>
      </p:sp>
    </p:spTree>
    <p:extLst>
      <p:ext uri="{BB962C8B-B14F-4D97-AF65-F5344CB8AC3E}">
        <p14:creationId xmlns:p14="http://schemas.microsoft.com/office/powerpoint/2010/main" val="111905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What is 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BigO</a:t>
            </a:r>
            <a:endParaRPr kumimoji="0" lang="en-SE" sz="4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6277" y="2039874"/>
            <a:ext cx="9758646" cy="597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45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11606</TotalTime>
  <Words>384</Words>
  <Application>Microsoft Office PowerPoint</Application>
  <PresentationFormat>Custom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251</cp:revision>
  <dcterms:created xsi:type="dcterms:W3CDTF">2025-12-09T17:44:59Z</dcterms:created>
  <dcterms:modified xsi:type="dcterms:W3CDTF">2026-02-04T11:56:12Z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