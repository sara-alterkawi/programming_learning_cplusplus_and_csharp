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45" r:id="rId4"/>
    <p:sldId id="354" r:id="rId5"/>
    <p:sldId id="355" r:id="rId6"/>
    <p:sldId id="356" r:id="rId7"/>
    <p:sldId id="357" r:id="rId8"/>
    <p:sldId id="358" r:id="rId9"/>
    <p:sldId id="359" r:id="rId10"/>
    <p:sldId id="360" r:id="rId11"/>
    <p:sldId id="353" r:id="rId12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E53"/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77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396262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SE" sz="6000" b="1" dirty="0">
                <a:solidFill>
                  <a:srgbClr val="FFCE53"/>
                </a:solidFill>
                <a:latin typeface="Comic Sans MS"/>
                <a:cs typeface="Comic Sans MS"/>
              </a:rPr>
              <a:t>Stack </a:t>
            </a: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Stack </a:t>
            </a: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Data Structures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83420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🔎 Definition</a:t>
            </a:r>
          </a:p>
          <a:p>
            <a:endParaRPr lang="en-SE" sz="2400" b="1" dirty="0"/>
          </a:p>
          <a:p>
            <a:r>
              <a:rPr lang="en-GB" sz="2400" dirty="0">
                <a:latin typeface="Comic Sans MS" panose="030F0702030302020204" pitchFamily="66" charset="0"/>
              </a:rPr>
              <a:t>A </a:t>
            </a:r>
            <a:r>
              <a:rPr lang="en-GB" sz="2400" b="1" dirty="0">
                <a:latin typeface="Comic Sans MS" panose="030F0702030302020204" pitchFamily="66" charset="0"/>
              </a:rPr>
              <a:t>Stack</a:t>
            </a:r>
            <a:r>
              <a:rPr lang="en-GB" sz="2400" dirty="0">
                <a:latin typeface="Comic Sans MS" panose="030F0702030302020204" pitchFamily="66" charset="0"/>
              </a:rPr>
              <a:t> is a linear data structure where insertion (push) and deletion (pop) happen only at one end called the </a:t>
            </a:r>
            <a:r>
              <a:rPr lang="en-GB" sz="2400" b="1" dirty="0">
                <a:latin typeface="Comic Sans MS" panose="030F0702030302020204" pitchFamily="66" charset="0"/>
              </a:rPr>
              <a:t>top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  <a:endParaRPr lang="en-SE" sz="2400" dirty="0">
              <a:latin typeface="Comic Sans MS" panose="030F0702030302020204" pitchFamily="66" charset="0"/>
            </a:endParaRP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STL : Standard Template Library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We take stack </a:t>
            </a:r>
            <a:r>
              <a:rPr lang="en-SE" sz="2400">
                <a:latin typeface="Comic Sans MS" panose="030F0702030302020204" pitchFamily="66" charset="0"/>
              </a:rPr>
              <a:t>from it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#include &lt;stack&gt;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Stack &lt;int&gt; </a:t>
            </a:r>
            <a:r>
              <a:rPr lang="en-SE" sz="2400" dirty="0" err="1">
                <a:latin typeface="Comic Sans MS" panose="030F0702030302020204" pitchFamily="66" charset="0"/>
              </a:rPr>
              <a:t>stkNumber</a:t>
            </a:r>
            <a:endParaRPr lang="en-GB" sz="2400" dirty="0">
              <a:latin typeface="Comic Sans MS" panose="030F0702030302020204" pitchFamily="66" charset="0"/>
            </a:endParaRPr>
          </a:p>
          <a:p>
            <a:endParaRPr lang="en-SE" sz="2400" b="1" dirty="0"/>
          </a:p>
        </p:txBody>
      </p:sp>
    </p:spTree>
    <p:extLst>
      <p:ext uri="{BB962C8B-B14F-4D97-AF65-F5344CB8AC3E}">
        <p14:creationId xmlns:p14="http://schemas.microsoft.com/office/powerpoint/2010/main" val="3715452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🔎 </a:t>
            </a:r>
            <a:r>
              <a:rPr lang="en-GB" sz="4000" b="1" dirty="0">
                <a:latin typeface="Comic Sans MS" panose="030F0702030302020204" pitchFamily="66" charset="0"/>
              </a:rPr>
              <a:t>Explanation</a:t>
            </a:r>
            <a:endParaRPr lang="en-SE" sz="4000" b="1" dirty="0">
              <a:latin typeface="Comic Sans MS" panose="030F0702030302020204" pitchFamily="66" charset="0"/>
            </a:endParaRPr>
          </a:p>
          <a:p>
            <a:endParaRPr lang="en-SE" sz="2400" b="1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In the given code, a stack of integers is created.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Numbers are added using push().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The program prints and removes numbers using top() and pop() until the stack is </a:t>
            </a: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empty.</a:t>
            </a:r>
            <a:endParaRPr lang="en-SE" sz="24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56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🟨 Stack Main Operations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🟩 push(x) → Adds element x to top of stack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🟩 pop() → Removes top element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🟩 top() → Returns top element without removing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🟩 empty() → Checks if stack is empty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🟩 size() → Returns number of elements</a:t>
            </a:r>
            <a:endParaRPr lang="en-SE" sz="24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635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💡 Example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If we push numbers in this order: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10 → 20 → 30 → 40 → 50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➡️ Result when popping: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50 → 40 → 30 → 20 → 10</a:t>
            </a:r>
            <a:endParaRPr lang="en-SE" sz="24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387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668086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🟦 Procedures (Program Flow)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 Include libraries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&lt;iostream&gt; → input/output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&lt;stack&gt; → stack container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2️⃣ Create stack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stack&lt;int&gt; </a:t>
            </a:r>
            <a:r>
              <a:rPr lang="en-GB" sz="2400" dirty="0" err="1">
                <a:latin typeface="Comic Sans MS" panose="030F0702030302020204" pitchFamily="66" charset="0"/>
              </a:rPr>
              <a:t>stkNumbers</a:t>
            </a:r>
            <a:r>
              <a:rPr lang="en-GB" sz="2400" dirty="0">
                <a:latin typeface="Comic Sans MS" panose="030F0702030302020204" pitchFamily="66" charset="0"/>
              </a:rPr>
              <a:t>;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3️⃣ Insert elements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Using push()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4️⃣ Display stack size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Using size()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5️⃣ Loop until empty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Check with empty()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6️⃣ Print top element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Using top()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7️⃣ Remove element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Using pop()</a:t>
            </a:r>
            <a:endParaRPr lang="en-SE" sz="24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966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📌 Note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top() only reads the top element.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pop() removes it but does not return it.</a:t>
            </a:r>
            <a:endParaRPr lang="en-SE" sz="24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965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52035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⚖️ Comparison</a:t>
            </a:r>
            <a:endParaRPr lang="en-GB" sz="2400" dirty="0">
              <a:latin typeface="Comic Sans MS" panose="030F0702030302020204" pitchFamily="66" charset="0"/>
            </a:endParaRP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🟩 Stack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Follows Last In First Out (LIFO) order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Insertion and deletion happen at the same end (Top)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Used in recursion, undo operations, expression evaluation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Access only to the top element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🟥 Queue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Follows First In First Out (FIFO) order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Insertion at rear and deletion from front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Used in scheduling, buffering, task processing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Access to front and rear elements only</a:t>
            </a:r>
            <a:endParaRPr lang="en-SE" sz="24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607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✨ Summary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SE" sz="2400" dirty="0"/>
              <a:t>✅ </a:t>
            </a:r>
            <a:r>
              <a:rPr lang="en-GB" sz="2400" dirty="0">
                <a:latin typeface="Comic Sans MS" panose="030F0702030302020204" pitchFamily="66" charset="0"/>
              </a:rPr>
              <a:t>Stack follows LIFO principle</a:t>
            </a:r>
          </a:p>
          <a:p>
            <a:r>
              <a:rPr lang="en-SE" sz="2400" dirty="0"/>
              <a:t>✅ </a:t>
            </a:r>
            <a:r>
              <a:rPr lang="en-GB" sz="2400" dirty="0">
                <a:latin typeface="Comic Sans MS" panose="030F0702030302020204" pitchFamily="66" charset="0"/>
              </a:rPr>
              <a:t>Key functions: push, pop, top, empty, size</a:t>
            </a:r>
          </a:p>
          <a:p>
            <a:r>
              <a:rPr lang="en-SE" sz="2400" dirty="0"/>
              <a:t>✅ </a:t>
            </a:r>
            <a:r>
              <a:rPr lang="en-GB" sz="2400" dirty="0">
                <a:latin typeface="Comic Sans MS" panose="030F0702030302020204" pitchFamily="66" charset="0"/>
              </a:rPr>
              <a:t>Used widely in memory management and algorithms</a:t>
            </a:r>
            <a:endParaRPr lang="en-SE" sz="24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121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330413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11750</TotalTime>
  <Words>401</Words>
  <Application>Microsoft Office PowerPoint</Application>
  <PresentationFormat>Custom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332</cp:revision>
  <dcterms:created xsi:type="dcterms:W3CDTF">2025-12-09T17:44:59Z</dcterms:created>
  <dcterms:modified xsi:type="dcterms:W3CDTF">2026-02-10T14:06:26Z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