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35" r:id="rId5"/>
    <p:sldId id="341" r:id="rId6"/>
    <p:sldId id="343" r:id="rId7"/>
    <p:sldId id="344" r:id="rId8"/>
    <p:sldId id="342" r:id="rId9"/>
    <p:sldId id="313" r:id="rId10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66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Differences between Data Structures and Database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Differences between Data Structures</a:t>
            </a:r>
            <a:endParaRPr lang="en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and 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57341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Definition: </a:t>
            </a:r>
            <a:r>
              <a:rPr lang="en-GB" sz="4000" b="1" dirty="0">
                <a:latin typeface="Comic Sans MS" panose="030F0702030302020204" pitchFamily="66" charset="0"/>
              </a:rPr>
              <a:t>Data Structure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In computer programming, a </a:t>
            </a:r>
            <a:r>
              <a:rPr lang="en-GB" sz="2400" b="1" dirty="0">
                <a:latin typeface="Comic Sans MS" panose="030F0702030302020204" pitchFamily="66" charset="0"/>
              </a:rPr>
              <a:t>Data Structure</a:t>
            </a:r>
            <a:r>
              <a:rPr lang="en-GB" sz="2400" dirty="0">
                <a:latin typeface="Comic Sans MS" panose="030F0702030302020204" pitchFamily="66" charset="0"/>
              </a:rPr>
              <a:t> is a way of organizing and storing </a:t>
            </a: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data in memory so that accessing and modifying data becomes efficient.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📖 </a:t>
            </a:r>
            <a:r>
              <a:rPr lang="en-GB" sz="2400" b="1" dirty="0">
                <a:latin typeface="Comic Sans MS" panose="030F0702030302020204" pitchFamily="66" charset="0"/>
              </a:rPr>
              <a:t>Explanation: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🔹 Data structures are mainly used </a:t>
            </a:r>
            <a:r>
              <a:rPr lang="en-GB" sz="2400" b="1" dirty="0">
                <a:latin typeface="Comic Sans MS" panose="030F0702030302020204" pitchFamily="66" charset="0"/>
              </a:rPr>
              <a:t>inside programs</a:t>
            </a:r>
            <a:r>
              <a:rPr lang="en-GB" sz="2400" dirty="0">
                <a:latin typeface="Comic Sans MS" panose="030F0702030302020204" pitchFamily="66" charset="0"/>
              </a:rPr>
              <a:t> and exist during program </a:t>
            </a:r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execution.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Common Data Structures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	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Array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		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Linked List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		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Stack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		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Queue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		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Heap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		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Binary Tree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Graph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💡 </a:t>
            </a:r>
            <a:r>
              <a:rPr lang="en-GB" sz="2400" b="1" dirty="0">
                <a:latin typeface="Comic Sans MS" panose="030F0702030302020204" pitchFamily="66" charset="0"/>
              </a:rPr>
              <a:t>Example: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Using a </a:t>
            </a:r>
            <a:r>
              <a:rPr lang="en-GB" sz="2400" b="1" dirty="0">
                <a:latin typeface="Comic Sans MS" panose="030F0702030302020204" pitchFamily="66" charset="0"/>
              </a:rPr>
              <a:t>Stack</a:t>
            </a:r>
            <a:r>
              <a:rPr lang="en-GB" sz="2400" dirty="0">
                <a:latin typeface="Comic Sans MS" panose="030F0702030302020204" pitchFamily="66" charset="0"/>
              </a:rPr>
              <a:t> to manage function calls in a program.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📌 </a:t>
            </a:r>
            <a:r>
              <a:rPr lang="en-GB" sz="2400" b="1" dirty="0">
                <a:latin typeface="Comic Sans MS" panose="030F0702030302020204" pitchFamily="66" charset="0"/>
              </a:rPr>
              <a:t>Note: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Data structures focus on </a:t>
            </a:r>
            <a:r>
              <a:rPr lang="en-GB" sz="2400" b="1" dirty="0">
                <a:latin typeface="Comic Sans MS" panose="030F0702030302020204" pitchFamily="66" charset="0"/>
              </a:rPr>
              <a:t>memory efficiency and speed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8885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Definition: Database</a:t>
            </a:r>
            <a:endParaRPr lang="en-SE" sz="2400" dirty="0">
              <a:latin typeface="Comic Sans MS" panose="030F0702030302020204" pitchFamily="66" charset="0"/>
            </a:endParaRPr>
          </a:p>
          <a:p>
            <a:endParaRPr lang="en-SE" sz="2400" b="1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🔹 A </a:t>
            </a:r>
            <a:r>
              <a:rPr lang="en-SE" sz="2400" b="1" dirty="0">
                <a:latin typeface="Comic Sans MS" panose="030F0702030302020204" pitchFamily="66" charset="0"/>
              </a:rPr>
              <a:t>Database</a:t>
            </a:r>
            <a:r>
              <a:rPr lang="en-SE" sz="2400" dirty="0">
                <a:latin typeface="Comic Sans MS" panose="030F0702030302020204" pitchFamily="66" charset="0"/>
              </a:rPr>
              <a:t> is a collection of data stored in an organized manner, usually in tables 	consisting of rows and columns, and managed using a </a:t>
            </a:r>
            <a:r>
              <a:rPr lang="en-SE" sz="2400" b="1" dirty="0">
                <a:latin typeface="Comic Sans MS" panose="030F0702030302020204" pitchFamily="66" charset="0"/>
              </a:rPr>
              <a:t>Database Management 	System (DBMS)</a:t>
            </a:r>
            <a:r>
              <a:rPr lang="en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📖 </a:t>
            </a:r>
            <a:r>
              <a:rPr lang="en-SE" sz="2400" b="1" dirty="0">
                <a:latin typeface="Comic Sans MS" panose="030F0702030302020204" pitchFamily="66" charset="0"/>
              </a:rPr>
              <a:t>Explanation: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🔹 Databases are used to store </a:t>
            </a:r>
            <a:r>
              <a:rPr lang="en-SE" sz="2400" b="1" dirty="0">
                <a:latin typeface="Comic Sans MS" panose="030F0702030302020204" pitchFamily="66" charset="0"/>
              </a:rPr>
              <a:t>large amounts of persistent data</a:t>
            </a:r>
            <a:r>
              <a:rPr lang="en-SE" sz="2400" dirty="0">
                <a:latin typeface="Comic Sans MS" panose="030F0702030302020204" pitchFamily="66" charset="0"/>
              </a:rPr>
              <a:t> that remain 		available even after the program ends.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🟨 </a:t>
            </a:r>
            <a:r>
              <a:rPr lang="en-SE" sz="2400" b="1" dirty="0">
                <a:latin typeface="Comic Sans MS" panose="030F0702030302020204" pitchFamily="66" charset="0"/>
              </a:rPr>
              <a:t>Functions of DBMS</a:t>
            </a:r>
          </a:p>
          <a:p>
            <a:r>
              <a:rPr lang="en-SE" sz="2400" b="1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Define data</a:t>
            </a:r>
          </a:p>
          <a:p>
            <a:r>
              <a:rPr lang="en-SE" sz="2400" b="1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Store data</a:t>
            </a:r>
          </a:p>
          <a:p>
            <a:r>
              <a:rPr lang="en-SE" sz="2400" b="1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Modify data</a:t>
            </a:r>
          </a:p>
          <a:p>
            <a:r>
              <a:rPr lang="en-SE" sz="2400" b="1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Manipulate data</a:t>
            </a:r>
          </a:p>
          <a:p>
            <a:r>
              <a:rPr lang="en-SE" sz="2400" b="1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Manage access to data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🟨 </a:t>
            </a:r>
            <a:r>
              <a:rPr lang="en-SE" sz="2400" b="1" dirty="0">
                <a:latin typeface="Comic Sans MS" panose="030F0702030302020204" pitchFamily="66" charset="0"/>
              </a:rPr>
              <a:t>Examples of DBMS</a:t>
            </a:r>
          </a:p>
          <a:p>
            <a:r>
              <a:rPr lang="en-SE" sz="2400" b="1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MySQL</a:t>
            </a:r>
          </a:p>
          <a:p>
            <a:r>
              <a:rPr lang="en-SE" sz="2400" b="1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Oracle Database</a:t>
            </a:r>
          </a:p>
          <a:p>
            <a:r>
              <a:rPr lang="en-SE" sz="2400" b="1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PostgreSQL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💡 </a:t>
            </a:r>
            <a:r>
              <a:rPr lang="en-SE" sz="2400" b="1" dirty="0">
                <a:latin typeface="Comic Sans MS" panose="030F0702030302020204" pitchFamily="66" charset="0"/>
              </a:rPr>
              <a:t>Example: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Storing user accounts and passwords in a MySQL database</a:t>
            </a:r>
          </a:p>
        </p:txBody>
      </p:sp>
    </p:spTree>
    <p:extLst>
      <p:ext uri="{BB962C8B-B14F-4D97-AF65-F5344CB8AC3E}">
        <p14:creationId xmlns:p14="http://schemas.microsoft.com/office/powerpoint/2010/main" val="1357748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557286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⚖️ Comparison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en-SE" sz="2400" b="1" dirty="0">
                <a:latin typeface="Comic Sans MS" panose="030F0702030302020204" pitchFamily="66" charset="0"/>
              </a:rPr>
              <a:t>Data Structure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✔️ Used within a program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✔️ Stored in main memory (RAM)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✔️ Temporary (exists during program execution)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✔️ Focuses on performance and efficiency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✔️ Examples: Array, Stack, Tree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🟥 </a:t>
            </a:r>
            <a:r>
              <a:rPr lang="en-SE" sz="2400" b="1" dirty="0">
                <a:latin typeface="Comic Sans MS" panose="030F0702030302020204" pitchFamily="66" charset="0"/>
              </a:rPr>
              <a:t>Database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✔️ Used for long-term data storage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✔️ Stored on secondary storage (Disk)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✔️ Persistent (data remains saved)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✔️ Managed using DBMS software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✔️ Examples: MySQL, Oracle</a:t>
            </a:r>
          </a:p>
        </p:txBody>
      </p:sp>
    </p:spTree>
    <p:extLst>
      <p:ext uri="{BB962C8B-B14F-4D97-AF65-F5344CB8AC3E}">
        <p14:creationId xmlns:p14="http://schemas.microsoft.com/office/powerpoint/2010/main" val="3261076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 Interpretation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Data structures help programs </a:t>
            </a:r>
            <a:r>
              <a:rPr lang="en-GB" sz="2400" b="1" dirty="0">
                <a:latin typeface="Comic Sans MS" panose="030F0702030302020204" pitchFamily="66" charset="0"/>
              </a:rPr>
              <a:t>process data quickly</a:t>
            </a:r>
            <a:r>
              <a:rPr lang="en-GB" sz="2400" dirty="0">
                <a:latin typeface="Comic Sans MS" panose="030F0702030302020204" pitchFamily="66" charset="0"/>
              </a:rPr>
              <a:t>, while databases help systems </a:t>
            </a: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b="1" dirty="0">
                <a:latin typeface="Comic Sans MS" panose="030F0702030302020204" pitchFamily="66" charset="0"/>
              </a:rPr>
              <a:t>store and manage large volumes of data safely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795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🚫 Warning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A database </a:t>
            </a:r>
            <a:r>
              <a:rPr lang="en-GB" sz="2400" b="1" dirty="0">
                <a:latin typeface="Comic Sans MS" panose="030F0702030302020204" pitchFamily="66" charset="0"/>
              </a:rPr>
              <a:t>does not replace</a:t>
            </a:r>
            <a:r>
              <a:rPr lang="en-GB" sz="2400" dirty="0">
                <a:latin typeface="Comic Sans MS" panose="030F0702030302020204" pitchFamily="66" charset="0"/>
              </a:rPr>
              <a:t> data structures.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Programs still use data structures internally even when working with databases.</a:t>
            </a:r>
          </a:p>
        </p:txBody>
      </p:sp>
    </p:spTree>
    <p:extLst>
      <p:ext uri="{BB962C8B-B14F-4D97-AF65-F5344CB8AC3E}">
        <p14:creationId xmlns:p14="http://schemas.microsoft.com/office/powerpoint/2010/main" val="40951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✨ Summary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Data structures organize data </a:t>
            </a:r>
            <a:r>
              <a:rPr lang="en-SE" sz="2400" b="1" dirty="0">
                <a:latin typeface="Comic Sans MS" panose="030F0702030302020204" pitchFamily="66" charset="0"/>
              </a:rPr>
              <a:t>inside programs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✅ Databases store data </a:t>
            </a:r>
            <a:r>
              <a:rPr lang="en-SE" sz="2400" b="1" dirty="0">
                <a:latin typeface="Comic Sans MS" panose="030F0702030302020204" pitchFamily="66" charset="0"/>
              </a:rPr>
              <a:t>outside programs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✅ Data structures optimize speed and memory usage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✅ Databases ensure persistence, security, and scalability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✅ Both are essential and complement each other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532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3024</TotalTime>
  <Words>481</Words>
  <Application>Microsoft Office PowerPoint</Application>
  <PresentationFormat>Custom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241</cp:revision>
  <dcterms:created xsi:type="dcterms:W3CDTF">2025-12-09T17:44:59Z</dcterms:created>
  <dcterms:modified xsi:type="dcterms:W3CDTF">2026-01-29T12:44:28Z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