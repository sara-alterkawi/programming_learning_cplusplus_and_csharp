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3411200" cy="100584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05840" y="3117960"/>
            <a:ext cx="11398680" cy="89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559760" y="9354240"/>
            <a:ext cx="429084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67068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965592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860B23-6206-4D5B-8B70-8F2440ECF30C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/>
        </p:nvSpPr>
        <p:spPr>
          <a:xfrm>
            <a:off x="331200" y="2514600"/>
            <a:ext cx="12753000" cy="4141440"/>
          </a:xfrm>
          <a:custGeom>
            <a:avLst/>
            <a:gdLst>
              <a:gd name="textAreaLeft" fmla="*/ 0 w 12753000"/>
              <a:gd name="textAreaRight" fmla="*/ 12753720 w 12753000"/>
              <a:gd name="textAreaTop" fmla="*/ 0 h 4141440"/>
              <a:gd name="textAreaBottom" fmla="*/ 4142160 h 4141440"/>
            </a:gdLst>
            <a:ahLst/>
            <a:cxnLst/>
            <a:rect l="textAreaLeft" t="textAreaTop" r="textAreaRight" b="textAreaBottom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noFill/>
          <a:ln w="1219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560" cy="90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17040" y="3228120"/>
            <a:ext cx="7642800" cy="47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559760" y="9354240"/>
            <a:ext cx="429084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5"/>
          </p:nvPr>
        </p:nvSpPr>
        <p:spPr>
          <a:xfrm>
            <a:off x="67068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965592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86916D5-9B36-46C8-8EA4-1CDF7668D6AE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560" cy="90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70680" y="2313360"/>
            <a:ext cx="5833080" cy="29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906600" y="2313360"/>
            <a:ext cx="5833080" cy="29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7"/>
          </p:nvPr>
        </p:nvSpPr>
        <p:spPr>
          <a:xfrm>
            <a:off x="4559760" y="9354240"/>
            <a:ext cx="429084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8"/>
          </p:nvPr>
        </p:nvSpPr>
        <p:spPr>
          <a:xfrm>
            <a:off x="67068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965592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C8FD0D0-EF7A-497E-A6D0-C7A47BEE9CE5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6"/>
          <p:cNvPicPr/>
          <p:nvPr/>
        </p:nvPicPr>
        <p:blipFill>
          <a:blip r:embed="rId2"/>
          <a:stretch/>
        </p:blipFill>
        <p:spPr>
          <a:xfrm>
            <a:off x="0" y="2209680"/>
            <a:ext cx="13410360" cy="50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bg object 17"/>
          <p:cNvSpPr/>
          <p:nvPr/>
        </p:nvSpPr>
        <p:spPr>
          <a:xfrm>
            <a:off x="105120" y="3901320"/>
            <a:ext cx="13305240" cy="789120"/>
          </a:xfrm>
          <a:custGeom>
            <a:avLst/>
            <a:gdLst>
              <a:gd name="textAreaLeft" fmla="*/ 0 w 13305240"/>
              <a:gd name="textAreaRight" fmla="*/ 13305960 w 13305240"/>
              <a:gd name="textAreaTop" fmla="*/ 0 h 789120"/>
              <a:gd name="textAreaBottom" fmla="*/ 789840 h 789120"/>
            </a:gdLst>
            <a:ahLst/>
            <a:cxnLst/>
            <a:rect l="textAreaLeft" t="textAreaTop" r="textAreaRight" b="textAreaBottom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noFill/>
          <a:ln w="12191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560" cy="90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0"/>
          </p:nvPr>
        </p:nvSpPr>
        <p:spPr>
          <a:xfrm>
            <a:off x="4559760" y="9354240"/>
            <a:ext cx="429084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1"/>
          </p:nvPr>
        </p:nvSpPr>
        <p:spPr>
          <a:xfrm>
            <a:off x="67068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2"/>
          </p:nvPr>
        </p:nvSpPr>
        <p:spPr>
          <a:xfrm>
            <a:off x="965592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9E9F1A5-6C02-4E31-A146-D36C625DD328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3"/>
          </p:nvPr>
        </p:nvSpPr>
        <p:spPr>
          <a:xfrm>
            <a:off x="4559760" y="9354240"/>
            <a:ext cx="429084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4"/>
          </p:nvPr>
        </p:nvSpPr>
        <p:spPr>
          <a:xfrm>
            <a:off x="67068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5"/>
          </p:nvPr>
        </p:nvSpPr>
        <p:spPr>
          <a:xfrm>
            <a:off x="965592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91E8BF7-1A6B-4302-A634-37AF743BDB08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9000" cy="16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70320" y="2353320"/>
            <a:ext cx="12069000" cy="583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Num" idx="16"/>
          </p:nvPr>
        </p:nvSpPr>
        <p:spPr>
          <a:xfrm>
            <a:off x="22501080" y="12821040"/>
            <a:ext cx="517320" cy="29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65880" indent="0" algn="r">
              <a:lnSpc>
                <a:spcPts val="2259"/>
              </a:lnSpc>
              <a:buNone/>
              <a:tabLst>
                <a:tab pos="0" algn="l"/>
              </a:tabLst>
              <a:defRPr lang="en-US" sz="1400" b="0" u="none" spc="-85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marL="65880" indent="0" algn="r">
              <a:lnSpc>
                <a:spcPts val="2259"/>
              </a:lnSpc>
              <a:buNone/>
              <a:tabLst>
                <a:tab pos="0" algn="l"/>
              </a:tabLst>
            </a:pPr>
            <a:fld id="{0C7B6FA7-930A-409B-8EFF-A9813D5E489B}" type="slidenum">
              <a:rPr lang="en-US" sz="1400" b="0" u="none" spc="-85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" name="object 25"/>
          <p:cNvPicPr/>
          <p:nvPr/>
        </p:nvPicPr>
        <p:blipFill>
          <a:blip r:embed="rId1"/>
          <a:srcRect l="0" t="12" r="0" b="12"/>
          <a:stretch/>
        </p:blipFill>
        <p:spPr>
          <a:xfrm>
            <a:off x="0" y="457200"/>
            <a:ext cx="13410360" cy="902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object 30"/>
          <p:cNvSpPr/>
          <p:nvPr/>
        </p:nvSpPr>
        <p:spPr>
          <a:xfrm>
            <a:off x="0" y="1143000"/>
            <a:ext cx="12724560" cy="4885200"/>
          </a:xfrm>
          <a:prstGeom prst="rect">
            <a:avLst/>
          </a:prstGeom>
          <a:noFill/>
          <a:ln w="12953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6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Data Structure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6000" b="1" u="none" strike="noStrike">
                <a:solidFill>
                  <a:schemeClr val="lt1"/>
                </a:solidFill>
                <a:effectLst/>
                <a:uFillTx/>
                <a:latin typeface="Comic Sans MS"/>
              </a:rPr>
              <a:t>Level 1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SE" sz="6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Doubly Linked List Operation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2"/>
          <p:cNvGrpSpPr/>
          <p:nvPr/>
        </p:nvGrpSpPr>
        <p:grpSpPr>
          <a:xfrm>
            <a:off x="-10800" y="645480"/>
            <a:ext cx="13410360" cy="8766360"/>
            <a:chOff x="-10800" y="645480"/>
            <a:chExt cx="13410360" cy="8766360"/>
          </a:xfrm>
        </p:grpSpPr>
        <p:pic>
          <p:nvPicPr>
            <p:cNvPr id="33" name="object 3"/>
            <p:cNvPicPr/>
            <p:nvPr/>
          </p:nvPicPr>
          <p:blipFill>
            <a:blip r:embed="rId1"/>
            <a:stretch/>
          </p:blipFill>
          <p:spPr>
            <a:xfrm>
              <a:off x="-10800" y="645480"/>
              <a:ext cx="13410360" cy="8766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" name="object 4"/>
            <p:cNvSpPr/>
            <p:nvPr/>
          </p:nvSpPr>
          <p:spPr>
            <a:xfrm>
              <a:off x="94320" y="3564360"/>
              <a:ext cx="13305240" cy="2181960"/>
            </a:xfrm>
            <a:custGeom>
              <a:avLst/>
              <a:gdLst>
                <a:gd name="textAreaLeft" fmla="*/ 0 w 13305240"/>
                <a:gd name="textAreaRight" fmla="*/ 13305960 w 13305240"/>
                <a:gd name="textAreaTop" fmla="*/ 0 h 2181960"/>
                <a:gd name="textAreaBottom" fmla="*/ 2182680 h 2181960"/>
              </a:gdLst>
              <a:ahLst/>
              <a:cxnLst/>
              <a:rect l="textAreaLeft" t="textAreaTop" r="textAreaRight" b="textAreaBottom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noFill/>
            <a:ln w="12192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" name="object 8"/>
          <p:cNvSpPr/>
          <p:nvPr/>
        </p:nvSpPr>
        <p:spPr>
          <a:xfrm>
            <a:off x="13091760" y="12746160"/>
            <a:ext cx="18216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0880" rIns="0" bIns="0" anchor="t">
            <a:spAutoFit/>
          </a:bodyPr>
          <a:p>
            <a:pPr marL="21960">
              <a:lnSpc>
                <a:spcPct val="100000"/>
              </a:lnSpc>
              <a:spcBef>
                <a:spcPts val="164"/>
              </a:spcBef>
            </a:pPr>
            <a:r>
              <a:rPr lang="en-US" sz="215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object 30"/>
          <p:cNvSpPr/>
          <p:nvPr/>
        </p:nvSpPr>
        <p:spPr>
          <a:xfrm>
            <a:off x="106560" y="3084120"/>
            <a:ext cx="13304160" cy="1755720"/>
          </a:xfrm>
          <a:prstGeom prst="rect">
            <a:avLst/>
          </a:prstGeom>
          <a:noFill/>
          <a:ln w="12953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4000" b="0" u="none" spc="-17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sv-SE" sz="2400" b="0" u="none" spc="-17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Level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SE" sz="4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Find Node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"/>
          <p:cNvSpPr/>
          <p:nvPr/>
        </p:nvSpPr>
        <p:spPr>
          <a:xfrm>
            <a:off x="380880" y="888120"/>
            <a:ext cx="12351960" cy="29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🔎 Definition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Doubly Linked List is a data structure where each node contains: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A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🟨 A pointer to the next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🟨 A pointer to the previous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This allows traversal in both directions (forward and backward).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"/>
          <p:cNvSpPr/>
          <p:nvPr/>
        </p:nvSpPr>
        <p:spPr>
          <a:xfrm>
            <a:off x="380880" y="888120"/>
            <a:ext cx="12351960" cy="37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📖 Explanation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🔹 Node Structure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🟨 Each node contains: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🟩 value → stores the data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🟩 next → pointer to the next node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🟩 prev → pointer to the previous node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💡 Example: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NULL &lt;- 1 &lt;-&gt; 2 &lt;-&gt; 3 -&gt; NULL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"/>
          <p:cNvSpPr/>
          <p:nvPr/>
        </p:nvSpPr>
        <p:spPr>
          <a:xfrm>
            <a:off x="380880" y="888120"/>
            <a:ext cx="12351960" cy="52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 (Insert at Beginning)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1️⃣ InsertAtBeginning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📖 Adds a new node at the start of the list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Steps: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1️⃣ Create a new node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2️⃣ Set its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3️⃣ Point its next to current head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4️⃣ Set its prev to NULL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5️⃣ Update old head’s prev to new node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6️⃣ Move head to new node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➡️ Result: New node becomes the first element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🚫 Warning: Always check if head != NULL before accessing head-&gt;prev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1"/>
          <p:cNvSpPr/>
          <p:nvPr/>
        </p:nvSpPr>
        <p:spPr>
          <a:xfrm>
            <a:off x="380880" y="888120"/>
            <a:ext cx="12351960" cy="35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2️⃣ PrintNodeDetails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📖 Displays: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🟨 Previous node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🟨 Current node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🟨 Next node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💡 Example output: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NULL &lt;- 1 -&gt;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1 &lt;- 2 -&gt; 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2 &lt;- 3 -&gt;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ject 5"/>
          <p:cNvSpPr/>
          <p:nvPr/>
        </p:nvSpPr>
        <p:spPr>
          <a:xfrm>
            <a:off x="380880" y="888120"/>
            <a:ext cx="12351960" cy="16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3️⃣ PrintListDetails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📖 Traverses the list node by node and prints detailed connections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🟨 Uses: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🟩 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Calls PrintNodeDetails for each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 6"/>
          <p:cNvSpPr/>
          <p:nvPr/>
        </p:nvSpPr>
        <p:spPr>
          <a:xfrm>
            <a:off x="380880" y="888120"/>
            <a:ext cx="12351960" cy="16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4️⃣ PrintList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📖 Prints the full list in one 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💡 Example: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NULL &lt;- 1 -&gt; &lt;- 2 -&gt; &lt;- 3 -&gt;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7"/>
          <p:cNvSpPr/>
          <p:nvPr/>
        </p:nvSpPr>
        <p:spPr>
          <a:xfrm>
            <a:off x="380880" y="888120"/>
            <a:ext cx="12351960" cy="52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5️⃣ Find Function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🔎 Definition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Searches for a node with a specific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🟨 Logic: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🟩 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Start from 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🟩 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Traverse forward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🟩 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Compare each node’s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🟩 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Return the node if found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Segoe UI"/>
              </a:rPr>
              <a:t>🟩 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Return NULL if not found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💡 Example: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Find(head, 2) → returns node with value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➡️ Result: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If found → pointer to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If not found →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3"/>
          <p:cNvSpPr/>
          <p:nvPr/>
        </p:nvSpPr>
        <p:spPr>
          <a:xfrm>
            <a:off x="380880" y="888120"/>
            <a:ext cx="12351960" cy="44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⚖️ Comparison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Insert At Beginning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Time Complexity: O(1)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No traversal needed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Direct head update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🟥 Find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Time Complexity: O(n)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Requires traversal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Searches node by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bject 3"/>
          <p:cNvSpPr/>
          <p:nvPr/>
        </p:nvSpPr>
        <p:spPr>
          <a:xfrm>
            <a:off x="380880" y="888120"/>
            <a:ext cx="12351960" cy="22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📌 Note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list is built in reverse order because insertion is always at the beginning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Final list becomes: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1 -&gt; 2 -&gt; 3 -&gt; 4 -&gt; 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/>
          <p:cNvSpPr/>
          <p:nvPr/>
        </p:nvSpPr>
        <p:spPr>
          <a:xfrm>
            <a:off x="380880" y="888120"/>
            <a:ext cx="12351960" cy="187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🚫 Warning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If you do not handle the single-node case, the program may crash.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Always update Prev-&gt;next before deleting the last node.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bject 3"/>
          <p:cNvSpPr/>
          <p:nvPr/>
        </p:nvSpPr>
        <p:spPr>
          <a:xfrm>
            <a:off x="380880" y="888120"/>
            <a:ext cx="12351960" cy="29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✨ Summary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Doubly linked list allows two-way traversal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Each node has next and prev pointers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The Find function searches sequentially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If found → returns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If not → returns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bject 4"/>
          <p:cNvSpPr/>
          <p:nvPr/>
        </p:nvSpPr>
        <p:spPr>
          <a:xfrm>
            <a:off x="0" y="4712760"/>
            <a:ext cx="13410360" cy="63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0" anchor="t">
            <a:spAutoFit/>
          </a:bodyPr>
          <a:p>
            <a:pPr marL="16920" algn="ctr">
              <a:lnSpc>
                <a:spcPct val="100000"/>
              </a:lnSpc>
              <a:spcBef>
                <a:spcPts val="133"/>
              </a:spcBef>
            </a:pPr>
            <a:r>
              <a:rPr lang="sv-SE" sz="4000" b="1" u="none" spc="-17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Thank you</a:t>
            </a:r>
            <a:r>
              <a:rPr lang="sv-SE" sz="4000" b="0" u="none" spc="-20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sv-SE" sz="4000" b="0" u="none" spc="-68" strike="noStrike">
                <a:solidFill>
                  <a:srgbClr val="FF0000"/>
                </a:solidFill>
                <a:effectLst/>
                <a:uFillTx/>
                <a:latin typeface="Wingdings"/>
              </a:rPr>
              <a:t>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11890</TotalTime>
  <Application>LibreOffice/26.2.3.2$Windows_X86_64 LibreOffice_project/70e089b17412e4cb7773e41413306b17a2328c34</Application>
  <AppVersion>15.0000</AppVersion>
  <Words>404</Words>
  <Paragraphs>84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2025-12-09T17:44:59Z</dcterms:created>
  <dc:creator>Sara Alterkawi</dc:creator>
  <dc:description/>
  <dc:language>en-US</dc:language>
  <cp:lastModifiedBy/>
  <dcterms:modified xsi:type="dcterms:W3CDTF">2026-05-05T11:31:59Z</dcterms:modified>
  <cp:revision>450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esentationFormat">
    <vt:lpwstr>Custom</vt:lpwstr>
  </property>
  <property fmtid="{D5CDD505-2E9C-101B-9397-08002B2CF9AE}" pid="6" name="Producer">
    <vt:lpwstr>www.ilovepdf.com</vt:lpwstr>
  </property>
  <property fmtid="{D5CDD505-2E9C-101B-9397-08002B2CF9AE}" pid="7" name="Slides">
    <vt:i4>13</vt:i4>
  </property>
</Properties>
</file>