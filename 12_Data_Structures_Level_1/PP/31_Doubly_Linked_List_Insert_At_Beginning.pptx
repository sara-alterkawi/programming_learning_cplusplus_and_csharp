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3411200" cy="100584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05840" y="3117960"/>
            <a:ext cx="11399040" cy="89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3B01AE-EA7A-40A0-888B-2B76EACC2656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/>
        </p:nvSpPr>
        <p:spPr>
          <a:xfrm>
            <a:off x="331200" y="2514600"/>
            <a:ext cx="12753360" cy="4141800"/>
          </a:xfrm>
          <a:custGeom>
            <a:avLst/>
            <a:gdLst>
              <a:gd name="textAreaLeft" fmla="*/ 0 w 12753360"/>
              <a:gd name="textAreaRight" fmla="*/ 12753720 w 12753360"/>
              <a:gd name="textAreaTop" fmla="*/ 0 h 4141800"/>
              <a:gd name="textAreaBottom" fmla="*/ 4142160 h 4141800"/>
            </a:gdLst>
            <a:ahLst/>
            <a:cxnLst/>
            <a:rect l="textAreaLeft" t="textAreaTop" r="textAreaRight" b="textAreaBottom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noFill/>
          <a:ln w="1219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920" cy="90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17040" y="3228120"/>
            <a:ext cx="7643160" cy="47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5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74EECC-DA19-4206-9784-70D62B858815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920" cy="90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70680" y="2313360"/>
            <a:ext cx="583344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906600" y="2313360"/>
            <a:ext cx="583344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7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8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431B6E-4F2E-4CA0-A800-41ECBA24E507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/>
          <p:cNvPicPr/>
          <p:nvPr/>
        </p:nvPicPr>
        <p:blipFill>
          <a:blip r:embed="rId2"/>
          <a:stretch/>
        </p:blipFill>
        <p:spPr>
          <a:xfrm>
            <a:off x="0" y="2209680"/>
            <a:ext cx="13410720" cy="508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bg object 17"/>
          <p:cNvSpPr/>
          <p:nvPr/>
        </p:nvSpPr>
        <p:spPr>
          <a:xfrm>
            <a:off x="105120" y="3901320"/>
            <a:ext cx="13305600" cy="789480"/>
          </a:xfrm>
          <a:custGeom>
            <a:avLst/>
            <a:gdLst>
              <a:gd name="textAreaLeft" fmla="*/ 0 w 13305600"/>
              <a:gd name="textAreaRight" fmla="*/ 13305960 w 13305600"/>
              <a:gd name="textAreaTop" fmla="*/ 0 h 789480"/>
              <a:gd name="textAreaBottom" fmla="*/ 789840 h 789480"/>
            </a:gdLst>
            <a:ahLst/>
            <a:cxnLst/>
            <a:rect l="textAreaLeft" t="textAreaTop" r="textAreaRight" b="textAreaBottom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noFill/>
          <a:ln w="12191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920" cy="90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0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1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2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5F47FD-CE00-4B1D-BB05-C50B2A016EBC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3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4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5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076968-0895-46F8-B176-79F0111A9232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936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9360" cy="58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Num" idx="16"/>
          </p:nvPr>
        </p:nvSpPr>
        <p:spPr>
          <a:xfrm>
            <a:off x="22501080" y="12821040"/>
            <a:ext cx="51768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65880" indent="0" algn="r">
              <a:lnSpc>
                <a:spcPts val="2259"/>
              </a:lnSpc>
              <a:buNone/>
              <a:def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marL="65880" indent="0" algn="r">
              <a:lnSpc>
                <a:spcPts val="2259"/>
              </a:lnSpc>
              <a:buNone/>
            </a:pPr>
            <a:fld id="{8C34CAC5-CC40-478B-A95A-4B2B50FD079B}" type="slidenum">
              <a: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" name="object 25"/>
          <p:cNvPicPr/>
          <p:nvPr/>
        </p:nvPicPr>
        <p:blipFill>
          <a:blip r:embed="rId1"/>
          <a:srcRect l="0" t="12" r="0" b="12"/>
          <a:stretch/>
        </p:blipFill>
        <p:spPr>
          <a:xfrm>
            <a:off x="0" y="457200"/>
            <a:ext cx="13410720" cy="90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object 30"/>
          <p:cNvSpPr/>
          <p:nvPr/>
        </p:nvSpPr>
        <p:spPr>
          <a:xfrm>
            <a:off x="0" y="1143000"/>
            <a:ext cx="12724920" cy="488556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Data Structure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chemeClr val="lt1"/>
                </a:solidFill>
                <a:effectLst/>
                <a:uFillTx/>
                <a:latin typeface="Comic Sans MS"/>
              </a:rPr>
              <a:t>Level 1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Doubly Linked List Operation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2"/>
          <p:cNvGrpSpPr/>
          <p:nvPr/>
        </p:nvGrpSpPr>
        <p:grpSpPr>
          <a:xfrm>
            <a:off x="-10800" y="645480"/>
            <a:ext cx="13410720" cy="8766720"/>
            <a:chOff x="-10800" y="645480"/>
            <a:chExt cx="13410720" cy="8766720"/>
          </a:xfrm>
        </p:grpSpPr>
        <p:pic>
          <p:nvPicPr>
            <p:cNvPr id="33" name="object 3"/>
            <p:cNvPicPr/>
            <p:nvPr/>
          </p:nvPicPr>
          <p:blipFill>
            <a:blip r:embed="rId1"/>
            <a:stretch/>
          </p:blipFill>
          <p:spPr>
            <a:xfrm>
              <a:off x="-10800" y="645480"/>
              <a:ext cx="13410720" cy="8766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" name="object 4"/>
            <p:cNvSpPr/>
            <p:nvPr/>
          </p:nvSpPr>
          <p:spPr>
            <a:xfrm>
              <a:off x="94320" y="3564360"/>
              <a:ext cx="13305600" cy="2182320"/>
            </a:xfrm>
            <a:custGeom>
              <a:avLst/>
              <a:gdLst>
                <a:gd name="textAreaLeft" fmla="*/ 0 w 13305600"/>
                <a:gd name="textAreaRight" fmla="*/ 13305960 w 13305600"/>
                <a:gd name="textAreaTop" fmla="*/ 0 h 2182320"/>
                <a:gd name="textAreaBottom" fmla="*/ 2182680 h 2182320"/>
              </a:gdLst>
              <a:ahLst/>
              <a:cxnLst/>
              <a:rect l="textAreaLeft" t="textAreaTop" r="textAreaRight" b="textAreaBottom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" name="object 8"/>
          <p:cNvSpPr/>
          <p:nvPr/>
        </p:nvSpPr>
        <p:spPr>
          <a:xfrm>
            <a:off x="13091760" y="12746160"/>
            <a:ext cx="18252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0880" rIns="0" bIns="0" anchor="t">
            <a:spAutoFit/>
          </a:bodyPr>
          <a:p>
            <a:pPr marL="21960">
              <a:lnSpc>
                <a:spcPct val="100000"/>
              </a:lnSpc>
              <a:spcBef>
                <a:spcPts val="164"/>
              </a:spcBef>
            </a:pPr>
            <a:r>
              <a:rPr lang="en-US" sz="215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object 30"/>
          <p:cNvSpPr/>
          <p:nvPr/>
        </p:nvSpPr>
        <p:spPr>
          <a:xfrm>
            <a:off x="106560" y="3084120"/>
            <a:ext cx="13304520" cy="177948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40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sv-SE" sz="24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Level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4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Insert At Beginning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"/>
          <p:cNvSpPr/>
          <p:nvPr/>
        </p:nvSpPr>
        <p:spPr>
          <a:xfrm>
            <a:off x="380880" y="888120"/>
            <a:ext cx="123523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: Rounded Corners 19"/>
          <p:cNvSpPr/>
          <p:nvPr/>
        </p:nvSpPr>
        <p:spPr>
          <a:xfrm>
            <a:off x="651528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39" name="Straight Connector 20"/>
          <p:cNvCxnSpPr/>
          <p:nvPr/>
        </p:nvCxnSpPr>
        <p:spPr>
          <a:xfrm>
            <a:off x="727704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40" name="TextBox 21"/>
          <p:cNvSpPr/>
          <p:nvPr/>
        </p:nvSpPr>
        <p:spPr>
          <a:xfrm>
            <a:off x="651492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1 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Straight Connector 22"/>
          <p:cNvCxnSpPr/>
          <p:nvPr/>
        </p:nvCxnSpPr>
        <p:spPr>
          <a:xfrm>
            <a:off x="81151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42" name="TextBox 61"/>
          <p:cNvSpPr/>
          <p:nvPr/>
        </p:nvSpPr>
        <p:spPr>
          <a:xfrm>
            <a:off x="12458520" y="472428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ectangle: Rounded Corners 3"/>
          <p:cNvSpPr/>
          <p:nvPr/>
        </p:nvSpPr>
        <p:spPr>
          <a:xfrm>
            <a:off x="925812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44" name="Straight Connector 5"/>
          <p:cNvCxnSpPr/>
          <p:nvPr/>
        </p:nvCxnSpPr>
        <p:spPr>
          <a:xfrm>
            <a:off x="1002024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45" name="TextBox 6"/>
          <p:cNvSpPr/>
          <p:nvPr/>
        </p:nvSpPr>
        <p:spPr>
          <a:xfrm>
            <a:off x="925812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2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Straight Connector 7"/>
          <p:cNvCxnSpPr/>
          <p:nvPr/>
        </p:nvCxnSpPr>
        <p:spPr>
          <a:xfrm>
            <a:off x="108583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47" name="Arrow: Curved Down 18"/>
          <p:cNvSpPr/>
          <p:nvPr/>
        </p:nvSpPr>
        <p:spPr>
          <a:xfrm>
            <a:off x="2743200" y="2743200"/>
            <a:ext cx="51051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Arrow: Curved Down 27"/>
          <p:cNvSpPr/>
          <p:nvPr/>
        </p:nvSpPr>
        <p:spPr>
          <a:xfrm>
            <a:off x="8458200" y="27388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Arrow: Curved Down 28"/>
          <p:cNvSpPr/>
          <p:nvPr/>
        </p:nvSpPr>
        <p:spPr>
          <a:xfrm>
            <a:off x="11049120" y="274320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Arrow: Curved Down 31"/>
          <p:cNvSpPr/>
          <p:nvPr/>
        </p:nvSpPr>
        <p:spPr>
          <a:xfrm flipH="1" flipV="1">
            <a:off x="2552040" y="5257080"/>
            <a:ext cx="453348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Arrow: Curved Down 32"/>
          <p:cNvSpPr/>
          <p:nvPr/>
        </p:nvSpPr>
        <p:spPr>
          <a:xfrm flipH="1" flipV="1">
            <a:off x="7543800" y="5266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Arrow: Curved Down 33"/>
          <p:cNvSpPr/>
          <p:nvPr/>
        </p:nvSpPr>
        <p:spPr>
          <a:xfrm flipH="1" flipV="1">
            <a:off x="10287000" y="5257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Box 35"/>
          <p:cNvSpPr/>
          <p:nvPr/>
        </p:nvSpPr>
        <p:spPr>
          <a:xfrm>
            <a:off x="2400120" y="373392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36"/>
          <p:cNvSpPr/>
          <p:nvPr/>
        </p:nvSpPr>
        <p:spPr>
          <a:xfrm>
            <a:off x="2400120" y="480060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bject 3"/>
          <p:cNvSpPr/>
          <p:nvPr/>
        </p:nvSpPr>
        <p:spPr>
          <a:xfrm>
            <a:off x="380880" y="888120"/>
            <a:ext cx="123523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ectangle: Rounded Corners 19"/>
          <p:cNvSpPr/>
          <p:nvPr/>
        </p:nvSpPr>
        <p:spPr>
          <a:xfrm>
            <a:off x="651528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57" name="Straight Connector 20"/>
          <p:cNvCxnSpPr/>
          <p:nvPr/>
        </p:nvCxnSpPr>
        <p:spPr>
          <a:xfrm>
            <a:off x="727704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58" name="TextBox 21"/>
          <p:cNvSpPr/>
          <p:nvPr/>
        </p:nvSpPr>
        <p:spPr>
          <a:xfrm>
            <a:off x="651492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1 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Straight Connector 22"/>
          <p:cNvCxnSpPr/>
          <p:nvPr/>
        </p:nvCxnSpPr>
        <p:spPr>
          <a:xfrm>
            <a:off x="81151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60" name="TextBox 61"/>
          <p:cNvSpPr/>
          <p:nvPr/>
        </p:nvSpPr>
        <p:spPr>
          <a:xfrm>
            <a:off x="12458520" y="472428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: Rounded Corners 3"/>
          <p:cNvSpPr/>
          <p:nvPr/>
        </p:nvSpPr>
        <p:spPr>
          <a:xfrm>
            <a:off x="925812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62" name="Straight Connector 5"/>
          <p:cNvCxnSpPr/>
          <p:nvPr/>
        </p:nvCxnSpPr>
        <p:spPr>
          <a:xfrm>
            <a:off x="1002024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63" name="TextBox 6"/>
          <p:cNvSpPr/>
          <p:nvPr/>
        </p:nvSpPr>
        <p:spPr>
          <a:xfrm>
            <a:off x="925812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2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Straight Connector 7"/>
          <p:cNvCxnSpPr/>
          <p:nvPr/>
        </p:nvCxnSpPr>
        <p:spPr>
          <a:xfrm>
            <a:off x="108583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65" name="Arrow: Curved Down 18"/>
          <p:cNvSpPr/>
          <p:nvPr/>
        </p:nvSpPr>
        <p:spPr>
          <a:xfrm>
            <a:off x="2743200" y="2726280"/>
            <a:ext cx="5105160" cy="854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Arrow: Curved Down 27"/>
          <p:cNvSpPr/>
          <p:nvPr/>
        </p:nvSpPr>
        <p:spPr>
          <a:xfrm>
            <a:off x="8458200" y="27388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Arrow: Curved Down 28"/>
          <p:cNvSpPr/>
          <p:nvPr/>
        </p:nvSpPr>
        <p:spPr>
          <a:xfrm>
            <a:off x="11049120" y="274320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Arrow: Curved Down 31"/>
          <p:cNvSpPr/>
          <p:nvPr/>
        </p:nvSpPr>
        <p:spPr>
          <a:xfrm flipH="1" flipV="1">
            <a:off x="2552040" y="5257080"/>
            <a:ext cx="453348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Arrow: Curved Down 32"/>
          <p:cNvSpPr/>
          <p:nvPr/>
        </p:nvSpPr>
        <p:spPr>
          <a:xfrm flipH="1" flipV="1">
            <a:off x="7543800" y="5266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Arrow: Curved Down 33"/>
          <p:cNvSpPr/>
          <p:nvPr/>
        </p:nvSpPr>
        <p:spPr>
          <a:xfrm flipH="1" flipV="1">
            <a:off x="10287000" y="5257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4"/>
          <p:cNvSpPr/>
          <p:nvPr/>
        </p:nvSpPr>
        <p:spPr>
          <a:xfrm>
            <a:off x="4648320" y="5751000"/>
            <a:ext cx="53316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5"/>
          <p:cNvSpPr/>
          <p:nvPr/>
        </p:nvSpPr>
        <p:spPr>
          <a:xfrm>
            <a:off x="2400120" y="373392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6"/>
          <p:cNvSpPr/>
          <p:nvPr/>
        </p:nvSpPr>
        <p:spPr>
          <a:xfrm>
            <a:off x="2400120" y="480060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: Rounded Corners 1"/>
          <p:cNvSpPr/>
          <p:nvPr/>
        </p:nvSpPr>
        <p:spPr>
          <a:xfrm>
            <a:off x="377208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75" name="Straight Connector 2"/>
          <p:cNvCxnSpPr/>
          <p:nvPr/>
        </p:nvCxnSpPr>
        <p:spPr>
          <a:xfrm>
            <a:off x="46861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76" name="TextBox 8"/>
          <p:cNvSpPr/>
          <p:nvPr/>
        </p:nvSpPr>
        <p:spPr>
          <a:xfrm>
            <a:off x="392436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552420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78" name="Arrow: Curved Down 10"/>
          <p:cNvSpPr/>
          <p:nvPr/>
        </p:nvSpPr>
        <p:spPr>
          <a:xfrm>
            <a:off x="5715000" y="274320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Arrow: Curved Down 11"/>
          <p:cNvSpPr/>
          <p:nvPr/>
        </p:nvSpPr>
        <p:spPr>
          <a:xfrm flipH="1" flipV="1">
            <a:off x="2286000" y="527436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bject 3"/>
          <p:cNvSpPr/>
          <p:nvPr/>
        </p:nvSpPr>
        <p:spPr>
          <a:xfrm>
            <a:off x="380880" y="888120"/>
            <a:ext cx="123523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: Rounded Corners 19"/>
          <p:cNvSpPr/>
          <p:nvPr/>
        </p:nvSpPr>
        <p:spPr>
          <a:xfrm>
            <a:off x="651528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82" name="Straight Connector 20"/>
          <p:cNvCxnSpPr/>
          <p:nvPr/>
        </p:nvCxnSpPr>
        <p:spPr>
          <a:xfrm>
            <a:off x="727704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83" name="TextBox 21"/>
          <p:cNvSpPr/>
          <p:nvPr/>
        </p:nvSpPr>
        <p:spPr>
          <a:xfrm>
            <a:off x="651492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1 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Straight Connector 22"/>
          <p:cNvCxnSpPr/>
          <p:nvPr/>
        </p:nvCxnSpPr>
        <p:spPr>
          <a:xfrm>
            <a:off x="81151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85" name="TextBox 61"/>
          <p:cNvSpPr/>
          <p:nvPr/>
        </p:nvSpPr>
        <p:spPr>
          <a:xfrm>
            <a:off x="12458520" y="472428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: Rounded Corners 3"/>
          <p:cNvSpPr/>
          <p:nvPr/>
        </p:nvSpPr>
        <p:spPr>
          <a:xfrm>
            <a:off x="925812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87" name="Straight Connector 5"/>
          <p:cNvCxnSpPr/>
          <p:nvPr/>
        </p:nvCxnSpPr>
        <p:spPr>
          <a:xfrm>
            <a:off x="1002024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88" name="TextBox 6"/>
          <p:cNvSpPr/>
          <p:nvPr/>
        </p:nvSpPr>
        <p:spPr>
          <a:xfrm>
            <a:off x="925812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2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Straight Connector 7"/>
          <p:cNvCxnSpPr/>
          <p:nvPr/>
        </p:nvCxnSpPr>
        <p:spPr>
          <a:xfrm>
            <a:off x="108583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90" name="Arrow: Curved Down 18"/>
          <p:cNvSpPr/>
          <p:nvPr/>
        </p:nvSpPr>
        <p:spPr>
          <a:xfrm>
            <a:off x="2743200" y="2743200"/>
            <a:ext cx="51051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Arrow: Curved Down 27"/>
          <p:cNvSpPr/>
          <p:nvPr/>
        </p:nvSpPr>
        <p:spPr>
          <a:xfrm>
            <a:off x="8458200" y="27388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Arrow: Curved Down 28"/>
          <p:cNvSpPr/>
          <p:nvPr/>
        </p:nvSpPr>
        <p:spPr>
          <a:xfrm>
            <a:off x="11049120" y="274320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Arrow: Curved Down 32"/>
          <p:cNvSpPr/>
          <p:nvPr/>
        </p:nvSpPr>
        <p:spPr>
          <a:xfrm flipH="1" flipV="1">
            <a:off x="7543800" y="5266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Arrow: Curved Down 33"/>
          <p:cNvSpPr/>
          <p:nvPr/>
        </p:nvSpPr>
        <p:spPr>
          <a:xfrm flipH="1" flipV="1">
            <a:off x="10287000" y="5257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4"/>
          <p:cNvSpPr/>
          <p:nvPr/>
        </p:nvSpPr>
        <p:spPr>
          <a:xfrm>
            <a:off x="4790880" y="2406600"/>
            <a:ext cx="53316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5"/>
          <p:cNvSpPr/>
          <p:nvPr/>
        </p:nvSpPr>
        <p:spPr>
          <a:xfrm>
            <a:off x="2400120" y="373392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6"/>
          <p:cNvSpPr/>
          <p:nvPr/>
        </p:nvSpPr>
        <p:spPr>
          <a:xfrm>
            <a:off x="2400120" y="480060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: Rounded Corners 1"/>
          <p:cNvSpPr/>
          <p:nvPr/>
        </p:nvSpPr>
        <p:spPr>
          <a:xfrm>
            <a:off x="377208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99" name="Straight Connector 2"/>
          <p:cNvCxnSpPr/>
          <p:nvPr/>
        </p:nvCxnSpPr>
        <p:spPr>
          <a:xfrm>
            <a:off x="46861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100" name="TextBox 8"/>
          <p:cNvSpPr/>
          <p:nvPr/>
        </p:nvSpPr>
        <p:spPr>
          <a:xfrm>
            <a:off x="392436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Straight Connector 9"/>
          <p:cNvCxnSpPr/>
          <p:nvPr/>
        </p:nvCxnSpPr>
        <p:spPr>
          <a:xfrm>
            <a:off x="552420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102" name="Arrow: Curved Down 10"/>
          <p:cNvSpPr/>
          <p:nvPr/>
        </p:nvSpPr>
        <p:spPr>
          <a:xfrm>
            <a:off x="5715000" y="274320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Arrow: Curved Down 11"/>
          <p:cNvSpPr/>
          <p:nvPr/>
        </p:nvSpPr>
        <p:spPr>
          <a:xfrm flipH="1" flipV="1">
            <a:off x="2286000" y="527436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Arrow: Curved Down 12"/>
          <p:cNvSpPr/>
          <p:nvPr/>
        </p:nvSpPr>
        <p:spPr>
          <a:xfrm flipH="1" flipV="1">
            <a:off x="4952880" y="5257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object 3"/>
          <p:cNvSpPr/>
          <p:nvPr/>
        </p:nvSpPr>
        <p:spPr>
          <a:xfrm>
            <a:off x="380880" y="888120"/>
            <a:ext cx="123523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: Rounded Corners 19"/>
          <p:cNvSpPr/>
          <p:nvPr/>
        </p:nvSpPr>
        <p:spPr>
          <a:xfrm>
            <a:off x="651528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07" name="Straight Connector 20"/>
          <p:cNvCxnSpPr/>
          <p:nvPr/>
        </p:nvCxnSpPr>
        <p:spPr>
          <a:xfrm>
            <a:off x="727704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108" name="TextBox 21"/>
          <p:cNvSpPr/>
          <p:nvPr/>
        </p:nvSpPr>
        <p:spPr>
          <a:xfrm>
            <a:off x="651492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1 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Straight Connector 22"/>
          <p:cNvCxnSpPr/>
          <p:nvPr/>
        </p:nvCxnSpPr>
        <p:spPr>
          <a:xfrm>
            <a:off x="81151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110" name="TextBox 42"/>
          <p:cNvSpPr/>
          <p:nvPr/>
        </p:nvSpPr>
        <p:spPr>
          <a:xfrm>
            <a:off x="2400120" y="373392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3"/>
          <p:cNvSpPr/>
          <p:nvPr/>
        </p:nvSpPr>
        <p:spPr>
          <a:xfrm>
            <a:off x="2400120" y="480060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1"/>
          <p:cNvSpPr/>
          <p:nvPr/>
        </p:nvSpPr>
        <p:spPr>
          <a:xfrm>
            <a:off x="12458520" y="4724280"/>
            <a:ext cx="95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: Rounded Corners 74"/>
          <p:cNvSpPr/>
          <p:nvPr/>
        </p:nvSpPr>
        <p:spPr>
          <a:xfrm>
            <a:off x="377208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14" name="Straight Connector 75"/>
          <p:cNvCxnSpPr/>
          <p:nvPr/>
        </p:nvCxnSpPr>
        <p:spPr>
          <a:xfrm>
            <a:off x="46861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115" name="TextBox 76"/>
          <p:cNvSpPr/>
          <p:nvPr/>
        </p:nvSpPr>
        <p:spPr>
          <a:xfrm>
            <a:off x="392436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Straight Connector 77"/>
          <p:cNvCxnSpPr/>
          <p:nvPr/>
        </p:nvCxnSpPr>
        <p:spPr>
          <a:xfrm>
            <a:off x="552420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117" name="Rectangle: Rounded Corners 3"/>
          <p:cNvSpPr/>
          <p:nvPr/>
        </p:nvSpPr>
        <p:spPr>
          <a:xfrm>
            <a:off x="9258120" y="3585960"/>
            <a:ext cx="2514240" cy="16761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18" name="Straight Connector 5"/>
          <p:cNvCxnSpPr/>
          <p:nvPr/>
        </p:nvCxnSpPr>
        <p:spPr>
          <a:xfrm>
            <a:off x="1002024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119" name="TextBox 6"/>
          <p:cNvSpPr/>
          <p:nvPr/>
        </p:nvSpPr>
        <p:spPr>
          <a:xfrm>
            <a:off x="9258120" y="4191120"/>
            <a:ext cx="2514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2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Straight Connector 7"/>
          <p:cNvCxnSpPr/>
          <p:nvPr/>
        </p:nvCxnSpPr>
        <p:spPr>
          <a:xfrm>
            <a:off x="10858320" y="3661920"/>
            <a:ext cx="360" cy="16005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121" name="Arrow: Curved Down 18"/>
          <p:cNvSpPr/>
          <p:nvPr/>
        </p:nvSpPr>
        <p:spPr>
          <a:xfrm>
            <a:off x="5715000" y="274320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Arrow: Curved Down 27"/>
          <p:cNvSpPr/>
          <p:nvPr/>
        </p:nvSpPr>
        <p:spPr>
          <a:xfrm>
            <a:off x="8458200" y="27388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Arrow: Curved Down 28"/>
          <p:cNvSpPr/>
          <p:nvPr/>
        </p:nvSpPr>
        <p:spPr>
          <a:xfrm>
            <a:off x="11049120" y="274320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Arrow: Curved Down 29"/>
          <p:cNvSpPr/>
          <p:nvPr/>
        </p:nvSpPr>
        <p:spPr>
          <a:xfrm>
            <a:off x="3124080" y="27388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Arrow: Curved Down 30"/>
          <p:cNvSpPr/>
          <p:nvPr/>
        </p:nvSpPr>
        <p:spPr>
          <a:xfrm flipH="1" flipV="1">
            <a:off x="2286000" y="527436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Arrow: Curved Down 31"/>
          <p:cNvSpPr/>
          <p:nvPr/>
        </p:nvSpPr>
        <p:spPr>
          <a:xfrm flipH="1" flipV="1">
            <a:off x="4952880" y="5257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Arrow: Curved Down 32"/>
          <p:cNvSpPr/>
          <p:nvPr/>
        </p:nvSpPr>
        <p:spPr>
          <a:xfrm flipH="1" flipV="1">
            <a:off x="7543800" y="5266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Arrow: Curved Down 33"/>
          <p:cNvSpPr/>
          <p:nvPr/>
        </p:nvSpPr>
        <p:spPr>
          <a:xfrm flipH="1" flipV="1">
            <a:off x="10287000" y="5257080"/>
            <a:ext cx="2133360" cy="83772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3"/>
          <p:cNvSpPr/>
          <p:nvPr/>
        </p:nvSpPr>
        <p:spPr>
          <a:xfrm>
            <a:off x="380880" y="888120"/>
            <a:ext cx="12352320" cy="37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🔎 Definition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Doubly Linked List (DLL):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list where each node contains: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Components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value → stores the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next → pointer to the next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prev → pointer to the previous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structure allows traversal forward and backward.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object 3"/>
          <p:cNvSpPr/>
          <p:nvPr/>
        </p:nvSpPr>
        <p:spPr>
          <a:xfrm>
            <a:off x="380880" y="888120"/>
            <a:ext cx="12352320" cy="22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📖 Explanation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InsertAtBeginning ensures bidirectional links are maintained.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🔹PrintNodeDetails prints each node’s previous and next connections.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🔹PrintList gives a clear overview of the list from head to tail.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bject 3"/>
          <p:cNvSpPr/>
          <p:nvPr/>
        </p:nvSpPr>
        <p:spPr>
          <a:xfrm>
            <a:off x="380880" y="888120"/>
            <a:ext cx="12352320" cy="55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 (Insert at Beginning)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1️⃣ Create Node Class: value, next, prev.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2️⃣ Insert at Beginning: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Create new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Set next of new node to current 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Update prev of current head (if not NULL) to new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Move head pointer to new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3️⃣ Print Node Details: Shows prev, value, next of each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4️⃣ Print Full List: Displays entire list connections with arrows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5️⃣ Main: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Initialize 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Insert nodes 1 →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Print list and details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object 3"/>
          <p:cNvSpPr/>
          <p:nvPr/>
        </p:nvSpPr>
        <p:spPr>
          <a:xfrm>
            <a:off x="380880" y="888120"/>
            <a:ext cx="12352320" cy="52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💡 Example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After inserting nodes 1 → 5 at the beginning: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➡️ Resulting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Linked List Contenet: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 &lt;- 1 -&gt; &lt;- 2 -&gt; &lt;- 3 -&gt; &lt;- 4 -&gt; &lt;- 5 -&gt;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Linked List Details: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 &lt;- 1 -&gt;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 &lt;- 2 -&gt; 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 &lt;- 3 -&gt;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 &lt;- 4 -&gt;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4 &lt;- 5 -&gt;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bject 3"/>
          <p:cNvSpPr/>
          <p:nvPr/>
        </p:nvSpPr>
        <p:spPr>
          <a:xfrm>
            <a:off x="380880" y="888120"/>
            <a:ext cx="12352320" cy="18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📌 Note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Head’s prev is always NULL.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Last node’s next is always NULL.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object 3"/>
          <p:cNvSpPr/>
          <p:nvPr/>
        </p:nvSpPr>
        <p:spPr>
          <a:xfrm>
            <a:off x="380880" y="888120"/>
            <a:ext cx="12352320" cy="52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⚖️ Comparison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Singly Linked List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Each node has 1 pointer (next)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Traversal only forward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Less memory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Harder to delete specific nodes without previous pointer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🟥 Doubly Linked List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Each node has 2 pointers (next and prev)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Traversal forward and backward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More memory usage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Easier insertion and deletion anywhere in the list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object 3"/>
          <p:cNvSpPr/>
          <p:nvPr/>
        </p:nvSpPr>
        <p:spPr>
          <a:xfrm>
            <a:off x="380880" y="888120"/>
            <a:ext cx="12352320" cy="18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🚫 Warning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Memory allocated using new is not deleted in this program → risk of memory leaks.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Always use delete after nodes are no longer needed..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object 3"/>
          <p:cNvSpPr/>
          <p:nvPr/>
        </p:nvSpPr>
        <p:spPr>
          <a:xfrm>
            <a:off x="380880" y="888120"/>
            <a:ext cx="12352320" cy="29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✨ Summary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Nodes store value, next, prev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Supports insertion at the beginning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Can print full node connections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Bidirectional traversal increases flexibility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🚫 Requires careful memory management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object 4"/>
          <p:cNvSpPr/>
          <p:nvPr/>
        </p:nvSpPr>
        <p:spPr>
          <a:xfrm>
            <a:off x="0" y="4712760"/>
            <a:ext cx="1341072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0" anchor="t">
            <a:spAutoFit/>
          </a:bodyPr>
          <a:p>
            <a:pPr marL="16920" algn="ctr">
              <a:lnSpc>
                <a:spcPct val="100000"/>
              </a:lnSpc>
              <a:spcBef>
                <a:spcPts val="133"/>
              </a:spcBef>
            </a:pPr>
            <a:r>
              <a:rPr lang="sv-SE" sz="4000" b="1" u="none" spc="-17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Thank you</a:t>
            </a:r>
            <a:r>
              <a:rPr lang="sv-SE" sz="4000" b="0" u="none" spc="-20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sv-SE" sz="4000" b="0" u="none" spc="-68" strike="noStrike">
                <a:solidFill>
                  <a:srgbClr val="FF0000"/>
                </a:solidFill>
                <a:effectLst/>
                <a:uFillTx/>
                <a:latin typeface="Wingdings"/>
              </a:rPr>
              <a:t>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11993</TotalTime>
  <Application>LibreOffice/26.2.3.2$Windows_X86_64 LibreOffice_project/70e089b17412e4cb7773e41413306b17a2328c34</Application>
  <AppVersion>15.0000</AppVersion>
  <Words>493</Words>
  <Paragraphs>109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2025-12-09T17:44:59Z</dcterms:created>
  <dc:creator>Sara Alterkawi</dc:creator>
  <dc:description/>
  <dc:language>en-US</dc:language>
  <cp:lastModifiedBy/>
  <dcterms:modified xsi:type="dcterms:W3CDTF">2026-05-05T12:19:21Z</dcterms:modified>
  <cp:revision>455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esentationFormat">
    <vt:lpwstr>Custom</vt:lpwstr>
  </property>
  <property fmtid="{D5CDD505-2E9C-101B-9397-08002B2CF9AE}" pid="6" name="Producer">
    <vt:lpwstr>www.ilovepdf.com</vt:lpwstr>
  </property>
  <property fmtid="{D5CDD505-2E9C-101B-9397-08002B2CF9AE}" pid="7" name="Slides">
    <vt:i4>15</vt:i4>
  </property>
</Properties>
</file>