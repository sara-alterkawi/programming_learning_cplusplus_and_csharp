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0" d="100"/>
          <a:sy n="40" d="100"/>
        </p:scale>
        <p:origin x="1020" y="15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47FE42-1879-7944-0D0A-42EBF72E9B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ED70BC-8857-7335-B823-1926D3BB96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DAEA27-AC19-6867-5402-D995D715DF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7A28DB-D6AE-1309-D78A-FC18F18D0C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173302-36D2-FF3A-7132-35A04622ED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062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632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2562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B5CF5-26AB-8623-12EC-7ABCA861BB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136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93054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523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E47914-3603-C906-A640-FFDBB4EB18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08B9CF-BD22-2C59-21AD-0E1F327325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454C00-EFBB-EB80-56CC-DFF4C82ED6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4CB37F-9BFA-310E-92B3-1B2A9DEACF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86DEAE-2DEB-B2FE-DAC6-9A43A6160E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7956DA-4F61-2DAD-FB5B-A2F4A4251A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15869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797900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327879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601327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93342037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34155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086962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368284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412833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526975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2687605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342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702721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5546864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4903810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651701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92521406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574332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4229283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52188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554305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189821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76841299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48225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721803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46033406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6155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660573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693576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259750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211400243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53870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48149651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39105086" name="object 30"/>
          <p:cNvSpPr txBox="1"/>
          <p:nvPr/>
        </p:nvSpPr>
        <p:spPr bwMode="auto">
          <a:xfrm>
            <a:off x="0" y="1143000"/>
            <a:ext cx="12727199" cy="391437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2"/>
              </a:spcBef>
              <a:defRPr/>
            </a:pP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Union</a:t>
            </a: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8895485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6060173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68357293" name="object 30"/>
          <p:cNvSpPr txBox="1"/>
          <p:nvPr/>
        </p:nvSpPr>
        <p:spPr bwMode="auto">
          <a:xfrm>
            <a:off x="106431" y="3084217"/>
            <a:ext cx="13306567" cy="175626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GB" sz="4000" spc="-17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sz="4000" spc="-17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sz="4000" b="1">
                <a:solidFill>
                  <a:srgbClr val="FFCE53"/>
                </a:solidFill>
                <a:latin typeface="Comic Sans MS"/>
                <a:cs typeface="Comic Sans MS"/>
              </a:rPr>
              <a:t>Union</a:t>
            </a:r>
            <a:endParaRPr lang="en-GB" sz="4000" b="1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235752" name="object 3"/>
          <p:cNvSpPr txBox="1"/>
          <p:nvPr/>
        </p:nvSpPr>
        <p:spPr bwMode="auto">
          <a:xfrm>
            <a:off x="380999" y="888075"/>
            <a:ext cx="12353126" cy="55543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🔎 Definition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union is a user-defined data type in C++ that allows different members to share the same memory location.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Unlike a `struct`, where each member has its own memory space, all members of a union use the same memory 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💡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union MyUnion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int intValue;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float floatValue;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char charValue;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This union can store an `int`, `float`, or `char`, but only one member should be considered active at a time.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184216" name="object 3"/>
          <p:cNvSpPr txBox="1"/>
          <p:nvPr/>
        </p:nvSpPr>
        <p:spPr bwMode="auto">
          <a:xfrm>
            <a:off x="380999" y="888075"/>
            <a:ext cx="12359246" cy="67040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📖 Explanation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All members of a union share the same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This means: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Only one member is normally used at a 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Assigning a value to one member changes the shared memory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The size of the union is based on its largest member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Unions can save memory when different values are needed at different 		times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💡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MyUnion myUnion;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myUnion.intValue = 42;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The shared memory now contains the value of `intValue`.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we then write: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myUnion.floatValue = 3.14f;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The same memory is reused for `floatValue`.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📌 The previous `intValue` is no longer the active value.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293249" name="object 3"/>
          <p:cNvSpPr txBox="1"/>
          <p:nvPr/>
        </p:nvSpPr>
        <p:spPr bwMode="auto">
          <a:xfrm>
            <a:off x="380999" y="888075"/>
            <a:ext cx="12365366" cy="85403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🟦 Procedures (</a:t>
            </a:r>
            <a:r>
              <a:rPr sz="4000" b="1">
                <a:latin typeface="Comic Sans MS"/>
              </a:rPr>
              <a:t>Union</a:t>
            </a:r>
            <a:r>
              <a:rPr lang="en-GB" sz="4000" b="1">
                <a:latin typeface="Comic Sans MS"/>
              </a:rPr>
              <a:t>)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a Union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Create the union and its members: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union MyUnion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 intValue;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float floatValue;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char charValue;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Result: One shared memory area can be used by all three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 Union Object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Create an object: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MyUnion myUnion;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Assign a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Assign a value to one member: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myUnion.intValue = 42;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Result: `intValue` becomes the active member.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Access the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Read the same member: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myUnion.intValue;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8133" name="object 3"/>
          <p:cNvSpPr txBox="1"/>
          <p:nvPr/>
        </p:nvSpPr>
        <p:spPr bwMode="auto">
          <a:xfrm>
            <a:off x="380999" y="888075"/>
            <a:ext cx="12368246" cy="2628220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🟦 Procedures (</a:t>
            </a:r>
            <a:r>
              <a:rPr sz="4000" b="1">
                <a:latin typeface="Comic Sans MS"/>
              </a:rPr>
              <a:t>Union</a:t>
            </a:r>
            <a:r>
              <a:rPr lang="en-GB" sz="4000" b="1">
                <a:latin typeface="Comic Sans MS"/>
              </a:rPr>
              <a:t>)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Assign Another Member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Assign a different member: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myUnion.floatValue = 3.1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4f;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Result: The same memory is now being used for `floatValue`.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257927" name="object 3"/>
          <p:cNvSpPr txBox="1"/>
          <p:nvPr/>
        </p:nvSpPr>
        <p:spPr bwMode="auto">
          <a:xfrm>
            <a:off x="380999" y="888075"/>
            <a:ext cx="12375446" cy="8853634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🟦 Procedures (</a:t>
            </a:r>
            <a:r>
              <a:rPr sz="4000" b="1">
                <a:latin typeface="Comic Sans MS"/>
              </a:rPr>
              <a:t>Union</a:t>
            </a:r>
            <a:r>
              <a:rPr lang="en-GB" sz="4000" b="1">
                <a:latin typeface="Comic Sans MS"/>
              </a:rPr>
              <a:t>)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Another Member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You can then access: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myUnion.floatValue;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3.14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💡 Example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union MyUnion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 intValue;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float floatValue;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char charValue;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main()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MyUnion myUnion;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myUnion.intValue = 42;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myUnion.intValue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myUnion.floatValue = 3.14f;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myUnion.floatValue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myUnion.charValue = 'A';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myUnion.charValue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24568" name="object 3"/>
          <p:cNvSpPr txBox="1"/>
          <p:nvPr/>
        </p:nvSpPr>
        <p:spPr bwMode="auto">
          <a:xfrm>
            <a:off x="380999" y="888075"/>
            <a:ext cx="12354566" cy="562952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📌 Note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size of a union is determined by its largest member, plus any alignment requirements.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💡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union MyUnion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int intValue;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float floatValue;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char charValue;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`int` → typically 4 bytes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`float` → typically 4 bytes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`char` → 1 byte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The union will typically require 4 bytes on common systems.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573839" name="object 3"/>
          <p:cNvSpPr txBox="1"/>
          <p:nvPr/>
        </p:nvSpPr>
        <p:spPr bwMode="auto">
          <a:xfrm>
            <a:off x="380999" y="888075"/>
            <a:ext cx="12356006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Union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 members share the same memory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Only one member is normally active at a 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Size is based mainly on the largest member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save memory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Struct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Each member has separate memory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 members can hold values simultaneously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Size includes storage for all members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Easier and safer for storing multiple values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59038" name="object 3"/>
          <p:cNvSpPr txBox="1"/>
          <p:nvPr/>
        </p:nvSpPr>
        <p:spPr bwMode="auto">
          <a:xfrm>
            <a:off x="380999" y="888075"/>
            <a:ext cx="12353126" cy="2986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Be careful when reading a union member that is not the member you most recently stored.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💡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myUnion.intValue = 42;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myUnion.floatValue;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618939" name="object 3"/>
          <p:cNvSpPr txBox="1"/>
          <p:nvPr/>
        </p:nvSpPr>
        <p:spPr bwMode="auto">
          <a:xfrm>
            <a:off x="380999" y="888075"/>
            <a:ext cx="12353126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✨ Summary</a:t>
            </a:r>
            <a:endParaRPr sz="2400">
              <a:latin typeface="Comic Sans MS"/>
            </a:endParaRPr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Union allows different members to share the same memory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Only one member should normally be considered active at a 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Assigning one member reuses the shared memory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size is based on the largest member and alignment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Unions can save memory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Be careful when accessing a member that is not the active member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4040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/>
  <cp:revision>436</cp:revision>
  <dcterms:created xsi:type="dcterms:W3CDTF">2025-12-09T17:44:59Z</dcterms:created>
  <dcterms:modified xsi:type="dcterms:W3CDTF">2026-08-23T21:18:11Z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