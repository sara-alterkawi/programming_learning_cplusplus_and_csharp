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0" d="100"/>
          <a:sy n="40" d="100"/>
        </p:scale>
        <p:origin x="1020" y="15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05279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2695720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622552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2708343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0817645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9893607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362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2808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673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E9ECEA-1DA9-E89C-09F7-81303729CB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6342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3578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4657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777FB9-093A-3B35-3526-E0FD43E7B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0833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0368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7539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8306D-9DCF-83D7-1617-E5CA56856E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120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98085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68671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D3DA68-1277-A021-DA7A-117877441F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5467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2726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212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D8829F-D3A8-DF79-971F-1D53F40BD0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096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3799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1253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975263-BDF4-34EB-F3E7-41DE6D8B2D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6800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1702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6410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A95C36-8EDD-3D3F-DFBA-FB4AD9B728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898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3965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15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7EAA69-B9C2-4880-C4B8-F70F06505C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2952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40428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0505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758751-0FD8-657D-CFA1-04ADFF9921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082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0823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7450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E2E91C-CA18-5003-5050-89EF40F2A5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3211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9918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380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815BE8-57E5-A4DD-7515-F182EDC18F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03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7308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9793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25F0C0-52EB-52D7-F222-8A2AA1BDA4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3223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4708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274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684ADC-B5EA-3D32-B7CF-9A777C2512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1752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9728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352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31DD76-8669-A564-A671-42128EC4C7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1151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7987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5650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AD59BD-50A9-622F-E565-80B7468E42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9966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82078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157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444DF-4324-89CA-2C68-4454B83E3D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84080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691818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574294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918347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32255997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16445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6746909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486669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191864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475407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201686729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9797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049102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990603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3258210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566891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30489928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062064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9477098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889784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788720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517379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11609179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58460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432388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201796191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3474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301443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958551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888971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9809835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37339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6320624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02147649" name="object 30"/>
          <p:cNvSpPr txBox="1"/>
          <p:nvPr/>
        </p:nvSpPr>
        <p:spPr bwMode="auto">
          <a:xfrm>
            <a:off x="0" y="1143000"/>
            <a:ext cx="12725400" cy="488595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sz="6000" b="1">
                <a:solidFill>
                  <a:srgbClr val="FFCE53"/>
                </a:solidFill>
                <a:latin typeface="Comic Sans MS"/>
                <a:cs typeface="Comic Sans MS"/>
              </a:rPr>
              <a:t>Doubly Linked List Operation</a:t>
            </a:r>
            <a:endParaRPr lang="en-GB" sz="6000" b="1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6636188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8982484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66965768" name="object 30"/>
          <p:cNvSpPr txBox="1"/>
          <p:nvPr/>
        </p:nvSpPr>
        <p:spPr bwMode="auto">
          <a:xfrm>
            <a:off x="106431" y="3084217"/>
            <a:ext cx="13307646" cy="1305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GB" sz="4000" spc="-17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sz="4000" spc="-17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Delete 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La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 Node</a:t>
            </a:r>
            <a:endParaRPr sz="4000" b="1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877225" name="object 16"/>
          <p:cNvSpPr/>
          <p:nvPr/>
        </p:nvSpPr>
        <p:spPr bwMode="auto">
          <a:xfrm>
            <a:off x="381240" y="888480"/>
            <a:ext cx="1235124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1" u="none" strike="noStrike">
                <a:solidFill>
                  <a:srgbClr val="000000"/>
                </a:solidFill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854362" name="Rectangle: Rounded Corners 10"/>
          <p:cNvSpPr/>
          <p:nvPr/>
        </p:nvSpPr>
        <p:spPr bwMode="auto">
          <a:xfrm>
            <a:off x="6515640" y="358632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455340597" name="Straight Connector 19"/>
          <p:cNvCxnSpPr/>
          <p:nvPr/>
        </p:nvCxnSpPr>
        <p:spPr bwMode="auto">
          <a:xfrm>
            <a:off x="727740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884464166" name="TextBox 22"/>
          <p:cNvSpPr/>
          <p:nvPr/>
        </p:nvSpPr>
        <p:spPr bwMode="auto">
          <a:xfrm>
            <a:off x="6515280" y="419148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   2 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77680577" name="Straight Connector 21"/>
          <p:cNvCxnSpPr/>
          <p:nvPr/>
        </p:nvCxnSpPr>
        <p:spPr bwMode="auto">
          <a:xfrm>
            <a:off x="811548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93525066" name="TextBox 24"/>
          <p:cNvSpPr/>
          <p:nvPr/>
        </p:nvSpPr>
        <p:spPr bwMode="auto">
          <a:xfrm>
            <a:off x="2400480" y="373428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160839" name="TextBox 25"/>
          <p:cNvSpPr/>
          <p:nvPr/>
        </p:nvSpPr>
        <p:spPr bwMode="auto">
          <a:xfrm>
            <a:off x="2400480" y="480096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8672010" name="TextBox 27"/>
          <p:cNvSpPr/>
          <p:nvPr/>
        </p:nvSpPr>
        <p:spPr bwMode="auto">
          <a:xfrm>
            <a:off x="12458880" y="472464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3539758" name="Rectangle: Rounded Corners 11"/>
          <p:cNvSpPr/>
          <p:nvPr/>
        </p:nvSpPr>
        <p:spPr bwMode="auto">
          <a:xfrm>
            <a:off x="3772440" y="358632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441681631" name="Straight Connector 22"/>
          <p:cNvCxnSpPr/>
          <p:nvPr/>
        </p:nvCxnSpPr>
        <p:spPr bwMode="auto">
          <a:xfrm>
            <a:off x="468648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746477109" name="TextBox 28"/>
          <p:cNvSpPr/>
          <p:nvPr/>
        </p:nvSpPr>
        <p:spPr bwMode="auto">
          <a:xfrm>
            <a:off x="3888720" y="419148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</a:t>
            </a: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   1    </a:t>
            </a: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6766634" name="Straight Connector 23"/>
          <p:cNvCxnSpPr/>
          <p:nvPr/>
        </p:nvCxnSpPr>
        <p:spPr bwMode="auto">
          <a:xfrm>
            <a:off x="552456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381541023" name="Rectangle: Rounded Corners 12"/>
          <p:cNvSpPr/>
          <p:nvPr/>
        </p:nvSpPr>
        <p:spPr bwMode="auto">
          <a:xfrm>
            <a:off x="9258480" y="358632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611096326" name="Straight Connector 24"/>
          <p:cNvCxnSpPr/>
          <p:nvPr/>
        </p:nvCxnSpPr>
        <p:spPr bwMode="auto">
          <a:xfrm>
            <a:off x="1002060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897731672" name="TextBox 29"/>
          <p:cNvSpPr/>
          <p:nvPr/>
        </p:nvSpPr>
        <p:spPr bwMode="auto">
          <a:xfrm>
            <a:off x="9258480" y="419148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08036934" name="Straight Connector 25"/>
          <p:cNvCxnSpPr/>
          <p:nvPr/>
        </p:nvCxnSpPr>
        <p:spPr bwMode="auto">
          <a:xfrm>
            <a:off x="1085868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279113418" name="Arrow: Curved Down 6"/>
          <p:cNvSpPr/>
          <p:nvPr/>
        </p:nvSpPr>
        <p:spPr bwMode="auto">
          <a:xfrm>
            <a:off x="5715360" y="274356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2754588" name="Arrow: Curved Down 20"/>
          <p:cNvSpPr/>
          <p:nvPr/>
        </p:nvSpPr>
        <p:spPr bwMode="auto">
          <a:xfrm>
            <a:off x="8458560" y="273924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405439" name="Arrow: Curved Down 21"/>
          <p:cNvSpPr/>
          <p:nvPr/>
        </p:nvSpPr>
        <p:spPr bwMode="auto">
          <a:xfrm>
            <a:off x="11049480" y="274356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5414768" name="Arrow: Curved Down 22"/>
          <p:cNvSpPr/>
          <p:nvPr/>
        </p:nvSpPr>
        <p:spPr bwMode="auto">
          <a:xfrm>
            <a:off x="3124440" y="273924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9002044" name="Arrow: Curved Down 23"/>
          <p:cNvSpPr/>
          <p:nvPr/>
        </p:nvSpPr>
        <p:spPr bwMode="auto">
          <a:xfrm flipH="1" flipV="1">
            <a:off x="2284200" y="52740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2873928" name="Arrow: Curved Down 24"/>
          <p:cNvSpPr/>
          <p:nvPr/>
        </p:nvSpPr>
        <p:spPr bwMode="auto">
          <a:xfrm flipH="1" flipV="1">
            <a:off x="4951080" y="5256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8187292" name="Arrow: Curved Down 25"/>
          <p:cNvSpPr/>
          <p:nvPr/>
        </p:nvSpPr>
        <p:spPr bwMode="auto">
          <a:xfrm flipH="1" flipV="1">
            <a:off x="7542000" y="5265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78009254" name="Arrow: Curved Down 26"/>
          <p:cNvSpPr/>
          <p:nvPr/>
        </p:nvSpPr>
        <p:spPr bwMode="auto">
          <a:xfrm flipH="1" flipV="1">
            <a:off x="10285200" y="5256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13550997" name="Arrow: Curved Down 28"/>
          <p:cNvSpPr/>
          <p:nvPr/>
        </p:nvSpPr>
        <p:spPr bwMode="auto">
          <a:xfrm flipH="1" flipV="1">
            <a:off x="7581719" y="5297100"/>
            <a:ext cx="4766579" cy="951299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91231500" name="TextBox 7"/>
          <p:cNvSpPr/>
          <p:nvPr/>
        </p:nvSpPr>
        <p:spPr bwMode="auto">
          <a:xfrm>
            <a:off x="11085300" y="5760720"/>
            <a:ext cx="532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0" u="none" strike="noStrike">
                <a:solidFill>
                  <a:srgbClr val="000000"/>
                </a:solidFill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377161" name="TextBox 7"/>
          <p:cNvSpPr/>
          <p:nvPr/>
        </p:nvSpPr>
        <p:spPr bwMode="auto">
          <a:xfrm>
            <a:off x="8342100" y="5715720"/>
            <a:ext cx="532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0" u="none" strike="noStrike">
                <a:solidFill>
                  <a:srgbClr val="000000"/>
                </a:solidFill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6158560" name="TextBox 7"/>
          <p:cNvSpPr/>
          <p:nvPr/>
        </p:nvSpPr>
        <p:spPr bwMode="auto">
          <a:xfrm>
            <a:off x="16341840" y="5715720"/>
            <a:ext cx="532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0" u="none" strike="noStrike">
                <a:solidFill>
                  <a:srgbClr val="000000"/>
                </a:solidFill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126688" name="object 11"/>
          <p:cNvSpPr/>
          <p:nvPr/>
        </p:nvSpPr>
        <p:spPr bwMode="auto">
          <a:xfrm>
            <a:off x="381240" y="888120"/>
            <a:ext cx="1235124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1" u="none" strike="noStrike">
                <a:solidFill>
                  <a:srgbClr val="000000"/>
                </a:solidFill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160070" name="Rectangle: Rounded Corners 7"/>
          <p:cNvSpPr/>
          <p:nvPr/>
        </p:nvSpPr>
        <p:spPr bwMode="auto">
          <a:xfrm>
            <a:off x="65156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891467494" name="Straight Connector 6"/>
          <p:cNvCxnSpPr/>
          <p:nvPr/>
        </p:nvCxnSpPr>
        <p:spPr bwMode="auto">
          <a:xfrm>
            <a:off x="72774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91016057" name="TextBox 10"/>
          <p:cNvSpPr/>
          <p:nvPr/>
        </p:nvSpPr>
        <p:spPr bwMode="auto">
          <a:xfrm>
            <a:off x="651528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   2 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61512209" name="Straight Connector 8"/>
          <p:cNvCxnSpPr/>
          <p:nvPr/>
        </p:nvCxnSpPr>
        <p:spPr bwMode="auto">
          <a:xfrm>
            <a:off x="8115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212335483" name="TextBox 13"/>
          <p:cNvSpPr/>
          <p:nvPr/>
        </p:nvSpPr>
        <p:spPr bwMode="auto">
          <a:xfrm>
            <a:off x="2400480" y="373392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848050" name="TextBox 18"/>
          <p:cNvSpPr/>
          <p:nvPr/>
        </p:nvSpPr>
        <p:spPr bwMode="auto">
          <a:xfrm>
            <a:off x="2400480" y="480060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921381" name="TextBox 19"/>
          <p:cNvSpPr/>
          <p:nvPr/>
        </p:nvSpPr>
        <p:spPr bwMode="auto">
          <a:xfrm>
            <a:off x="12458880" y="472428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3071966" name="Rectangle: Rounded Corners 8"/>
          <p:cNvSpPr/>
          <p:nvPr/>
        </p:nvSpPr>
        <p:spPr bwMode="auto">
          <a:xfrm>
            <a:off x="37724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217093480" name="Straight Connector 11"/>
          <p:cNvCxnSpPr/>
          <p:nvPr/>
        </p:nvCxnSpPr>
        <p:spPr bwMode="auto">
          <a:xfrm>
            <a:off x="4686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246329192" name="TextBox 20"/>
          <p:cNvSpPr/>
          <p:nvPr/>
        </p:nvSpPr>
        <p:spPr bwMode="auto">
          <a:xfrm>
            <a:off x="388872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   1  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95972008" name="Straight Connector 12"/>
          <p:cNvCxnSpPr/>
          <p:nvPr/>
        </p:nvCxnSpPr>
        <p:spPr bwMode="auto">
          <a:xfrm>
            <a:off x="552456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235321908" name="Rectangle: Rounded Corners 9"/>
          <p:cNvSpPr/>
          <p:nvPr/>
        </p:nvSpPr>
        <p:spPr bwMode="auto">
          <a:xfrm>
            <a:off x="925848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753671388" name="Straight Connector 17"/>
          <p:cNvCxnSpPr/>
          <p:nvPr/>
        </p:nvCxnSpPr>
        <p:spPr bwMode="auto">
          <a:xfrm>
            <a:off x="100206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718482613" name="TextBox 21"/>
          <p:cNvSpPr/>
          <p:nvPr/>
        </p:nvSpPr>
        <p:spPr bwMode="auto">
          <a:xfrm>
            <a:off x="925848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31347572" name="Straight Connector 18"/>
          <p:cNvCxnSpPr/>
          <p:nvPr/>
        </p:nvCxnSpPr>
        <p:spPr bwMode="auto">
          <a:xfrm>
            <a:off x="108586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587060981" name="Arrow: Curved Down 13"/>
          <p:cNvSpPr/>
          <p:nvPr/>
        </p:nvSpPr>
        <p:spPr bwMode="auto">
          <a:xfrm>
            <a:off x="5715360" y="27432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03580242" name="Arrow: Curved Down 14"/>
          <p:cNvSpPr/>
          <p:nvPr/>
        </p:nvSpPr>
        <p:spPr bwMode="auto">
          <a:xfrm>
            <a:off x="8458560" y="273888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7395152" name="Arrow: Curved Down 15"/>
          <p:cNvSpPr/>
          <p:nvPr/>
        </p:nvSpPr>
        <p:spPr bwMode="auto">
          <a:xfrm>
            <a:off x="11049480" y="27432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283416" name="Arrow: Curved Down 16"/>
          <p:cNvSpPr/>
          <p:nvPr/>
        </p:nvSpPr>
        <p:spPr bwMode="auto">
          <a:xfrm>
            <a:off x="3124440" y="273888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6281484" name="TextBox 23"/>
          <p:cNvSpPr/>
          <p:nvPr/>
        </p:nvSpPr>
        <p:spPr bwMode="auto">
          <a:xfrm>
            <a:off x="9113400" y="2367360"/>
            <a:ext cx="532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0" u="none" strike="noStrike">
                <a:solidFill>
                  <a:srgbClr val="000000"/>
                </a:solidFill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8310806" name="TextBox 23"/>
          <p:cNvSpPr/>
          <p:nvPr/>
        </p:nvSpPr>
        <p:spPr bwMode="auto">
          <a:xfrm>
            <a:off x="11699219" y="2457360"/>
            <a:ext cx="532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0" u="none" strike="noStrike">
                <a:solidFill>
                  <a:srgbClr val="000000"/>
                </a:solidFill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5936291" name="Arrow: Curved Down 23"/>
          <p:cNvSpPr/>
          <p:nvPr/>
        </p:nvSpPr>
        <p:spPr bwMode="auto">
          <a:xfrm flipH="1" flipV="1">
            <a:off x="2284200" y="52740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2268814" name="Arrow: Curved Down 24"/>
          <p:cNvSpPr/>
          <p:nvPr/>
        </p:nvSpPr>
        <p:spPr bwMode="auto">
          <a:xfrm flipH="1" flipV="1">
            <a:off x="4951080" y="5256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9423469" name="Arrow: Curved Down 9"/>
          <p:cNvSpPr/>
          <p:nvPr/>
        </p:nvSpPr>
        <p:spPr bwMode="auto">
          <a:xfrm flipH="0" flipV="0">
            <a:off x="8458559" y="2717280"/>
            <a:ext cx="4842239" cy="86868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58636343" name="Arrow: Curved Down 28"/>
          <p:cNvSpPr/>
          <p:nvPr/>
        </p:nvSpPr>
        <p:spPr bwMode="auto">
          <a:xfrm flipH="1" flipV="1">
            <a:off x="7581719" y="5297099"/>
            <a:ext cx="4766578" cy="951298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946908" name="object 11"/>
          <p:cNvSpPr/>
          <p:nvPr/>
        </p:nvSpPr>
        <p:spPr bwMode="auto">
          <a:xfrm>
            <a:off x="381240" y="888120"/>
            <a:ext cx="1235124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1" u="none" strike="noStrike">
                <a:solidFill>
                  <a:srgbClr val="000000"/>
                </a:solidFill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010389" name="Rectangle: Rounded Corners 7"/>
          <p:cNvSpPr/>
          <p:nvPr/>
        </p:nvSpPr>
        <p:spPr bwMode="auto">
          <a:xfrm>
            <a:off x="65156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225367157" name="Straight Connector 6"/>
          <p:cNvCxnSpPr/>
          <p:nvPr/>
        </p:nvCxnSpPr>
        <p:spPr bwMode="auto">
          <a:xfrm>
            <a:off x="72774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559065768" name="TextBox 10"/>
          <p:cNvSpPr/>
          <p:nvPr/>
        </p:nvSpPr>
        <p:spPr bwMode="auto">
          <a:xfrm>
            <a:off x="651528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   2 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5457746" name="Straight Connector 8"/>
          <p:cNvCxnSpPr/>
          <p:nvPr/>
        </p:nvCxnSpPr>
        <p:spPr bwMode="auto">
          <a:xfrm>
            <a:off x="8115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059542257" name="TextBox 13"/>
          <p:cNvSpPr/>
          <p:nvPr/>
        </p:nvSpPr>
        <p:spPr bwMode="auto">
          <a:xfrm>
            <a:off x="2400480" y="373392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883380" name="TextBox 18"/>
          <p:cNvSpPr/>
          <p:nvPr/>
        </p:nvSpPr>
        <p:spPr bwMode="auto">
          <a:xfrm>
            <a:off x="2400480" y="480060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201152" name="TextBox 19"/>
          <p:cNvSpPr/>
          <p:nvPr/>
        </p:nvSpPr>
        <p:spPr bwMode="auto">
          <a:xfrm>
            <a:off x="12458880" y="472428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2429469" name="Rectangle: Rounded Corners 8"/>
          <p:cNvSpPr/>
          <p:nvPr/>
        </p:nvSpPr>
        <p:spPr bwMode="auto">
          <a:xfrm>
            <a:off x="37724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047926596" name="Straight Connector 11"/>
          <p:cNvCxnSpPr/>
          <p:nvPr/>
        </p:nvCxnSpPr>
        <p:spPr bwMode="auto">
          <a:xfrm>
            <a:off x="4686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60243712" name="TextBox 20"/>
          <p:cNvSpPr/>
          <p:nvPr/>
        </p:nvSpPr>
        <p:spPr bwMode="auto">
          <a:xfrm>
            <a:off x="388872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   1  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19463995" name="Straight Connector 12"/>
          <p:cNvCxnSpPr/>
          <p:nvPr/>
        </p:nvCxnSpPr>
        <p:spPr bwMode="auto">
          <a:xfrm>
            <a:off x="552456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828456591" name="Rectangle: Rounded Corners 9"/>
          <p:cNvSpPr/>
          <p:nvPr/>
        </p:nvSpPr>
        <p:spPr bwMode="auto">
          <a:xfrm>
            <a:off x="925848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792435294" name="Straight Connector 17"/>
          <p:cNvCxnSpPr/>
          <p:nvPr/>
        </p:nvCxnSpPr>
        <p:spPr bwMode="auto">
          <a:xfrm>
            <a:off x="100206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210647219" name="TextBox 21"/>
          <p:cNvSpPr/>
          <p:nvPr/>
        </p:nvSpPr>
        <p:spPr bwMode="auto">
          <a:xfrm>
            <a:off x="925848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06015593" name="Straight Connector 18"/>
          <p:cNvCxnSpPr/>
          <p:nvPr/>
        </p:nvCxnSpPr>
        <p:spPr bwMode="auto">
          <a:xfrm>
            <a:off x="108586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90616686" name="Arrow: Curved Down 13"/>
          <p:cNvSpPr/>
          <p:nvPr/>
        </p:nvSpPr>
        <p:spPr bwMode="auto">
          <a:xfrm>
            <a:off x="5715360" y="27432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5157907" name="Arrow: Curved Down 16"/>
          <p:cNvSpPr/>
          <p:nvPr/>
        </p:nvSpPr>
        <p:spPr bwMode="auto">
          <a:xfrm>
            <a:off x="3124440" y="273888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6826052" name="Arrow: Curved Down 23"/>
          <p:cNvSpPr/>
          <p:nvPr/>
        </p:nvSpPr>
        <p:spPr bwMode="auto">
          <a:xfrm flipH="1" flipV="1">
            <a:off x="2284200" y="52740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03429354" name="Arrow: Curved Down 24"/>
          <p:cNvSpPr/>
          <p:nvPr/>
        </p:nvSpPr>
        <p:spPr bwMode="auto">
          <a:xfrm flipH="1" flipV="1">
            <a:off x="4951080" y="5256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37217093" name="Arrow: Curved Down 9"/>
          <p:cNvSpPr/>
          <p:nvPr/>
        </p:nvSpPr>
        <p:spPr bwMode="auto">
          <a:xfrm flipH="0" flipV="0">
            <a:off x="8458560" y="2717280"/>
            <a:ext cx="4842238" cy="86868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02944251" name="Arrow: Curved Down 28"/>
          <p:cNvSpPr/>
          <p:nvPr/>
        </p:nvSpPr>
        <p:spPr bwMode="auto">
          <a:xfrm flipH="1" flipV="1">
            <a:off x="7581719" y="5297099"/>
            <a:ext cx="4766578" cy="951298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898572" name="object 11"/>
          <p:cNvSpPr/>
          <p:nvPr/>
        </p:nvSpPr>
        <p:spPr bwMode="auto">
          <a:xfrm>
            <a:off x="381240" y="888120"/>
            <a:ext cx="1235124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1" u="none" strike="noStrike">
                <a:solidFill>
                  <a:srgbClr val="000000"/>
                </a:solidFill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754854" name="Rectangle: Rounded Corners 7"/>
          <p:cNvSpPr/>
          <p:nvPr/>
        </p:nvSpPr>
        <p:spPr bwMode="auto">
          <a:xfrm>
            <a:off x="65156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2136391500" name="Straight Connector 6"/>
          <p:cNvCxnSpPr/>
          <p:nvPr/>
        </p:nvCxnSpPr>
        <p:spPr bwMode="auto">
          <a:xfrm>
            <a:off x="72774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8742106" name="TextBox 10"/>
          <p:cNvSpPr/>
          <p:nvPr/>
        </p:nvSpPr>
        <p:spPr bwMode="auto">
          <a:xfrm>
            <a:off x="651528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   2 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57350315" name="Straight Connector 8"/>
          <p:cNvCxnSpPr/>
          <p:nvPr/>
        </p:nvCxnSpPr>
        <p:spPr bwMode="auto">
          <a:xfrm>
            <a:off x="8115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813554129" name="TextBox 13"/>
          <p:cNvSpPr/>
          <p:nvPr/>
        </p:nvSpPr>
        <p:spPr bwMode="auto">
          <a:xfrm>
            <a:off x="2400480" y="373392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728374" name="TextBox 18"/>
          <p:cNvSpPr/>
          <p:nvPr/>
        </p:nvSpPr>
        <p:spPr bwMode="auto">
          <a:xfrm>
            <a:off x="2400480" y="480060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818850" name="TextBox 19"/>
          <p:cNvSpPr/>
          <p:nvPr/>
        </p:nvSpPr>
        <p:spPr bwMode="auto">
          <a:xfrm>
            <a:off x="12458880" y="472428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743432" name="Rectangle: Rounded Corners 8"/>
          <p:cNvSpPr/>
          <p:nvPr/>
        </p:nvSpPr>
        <p:spPr bwMode="auto">
          <a:xfrm>
            <a:off x="37724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270845884" name="Straight Connector 11"/>
          <p:cNvCxnSpPr/>
          <p:nvPr/>
        </p:nvCxnSpPr>
        <p:spPr bwMode="auto">
          <a:xfrm>
            <a:off x="4686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801228275" name="TextBox 20"/>
          <p:cNvSpPr/>
          <p:nvPr/>
        </p:nvSpPr>
        <p:spPr bwMode="auto">
          <a:xfrm>
            <a:off x="388872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   1  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14906450" name="Straight Connector 12"/>
          <p:cNvCxnSpPr/>
          <p:nvPr/>
        </p:nvCxnSpPr>
        <p:spPr bwMode="auto">
          <a:xfrm>
            <a:off x="552456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756202078" name="Arrow: Curved Down 13"/>
          <p:cNvSpPr/>
          <p:nvPr/>
        </p:nvSpPr>
        <p:spPr bwMode="auto">
          <a:xfrm>
            <a:off x="5715360" y="27432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5836440" name="Arrow: Curved Down 16"/>
          <p:cNvSpPr/>
          <p:nvPr/>
        </p:nvSpPr>
        <p:spPr bwMode="auto">
          <a:xfrm>
            <a:off x="3124440" y="273888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698753" name="Arrow: Curved Down 23"/>
          <p:cNvSpPr/>
          <p:nvPr/>
        </p:nvSpPr>
        <p:spPr bwMode="auto">
          <a:xfrm flipH="1" flipV="1">
            <a:off x="2284200" y="52740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0505914" name="Arrow: Curved Down 24"/>
          <p:cNvSpPr/>
          <p:nvPr/>
        </p:nvSpPr>
        <p:spPr bwMode="auto">
          <a:xfrm flipH="1" flipV="1">
            <a:off x="4951080" y="5256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1848152" name="Arrow: Curved Down 9"/>
          <p:cNvSpPr/>
          <p:nvPr/>
        </p:nvSpPr>
        <p:spPr bwMode="auto">
          <a:xfrm flipH="0" flipV="0">
            <a:off x="8458560" y="2717280"/>
            <a:ext cx="4842238" cy="86868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0737981" name="Arrow: Curved Down 28"/>
          <p:cNvSpPr/>
          <p:nvPr/>
        </p:nvSpPr>
        <p:spPr bwMode="auto">
          <a:xfrm flipH="1" flipV="1">
            <a:off x="7581719" y="5297099"/>
            <a:ext cx="4766578" cy="951298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220462" name="object 3"/>
          <p:cNvSpPr txBox="1"/>
          <p:nvPr/>
        </p:nvSpPr>
        <p:spPr bwMode="auto">
          <a:xfrm>
            <a:off x="380999" y="888075"/>
            <a:ext cx="12353126" cy="1874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🔎 Definition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Removes the last node (tail) from a doubly linked list and updates the previous node correctly.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888835" name="object 3"/>
          <p:cNvSpPr txBox="1"/>
          <p:nvPr/>
        </p:nvSpPr>
        <p:spPr bwMode="auto">
          <a:xfrm>
            <a:off x="380999" y="888075"/>
            <a:ext cx="12354926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📖 Explanation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Deleting the last node requires: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Finding the last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Setting the `next` pointer of the second-to-last node to `NULL`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Deleting the last node from memory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Special handling is needed if the list has: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No nodes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Only one node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260176" name="object 3"/>
          <p:cNvSpPr txBox="1"/>
          <p:nvPr/>
        </p:nvSpPr>
        <p:spPr bwMode="auto">
          <a:xfrm>
            <a:off x="380998" y="888075"/>
            <a:ext cx="12373285" cy="86077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🟦 Procedures (</a:t>
            </a:r>
            <a:r>
              <a:rPr lang="en-US" sz="4000" b="1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Delete</a:t>
            </a:r>
            <a:r>
              <a:rPr lang="en-US" sz="4000" b="1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4000" b="1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Last </a:t>
            </a:r>
            <a:r>
              <a:rPr lang="en-US" sz="4000" b="1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Node</a:t>
            </a:r>
            <a:r>
              <a:rPr lang="en-GB" sz="4000" b="1">
                <a:latin typeface="Comic Sans MS"/>
              </a:rPr>
              <a:t>)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Check if List is Empty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Check: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If `head == NULL`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➡️ Result: Stop if the list is empty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Check if There is Only One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Check: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If `head-&gt;next == NULL`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Steps: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Delete `head`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Set `head = NULL`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➡️ Result: The list becomes empty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Find the Second-to-Last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Steps: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Start from `head`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Move while `current-&gt;next-&gt;next != NULL`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➡️ Result: `current` points to the second-to-last node</a:t>
            </a:r>
            <a:endParaRPr lang="en-GB"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Store the Last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Step: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`Node* temp = current-&gt;next`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➡️ Result: `temp` points to the node that will be deleted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744733" name="object 3"/>
          <p:cNvSpPr txBox="1"/>
          <p:nvPr/>
        </p:nvSpPr>
        <p:spPr bwMode="auto">
          <a:xfrm>
            <a:off x="380998" y="888075"/>
            <a:ext cx="12372565" cy="412872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🟦 Procedures (</a:t>
            </a:r>
            <a:r>
              <a:rPr lang="en-US" sz="4000" b="1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Delete</a:t>
            </a:r>
            <a:r>
              <a:rPr lang="en-US" sz="4000" b="1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Last </a:t>
            </a:r>
            <a:r>
              <a:rPr lang="en-US" sz="4000" b="1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Node</a:t>
            </a:r>
            <a:r>
              <a:rPr lang="en-GB" sz="4000" b="1">
                <a:latin typeface="Comic Sans MS"/>
              </a:rPr>
              <a:t>)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Disconnect the Last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Step: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Set `current-&gt;next = NULL`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➡️ Result: The second-to-last node becomes the new last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Delete the Last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Step: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`delete temp`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➡️ Result: The last node is removed from memory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599352" name="object 3"/>
          <p:cNvSpPr txBox="1"/>
          <p:nvPr/>
        </p:nvSpPr>
        <p:spPr bwMode="auto">
          <a:xfrm>
            <a:off x="380999" y="888075"/>
            <a:ext cx="12353126" cy="40687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💡 Example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Before: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NULL &lt;--&gt; 1 &lt;--&gt; 2 &lt;--&gt; 3 &lt;--&gt; 4 &lt;--&gt; 5 &lt;--&gt; NULL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Delete the last node: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Delete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After: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NULL &lt;--&gt; 1 &lt;--&gt; 2 &lt;--&gt; 3 &lt;--&gt; 4 &lt;--&gt; NULL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156459" name="object 3"/>
          <p:cNvSpPr txBox="1"/>
          <p:nvPr/>
        </p:nvSpPr>
        <p:spPr bwMode="auto">
          <a:xfrm>
            <a:off x="380999" y="888075"/>
            <a:ext cx="12353126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📌 Note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code uses `current-&gt;next-&gt;next` to find the second-to-last node.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Because the list is doubly linked, after deleting the last node, the new last node's `next` must be `NULL`.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998467" name="object 3"/>
          <p:cNvSpPr txBox="1"/>
          <p:nvPr/>
        </p:nvSpPr>
        <p:spPr bwMode="auto">
          <a:xfrm>
            <a:off x="380999" y="888075"/>
            <a:ext cx="12355286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Delete First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Time Complexity: O(1)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traversal needed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Directly updates the head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Delete Last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Time Complexity: O(n)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traversal to find the last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Updates the second-to-last node's `next` pointer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23349" name="object 3"/>
          <p:cNvSpPr txBox="1"/>
          <p:nvPr/>
        </p:nvSpPr>
        <p:spPr bwMode="auto">
          <a:xfrm>
            <a:off x="380999" y="888075"/>
            <a:ext cx="12353126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Always check `head == NULL` before accessing `head-&gt;next`.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If the list has only one node, `head` must be set to `NULL` after deletion.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In this implementation, the `prev` pointer of the new last node does not need to be changed because it already points to the correct previous node.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321089" name="object 3"/>
          <p:cNvSpPr txBox="1"/>
          <p:nvPr/>
        </p:nvSpPr>
        <p:spPr bwMode="auto">
          <a:xfrm>
            <a:off x="380999" y="888075"/>
            <a:ext cx="12353126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✨ Summary</a:t>
            </a:r>
            <a:endParaRPr sz="2400">
              <a:latin typeface="Comic Sans MS"/>
            </a:endParaRPr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DeleteLastNode removes the last node from the list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Requires traversal to find the second-to-last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Sets the new last node's next to NULL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Handles empty, single-node, and multi-node lists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34473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/>
  <cp:revision>437</cp:revision>
  <dcterms:created xsi:type="dcterms:W3CDTF">2025-12-09T17:44:59Z</dcterms:created>
  <dcterms:modified xsi:type="dcterms:W3CDTF">2026-08-23T20:51:10Z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