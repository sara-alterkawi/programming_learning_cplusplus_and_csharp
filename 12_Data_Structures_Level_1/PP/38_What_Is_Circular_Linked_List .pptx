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053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37698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03450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14105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962863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257749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459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139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761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9D4DD-BD40-3271-B5F1-1097F9816D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1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9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755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CC9D60-BEC0-984F-E5BE-ADA4C1884E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674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76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066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8EFA98-ECF2-4C73-AFD7-2E0D5B446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829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6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313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083D77-3222-F73D-14DA-770AE4627F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913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868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04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182627-7FA9-00B7-CD61-9574406A16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44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531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33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4E7E67-0BFD-D556-5DB9-363AB1847B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278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777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878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D8BAD9-105A-8F27-9209-7CA3F81CB0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188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852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070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C1D54B-11D3-A9EC-757A-ABF6C298C1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48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6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161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3A5322-1B00-8FBA-33A8-C40DF71FF8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088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157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54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B71E4A-5B32-DBAD-8794-2584597CD4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249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874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093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DB2488-9B9E-1E29-D543-F2F7F6E43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0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121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58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21CBB5-FE1A-9A7A-AFEE-67676A798E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857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592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5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3704E4-E9FA-0BB2-BDFA-85AFCB5DA9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80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6095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35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3A6AE9-2143-F040-5138-2E3644641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5546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284903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53099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18438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954959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86969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762780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551341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3112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5376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909408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768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997966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446973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143539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72534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13546260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525393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195371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49568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733819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005082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736483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1661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623679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29863674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4682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02760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608095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333194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94649471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24749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7086835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84145930" name="object 30"/>
          <p:cNvSpPr txBox="1"/>
          <p:nvPr/>
        </p:nvSpPr>
        <p:spPr bwMode="auto">
          <a:xfrm>
            <a:off x="0" y="1143000"/>
            <a:ext cx="12727198" cy="291450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Circular Linked List</a:t>
            </a:r>
            <a:endParaRPr sz="6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339679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1456168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58365372" name="object 30"/>
          <p:cNvSpPr txBox="1"/>
          <p:nvPr/>
        </p:nvSpPr>
        <p:spPr bwMode="auto">
          <a:xfrm>
            <a:off x="106431" y="3084217"/>
            <a:ext cx="1331340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Circular Linked List</a:t>
            </a:r>
            <a:endParaRPr lang="en-GB"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96500" name="Rectangle: Rounded Corners 34"/>
          <p:cNvSpPr/>
          <p:nvPr/>
        </p:nvSpPr>
        <p:spPr bwMode="auto">
          <a:xfrm>
            <a:off x="8839206" y="3657600"/>
            <a:ext cx="2514592" cy="167639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521258481" name="Rectangle: Rounded Corners 33"/>
          <p:cNvSpPr/>
          <p:nvPr/>
        </p:nvSpPr>
        <p:spPr bwMode="auto">
          <a:xfrm>
            <a:off x="5334006" y="3657600"/>
            <a:ext cx="2514592" cy="167639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543833812" name="Rectangle: Rounded Corners 32"/>
          <p:cNvSpPr/>
          <p:nvPr/>
        </p:nvSpPr>
        <p:spPr bwMode="auto">
          <a:xfrm>
            <a:off x="1828800" y="3657600"/>
            <a:ext cx="2514592" cy="167639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696087368" name="object 3"/>
          <p:cNvSpPr txBox="1"/>
          <p:nvPr/>
        </p:nvSpPr>
        <p:spPr bwMode="auto">
          <a:xfrm>
            <a:off x="380999" y="888075"/>
            <a:ext cx="12356726" cy="76445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Linked List 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(Circular) 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Data Structure</a:t>
            </a:r>
            <a:endParaRPr sz="2400" b="1" i="0" u="none" strike="noStrike" cap="none" spc="0">
              <a:ln>
                <a:noFill/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78118103" name="Straight Connector 6"/>
          <p:cNvCxnSpPr/>
          <p:nvPr/>
        </p:nvCxnSpPr>
        <p:spPr bwMode="auto"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2286723" name="TextBox 7"/>
          <p:cNvSpPr txBox="1"/>
          <p:nvPr/>
        </p:nvSpPr>
        <p:spPr bwMode="auto">
          <a:xfrm>
            <a:off x="2133599" y="4262734"/>
            <a:ext cx="1904999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1 	Next</a:t>
            </a:r>
            <a:endParaRPr/>
          </a:p>
        </p:txBody>
      </p:sp>
      <p:sp>
        <p:nvSpPr>
          <p:cNvPr id="2114292162" name="Arrow: Right 9"/>
          <p:cNvSpPr/>
          <p:nvPr/>
        </p:nvSpPr>
        <p:spPr bwMode="auto">
          <a:xfrm>
            <a:off x="838198" y="4419600"/>
            <a:ext cx="990599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286292913" name="TextBox 10"/>
          <p:cNvSpPr txBox="1"/>
          <p:nvPr/>
        </p:nvSpPr>
        <p:spPr bwMode="auto">
          <a:xfrm>
            <a:off x="0" y="4267200"/>
            <a:ext cx="9525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Head</a:t>
            </a:r>
            <a:endParaRPr/>
          </a:p>
        </p:txBody>
      </p:sp>
      <p:cxnSp>
        <p:nvCxnSpPr>
          <p:cNvPr id="463538958" name="Straight Connector 12"/>
          <p:cNvCxnSpPr/>
          <p:nvPr/>
        </p:nvCxnSpPr>
        <p:spPr bwMode="auto">
          <a:xfrm>
            <a:off x="6591299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629166" name="TextBox 13"/>
          <p:cNvSpPr txBox="1"/>
          <p:nvPr/>
        </p:nvSpPr>
        <p:spPr bwMode="auto">
          <a:xfrm>
            <a:off x="5638799" y="4262734"/>
            <a:ext cx="1904999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2 	Next</a:t>
            </a:r>
            <a:endParaRPr/>
          </a:p>
        </p:txBody>
      </p:sp>
      <p:sp>
        <p:nvSpPr>
          <p:cNvPr id="1645012370" name="Arrow: Right 14"/>
          <p:cNvSpPr/>
          <p:nvPr/>
        </p:nvSpPr>
        <p:spPr bwMode="auto">
          <a:xfrm>
            <a:off x="7848599" y="4419600"/>
            <a:ext cx="990599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945773427" name="Arrow: Right 15"/>
          <p:cNvSpPr/>
          <p:nvPr/>
        </p:nvSpPr>
        <p:spPr bwMode="auto">
          <a:xfrm>
            <a:off x="4343400" y="4419600"/>
            <a:ext cx="990599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cxnSp>
        <p:nvCxnSpPr>
          <p:cNvPr id="1947731359" name="Straight Connector 20"/>
          <p:cNvCxnSpPr/>
          <p:nvPr/>
        </p:nvCxnSpPr>
        <p:spPr bwMode="auto">
          <a:xfrm>
            <a:off x="10096499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2481666" name="TextBox 21"/>
          <p:cNvSpPr txBox="1"/>
          <p:nvPr/>
        </p:nvSpPr>
        <p:spPr bwMode="auto">
          <a:xfrm>
            <a:off x="9144000" y="4262734"/>
            <a:ext cx="1904999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 	Next</a:t>
            </a:r>
            <a:endParaRPr/>
          </a:p>
        </p:txBody>
      </p:sp>
      <p:sp>
        <p:nvSpPr>
          <p:cNvPr id="997290906" name="TextBox 26"/>
          <p:cNvSpPr txBox="1"/>
          <p:nvPr/>
        </p:nvSpPr>
        <p:spPr bwMode="auto">
          <a:xfrm>
            <a:off x="2666999" y="5410199"/>
            <a:ext cx="9525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0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Node</a:t>
            </a:r>
            <a:endParaRPr/>
          </a:p>
        </p:txBody>
      </p:sp>
      <p:sp>
        <p:nvSpPr>
          <p:cNvPr id="60917215" name="Arrow: Bent-Up 43"/>
          <p:cNvSpPr/>
          <p:nvPr/>
        </p:nvSpPr>
        <p:spPr bwMode="auto">
          <a:xfrm rot="10800000" flipH="0" flipV="0">
            <a:off x="2366099" y="2476500"/>
            <a:ext cx="8397164" cy="419099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35181" name="object 16"/>
          <p:cNvSpPr/>
          <p:nvPr/>
        </p:nvSpPr>
        <p:spPr bwMode="auto">
          <a:xfrm>
            <a:off x="381240" y="888480"/>
            <a:ext cx="12355200" cy="7643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</a:t>
            </a: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(Circular) </a:t>
            </a: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4926397" name="Rectangle: Rounded Corners 10"/>
          <p:cNvSpPr/>
          <p:nvPr/>
        </p:nvSpPr>
        <p:spPr bwMode="auto">
          <a:xfrm>
            <a:off x="65156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199301936" name="Straight Connector 19"/>
          <p:cNvCxnSpPr/>
          <p:nvPr/>
        </p:nvCxnSpPr>
        <p:spPr bwMode="auto">
          <a:xfrm>
            <a:off x="72774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301317465" name="TextBox 22"/>
          <p:cNvSpPr/>
          <p:nvPr/>
        </p:nvSpPr>
        <p:spPr bwMode="auto">
          <a:xfrm>
            <a:off x="65152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6890940" name="Straight Connector 21"/>
          <p:cNvCxnSpPr/>
          <p:nvPr/>
        </p:nvCxnSpPr>
        <p:spPr bwMode="auto">
          <a:xfrm>
            <a:off x="8115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77144120" name="TextBox 24"/>
          <p:cNvSpPr/>
          <p:nvPr/>
        </p:nvSpPr>
        <p:spPr bwMode="auto">
          <a:xfrm>
            <a:off x="2400480" y="373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296153" name="Rectangle: Rounded Corners 11"/>
          <p:cNvSpPr/>
          <p:nvPr/>
        </p:nvSpPr>
        <p:spPr bwMode="auto">
          <a:xfrm>
            <a:off x="37724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14242620" name="Straight Connector 22"/>
          <p:cNvCxnSpPr/>
          <p:nvPr/>
        </p:nvCxnSpPr>
        <p:spPr bwMode="auto">
          <a:xfrm>
            <a:off x="4686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918432249" name="TextBox 28"/>
          <p:cNvSpPr/>
          <p:nvPr/>
        </p:nvSpPr>
        <p:spPr bwMode="auto">
          <a:xfrm>
            <a:off x="388872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   1  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4894654" name="Straight Connector 23"/>
          <p:cNvCxnSpPr/>
          <p:nvPr/>
        </p:nvCxnSpPr>
        <p:spPr bwMode="auto">
          <a:xfrm>
            <a:off x="552456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790472524" name="Rectangle: Rounded Corners 12"/>
          <p:cNvSpPr/>
          <p:nvPr/>
        </p:nvSpPr>
        <p:spPr bwMode="auto">
          <a:xfrm>
            <a:off x="925848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240163422" name="Straight Connector 24"/>
          <p:cNvCxnSpPr/>
          <p:nvPr/>
        </p:nvCxnSpPr>
        <p:spPr bwMode="auto">
          <a:xfrm>
            <a:off x="100206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62732020" name="TextBox 29"/>
          <p:cNvSpPr/>
          <p:nvPr/>
        </p:nvSpPr>
        <p:spPr bwMode="auto">
          <a:xfrm>
            <a:off x="92584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3859578" name="Straight Connector 25"/>
          <p:cNvCxnSpPr/>
          <p:nvPr/>
        </p:nvCxnSpPr>
        <p:spPr bwMode="auto">
          <a:xfrm>
            <a:off x="108586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78699233" name="Arrow: Curved Down 6"/>
          <p:cNvSpPr/>
          <p:nvPr/>
        </p:nvSpPr>
        <p:spPr bwMode="auto">
          <a:xfrm>
            <a:off x="571536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0699540" name="Arrow: Curved Down 20"/>
          <p:cNvSpPr/>
          <p:nvPr/>
        </p:nvSpPr>
        <p:spPr bwMode="auto">
          <a:xfrm>
            <a:off x="845856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0006030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1854059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9549774" name="TextBox 7"/>
          <p:cNvSpPr/>
          <p:nvPr/>
        </p:nvSpPr>
        <p:spPr bwMode="auto">
          <a:xfrm>
            <a:off x="1634184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136641" name="Arrow: Curved Down 28"/>
          <p:cNvSpPr/>
          <p:nvPr/>
        </p:nvSpPr>
        <p:spPr bwMode="auto">
          <a:xfrm flipH="1" flipV="1">
            <a:off x="4838879" y="5418119"/>
            <a:ext cx="6595738" cy="951298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903423" name="Arrow: Curved Down 28"/>
          <p:cNvSpPr/>
          <p:nvPr/>
        </p:nvSpPr>
        <p:spPr bwMode="auto">
          <a:xfrm rot="10800000" flipH="1" flipV="1">
            <a:off x="4153079" y="2635021"/>
            <a:ext cx="6595738" cy="951298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19406" name="object 3"/>
          <p:cNvSpPr txBox="1"/>
          <p:nvPr/>
        </p:nvSpPr>
        <p:spPr bwMode="auto">
          <a:xfrm>
            <a:off x="380999" y="888075"/>
            <a:ext cx="12353126" cy="1874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Circular Linked List is a linked list where the last node points back to the first node instead of pointing to `NULL`.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284014" name="object 3"/>
          <p:cNvSpPr txBox="1"/>
          <p:nvPr/>
        </p:nvSpPr>
        <p:spPr bwMode="auto">
          <a:xfrm>
            <a:off x="380999" y="888075"/>
            <a:ext cx="12354926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 normal linked list: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last node points to `NULL`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list has a clear beginning and end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 Circular Linked List: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last node points back to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 is no `NULL` at the end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nodes form a circle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907732" name="object 3"/>
          <p:cNvSpPr txBox="1"/>
          <p:nvPr/>
        </p:nvSpPr>
        <p:spPr bwMode="auto">
          <a:xfrm>
            <a:off x="380998" y="888075"/>
            <a:ext cx="12373285" cy="75257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lang="en-US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  <a:ea typeface="Comic Sans MS"/>
                <a:cs typeface="Comic Sans MS"/>
              </a:rPr>
              <a:t>Circular</a:t>
            </a:r>
            <a:r>
              <a:rPr sz="4000" b="1">
                <a:latin typeface="Comic Sans MS"/>
              </a:rPr>
              <a:t> Linked List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Create a new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Store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Make the node point to itself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↖ ↙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More Nodes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Create a new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Connect it to the previous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Update the last node to point to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 → 2 →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↑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└───────┘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994934" name="object 3"/>
          <p:cNvSpPr txBox="1"/>
          <p:nvPr/>
        </p:nvSpPr>
        <p:spPr bwMode="auto">
          <a:xfrm>
            <a:off x="380998" y="888075"/>
            <a:ext cx="12371845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lang="en-US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  <a:ea typeface="Comic Sans MS"/>
                <a:cs typeface="Comic Sans MS"/>
              </a:rPr>
              <a:t>Circular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Linked List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List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Steps: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Start from the first node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Follow the `next` pointer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Stop when you reach the starting node again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All nodes are visited exactly once.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785792" name="object 3"/>
          <p:cNvSpPr txBox="1"/>
          <p:nvPr/>
        </p:nvSpPr>
        <p:spPr bwMode="auto">
          <a:xfrm>
            <a:off x="380999" y="888075"/>
            <a:ext cx="12353126" cy="3029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💡 Example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┌──────────────────────┐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                 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→ 2 → 3 → 4 → 5 ──────────┘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The `next` pointer of node `5` points back to node `1`.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555914" name="object 3"/>
          <p:cNvSpPr txBox="1"/>
          <p:nvPr/>
        </p:nvSpPr>
        <p:spPr bwMode="auto">
          <a:xfrm>
            <a:off x="380999" y="888075"/>
            <a:ext cx="12354205" cy="3409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last node does not contain `NULL` in its `next`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 know when traversal is complete, we usually check whether we have returned to the starting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Circular Linked Lists can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Singly Circular Linked List → each node has `next`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Doubly Circular Linked List → each node has `next` and `prev`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21297" name="object 3"/>
          <p:cNvSpPr txBox="1"/>
          <p:nvPr/>
        </p:nvSpPr>
        <p:spPr bwMode="auto">
          <a:xfrm>
            <a:off x="380999" y="888075"/>
            <a:ext cx="1235528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Normal Linked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Last node points to `NULL`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clear end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Traversal stops at `NULL`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🟥Circular Linked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Last node points to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`NULL` at the end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Traversal stops when we return to the starting node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120601" name="object 3"/>
          <p:cNvSpPr txBox="1"/>
          <p:nvPr/>
        </p:nvSpPr>
        <p:spPr bwMode="auto">
          <a:xfrm>
            <a:off x="380999" y="888075"/>
            <a:ext cx="12353126" cy="2986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 normal condition like: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 (current != NULL)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should not be used for a Circular Linked List because `current` will never become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You need another stopping condition, such as returning to the starting node.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918933" name="object 3"/>
          <p:cNvSpPr txBox="1"/>
          <p:nvPr/>
        </p:nvSpPr>
        <p:spPr bwMode="auto">
          <a:xfrm>
            <a:off x="380999" y="888075"/>
            <a:ext cx="1235312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Circular Linked List connects the last node back to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last node does not point to NULL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Forms a circular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Traversal stops when we reach the starting node again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85872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440</cp:revision>
  <dcterms:created xsi:type="dcterms:W3CDTF">2025-12-09T17:44:59Z</dcterms:created>
  <dcterms:modified xsi:type="dcterms:W3CDTF">2026-08-23T21:10:42Z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