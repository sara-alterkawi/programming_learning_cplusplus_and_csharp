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3411200" cy="100584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6.xml"/><Relationship Id="rId4" Type="http://schemas.openxmlformats.org/officeDocument/2006/relationships/slideMaster" Target="slideMasters/slideMaster7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05840" y="3117960"/>
            <a:ext cx="11399040" cy="89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EDCFCD-33D1-4F3A-A64C-BCC4C1842C3D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331200" y="2514600"/>
            <a:ext cx="12753360" cy="4141800"/>
          </a:xfrm>
          <a:custGeom>
            <a:avLst/>
            <a:gdLst>
              <a:gd name="textAreaLeft" fmla="*/ 0 w 12753360"/>
              <a:gd name="textAreaRight" fmla="*/ 12753720 w 12753360"/>
              <a:gd name="textAreaTop" fmla="*/ 0 h 4141800"/>
              <a:gd name="textAreaBottom" fmla="*/ 4142160 h 414180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17040" y="3228120"/>
            <a:ext cx="7643160" cy="47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5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AC933F9-21D2-45DE-AD8A-1E5B09CB480C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70680" y="2313360"/>
            <a:ext cx="583344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906600" y="2313360"/>
            <a:ext cx="583344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7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8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2F209B-6710-4E4E-98E8-70A18CD7B398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/>
          <p:cNvPicPr/>
          <p:nvPr/>
        </p:nvPicPr>
        <p:blipFill>
          <a:blip r:embed="rId2"/>
          <a:stretch/>
        </p:blipFill>
        <p:spPr>
          <a:xfrm>
            <a:off x="0" y="2209680"/>
            <a:ext cx="13410720" cy="508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bg object 17"/>
          <p:cNvSpPr/>
          <p:nvPr/>
        </p:nvSpPr>
        <p:spPr>
          <a:xfrm>
            <a:off x="105120" y="3901320"/>
            <a:ext cx="13305600" cy="789480"/>
          </a:xfrm>
          <a:custGeom>
            <a:avLst/>
            <a:gdLst>
              <a:gd name="textAreaLeft" fmla="*/ 0 w 13305600"/>
              <a:gd name="textAreaRight" fmla="*/ 13305960 w 13305600"/>
              <a:gd name="textAreaTop" fmla="*/ 0 h 789480"/>
              <a:gd name="textAreaBottom" fmla="*/ 789840 h 789480"/>
            </a:gdLst>
            <a:ahLst/>
            <a:cxnLst/>
            <a:rect l="textAreaLeft" t="textAreaTop" r="textAreaRight" b="textAreaBottom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noFill/>
          <a:ln w="1219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1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2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BC755C-72CE-4449-A7A8-DDD924AFF89B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6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7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8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A8A0E8-289D-4481-AABC-7DD375AB4C48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36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9360" cy="58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3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4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5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446C14-F2AC-46FF-B176-32A36D4CCB0B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36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9360" cy="58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36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70320" y="2353320"/>
            <a:ext cx="12069360" cy="58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816FB5C-586F-410D-8824-219B37D89C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36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70320" y="2353320"/>
            <a:ext cx="12069360" cy="58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ACF0336-2A88-4C96-AAB8-D8587CDB0C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 object 16"/>
          <p:cNvSpPr/>
          <p:nvPr/>
        </p:nvSpPr>
        <p:spPr>
          <a:xfrm>
            <a:off x="331200" y="2514600"/>
            <a:ext cx="12752640" cy="4141080"/>
          </a:xfrm>
          <a:custGeom>
            <a:avLst/>
            <a:gdLst>
              <a:gd name="textAreaLeft" fmla="*/ 0 w 12752640"/>
              <a:gd name="textAreaRight" fmla="*/ 12753720 w 12752640"/>
              <a:gd name="textAreaTop" fmla="*/ 0 h 4141080"/>
              <a:gd name="textAreaBottom" fmla="*/ 4142160 h 414108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70320" y="793440"/>
            <a:ext cx="12068640" cy="89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8640" cy="583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9"/>
          </p:nvPr>
        </p:nvSpPr>
        <p:spPr>
          <a:xfrm>
            <a:off x="4559760" y="9354240"/>
            <a:ext cx="429048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0"/>
          </p:nvPr>
        </p:nvSpPr>
        <p:spPr>
          <a:xfrm>
            <a:off x="9655920" y="9354240"/>
            <a:ext cx="308340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8B463AC-650D-4EDF-9F58-98D7BEB07BEC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21"/>
          </p:nvPr>
        </p:nvSpPr>
        <p:spPr>
          <a:xfrm>
            <a:off x="670680" y="9354240"/>
            <a:ext cx="308340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/>
          <p:cNvSpPr/>
          <p:nvPr/>
        </p:nvSpPr>
        <p:spPr>
          <a:xfrm>
            <a:off x="331200" y="2514600"/>
            <a:ext cx="12752640" cy="4141080"/>
          </a:xfrm>
          <a:custGeom>
            <a:avLst/>
            <a:gdLst>
              <a:gd name="textAreaLeft" fmla="*/ 0 w 12752640"/>
              <a:gd name="textAreaRight" fmla="*/ 12753720 w 12752640"/>
              <a:gd name="textAreaTop" fmla="*/ 0 h 4141080"/>
              <a:gd name="textAreaBottom" fmla="*/ 4142160 h 414108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70320" y="793440"/>
            <a:ext cx="12068640" cy="89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8640" cy="583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2"/>
          </p:nvPr>
        </p:nvSpPr>
        <p:spPr>
          <a:xfrm>
            <a:off x="4559760" y="9354240"/>
            <a:ext cx="429048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3"/>
          </p:nvPr>
        </p:nvSpPr>
        <p:spPr>
          <a:xfrm>
            <a:off x="9655920" y="9354240"/>
            <a:ext cx="308340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08627A8-1495-4D10-8246-2DC513647B3F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4"/>
          </p:nvPr>
        </p:nvSpPr>
        <p:spPr>
          <a:xfrm>
            <a:off x="670680" y="9354240"/>
            <a:ext cx="308340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25"/>
          </p:nvPr>
        </p:nvSpPr>
        <p:spPr>
          <a:xfrm>
            <a:off x="22501080" y="12821040"/>
            <a:ext cx="51768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5880" indent="0" algn="r">
              <a:lnSpc>
                <a:spcPts val="2259"/>
              </a:lnSpc>
              <a:buNone/>
              <a:def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marL="65880" indent="0" algn="r">
              <a:lnSpc>
                <a:spcPts val="2259"/>
              </a:lnSpc>
              <a:buNone/>
            </a:pPr>
            <a:fld id="{A3E57C40-9869-436F-BF7E-85C4D882C657}" type="slidenum">
              <a: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" name="object 25"/>
          <p:cNvPicPr/>
          <p:nvPr/>
        </p:nvPicPr>
        <p:blipFill>
          <a:blip r:embed="rId1"/>
          <a:srcRect l="0" t="12" r="0" b="12"/>
          <a:stretch/>
        </p:blipFill>
        <p:spPr>
          <a:xfrm>
            <a:off x="0" y="457200"/>
            <a:ext cx="13410720" cy="90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object 30"/>
          <p:cNvSpPr/>
          <p:nvPr/>
        </p:nvSpPr>
        <p:spPr>
          <a:xfrm>
            <a:off x="0" y="1143000"/>
            <a:ext cx="12724920" cy="488556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Data Structure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chemeClr val="lt1"/>
                </a:solidFill>
                <a:effectLst/>
                <a:uFillTx/>
                <a:latin typeface="Comic Sans MS"/>
              </a:rPr>
              <a:t>Level 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Doubly Linked List Operation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object 2"/>
          <p:cNvGrpSpPr/>
          <p:nvPr/>
        </p:nvGrpSpPr>
        <p:grpSpPr>
          <a:xfrm>
            <a:off x="-10800" y="645480"/>
            <a:ext cx="13410720" cy="8766720"/>
            <a:chOff x="-10800" y="645480"/>
            <a:chExt cx="13410720" cy="8766720"/>
          </a:xfrm>
        </p:grpSpPr>
        <p:pic>
          <p:nvPicPr>
            <p:cNvPr id="54" name="object 3"/>
            <p:cNvPicPr/>
            <p:nvPr/>
          </p:nvPicPr>
          <p:blipFill>
            <a:blip r:embed="rId1"/>
            <a:stretch/>
          </p:blipFill>
          <p:spPr>
            <a:xfrm>
              <a:off x="-10800" y="645480"/>
              <a:ext cx="13410720" cy="8766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5" name="object 4"/>
            <p:cNvSpPr/>
            <p:nvPr/>
          </p:nvSpPr>
          <p:spPr>
            <a:xfrm>
              <a:off x="94320" y="3564360"/>
              <a:ext cx="13305600" cy="2182320"/>
            </a:xfrm>
            <a:custGeom>
              <a:avLst/>
              <a:gdLst>
                <a:gd name="textAreaLeft" fmla="*/ 0 w 13305600"/>
                <a:gd name="textAreaRight" fmla="*/ 13305960 w 13305600"/>
                <a:gd name="textAreaTop" fmla="*/ 0 h 2182320"/>
                <a:gd name="textAreaBottom" fmla="*/ 2182680 h 2182320"/>
              </a:gdLst>
              <a:ahLst/>
              <a:cxnLst/>
              <a:rect l="textAreaLeft" t="textAreaTop" r="textAreaRight" b="textAreaBottom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" name="object 8"/>
          <p:cNvSpPr/>
          <p:nvPr/>
        </p:nvSpPr>
        <p:spPr>
          <a:xfrm>
            <a:off x="13091760" y="12746160"/>
            <a:ext cx="18252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0880" rIns="0" bIns="0" anchor="t">
            <a:spAutoFit/>
          </a:bodyPr>
          <a:p>
            <a:pPr marL="21960">
              <a:lnSpc>
                <a:spcPct val="100000"/>
              </a:lnSpc>
              <a:spcBef>
                <a:spcPts val="164"/>
              </a:spcBef>
            </a:pPr>
            <a:r>
              <a:rPr lang="en-US" sz="215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bject 30"/>
          <p:cNvSpPr/>
          <p:nvPr/>
        </p:nvSpPr>
        <p:spPr>
          <a:xfrm>
            <a:off x="106560" y="3084120"/>
            <a:ext cx="13304520" cy="175572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40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sv-SE" sz="24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Level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4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Insert At End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15"/>
          <p:cNvSpPr/>
          <p:nvPr/>
        </p:nvSpPr>
        <p:spPr>
          <a:xfrm>
            <a:off x="380880" y="888480"/>
            <a:ext cx="1235160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: Rounded Corners 18"/>
          <p:cNvSpPr/>
          <p:nvPr/>
        </p:nvSpPr>
        <p:spPr>
          <a:xfrm>
            <a:off x="6515280" y="358632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60" name="Straight Connector 35"/>
          <p:cNvCxnSpPr/>
          <p:nvPr/>
        </p:nvCxnSpPr>
        <p:spPr>
          <a:xfrm>
            <a:off x="7277040" y="366228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1" name="TextBox 40"/>
          <p:cNvSpPr/>
          <p:nvPr/>
        </p:nvSpPr>
        <p:spPr>
          <a:xfrm>
            <a:off x="6514920" y="4191480"/>
            <a:ext cx="251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Straight Connector 36"/>
          <p:cNvCxnSpPr/>
          <p:nvPr/>
        </p:nvCxnSpPr>
        <p:spPr>
          <a:xfrm>
            <a:off x="8115120" y="366228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3" name="TextBox 41"/>
          <p:cNvSpPr/>
          <p:nvPr/>
        </p:nvSpPr>
        <p:spPr>
          <a:xfrm>
            <a:off x="2400120" y="373428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2"/>
          <p:cNvSpPr/>
          <p:nvPr/>
        </p:nvSpPr>
        <p:spPr>
          <a:xfrm>
            <a:off x="2400120" y="480096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43"/>
          <p:cNvSpPr/>
          <p:nvPr/>
        </p:nvSpPr>
        <p:spPr>
          <a:xfrm>
            <a:off x="12458520" y="472464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: Rounded Corners 19"/>
          <p:cNvSpPr/>
          <p:nvPr/>
        </p:nvSpPr>
        <p:spPr>
          <a:xfrm>
            <a:off x="3772080" y="358632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67" name="Straight Connector 37"/>
          <p:cNvCxnSpPr/>
          <p:nvPr/>
        </p:nvCxnSpPr>
        <p:spPr>
          <a:xfrm>
            <a:off x="4686120" y="366228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8" name="TextBox 44"/>
          <p:cNvSpPr/>
          <p:nvPr/>
        </p:nvSpPr>
        <p:spPr>
          <a:xfrm>
            <a:off x="3888360" y="4191480"/>
            <a:ext cx="251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Straight Connector 38"/>
          <p:cNvCxnSpPr/>
          <p:nvPr/>
        </p:nvCxnSpPr>
        <p:spPr>
          <a:xfrm>
            <a:off x="5524200" y="366228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70" name="Arrow: Curved Down 37"/>
          <p:cNvSpPr/>
          <p:nvPr/>
        </p:nvSpPr>
        <p:spPr>
          <a:xfrm>
            <a:off x="5715000" y="274356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Arrow: Curved Down 40"/>
          <p:cNvSpPr/>
          <p:nvPr/>
        </p:nvSpPr>
        <p:spPr>
          <a:xfrm>
            <a:off x="3124080" y="273924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Arrow: Curved Down 41"/>
          <p:cNvSpPr/>
          <p:nvPr/>
        </p:nvSpPr>
        <p:spPr>
          <a:xfrm flipH="1" flipV="1">
            <a:off x="2285280" y="527400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Arrow: Curved Down 42"/>
          <p:cNvSpPr/>
          <p:nvPr/>
        </p:nvSpPr>
        <p:spPr>
          <a:xfrm flipH="1" flipV="1">
            <a:off x="4952160" y="525672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Arrow: Curved Down 38"/>
          <p:cNvSpPr/>
          <p:nvPr/>
        </p:nvSpPr>
        <p:spPr>
          <a:xfrm>
            <a:off x="8236800" y="2743560"/>
            <a:ext cx="510480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Arrow: Curved Down 39"/>
          <p:cNvSpPr/>
          <p:nvPr/>
        </p:nvSpPr>
        <p:spPr>
          <a:xfrm flipH="1" flipV="1">
            <a:off x="7505640" y="5257440"/>
            <a:ext cx="453312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Arrow: Right 7"/>
          <p:cNvSpPr/>
          <p:nvPr/>
        </p:nvSpPr>
        <p:spPr>
          <a:xfrm rot="18695400">
            <a:off x="10663560" y="6116040"/>
            <a:ext cx="229140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7" name="Arrow: Right 8"/>
          <p:cNvSpPr/>
          <p:nvPr/>
        </p:nvSpPr>
        <p:spPr>
          <a:xfrm flipH="1" rot="2904600">
            <a:off x="7243560" y="6116040"/>
            <a:ext cx="229140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: Rounded Corners 17"/>
          <p:cNvSpPr/>
          <p:nvPr/>
        </p:nvSpPr>
        <p:spPr>
          <a:xfrm>
            <a:off x="8915400" y="708660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79" name="Straight Connector 33"/>
          <p:cNvCxnSpPr/>
          <p:nvPr/>
        </p:nvCxnSpPr>
        <p:spPr>
          <a:xfrm>
            <a:off x="9677160" y="716184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cxnSp>
        <p:nvCxnSpPr>
          <p:cNvPr id="80" name="Straight Connector 34"/>
          <p:cNvCxnSpPr/>
          <p:nvPr/>
        </p:nvCxnSpPr>
        <p:spPr>
          <a:xfrm>
            <a:off x="10515240" y="716184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1" name="TextBox 38"/>
          <p:cNvSpPr/>
          <p:nvPr/>
        </p:nvSpPr>
        <p:spPr>
          <a:xfrm>
            <a:off x="8916120" y="7774200"/>
            <a:ext cx="251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9"/>
          <p:cNvSpPr/>
          <p:nvPr/>
        </p:nvSpPr>
        <p:spPr>
          <a:xfrm>
            <a:off x="9653040" y="2367360"/>
            <a:ext cx="532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bject 1"/>
          <p:cNvSpPr/>
          <p:nvPr/>
        </p:nvSpPr>
        <p:spPr>
          <a:xfrm>
            <a:off x="380880" y="888480"/>
            <a:ext cx="1235160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: Rounded Corners 1"/>
          <p:cNvSpPr/>
          <p:nvPr/>
        </p:nvSpPr>
        <p:spPr>
          <a:xfrm>
            <a:off x="6515280" y="358632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85" name="Straight Connector 1"/>
          <p:cNvCxnSpPr/>
          <p:nvPr/>
        </p:nvCxnSpPr>
        <p:spPr>
          <a:xfrm>
            <a:off x="7277040" y="366228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6" name="TextBox 1"/>
          <p:cNvSpPr/>
          <p:nvPr/>
        </p:nvSpPr>
        <p:spPr>
          <a:xfrm>
            <a:off x="6514920" y="4191480"/>
            <a:ext cx="251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2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Straight Connector 2"/>
          <p:cNvCxnSpPr/>
          <p:nvPr/>
        </p:nvCxnSpPr>
        <p:spPr>
          <a:xfrm>
            <a:off x="8115120" y="366228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8" name="TextBox 2"/>
          <p:cNvSpPr/>
          <p:nvPr/>
        </p:nvSpPr>
        <p:spPr>
          <a:xfrm>
            <a:off x="2400120" y="373428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2400120" y="480096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12458520" y="472464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: Rounded Corners 2"/>
          <p:cNvSpPr/>
          <p:nvPr/>
        </p:nvSpPr>
        <p:spPr>
          <a:xfrm>
            <a:off x="3772080" y="358632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92" name="Straight Connector 3"/>
          <p:cNvCxnSpPr/>
          <p:nvPr/>
        </p:nvCxnSpPr>
        <p:spPr>
          <a:xfrm>
            <a:off x="4686120" y="366228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3" name="TextBox 5"/>
          <p:cNvSpPr/>
          <p:nvPr/>
        </p:nvSpPr>
        <p:spPr>
          <a:xfrm>
            <a:off x="3888360" y="4191480"/>
            <a:ext cx="251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Straight Connector 4"/>
          <p:cNvCxnSpPr/>
          <p:nvPr/>
        </p:nvCxnSpPr>
        <p:spPr>
          <a:xfrm>
            <a:off x="5524200" y="366228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5" name="Arrow: Curved Down 1"/>
          <p:cNvSpPr/>
          <p:nvPr/>
        </p:nvSpPr>
        <p:spPr>
          <a:xfrm>
            <a:off x="5715000" y="274356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Arrow: Curved Down 2"/>
          <p:cNvSpPr/>
          <p:nvPr/>
        </p:nvSpPr>
        <p:spPr>
          <a:xfrm>
            <a:off x="3124080" y="273924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Arrow: Curved Down 3"/>
          <p:cNvSpPr/>
          <p:nvPr/>
        </p:nvSpPr>
        <p:spPr>
          <a:xfrm flipH="1" flipV="1">
            <a:off x="2285280" y="527400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Arrow: Curved Down 4"/>
          <p:cNvSpPr/>
          <p:nvPr/>
        </p:nvSpPr>
        <p:spPr>
          <a:xfrm flipH="1" flipV="1">
            <a:off x="4952160" y="525672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Arrow: Curved Down 6"/>
          <p:cNvSpPr/>
          <p:nvPr/>
        </p:nvSpPr>
        <p:spPr>
          <a:xfrm flipH="1" flipV="1">
            <a:off x="7505640" y="5257440"/>
            <a:ext cx="4533120" cy="83736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Arrow: Right 1"/>
          <p:cNvSpPr/>
          <p:nvPr/>
        </p:nvSpPr>
        <p:spPr>
          <a:xfrm rot="18695400">
            <a:off x="10663560" y="6116040"/>
            <a:ext cx="229140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1" name="Arrow: Right 2"/>
          <p:cNvSpPr/>
          <p:nvPr/>
        </p:nvSpPr>
        <p:spPr>
          <a:xfrm flipH="1" rot="2904600">
            <a:off x="7243560" y="6116040"/>
            <a:ext cx="229140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: Rounded Corners 3"/>
          <p:cNvSpPr/>
          <p:nvPr/>
        </p:nvSpPr>
        <p:spPr>
          <a:xfrm>
            <a:off x="8915400" y="708660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03" name="Straight Connector 5"/>
          <p:cNvCxnSpPr/>
          <p:nvPr/>
        </p:nvCxnSpPr>
        <p:spPr>
          <a:xfrm>
            <a:off x="9677160" y="716184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cxnSp>
        <p:nvCxnSpPr>
          <p:cNvPr id="104" name="Straight Connector 6"/>
          <p:cNvCxnSpPr/>
          <p:nvPr/>
        </p:nvCxnSpPr>
        <p:spPr>
          <a:xfrm>
            <a:off x="10515240" y="716184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5" name="TextBox 6"/>
          <p:cNvSpPr/>
          <p:nvPr/>
        </p:nvSpPr>
        <p:spPr>
          <a:xfrm>
            <a:off x="8916120" y="7774200"/>
            <a:ext cx="251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9653040" y="5715360"/>
            <a:ext cx="532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bject 16"/>
          <p:cNvSpPr/>
          <p:nvPr/>
        </p:nvSpPr>
        <p:spPr>
          <a:xfrm>
            <a:off x="380880" y="888120"/>
            <a:ext cx="1235160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: Rounded Corners 12"/>
          <p:cNvSpPr/>
          <p:nvPr/>
        </p:nvSpPr>
        <p:spPr>
          <a:xfrm>
            <a:off x="6515280" y="358596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09" name="Straight Connector 22"/>
          <p:cNvCxnSpPr/>
          <p:nvPr/>
        </p:nvCxnSpPr>
        <p:spPr>
          <a:xfrm>
            <a:off x="7277040" y="366192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0" name="TextBox 26"/>
          <p:cNvSpPr/>
          <p:nvPr/>
        </p:nvSpPr>
        <p:spPr>
          <a:xfrm>
            <a:off x="6514920" y="4191120"/>
            <a:ext cx="251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Straight Connector 24"/>
          <p:cNvCxnSpPr/>
          <p:nvPr/>
        </p:nvCxnSpPr>
        <p:spPr>
          <a:xfrm>
            <a:off x="8115120" y="366192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2" name="TextBox 27"/>
          <p:cNvSpPr/>
          <p:nvPr/>
        </p:nvSpPr>
        <p:spPr>
          <a:xfrm>
            <a:off x="2400120" y="373392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8"/>
          <p:cNvSpPr/>
          <p:nvPr/>
        </p:nvSpPr>
        <p:spPr>
          <a:xfrm>
            <a:off x="2400120" y="480060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9"/>
          <p:cNvSpPr/>
          <p:nvPr/>
        </p:nvSpPr>
        <p:spPr>
          <a:xfrm>
            <a:off x="12458520" y="4724280"/>
            <a:ext cx="95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: Rounded Corners 13"/>
          <p:cNvSpPr/>
          <p:nvPr/>
        </p:nvSpPr>
        <p:spPr>
          <a:xfrm>
            <a:off x="3772080" y="358596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16" name="Straight Connector 25"/>
          <p:cNvCxnSpPr/>
          <p:nvPr/>
        </p:nvCxnSpPr>
        <p:spPr>
          <a:xfrm>
            <a:off x="4686120" y="366192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7" name="TextBox 30"/>
          <p:cNvSpPr/>
          <p:nvPr/>
        </p:nvSpPr>
        <p:spPr>
          <a:xfrm>
            <a:off x="3888360" y="4191120"/>
            <a:ext cx="2513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Straight Connector 26"/>
          <p:cNvCxnSpPr/>
          <p:nvPr/>
        </p:nvCxnSpPr>
        <p:spPr>
          <a:xfrm>
            <a:off x="5524200" y="366192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9" name="Rectangle: Rounded Corners 14"/>
          <p:cNvSpPr/>
          <p:nvPr/>
        </p:nvSpPr>
        <p:spPr>
          <a:xfrm>
            <a:off x="9258120" y="3585960"/>
            <a:ext cx="2513520" cy="1675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20" name="Straight Connector 27"/>
          <p:cNvCxnSpPr/>
          <p:nvPr/>
        </p:nvCxnSpPr>
        <p:spPr>
          <a:xfrm>
            <a:off x="10020240" y="366192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21" name="TextBox 31"/>
          <p:cNvSpPr/>
          <p:nvPr/>
        </p:nvSpPr>
        <p:spPr>
          <a:xfrm>
            <a:off x="9258120" y="419112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Straight Connector 28"/>
          <p:cNvCxnSpPr/>
          <p:nvPr/>
        </p:nvCxnSpPr>
        <p:spPr>
          <a:xfrm>
            <a:off x="10858320" y="3661920"/>
            <a:ext cx="1080" cy="160128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23" name="Arrow: Curved Down 23"/>
          <p:cNvSpPr/>
          <p:nvPr/>
        </p:nvSpPr>
        <p:spPr>
          <a:xfrm>
            <a:off x="5715000" y="274320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Arrow: Curved Down 24"/>
          <p:cNvSpPr/>
          <p:nvPr/>
        </p:nvSpPr>
        <p:spPr>
          <a:xfrm>
            <a:off x="8458200" y="273888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Arrow: Curved Down 25"/>
          <p:cNvSpPr/>
          <p:nvPr/>
        </p:nvSpPr>
        <p:spPr>
          <a:xfrm>
            <a:off x="11049120" y="274320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Arrow: Curved Down 29"/>
          <p:cNvSpPr/>
          <p:nvPr/>
        </p:nvSpPr>
        <p:spPr>
          <a:xfrm>
            <a:off x="3124080" y="273888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Arrow: Curved Down 30"/>
          <p:cNvSpPr/>
          <p:nvPr/>
        </p:nvSpPr>
        <p:spPr>
          <a:xfrm flipH="1" flipV="1">
            <a:off x="2285280" y="527364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Arrow: Curved Down 31"/>
          <p:cNvSpPr/>
          <p:nvPr/>
        </p:nvSpPr>
        <p:spPr>
          <a:xfrm flipH="1" flipV="1">
            <a:off x="4952160" y="525636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Arrow: Curved Down 45"/>
          <p:cNvSpPr/>
          <p:nvPr/>
        </p:nvSpPr>
        <p:spPr>
          <a:xfrm flipH="1" flipV="1">
            <a:off x="7543080" y="526536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Arrow: Curved Down 46"/>
          <p:cNvSpPr/>
          <p:nvPr/>
        </p:nvSpPr>
        <p:spPr>
          <a:xfrm flipH="1" flipV="1">
            <a:off x="10286280" y="5256360"/>
            <a:ext cx="21326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bject 5"/>
          <p:cNvSpPr/>
          <p:nvPr/>
        </p:nvSpPr>
        <p:spPr>
          <a:xfrm>
            <a:off x="380880" y="888120"/>
            <a:ext cx="12352320" cy="14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🔎 Definition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Adds a new node at the end (tail) of the doubly linked list.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object 3"/>
          <p:cNvSpPr/>
          <p:nvPr/>
        </p:nvSpPr>
        <p:spPr>
          <a:xfrm>
            <a:off x="380880" y="888120"/>
            <a:ext cx="12352320" cy="18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📖 Explanation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This operation inserts a node at the last position in the 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It requires traversing the list to reach the final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bject 3"/>
          <p:cNvSpPr/>
          <p:nvPr/>
        </p:nvSpPr>
        <p:spPr>
          <a:xfrm>
            <a:off x="380880" y="888120"/>
            <a:ext cx="12352320" cy="29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1️⃣ Create New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Allocate new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Set value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Set next =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object 6"/>
          <p:cNvSpPr/>
          <p:nvPr/>
        </p:nvSpPr>
        <p:spPr>
          <a:xfrm>
            <a:off x="380880" y="888120"/>
            <a:ext cx="12352320" cy="29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2️⃣ Check if List is Empty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If head == NULL: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Set newNode-&gt;prev =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Make head = newNode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➡️ Result: First node in the 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object 7"/>
          <p:cNvSpPr/>
          <p:nvPr/>
        </p:nvSpPr>
        <p:spPr>
          <a:xfrm>
            <a:off x="380880" y="888120"/>
            <a:ext cx="12352320" cy="259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3️⃣ Traverse to Last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Start from 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Move until current-&gt;next ==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object 9"/>
          <p:cNvSpPr/>
          <p:nvPr/>
        </p:nvSpPr>
        <p:spPr>
          <a:xfrm>
            <a:off x="380880" y="888120"/>
            <a:ext cx="12352320" cy="29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4️⃣ Insert at End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Set current-&gt;next = newNode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Set newNode-&gt;prev = current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➡️ Result: Node added at the end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object 3"/>
          <p:cNvSpPr/>
          <p:nvPr/>
        </p:nvSpPr>
        <p:spPr>
          <a:xfrm>
            <a:off x="380880" y="888120"/>
            <a:ext cx="12352320" cy="29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💡 Example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Before: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 &lt;- 1 &lt;-&gt; 2 &lt;-&gt; 3 &lt;-&gt; 4 &lt;-&gt; 5 -&gt;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After inserting 500: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 &lt;- 1 &lt;-&gt; 2 &lt;-&gt; 3 &lt;-&gt; 4 &lt;-&gt; 5 &lt;-&gt; 500 -&gt;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object 3"/>
          <p:cNvSpPr/>
          <p:nvPr/>
        </p:nvSpPr>
        <p:spPr>
          <a:xfrm>
            <a:off x="380880" y="888120"/>
            <a:ext cx="12352320" cy="18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📌 Note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Traversal is required unless you keep a tail pointer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Works for both empty and non-empty lists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bject 3"/>
          <p:cNvSpPr/>
          <p:nvPr/>
        </p:nvSpPr>
        <p:spPr>
          <a:xfrm>
            <a:off x="380880" y="888120"/>
            <a:ext cx="12352320" cy="18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🚫 Warning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⚠️ In this code, head is passed by value, so if the list is empty, the change will NOT affect the original 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3"/>
          <p:cNvSpPr/>
          <p:nvPr/>
        </p:nvSpPr>
        <p:spPr>
          <a:xfrm>
            <a:off x="380880" y="888120"/>
            <a:ext cx="12352320" cy="44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⚖️ Comparison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Insert At Beginning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Time Complexity: O(1)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No traversal needed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Direct head update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🟥 Insert At End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Time Complexity: O(n)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Requires traversal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Updates last node pointers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object 3"/>
          <p:cNvSpPr/>
          <p:nvPr/>
        </p:nvSpPr>
        <p:spPr>
          <a:xfrm>
            <a:off x="380880" y="888120"/>
            <a:ext cx="12352320" cy="259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✨ Summary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InsertAtEnd adds a node at the last position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Requires traversal to reach the last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Updates both next and prev pointers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Can be optimized using a tail pointer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4"/>
          <p:cNvSpPr/>
          <p:nvPr/>
        </p:nvSpPr>
        <p:spPr>
          <a:xfrm>
            <a:off x="0" y="4712760"/>
            <a:ext cx="1341072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spAutoFit/>
          </a:bodyPr>
          <a:p>
            <a:pPr marL="16920" algn="ctr">
              <a:lnSpc>
                <a:spcPct val="100000"/>
              </a:lnSpc>
              <a:spcBef>
                <a:spcPts val="133"/>
              </a:spcBef>
            </a:pPr>
            <a:r>
              <a:rPr lang="sv-SE" sz="4000" b="1" u="none" spc="-17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Thank you</a:t>
            </a:r>
            <a:r>
              <a:rPr lang="sv-SE" sz="4000" b="0" u="none" spc="-20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sv-SE" sz="4000" b="0" u="none" spc="-68" strike="noStrike">
                <a:solidFill>
                  <a:srgbClr val="FF0000"/>
                </a:solidFill>
                <a:effectLst/>
                <a:uFillTx/>
                <a:latin typeface="Wingdings"/>
              </a:rPr>
              <a:t>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11886</TotalTime>
  <Application>LibreOffice/26.2.3.2$Windows_X86_64 LibreOffice_project/70e089b17412e4cb7773e41413306b17a2328c34</Application>
  <AppVersion>15.0000</AppVersion>
  <Words>404</Words>
  <Paragraphs>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2025-12-09T17:44:59Z</dcterms:created>
  <dc:creator>Sara Alterkawi</dc:creator>
  <dc:description/>
  <dc:language>en-US</dc:language>
  <cp:lastModifiedBy/>
  <dcterms:modified xsi:type="dcterms:W3CDTF">2026-05-05T12:45:47Z</dcterms:modified>
  <cp:revision>443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esentationFormat">
    <vt:lpwstr>Custom</vt:lpwstr>
  </property>
  <property fmtid="{D5CDD505-2E9C-101B-9397-08002B2CF9AE}" pid="6" name="Producer">
    <vt:lpwstr>www.ilovepdf.com</vt:lpwstr>
  </property>
  <property fmtid="{D5CDD505-2E9C-101B-9397-08002B2CF9AE}" pid="7" name="Slides">
    <vt:i4>13</vt:i4>
  </property>
</Properties>
</file>