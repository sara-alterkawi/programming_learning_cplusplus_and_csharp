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5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</p:sldIdLst>
  <p:sldSz cx="13411200" cy="100584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7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Slide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1005840" y="3117960"/>
            <a:ext cx="11397960" cy="893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586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586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Click to </a:t>
            </a:r>
            <a:r>
              <a:rPr lang="en-US" sz="586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edit </a:t>
            </a:r>
            <a:r>
              <a:rPr lang="en-US" sz="586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the </a:t>
            </a:r>
            <a:r>
              <a:rPr lang="en-US" sz="586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title </a:t>
            </a:r>
            <a:r>
              <a:rPr lang="en-US" sz="586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text </a:t>
            </a:r>
            <a:r>
              <a:rPr lang="en-US" sz="586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format</a:t>
            </a:r>
            <a:endParaRPr lang="en-US" sz="586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>
          <a:xfrm>
            <a:off x="4559760" y="9354240"/>
            <a:ext cx="4290120" cy="275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dt" idx="2"/>
          </p:nvPr>
        </p:nvSpPr>
        <p:spPr>
          <a:xfrm>
            <a:off x="670680" y="9354240"/>
            <a:ext cx="3083040" cy="275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9655920" y="9354240"/>
            <a:ext cx="3083040" cy="275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F62B2263-F2A0-4665-A731-C2AE1F61FEA7}" type="slidenum">
              <a:rPr lang="en-US" sz="1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bg object 16"/>
          <p:cNvSpPr/>
          <p:nvPr/>
        </p:nvSpPr>
        <p:spPr>
          <a:xfrm>
            <a:off x="331200" y="2514600"/>
            <a:ext cx="12752280" cy="4140720"/>
          </a:xfrm>
          <a:custGeom>
            <a:avLst/>
            <a:gdLst>
              <a:gd name="textAreaLeft" fmla="*/ 0 w 12752280"/>
              <a:gd name="textAreaRight" fmla="*/ 12753720 w 12752280"/>
              <a:gd name="textAreaTop" fmla="*/ 0 h 4140720"/>
              <a:gd name="textAreaBottom" fmla="*/ 4142160 h 4140720"/>
            </a:gdLst>
            <a:ahLst/>
            <a:cxnLst/>
            <a:rect l="textAreaLeft" t="textAreaTop" r="textAreaRight" b="textAreaBottom"/>
            <a:pathLst>
              <a:path w="7391400" h="4142104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noFill/>
          <a:ln w="12192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117680" y="3823560"/>
            <a:ext cx="7710840" cy="901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586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586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586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617040" y="3228120"/>
            <a:ext cx="7642080" cy="476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1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1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1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1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1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1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1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1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1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78876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1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Second Outline Level</a:t>
            </a:r>
            <a:endParaRPr lang="en-US" sz="31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1577520" lvl="2" indent="-2880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1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Third Outline Level</a:t>
            </a:r>
            <a:endParaRPr lang="en-US" sz="31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2366640" lvl="3" indent="-2160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1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Fourth Outline Level</a:t>
            </a:r>
            <a:endParaRPr lang="en-US" sz="31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3155400" lvl="4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1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Fifth Outline Level</a:t>
            </a:r>
            <a:endParaRPr lang="en-US" sz="31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3944160" lvl="5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1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Sixth Outline Level</a:t>
            </a:r>
            <a:endParaRPr lang="en-US" sz="31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4732920" lvl="6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1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Seventh Outline Level</a:t>
            </a:r>
            <a:endParaRPr lang="en-US" sz="31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ftr" idx="4"/>
          </p:nvPr>
        </p:nvSpPr>
        <p:spPr>
          <a:xfrm>
            <a:off x="4559760" y="9354240"/>
            <a:ext cx="4290120" cy="275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dt" idx="5"/>
          </p:nvPr>
        </p:nvSpPr>
        <p:spPr>
          <a:xfrm>
            <a:off x="670680" y="9354240"/>
            <a:ext cx="3083040" cy="275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sldNum" idx="6"/>
          </p:nvPr>
        </p:nvSpPr>
        <p:spPr>
          <a:xfrm>
            <a:off x="9655920" y="9354240"/>
            <a:ext cx="3083040" cy="275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DA1B79D4-2CED-49C4-B0EA-9E71F26FC952}" type="slidenum">
              <a:rPr lang="en-US" sz="1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wo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117680" y="3823560"/>
            <a:ext cx="7710840" cy="901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586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586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586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670680" y="2313360"/>
            <a:ext cx="5832360" cy="2901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78876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1577520" lvl="2" indent="-2880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2366640" lvl="3" indent="-2160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3155400" lvl="4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3944160" lvl="5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4732920" lvl="6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body"/>
          </p:nvPr>
        </p:nvSpPr>
        <p:spPr>
          <a:xfrm>
            <a:off x="6906600" y="2313360"/>
            <a:ext cx="5832360" cy="2901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7pPr>
          </a:lstStyle>
          <a:p>
            <a:pPr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78876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1577520" lvl="2" indent="-2880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2366640" lvl="3" indent="-2160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3155400" lvl="4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3944160" lvl="5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4732920" lvl="6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ftr" idx="7"/>
          </p:nvPr>
        </p:nvSpPr>
        <p:spPr>
          <a:xfrm>
            <a:off x="4559760" y="9354240"/>
            <a:ext cx="4290120" cy="275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dt" idx="8"/>
          </p:nvPr>
        </p:nvSpPr>
        <p:spPr>
          <a:xfrm>
            <a:off x="670680" y="9354240"/>
            <a:ext cx="3083040" cy="275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PlaceHolder 6"/>
          <p:cNvSpPr>
            <a:spLocks noGrp="1"/>
          </p:cNvSpPr>
          <p:nvPr>
            <p:ph type="sldNum" idx="9"/>
          </p:nvPr>
        </p:nvSpPr>
        <p:spPr>
          <a:xfrm>
            <a:off x="9655920" y="9354240"/>
            <a:ext cx="3083040" cy="275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669375B3-24CE-432B-9A87-0DDDEDCE42C7}" type="slidenum">
              <a:rPr lang="en-US" sz="1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Only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bg object 16"/>
          <p:cNvPicPr/>
          <p:nvPr/>
        </p:nvPicPr>
        <p:blipFill>
          <a:blip r:embed="rId2"/>
          <a:stretch/>
        </p:blipFill>
        <p:spPr>
          <a:xfrm>
            <a:off x="0" y="2209680"/>
            <a:ext cx="13409640" cy="5079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" name="bg object 17"/>
          <p:cNvSpPr/>
          <p:nvPr/>
        </p:nvSpPr>
        <p:spPr>
          <a:xfrm>
            <a:off x="105120" y="3901320"/>
            <a:ext cx="13304520" cy="788400"/>
          </a:xfrm>
          <a:custGeom>
            <a:avLst/>
            <a:gdLst>
              <a:gd name="textAreaLeft" fmla="*/ 0 w 13304520"/>
              <a:gd name="textAreaRight" fmla="*/ 13305960 w 13304520"/>
              <a:gd name="textAreaTop" fmla="*/ 0 h 788400"/>
              <a:gd name="textAreaBottom" fmla="*/ 789840 h 788400"/>
            </a:gdLst>
            <a:ahLst/>
            <a:cxnLst/>
            <a:rect l="textAreaLeft" t="textAreaTop" r="textAreaRight" b="textAreaBottom"/>
            <a:pathLst>
              <a:path w="7711440" h="789939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noFill/>
          <a:ln w="12191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4117680" y="3823560"/>
            <a:ext cx="7710840" cy="901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586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586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586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ftr" idx="10"/>
          </p:nvPr>
        </p:nvSpPr>
        <p:spPr>
          <a:xfrm>
            <a:off x="4559760" y="9354240"/>
            <a:ext cx="4290120" cy="275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 type="dt" idx="11"/>
          </p:nvPr>
        </p:nvSpPr>
        <p:spPr>
          <a:xfrm>
            <a:off x="670680" y="9354240"/>
            <a:ext cx="3083040" cy="275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 type="sldNum" idx="12"/>
          </p:nvPr>
        </p:nvSpPr>
        <p:spPr>
          <a:xfrm>
            <a:off x="9655920" y="9354240"/>
            <a:ext cx="3083040" cy="275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A0E5A991-E918-4F30-951F-03233FB7C606}" type="slidenum">
              <a:rPr lang="en-US" sz="1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Blank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ftr" idx="13"/>
          </p:nvPr>
        </p:nvSpPr>
        <p:spPr>
          <a:xfrm>
            <a:off x="4559760" y="9354240"/>
            <a:ext cx="4290120" cy="275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dt" idx="14"/>
          </p:nvPr>
        </p:nvSpPr>
        <p:spPr>
          <a:xfrm>
            <a:off x="670680" y="9354240"/>
            <a:ext cx="3083040" cy="275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sldNum" idx="15"/>
          </p:nvPr>
        </p:nvSpPr>
        <p:spPr>
          <a:xfrm>
            <a:off x="9655920" y="9354240"/>
            <a:ext cx="3083040" cy="275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E70ACAE1-6A6E-420A-B444-D91F446D071A}" type="slidenum">
              <a:rPr lang="en-US" sz="1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" name="PlaceHolder 4"/>
          <p:cNvSpPr>
            <a:spLocks noGrp="1"/>
          </p:cNvSpPr>
          <p:nvPr>
            <p:ph type="title"/>
          </p:nvPr>
        </p:nvSpPr>
        <p:spPr>
          <a:xfrm>
            <a:off x="670320" y="401040"/>
            <a:ext cx="12068280" cy="1677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5"/>
          <p:cNvSpPr>
            <a:spLocks noGrp="1"/>
          </p:cNvSpPr>
          <p:nvPr>
            <p:ph type="body"/>
          </p:nvPr>
        </p:nvSpPr>
        <p:spPr>
          <a:xfrm>
            <a:off x="670320" y="2353320"/>
            <a:ext cx="12068280" cy="5832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86400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ftr" idx="16"/>
          </p:nvPr>
        </p:nvSpPr>
        <p:spPr>
          <a:xfrm>
            <a:off x="4559760" y="9354240"/>
            <a:ext cx="4290120" cy="275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dt" idx="17"/>
          </p:nvPr>
        </p:nvSpPr>
        <p:spPr>
          <a:xfrm>
            <a:off x="670680" y="9354240"/>
            <a:ext cx="3083040" cy="275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sldNum" idx="18"/>
          </p:nvPr>
        </p:nvSpPr>
        <p:spPr>
          <a:xfrm>
            <a:off x="9655920" y="9354240"/>
            <a:ext cx="3083040" cy="275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B9F5B4E3-E109-445E-B74D-6E22431DF26B}" type="slidenum">
              <a:rPr lang="en-US" sz="1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title"/>
          </p:nvPr>
        </p:nvSpPr>
        <p:spPr>
          <a:xfrm>
            <a:off x="670320" y="401040"/>
            <a:ext cx="12068280" cy="1677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 type="body"/>
          </p:nvPr>
        </p:nvSpPr>
        <p:spPr>
          <a:xfrm>
            <a:off x="670320" y="2353320"/>
            <a:ext cx="12068280" cy="5832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86400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670320" y="401040"/>
            <a:ext cx="12068280" cy="1677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/>
          </p:nvPr>
        </p:nvSpPr>
        <p:spPr>
          <a:xfrm>
            <a:off x="670320" y="2353320"/>
            <a:ext cx="12068280" cy="5832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>
              <a:spcBef>
                <a:spcPts val="1417"/>
              </a:spcBef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0"/>
          </p:nvPr>
        </p:nvSpPr>
        <p:spPr/>
        <p:txBody>
          <a:bodyPr/>
          <a:p>
            <a:fld id="{5178DC94-13E1-4B41-AE58-0B2CD640AE5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2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7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bg object 16"/>
          <p:cNvSpPr/>
          <p:nvPr/>
        </p:nvSpPr>
        <p:spPr>
          <a:xfrm>
            <a:off x="331200" y="2514600"/>
            <a:ext cx="12752280" cy="4140720"/>
          </a:xfrm>
          <a:custGeom>
            <a:avLst/>
            <a:gdLst>
              <a:gd name="textAreaLeft" fmla="*/ 0 w 12752280"/>
              <a:gd name="textAreaRight" fmla="*/ 12753720 w 12752280"/>
              <a:gd name="textAreaTop" fmla="*/ 0 h 4140720"/>
              <a:gd name="textAreaBottom" fmla="*/ 4142160 h 4140720"/>
            </a:gdLst>
            <a:ahLst/>
            <a:cxnLst/>
            <a:rect l="textAreaLeft" t="textAreaTop" r="textAreaRight" b="textAreaBottom"/>
            <a:pathLst>
              <a:path w="7391400" h="4142104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noFill/>
          <a:ln w="12192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670320" y="793440"/>
            <a:ext cx="12068280" cy="893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>
            <a:lvl1pPr indent="0" algn="l">
              <a:buNone/>
              <a:tabLst>
                <a:tab pos="0" algn="l"/>
              </a:tabLst>
              <a:defRPr lang="en-US" sz="586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  <a:tabLst>
                <a:tab pos="0" algn="l"/>
              </a:tabLst>
            </a:pPr>
            <a:r>
              <a:rPr lang="en-US" sz="586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586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 type="body"/>
          </p:nvPr>
        </p:nvSpPr>
        <p:spPr>
          <a:xfrm>
            <a:off x="670320" y="2353320"/>
            <a:ext cx="12068280" cy="5832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1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1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1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1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1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1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1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7pPr>
          </a:lstStyle>
          <a:p>
            <a:pPr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1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1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1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Second Outline Level</a:t>
            </a:r>
            <a:endParaRPr lang="en-US" sz="31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1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Third Outline Level</a:t>
            </a:r>
            <a:endParaRPr lang="en-US" sz="31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1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Fourth Outline Level</a:t>
            </a:r>
            <a:endParaRPr lang="en-US" sz="31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1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Fifth Outline Level</a:t>
            </a:r>
            <a:endParaRPr lang="en-US" sz="31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1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Sixth Outline Level</a:t>
            </a:r>
            <a:endParaRPr lang="en-US" sz="31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1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Seventh Outline Level</a:t>
            </a:r>
            <a:endParaRPr lang="en-US" sz="31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3"/>
          <p:cNvSpPr>
            <a:spLocks noGrp="1"/>
          </p:cNvSpPr>
          <p:nvPr>
            <p:ph type="ftr" idx="19"/>
          </p:nvPr>
        </p:nvSpPr>
        <p:spPr>
          <a:xfrm>
            <a:off x="4559760" y="9354240"/>
            <a:ext cx="4290120" cy="275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4"/>
          <p:cNvSpPr>
            <a:spLocks noGrp="1"/>
          </p:cNvSpPr>
          <p:nvPr>
            <p:ph type="sldNum" idx="20"/>
          </p:nvPr>
        </p:nvSpPr>
        <p:spPr>
          <a:xfrm>
            <a:off x="9655920" y="9354240"/>
            <a:ext cx="3083040" cy="275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63652260-B559-4575-AEDF-63FEC135C817}" type="slidenum">
              <a:rPr lang="en-US" sz="1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5"/>
          <p:cNvSpPr>
            <a:spLocks noGrp="1"/>
          </p:cNvSpPr>
          <p:nvPr>
            <p:ph type="dt" idx="21"/>
          </p:nvPr>
        </p:nvSpPr>
        <p:spPr>
          <a:xfrm>
            <a:off x="670680" y="9354240"/>
            <a:ext cx="3083040" cy="275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6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5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5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sldNum" idx="22"/>
          </p:nvPr>
        </p:nvSpPr>
        <p:spPr>
          <a:xfrm>
            <a:off x="22501080" y="12821040"/>
            <a:ext cx="516600" cy="29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marL="65880" indent="0" algn="r">
              <a:lnSpc>
                <a:spcPts val="2259"/>
              </a:lnSpc>
              <a:buNone/>
              <a:tabLst>
                <a:tab pos="0" algn="l"/>
              </a:tabLst>
              <a:defRPr lang="en-US" sz="1400" b="0" u="none" spc="-85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defRPr>
            </a:lvl1pPr>
          </a:lstStyle>
          <a:p>
            <a:pPr marL="65880" indent="0" algn="r">
              <a:lnSpc>
                <a:spcPts val="2259"/>
              </a:lnSpc>
              <a:buNone/>
              <a:tabLst>
                <a:tab pos="0" algn="l"/>
              </a:tabLst>
            </a:pPr>
            <a:fld id="{484924E2-5CF6-46DA-9836-3852F1F166B5}" type="slidenum">
              <a:rPr lang="en-US" sz="1400" b="0" u="none" spc="-85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43" name="object 25"/>
          <p:cNvPicPr/>
          <p:nvPr/>
        </p:nvPicPr>
        <p:blipFill>
          <a:blip r:embed="rId1"/>
          <a:srcRect l="0" t="12" r="0" b="12"/>
          <a:stretch/>
        </p:blipFill>
        <p:spPr>
          <a:xfrm>
            <a:off x="0" y="457200"/>
            <a:ext cx="13409640" cy="9020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4" name="object 30"/>
          <p:cNvSpPr/>
          <p:nvPr/>
        </p:nvSpPr>
        <p:spPr>
          <a:xfrm>
            <a:off x="0" y="1143000"/>
            <a:ext cx="12723840" cy="4884480"/>
          </a:xfrm>
          <a:prstGeom prst="rect">
            <a:avLst/>
          </a:prstGeom>
          <a:noFill/>
          <a:ln w="12953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marL="2786400" algn="ctr">
              <a:lnSpc>
                <a:spcPct val="100000"/>
              </a:lnSpc>
              <a:spcBef>
                <a:spcPts val="672"/>
              </a:spcBef>
            </a:pPr>
            <a:r>
              <a:rPr lang="en-GB" sz="6000" b="1" u="none" strike="noStrike">
                <a:solidFill>
                  <a:srgbClr val="FFCE53"/>
                </a:solidFill>
                <a:effectLst/>
                <a:uFillTx/>
                <a:latin typeface="Comic Sans MS"/>
              </a:rPr>
              <a:t>Data Structure</a:t>
            </a:r>
            <a:endParaRPr lang="en-US" sz="6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86400" algn="ctr">
              <a:lnSpc>
                <a:spcPct val="100000"/>
              </a:lnSpc>
              <a:spcBef>
                <a:spcPts val="672"/>
              </a:spcBef>
            </a:pPr>
            <a:r>
              <a:rPr lang="en-GB" sz="6000" b="1" u="none" strike="noStrike">
                <a:solidFill>
                  <a:schemeClr val="lt1"/>
                </a:solidFill>
                <a:effectLst/>
                <a:uFillTx/>
                <a:latin typeface="Comic Sans MS"/>
              </a:rPr>
              <a:t>Level 1</a:t>
            </a:r>
            <a:endParaRPr lang="en-US" sz="6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86400" algn="ctr">
              <a:lnSpc>
                <a:spcPct val="100000"/>
              </a:lnSpc>
              <a:spcBef>
                <a:spcPts val="672"/>
              </a:spcBef>
            </a:pPr>
            <a:endParaRPr lang="en-US" sz="6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86400" algn="ctr">
              <a:lnSpc>
                <a:spcPct val="100000"/>
              </a:lnSpc>
              <a:spcBef>
                <a:spcPts val="672"/>
              </a:spcBef>
            </a:pPr>
            <a:r>
              <a:rPr lang="en-SE" sz="6000" b="1" u="none" strike="noStrike">
                <a:solidFill>
                  <a:srgbClr val="FFCE53"/>
                </a:solidFill>
                <a:effectLst/>
                <a:uFillTx/>
                <a:latin typeface="Comic Sans MS"/>
              </a:rPr>
              <a:t>Doubly Linked List Operation</a:t>
            </a:r>
            <a:endParaRPr lang="en-US" sz="6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" name="object 2"/>
          <p:cNvGrpSpPr/>
          <p:nvPr/>
        </p:nvGrpSpPr>
        <p:grpSpPr>
          <a:xfrm>
            <a:off x="-10800" y="645480"/>
            <a:ext cx="13409640" cy="8765640"/>
            <a:chOff x="-10800" y="645480"/>
            <a:chExt cx="13409640" cy="8765640"/>
          </a:xfrm>
        </p:grpSpPr>
        <p:pic>
          <p:nvPicPr>
            <p:cNvPr id="46" name="object 3"/>
            <p:cNvPicPr/>
            <p:nvPr/>
          </p:nvPicPr>
          <p:blipFill>
            <a:blip r:embed="rId1"/>
            <a:stretch/>
          </p:blipFill>
          <p:spPr>
            <a:xfrm>
              <a:off x="-10800" y="645480"/>
              <a:ext cx="13409640" cy="876564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47" name="object 4"/>
            <p:cNvSpPr/>
            <p:nvPr/>
          </p:nvSpPr>
          <p:spPr>
            <a:xfrm>
              <a:off x="94320" y="3564360"/>
              <a:ext cx="13304520" cy="2181240"/>
            </a:xfrm>
            <a:custGeom>
              <a:avLst/>
              <a:gdLst>
                <a:gd name="textAreaLeft" fmla="*/ 0 w 13304520"/>
                <a:gd name="textAreaRight" fmla="*/ 13305960 w 13304520"/>
                <a:gd name="textAreaTop" fmla="*/ 0 h 2181240"/>
                <a:gd name="textAreaBottom" fmla="*/ 2182680 h 2181240"/>
              </a:gdLst>
              <a:ahLst/>
              <a:cxnLst/>
              <a:rect l="textAreaLeft" t="textAreaTop" r="textAreaRight" b="textAreaBottom"/>
              <a:pathLst>
                <a:path w="7711440" h="126492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noFill/>
            <a:ln w="12192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48" name="object 8"/>
          <p:cNvSpPr/>
          <p:nvPr/>
        </p:nvSpPr>
        <p:spPr>
          <a:xfrm>
            <a:off x="13091760" y="12746160"/>
            <a:ext cx="181440" cy="35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20880" rIns="0" bIns="0" anchor="t">
            <a:spAutoFit/>
          </a:bodyPr>
          <a:p>
            <a:pPr marL="21960">
              <a:lnSpc>
                <a:spcPct val="100000"/>
              </a:lnSpc>
              <a:spcBef>
                <a:spcPts val="164"/>
              </a:spcBef>
            </a:pPr>
            <a:r>
              <a:rPr lang="en-US" sz="2150" b="0" u="none" spc="-85" strike="noStrike">
                <a:solidFill>
                  <a:srgbClr val="000000"/>
                </a:solidFill>
                <a:effectLst/>
                <a:uFillTx/>
                <a:latin typeface="Calibri"/>
              </a:rPr>
              <a:t>2</a:t>
            </a:r>
            <a:endParaRPr lang="en-US" sz="2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object 30"/>
          <p:cNvSpPr/>
          <p:nvPr/>
        </p:nvSpPr>
        <p:spPr>
          <a:xfrm>
            <a:off x="106560" y="3084120"/>
            <a:ext cx="13303440" cy="1755000"/>
          </a:xfrm>
          <a:prstGeom prst="rect">
            <a:avLst/>
          </a:prstGeom>
          <a:noFill/>
          <a:ln w="12953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marL="2786400" algn="ctr">
              <a:lnSpc>
                <a:spcPct val="100000"/>
              </a:lnSpc>
              <a:spcBef>
                <a:spcPts val="672"/>
              </a:spcBef>
            </a:pPr>
            <a:r>
              <a:rPr lang="en-GB" sz="4000" b="0" u="none" spc="-17" strike="noStrike">
                <a:solidFill>
                  <a:srgbClr val="FFFFFF"/>
                </a:solidFill>
                <a:effectLst/>
                <a:uFillTx/>
                <a:latin typeface="Comic Sans MS"/>
              </a:rPr>
              <a:t>Data Structure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86400" algn="ctr">
              <a:lnSpc>
                <a:spcPct val="100000"/>
              </a:lnSpc>
              <a:spcBef>
                <a:spcPts val="672"/>
              </a:spcBef>
            </a:pPr>
            <a:r>
              <a:rPr lang="sv-SE" sz="2400" b="0" u="none" spc="-17" strike="noStrike">
                <a:solidFill>
                  <a:srgbClr val="FFFFFF"/>
                </a:solidFill>
                <a:effectLst/>
                <a:uFillTx/>
                <a:latin typeface="Comic Sans MS"/>
              </a:rPr>
              <a:t>Level 1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86400" algn="ctr">
              <a:lnSpc>
                <a:spcPct val="100000"/>
              </a:lnSpc>
              <a:spcBef>
                <a:spcPts val="672"/>
              </a:spcBef>
            </a:pPr>
            <a:r>
              <a:rPr lang="en-SE" sz="4000" b="1" u="none" strike="noStrike">
                <a:solidFill>
                  <a:srgbClr val="FFCE53"/>
                </a:solidFill>
                <a:effectLst/>
                <a:uFillTx/>
                <a:latin typeface="Comic Sans MS"/>
              </a:rPr>
              <a:t>Insert After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object 18"/>
          <p:cNvSpPr/>
          <p:nvPr/>
        </p:nvSpPr>
        <p:spPr>
          <a:xfrm>
            <a:off x="381240" y="888120"/>
            <a:ext cx="12351960" cy="76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54440" rIns="0" bIns="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SE" sz="4000" b="1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Doubley Linked List Data Structure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TextBox 46"/>
          <p:cNvSpPr/>
          <p:nvPr/>
        </p:nvSpPr>
        <p:spPr>
          <a:xfrm>
            <a:off x="2400480" y="3733920"/>
            <a:ext cx="95184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SE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Head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TextBox 47"/>
          <p:cNvSpPr/>
          <p:nvPr/>
        </p:nvSpPr>
        <p:spPr>
          <a:xfrm>
            <a:off x="2400480" y="4800600"/>
            <a:ext cx="95184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SE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Null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TextBox 48"/>
          <p:cNvSpPr/>
          <p:nvPr/>
        </p:nvSpPr>
        <p:spPr>
          <a:xfrm>
            <a:off x="12458880" y="4724280"/>
            <a:ext cx="95184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SE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Null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Rectangle: Rounded Corners 21"/>
          <p:cNvSpPr/>
          <p:nvPr/>
        </p:nvSpPr>
        <p:spPr>
          <a:xfrm>
            <a:off x="3772440" y="3585960"/>
            <a:ext cx="2513880" cy="1675800"/>
          </a:xfrm>
          <a:prstGeom prst="roundRect">
            <a:avLst>
              <a:gd name="adj" fmla="val 16667"/>
            </a:avLst>
          </a:prstGeom>
          <a:solidFill>
            <a:srgbClr val="4F81BD"/>
          </a:solidFill>
          <a:ln>
            <a:solidFill>
              <a:srgbClr val="223852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SE" sz="1800" b="0" u="none" strike="noStrike">
              <a:solidFill>
                <a:srgbClr val="FFFFFF"/>
              </a:solidFill>
              <a:effectLst/>
              <a:uFillTx/>
              <a:latin typeface="Calibri"/>
            </a:endParaRPr>
          </a:p>
        </p:txBody>
      </p:sp>
      <p:cxnSp>
        <p:nvCxnSpPr>
          <p:cNvPr id="55" name="Straight Connector 41"/>
          <p:cNvCxnSpPr/>
          <p:nvPr/>
        </p:nvCxnSpPr>
        <p:spPr>
          <a:xfrm>
            <a:off x="4686480" y="3661920"/>
            <a:ext cx="720" cy="1600920"/>
          </a:xfrm>
          <a:prstGeom prst="straightConnector1">
            <a:avLst/>
          </a:prstGeom>
          <a:ln w="0">
            <a:solidFill>
              <a:srgbClr val="000000"/>
            </a:solidFill>
          </a:ln>
        </p:spPr>
      </p:cxnSp>
      <p:sp>
        <p:nvSpPr>
          <p:cNvPr id="56" name="TextBox 49"/>
          <p:cNvSpPr/>
          <p:nvPr/>
        </p:nvSpPr>
        <p:spPr>
          <a:xfrm>
            <a:off x="3888720" y="4191120"/>
            <a:ext cx="251388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SE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Prev     1    Next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57" name="Straight Connector 42"/>
          <p:cNvCxnSpPr/>
          <p:nvPr/>
        </p:nvCxnSpPr>
        <p:spPr>
          <a:xfrm>
            <a:off x="5524560" y="3661920"/>
            <a:ext cx="720" cy="1600920"/>
          </a:xfrm>
          <a:prstGeom prst="straightConnector1">
            <a:avLst/>
          </a:prstGeom>
          <a:ln w="0">
            <a:solidFill>
              <a:srgbClr val="000000"/>
            </a:solidFill>
          </a:ln>
        </p:spPr>
      </p:cxnSp>
      <p:sp>
        <p:nvSpPr>
          <p:cNvPr id="58" name="Rectangle: Rounded Corners 22"/>
          <p:cNvSpPr/>
          <p:nvPr/>
        </p:nvSpPr>
        <p:spPr>
          <a:xfrm>
            <a:off x="9258480" y="3585960"/>
            <a:ext cx="2513880" cy="1675800"/>
          </a:xfrm>
          <a:prstGeom prst="roundRect">
            <a:avLst>
              <a:gd name="adj" fmla="val 16667"/>
            </a:avLst>
          </a:prstGeom>
          <a:solidFill>
            <a:srgbClr val="4F81BD"/>
          </a:solidFill>
          <a:ln>
            <a:solidFill>
              <a:srgbClr val="223852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SE" sz="1800" b="0" u="none" strike="noStrike">
              <a:solidFill>
                <a:srgbClr val="FFFFFF"/>
              </a:solidFill>
              <a:effectLst/>
              <a:uFillTx/>
              <a:latin typeface="Calibri"/>
            </a:endParaRPr>
          </a:p>
        </p:txBody>
      </p:sp>
      <p:cxnSp>
        <p:nvCxnSpPr>
          <p:cNvPr id="59" name="Straight Connector 43"/>
          <p:cNvCxnSpPr/>
          <p:nvPr/>
        </p:nvCxnSpPr>
        <p:spPr>
          <a:xfrm>
            <a:off x="10020600" y="3661920"/>
            <a:ext cx="720" cy="1600920"/>
          </a:xfrm>
          <a:prstGeom prst="straightConnector1">
            <a:avLst/>
          </a:prstGeom>
          <a:ln w="0">
            <a:solidFill>
              <a:srgbClr val="000000"/>
            </a:solidFill>
          </a:ln>
        </p:spPr>
      </p:cxnSp>
      <p:sp>
        <p:nvSpPr>
          <p:cNvPr id="60" name="TextBox 50"/>
          <p:cNvSpPr/>
          <p:nvPr/>
        </p:nvSpPr>
        <p:spPr>
          <a:xfrm>
            <a:off x="9258480" y="4191120"/>
            <a:ext cx="251388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SE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Prev    2    Next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61" name="Straight Connector 44"/>
          <p:cNvCxnSpPr/>
          <p:nvPr/>
        </p:nvCxnSpPr>
        <p:spPr>
          <a:xfrm>
            <a:off x="10858680" y="3661920"/>
            <a:ext cx="720" cy="1600920"/>
          </a:xfrm>
          <a:prstGeom prst="straightConnector1">
            <a:avLst/>
          </a:prstGeom>
          <a:ln w="0">
            <a:solidFill>
              <a:srgbClr val="000000"/>
            </a:solidFill>
          </a:ln>
        </p:spPr>
      </p:cxnSp>
      <p:sp>
        <p:nvSpPr>
          <p:cNvPr id="62" name="Arrow: Curved Down 50"/>
          <p:cNvSpPr/>
          <p:nvPr/>
        </p:nvSpPr>
        <p:spPr>
          <a:xfrm>
            <a:off x="11049480" y="2743200"/>
            <a:ext cx="2133000" cy="837360"/>
          </a:xfrm>
          <a:prstGeom prst="curvedDownArrow">
            <a:avLst>
              <a:gd name="adj1" fmla="val 19689"/>
              <a:gd name="adj2" fmla="val 58255"/>
              <a:gd name="adj3" fmla="val 29453"/>
            </a:avLst>
          </a:prstGeom>
          <a:solidFill>
            <a:schemeClr val="accent2"/>
          </a:solidFill>
          <a:ln>
            <a:solidFill>
              <a:srgbClr val="C00000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SE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3" name="Arrow: Curved Down 51"/>
          <p:cNvSpPr/>
          <p:nvPr/>
        </p:nvSpPr>
        <p:spPr>
          <a:xfrm>
            <a:off x="3124440" y="2738880"/>
            <a:ext cx="2133000" cy="837360"/>
          </a:xfrm>
          <a:prstGeom prst="curvedDownArrow">
            <a:avLst>
              <a:gd name="adj1" fmla="val 19689"/>
              <a:gd name="adj2" fmla="val 58255"/>
              <a:gd name="adj3" fmla="val 29453"/>
            </a:avLst>
          </a:prstGeom>
          <a:solidFill>
            <a:schemeClr val="accent2"/>
          </a:solidFill>
          <a:ln>
            <a:solidFill>
              <a:srgbClr val="C00000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SE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4" name="Arrow: Curved Down 52"/>
          <p:cNvSpPr/>
          <p:nvPr/>
        </p:nvSpPr>
        <p:spPr>
          <a:xfrm flipH="1" flipV="1">
            <a:off x="2285640" y="5274360"/>
            <a:ext cx="2133000" cy="837360"/>
          </a:xfrm>
          <a:prstGeom prst="curvedDownArrow">
            <a:avLst>
              <a:gd name="adj1" fmla="val 19689"/>
              <a:gd name="adj2" fmla="val 58255"/>
              <a:gd name="adj3" fmla="val 29453"/>
            </a:avLst>
          </a:prstGeom>
          <a:solidFill>
            <a:schemeClr val="accent2"/>
          </a:solidFill>
          <a:ln>
            <a:solidFill>
              <a:srgbClr val="C00000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SE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5" name="Arrow: Curved Down 55"/>
          <p:cNvSpPr/>
          <p:nvPr/>
        </p:nvSpPr>
        <p:spPr>
          <a:xfrm flipH="1" flipV="1">
            <a:off x="10286640" y="5257080"/>
            <a:ext cx="2133000" cy="837360"/>
          </a:xfrm>
          <a:prstGeom prst="curvedDownArrow">
            <a:avLst>
              <a:gd name="adj1" fmla="val 19689"/>
              <a:gd name="adj2" fmla="val 58255"/>
              <a:gd name="adj3" fmla="val 29453"/>
            </a:avLst>
          </a:prstGeom>
          <a:solidFill>
            <a:schemeClr val="accent2"/>
          </a:solidFill>
          <a:ln>
            <a:solidFill>
              <a:srgbClr val="C00000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SE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6" name="Arrow: Curved Down 48"/>
          <p:cNvSpPr/>
          <p:nvPr/>
        </p:nvSpPr>
        <p:spPr>
          <a:xfrm>
            <a:off x="5623920" y="2743560"/>
            <a:ext cx="5104800" cy="837360"/>
          </a:xfrm>
          <a:prstGeom prst="curvedDownArrow">
            <a:avLst>
              <a:gd name="adj1" fmla="val 19689"/>
              <a:gd name="adj2" fmla="val 58255"/>
              <a:gd name="adj3" fmla="val 29453"/>
            </a:avLst>
          </a:prstGeom>
          <a:solidFill>
            <a:schemeClr val="accent2"/>
          </a:solidFill>
          <a:ln>
            <a:solidFill>
              <a:srgbClr val="C00000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SE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7" name="Arrow: Curved Down 49"/>
          <p:cNvSpPr/>
          <p:nvPr/>
        </p:nvSpPr>
        <p:spPr>
          <a:xfrm flipH="1" flipV="1">
            <a:off x="5108760" y="5257440"/>
            <a:ext cx="4533120" cy="837360"/>
          </a:xfrm>
          <a:prstGeom prst="curvedDownArrow">
            <a:avLst>
              <a:gd name="adj1" fmla="val 19689"/>
              <a:gd name="adj2" fmla="val 58255"/>
              <a:gd name="adj3" fmla="val 29453"/>
            </a:avLst>
          </a:prstGeom>
          <a:solidFill>
            <a:schemeClr val="accent2"/>
          </a:solidFill>
          <a:ln>
            <a:solidFill>
              <a:srgbClr val="C00000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SE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8" name="Rectangle: Rounded Corners 5"/>
          <p:cNvSpPr/>
          <p:nvPr/>
        </p:nvSpPr>
        <p:spPr>
          <a:xfrm>
            <a:off x="6450120" y="7086960"/>
            <a:ext cx="2513160" cy="1675080"/>
          </a:xfrm>
          <a:prstGeom prst="roundRect">
            <a:avLst>
              <a:gd name="adj" fmla="val 16667"/>
            </a:avLst>
          </a:prstGeom>
          <a:solidFill>
            <a:srgbClr val="4F81BD"/>
          </a:solidFill>
          <a:ln>
            <a:solidFill>
              <a:srgbClr val="223852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SE" sz="1800" b="0" u="none" strike="noStrike">
              <a:solidFill>
                <a:srgbClr val="FFFFFF"/>
              </a:solidFill>
              <a:effectLst/>
              <a:uFillTx/>
              <a:latin typeface="Calibri"/>
            </a:endParaRPr>
          </a:p>
        </p:txBody>
      </p:sp>
      <p:cxnSp>
        <p:nvCxnSpPr>
          <p:cNvPr id="69" name="Straight Connector 10"/>
          <p:cNvCxnSpPr/>
          <p:nvPr/>
        </p:nvCxnSpPr>
        <p:spPr>
          <a:xfrm>
            <a:off x="7211880" y="7162200"/>
            <a:ext cx="1440" cy="1601640"/>
          </a:xfrm>
          <a:prstGeom prst="straightConnector1">
            <a:avLst/>
          </a:prstGeom>
          <a:ln w="0">
            <a:solidFill>
              <a:srgbClr val="000000"/>
            </a:solidFill>
          </a:ln>
        </p:spPr>
      </p:cxnSp>
      <p:cxnSp>
        <p:nvCxnSpPr>
          <p:cNvPr id="70" name="Straight Connector 11"/>
          <p:cNvCxnSpPr/>
          <p:nvPr/>
        </p:nvCxnSpPr>
        <p:spPr>
          <a:xfrm>
            <a:off x="8049960" y="7162200"/>
            <a:ext cx="1440" cy="1601640"/>
          </a:xfrm>
          <a:prstGeom prst="straightConnector1">
            <a:avLst/>
          </a:prstGeom>
          <a:ln w="0">
            <a:solidFill>
              <a:srgbClr val="000000"/>
            </a:solidFill>
          </a:ln>
        </p:spPr>
      </p:cxnSp>
      <p:sp>
        <p:nvSpPr>
          <p:cNvPr id="71" name="TextBox 13"/>
          <p:cNvSpPr/>
          <p:nvPr/>
        </p:nvSpPr>
        <p:spPr>
          <a:xfrm>
            <a:off x="6450840" y="7774560"/>
            <a:ext cx="251316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SE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Prev  500  Next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Arrow: Right 3"/>
          <p:cNvSpPr/>
          <p:nvPr/>
        </p:nvSpPr>
        <p:spPr>
          <a:xfrm rot="18695400">
            <a:off x="8284680" y="6116760"/>
            <a:ext cx="2291040" cy="22752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2"/>
          </a:solidFill>
          <a:ln>
            <a:solidFill>
              <a:srgbClr val="C00000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SE" sz="1800" b="0" u="none" strike="noStrike">
              <a:solidFill>
                <a:srgbClr val="FFFFFF"/>
              </a:solidFill>
              <a:effectLst/>
              <a:uFillTx/>
              <a:latin typeface="Calibri"/>
            </a:endParaRPr>
          </a:p>
        </p:txBody>
      </p:sp>
      <p:sp>
        <p:nvSpPr>
          <p:cNvPr id="73" name="TextBox 4"/>
          <p:cNvSpPr/>
          <p:nvPr/>
        </p:nvSpPr>
        <p:spPr>
          <a:xfrm>
            <a:off x="7385040" y="2367000"/>
            <a:ext cx="532080" cy="69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SE" sz="4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X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Arrow: Right 1"/>
          <p:cNvSpPr/>
          <p:nvPr/>
        </p:nvSpPr>
        <p:spPr>
          <a:xfrm flipH="1" rot="2904600">
            <a:off x="4863960" y="6116760"/>
            <a:ext cx="2291040" cy="22788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2"/>
          </a:solidFill>
          <a:ln>
            <a:solidFill>
              <a:srgbClr val="C00000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SE" sz="1800" b="0" u="none" strike="noStrike">
              <a:solidFill>
                <a:srgbClr val="FFFFFF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object 5"/>
          <p:cNvSpPr/>
          <p:nvPr/>
        </p:nvSpPr>
        <p:spPr>
          <a:xfrm>
            <a:off x="381240" y="888120"/>
            <a:ext cx="12351960" cy="76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54440" rIns="0" bIns="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SE" sz="4000" b="1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Doubley Linked List Data Structure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TextBox 6"/>
          <p:cNvSpPr/>
          <p:nvPr/>
        </p:nvSpPr>
        <p:spPr>
          <a:xfrm>
            <a:off x="2400480" y="3733920"/>
            <a:ext cx="95184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SE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Head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TextBox 8"/>
          <p:cNvSpPr/>
          <p:nvPr/>
        </p:nvSpPr>
        <p:spPr>
          <a:xfrm>
            <a:off x="2400480" y="4800600"/>
            <a:ext cx="95184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SE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Null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TextBox 9"/>
          <p:cNvSpPr/>
          <p:nvPr/>
        </p:nvSpPr>
        <p:spPr>
          <a:xfrm>
            <a:off x="12458880" y="4724280"/>
            <a:ext cx="95184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SE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Null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Rectangle: Rounded Corners 3"/>
          <p:cNvSpPr/>
          <p:nvPr/>
        </p:nvSpPr>
        <p:spPr>
          <a:xfrm>
            <a:off x="3772440" y="3585960"/>
            <a:ext cx="2513880" cy="1675800"/>
          </a:xfrm>
          <a:prstGeom prst="roundRect">
            <a:avLst>
              <a:gd name="adj" fmla="val 16667"/>
            </a:avLst>
          </a:prstGeom>
          <a:solidFill>
            <a:srgbClr val="4F81BD"/>
          </a:solidFill>
          <a:ln>
            <a:solidFill>
              <a:srgbClr val="223852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SE" sz="1800" b="0" u="none" strike="noStrike">
              <a:solidFill>
                <a:srgbClr val="FFFFFF"/>
              </a:solidFill>
              <a:effectLst/>
              <a:uFillTx/>
              <a:latin typeface="Calibri"/>
            </a:endParaRPr>
          </a:p>
        </p:txBody>
      </p:sp>
      <p:cxnSp>
        <p:nvCxnSpPr>
          <p:cNvPr id="80" name="Straight Connector 5"/>
          <p:cNvCxnSpPr/>
          <p:nvPr/>
        </p:nvCxnSpPr>
        <p:spPr>
          <a:xfrm>
            <a:off x="4686480" y="3661920"/>
            <a:ext cx="720" cy="1600920"/>
          </a:xfrm>
          <a:prstGeom prst="straightConnector1">
            <a:avLst/>
          </a:prstGeom>
          <a:ln w="0">
            <a:solidFill>
              <a:srgbClr val="000000"/>
            </a:solidFill>
          </a:ln>
        </p:spPr>
      </p:cxnSp>
      <p:sp>
        <p:nvSpPr>
          <p:cNvPr id="81" name="TextBox 11"/>
          <p:cNvSpPr/>
          <p:nvPr/>
        </p:nvSpPr>
        <p:spPr>
          <a:xfrm>
            <a:off x="3888720" y="4191120"/>
            <a:ext cx="251388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SE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Prev     1    Next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82" name="Straight Connector 6"/>
          <p:cNvCxnSpPr/>
          <p:nvPr/>
        </p:nvCxnSpPr>
        <p:spPr>
          <a:xfrm>
            <a:off x="5524560" y="3661920"/>
            <a:ext cx="720" cy="1600920"/>
          </a:xfrm>
          <a:prstGeom prst="straightConnector1">
            <a:avLst/>
          </a:prstGeom>
          <a:ln w="0">
            <a:solidFill>
              <a:srgbClr val="000000"/>
            </a:solidFill>
          </a:ln>
        </p:spPr>
      </p:cxnSp>
      <p:sp>
        <p:nvSpPr>
          <p:cNvPr id="83" name="Rectangle: Rounded Corners 4"/>
          <p:cNvSpPr/>
          <p:nvPr/>
        </p:nvSpPr>
        <p:spPr>
          <a:xfrm>
            <a:off x="9258480" y="3585960"/>
            <a:ext cx="2513880" cy="1675800"/>
          </a:xfrm>
          <a:prstGeom prst="roundRect">
            <a:avLst>
              <a:gd name="adj" fmla="val 16667"/>
            </a:avLst>
          </a:prstGeom>
          <a:solidFill>
            <a:srgbClr val="4F81BD"/>
          </a:solidFill>
          <a:ln>
            <a:solidFill>
              <a:srgbClr val="223852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SE" sz="1800" b="0" u="none" strike="noStrike">
              <a:solidFill>
                <a:srgbClr val="FFFFFF"/>
              </a:solidFill>
              <a:effectLst/>
              <a:uFillTx/>
              <a:latin typeface="Calibri"/>
            </a:endParaRPr>
          </a:p>
        </p:txBody>
      </p:sp>
      <p:cxnSp>
        <p:nvCxnSpPr>
          <p:cNvPr id="84" name="Straight Connector 7"/>
          <p:cNvCxnSpPr/>
          <p:nvPr/>
        </p:nvCxnSpPr>
        <p:spPr>
          <a:xfrm>
            <a:off x="10020600" y="3661920"/>
            <a:ext cx="720" cy="1600920"/>
          </a:xfrm>
          <a:prstGeom prst="straightConnector1">
            <a:avLst/>
          </a:prstGeom>
          <a:ln w="0">
            <a:solidFill>
              <a:srgbClr val="000000"/>
            </a:solidFill>
          </a:ln>
        </p:spPr>
      </p:cxnSp>
      <p:sp>
        <p:nvSpPr>
          <p:cNvPr id="85" name="TextBox 12"/>
          <p:cNvSpPr/>
          <p:nvPr/>
        </p:nvSpPr>
        <p:spPr>
          <a:xfrm>
            <a:off x="9258480" y="4191120"/>
            <a:ext cx="251388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SE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Prev    2    Next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86" name="Straight Connector 8"/>
          <p:cNvCxnSpPr/>
          <p:nvPr/>
        </p:nvCxnSpPr>
        <p:spPr>
          <a:xfrm>
            <a:off x="10858680" y="3661920"/>
            <a:ext cx="720" cy="1600920"/>
          </a:xfrm>
          <a:prstGeom prst="straightConnector1">
            <a:avLst/>
          </a:prstGeom>
          <a:ln w="0">
            <a:solidFill>
              <a:srgbClr val="000000"/>
            </a:solidFill>
          </a:ln>
        </p:spPr>
      </p:cxnSp>
      <p:sp>
        <p:nvSpPr>
          <p:cNvPr id="87" name="Arrow: Curved Down 7"/>
          <p:cNvSpPr/>
          <p:nvPr/>
        </p:nvSpPr>
        <p:spPr>
          <a:xfrm>
            <a:off x="11049480" y="2743200"/>
            <a:ext cx="2133000" cy="837360"/>
          </a:xfrm>
          <a:prstGeom prst="curvedDownArrow">
            <a:avLst>
              <a:gd name="adj1" fmla="val 19689"/>
              <a:gd name="adj2" fmla="val 58255"/>
              <a:gd name="adj3" fmla="val 29453"/>
            </a:avLst>
          </a:prstGeom>
          <a:solidFill>
            <a:schemeClr val="accent2"/>
          </a:solidFill>
          <a:ln>
            <a:solidFill>
              <a:srgbClr val="C00000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SE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8" name="Arrow: Curved Down 8"/>
          <p:cNvSpPr/>
          <p:nvPr/>
        </p:nvSpPr>
        <p:spPr>
          <a:xfrm>
            <a:off x="3124440" y="2738880"/>
            <a:ext cx="2133000" cy="837360"/>
          </a:xfrm>
          <a:prstGeom prst="curvedDownArrow">
            <a:avLst>
              <a:gd name="adj1" fmla="val 19689"/>
              <a:gd name="adj2" fmla="val 58255"/>
              <a:gd name="adj3" fmla="val 29453"/>
            </a:avLst>
          </a:prstGeom>
          <a:solidFill>
            <a:schemeClr val="accent2"/>
          </a:solidFill>
          <a:ln>
            <a:solidFill>
              <a:srgbClr val="C00000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SE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9" name="Arrow: Curved Down 9"/>
          <p:cNvSpPr/>
          <p:nvPr/>
        </p:nvSpPr>
        <p:spPr>
          <a:xfrm flipH="1" flipV="1">
            <a:off x="2285640" y="5274360"/>
            <a:ext cx="2133000" cy="837360"/>
          </a:xfrm>
          <a:prstGeom prst="curvedDownArrow">
            <a:avLst>
              <a:gd name="adj1" fmla="val 19689"/>
              <a:gd name="adj2" fmla="val 58255"/>
              <a:gd name="adj3" fmla="val 29453"/>
            </a:avLst>
          </a:prstGeom>
          <a:solidFill>
            <a:schemeClr val="accent2"/>
          </a:solidFill>
          <a:ln>
            <a:solidFill>
              <a:srgbClr val="C00000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SE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0" name="Arrow: Curved Down 10"/>
          <p:cNvSpPr/>
          <p:nvPr/>
        </p:nvSpPr>
        <p:spPr>
          <a:xfrm flipH="1" flipV="1">
            <a:off x="10286640" y="5257080"/>
            <a:ext cx="2133000" cy="837360"/>
          </a:xfrm>
          <a:prstGeom prst="curvedDownArrow">
            <a:avLst>
              <a:gd name="adj1" fmla="val 19689"/>
              <a:gd name="adj2" fmla="val 58255"/>
              <a:gd name="adj3" fmla="val 29453"/>
            </a:avLst>
          </a:prstGeom>
          <a:solidFill>
            <a:schemeClr val="accent2"/>
          </a:solidFill>
          <a:ln>
            <a:solidFill>
              <a:srgbClr val="C00000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SE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1" name="Arrow: Curved Down 12"/>
          <p:cNvSpPr/>
          <p:nvPr/>
        </p:nvSpPr>
        <p:spPr>
          <a:xfrm flipH="1" flipV="1">
            <a:off x="5108760" y="5257440"/>
            <a:ext cx="4533120" cy="837360"/>
          </a:xfrm>
          <a:prstGeom prst="curvedDownArrow">
            <a:avLst>
              <a:gd name="adj1" fmla="val 19689"/>
              <a:gd name="adj2" fmla="val 58255"/>
              <a:gd name="adj3" fmla="val 29453"/>
            </a:avLst>
          </a:prstGeom>
          <a:solidFill>
            <a:schemeClr val="accent2"/>
          </a:solidFill>
          <a:ln>
            <a:solidFill>
              <a:srgbClr val="C00000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SE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2" name="Rectangle: Rounded Corners 13"/>
          <p:cNvSpPr/>
          <p:nvPr/>
        </p:nvSpPr>
        <p:spPr>
          <a:xfrm>
            <a:off x="6450120" y="7086960"/>
            <a:ext cx="2513160" cy="1675080"/>
          </a:xfrm>
          <a:prstGeom prst="roundRect">
            <a:avLst>
              <a:gd name="adj" fmla="val 16667"/>
            </a:avLst>
          </a:prstGeom>
          <a:solidFill>
            <a:srgbClr val="4F81BD"/>
          </a:solidFill>
          <a:ln>
            <a:solidFill>
              <a:srgbClr val="223852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SE" sz="1800" b="0" u="none" strike="noStrike">
              <a:solidFill>
                <a:srgbClr val="FFFFFF"/>
              </a:solidFill>
              <a:effectLst/>
              <a:uFillTx/>
              <a:latin typeface="Calibri"/>
            </a:endParaRPr>
          </a:p>
        </p:txBody>
      </p:sp>
      <p:cxnSp>
        <p:nvCxnSpPr>
          <p:cNvPr id="93" name="Straight Connector 25"/>
          <p:cNvCxnSpPr/>
          <p:nvPr/>
        </p:nvCxnSpPr>
        <p:spPr>
          <a:xfrm>
            <a:off x="7211880" y="7162200"/>
            <a:ext cx="1440" cy="1601640"/>
          </a:xfrm>
          <a:prstGeom prst="straightConnector1">
            <a:avLst/>
          </a:prstGeom>
          <a:ln w="0">
            <a:solidFill>
              <a:srgbClr val="000000"/>
            </a:solidFill>
          </a:ln>
        </p:spPr>
      </p:cxnSp>
      <p:cxnSp>
        <p:nvCxnSpPr>
          <p:cNvPr id="94" name="Straight Connector 26"/>
          <p:cNvCxnSpPr/>
          <p:nvPr/>
        </p:nvCxnSpPr>
        <p:spPr>
          <a:xfrm>
            <a:off x="8049960" y="7162200"/>
            <a:ext cx="1440" cy="1601640"/>
          </a:xfrm>
          <a:prstGeom prst="straightConnector1">
            <a:avLst/>
          </a:prstGeom>
          <a:ln w="0">
            <a:solidFill>
              <a:srgbClr val="000000"/>
            </a:solidFill>
          </a:ln>
        </p:spPr>
      </p:cxnSp>
      <p:sp>
        <p:nvSpPr>
          <p:cNvPr id="95" name="TextBox 23"/>
          <p:cNvSpPr/>
          <p:nvPr/>
        </p:nvSpPr>
        <p:spPr>
          <a:xfrm>
            <a:off x="6450840" y="7774560"/>
            <a:ext cx="251316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SE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Prev  500  Next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Arrow: Right 5"/>
          <p:cNvSpPr/>
          <p:nvPr/>
        </p:nvSpPr>
        <p:spPr>
          <a:xfrm rot="18695400">
            <a:off x="8284680" y="6116760"/>
            <a:ext cx="2291040" cy="22752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2"/>
          </a:solidFill>
          <a:ln>
            <a:solidFill>
              <a:srgbClr val="C00000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SE" sz="1800" b="0" u="none" strike="noStrike">
              <a:solidFill>
                <a:srgbClr val="FFFFFF"/>
              </a:solidFill>
              <a:effectLst/>
              <a:uFillTx/>
              <a:latin typeface="Calibri"/>
            </a:endParaRPr>
          </a:p>
        </p:txBody>
      </p:sp>
      <p:sp>
        <p:nvSpPr>
          <p:cNvPr id="97" name="TextBox 27"/>
          <p:cNvSpPr/>
          <p:nvPr/>
        </p:nvSpPr>
        <p:spPr>
          <a:xfrm>
            <a:off x="7385040" y="5715000"/>
            <a:ext cx="532080" cy="69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SE" sz="4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X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Arrow: Right 6"/>
          <p:cNvSpPr/>
          <p:nvPr/>
        </p:nvSpPr>
        <p:spPr>
          <a:xfrm flipH="1" rot="2904600">
            <a:off x="4863960" y="6116760"/>
            <a:ext cx="2291040" cy="22788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2"/>
          </a:solidFill>
          <a:ln>
            <a:solidFill>
              <a:srgbClr val="C00000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SE" sz="1800" b="0" u="none" strike="noStrike">
              <a:solidFill>
                <a:srgbClr val="FFFFFF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object 7"/>
          <p:cNvSpPr/>
          <p:nvPr/>
        </p:nvSpPr>
        <p:spPr>
          <a:xfrm>
            <a:off x="381240" y="888120"/>
            <a:ext cx="12351240" cy="76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54440" rIns="0" bIns="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SE" sz="4000" b="1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Doubley Linked List Data Structure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Rectangle: Rounded Corners 6"/>
          <p:cNvSpPr/>
          <p:nvPr/>
        </p:nvSpPr>
        <p:spPr>
          <a:xfrm>
            <a:off x="6515640" y="3585960"/>
            <a:ext cx="2513160" cy="1675080"/>
          </a:xfrm>
          <a:prstGeom prst="roundRect">
            <a:avLst>
              <a:gd name="adj" fmla="val 16667"/>
            </a:avLst>
          </a:prstGeom>
          <a:solidFill>
            <a:srgbClr val="4F81BD"/>
          </a:solidFill>
          <a:ln>
            <a:solidFill>
              <a:srgbClr val="223852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SE" sz="1800" b="0" u="none" strike="noStrike">
              <a:solidFill>
                <a:srgbClr val="FFFFFF"/>
              </a:solidFill>
              <a:effectLst/>
              <a:uFillTx/>
              <a:latin typeface="Calibri"/>
            </a:endParaRPr>
          </a:p>
        </p:txBody>
      </p:sp>
      <p:cxnSp>
        <p:nvCxnSpPr>
          <p:cNvPr id="101" name="Straight Connector 12"/>
          <p:cNvCxnSpPr/>
          <p:nvPr/>
        </p:nvCxnSpPr>
        <p:spPr>
          <a:xfrm>
            <a:off x="7277400" y="3661920"/>
            <a:ext cx="1440" cy="1601640"/>
          </a:xfrm>
          <a:prstGeom prst="straightConnector1">
            <a:avLst/>
          </a:prstGeom>
          <a:ln w="0">
            <a:solidFill>
              <a:srgbClr val="000000"/>
            </a:solidFill>
          </a:ln>
        </p:spPr>
      </p:cxnSp>
      <p:sp>
        <p:nvSpPr>
          <p:cNvPr id="102" name="TextBox 14"/>
          <p:cNvSpPr/>
          <p:nvPr/>
        </p:nvSpPr>
        <p:spPr>
          <a:xfrm>
            <a:off x="6515280" y="4191120"/>
            <a:ext cx="251316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SE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Prev  500  Next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03" name="Straight Connector 13"/>
          <p:cNvCxnSpPr/>
          <p:nvPr/>
        </p:nvCxnSpPr>
        <p:spPr>
          <a:xfrm>
            <a:off x="8115480" y="3661920"/>
            <a:ext cx="1440" cy="1601640"/>
          </a:xfrm>
          <a:prstGeom prst="straightConnector1">
            <a:avLst/>
          </a:prstGeom>
          <a:ln w="0">
            <a:solidFill>
              <a:srgbClr val="000000"/>
            </a:solidFill>
          </a:ln>
        </p:spPr>
      </p:cxnSp>
      <p:sp>
        <p:nvSpPr>
          <p:cNvPr id="104" name="TextBox 15"/>
          <p:cNvSpPr/>
          <p:nvPr/>
        </p:nvSpPr>
        <p:spPr>
          <a:xfrm>
            <a:off x="2400480" y="3733920"/>
            <a:ext cx="95112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SE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Head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TextBox 21"/>
          <p:cNvSpPr/>
          <p:nvPr/>
        </p:nvSpPr>
        <p:spPr>
          <a:xfrm>
            <a:off x="2400480" y="4800600"/>
            <a:ext cx="95112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SE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Null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TextBox 24"/>
          <p:cNvSpPr/>
          <p:nvPr/>
        </p:nvSpPr>
        <p:spPr>
          <a:xfrm>
            <a:off x="12458880" y="4724280"/>
            <a:ext cx="95112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SE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Null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Rectangle: Rounded Corners 10"/>
          <p:cNvSpPr/>
          <p:nvPr/>
        </p:nvSpPr>
        <p:spPr>
          <a:xfrm>
            <a:off x="3772440" y="3585960"/>
            <a:ext cx="2513160" cy="1675080"/>
          </a:xfrm>
          <a:prstGeom prst="roundRect">
            <a:avLst>
              <a:gd name="adj" fmla="val 16667"/>
            </a:avLst>
          </a:prstGeom>
          <a:solidFill>
            <a:srgbClr val="4F81BD"/>
          </a:solidFill>
          <a:ln>
            <a:solidFill>
              <a:srgbClr val="223852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SE" sz="1800" b="0" u="none" strike="noStrike">
              <a:solidFill>
                <a:srgbClr val="FFFFFF"/>
              </a:solidFill>
              <a:effectLst/>
              <a:uFillTx/>
              <a:latin typeface="Calibri"/>
            </a:endParaRPr>
          </a:p>
        </p:txBody>
      </p:sp>
      <p:cxnSp>
        <p:nvCxnSpPr>
          <p:cNvPr id="108" name="Straight Connector 20"/>
          <p:cNvCxnSpPr/>
          <p:nvPr/>
        </p:nvCxnSpPr>
        <p:spPr>
          <a:xfrm>
            <a:off x="4686480" y="3661920"/>
            <a:ext cx="1440" cy="1601640"/>
          </a:xfrm>
          <a:prstGeom prst="straightConnector1">
            <a:avLst/>
          </a:prstGeom>
          <a:ln w="0">
            <a:solidFill>
              <a:srgbClr val="000000"/>
            </a:solidFill>
          </a:ln>
        </p:spPr>
      </p:cxnSp>
      <p:sp>
        <p:nvSpPr>
          <p:cNvPr id="109" name="TextBox 25"/>
          <p:cNvSpPr/>
          <p:nvPr/>
        </p:nvSpPr>
        <p:spPr>
          <a:xfrm>
            <a:off x="3888720" y="4191120"/>
            <a:ext cx="251316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SE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Prev     1    Next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10" name="Straight Connector 21"/>
          <p:cNvCxnSpPr/>
          <p:nvPr/>
        </p:nvCxnSpPr>
        <p:spPr>
          <a:xfrm>
            <a:off x="5524560" y="3661920"/>
            <a:ext cx="1440" cy="1601640"/>
          </a:xfrm>
          <a:prstGeom prst="straightConnector1">
            <a:avLst/>
          </a:prstGeom>
          <a:ln w="0">
            <a:solidFill>
              <a:srgbClr val="000000"/>
            </a:solidFill>
          </a:ln>
        </p:spPr>
      </p:cxnSp>
      <p:sp>
        <p:nvSpPr>
          <p:cNvPr id="111" name="Rectangle: Rounded Corners 11"/>
          <p:cNvSpPr/>
          <p:nvPr/>
        </p:nvSpPr>
        <p:spPr>
          <a:xfrm>
            <a:off x="9258480" y="3585960"/>
            <a:ext cx="2513160" cy="1675080"/>
          </a:xfrm>
          <a:prstGeom prst="roundRect">
            <a:avLst>
              <a:gd name="adj" fmla="val 16667"/>
            </a:avLst>
          </a:prstGeom>
          <a:solidFill>
            <a:srgbClr val="4F81BD"/>
          </a:solidFill>
          <a:ln>
            <a:solidFill>
              <a:srgbClr val="223852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SE" sz="1800" b="0" u="none" strike="noStrike">
              <a:solidFill>
                <a:srgbClr val="FFFFFF"/>
              </a:solidFill>
              <a:effectLst/>
              <a:uFillTx/>
              <a:latin typeface="Calibri"/>
            </a:endParaRPr>
          </a:p>
        </p:txBody>
      </p:sp>
      <p:cxnSp>
        <p:nvCxnSpPr>
          <p:cNvPr id="112" name="Straight Connector 23"/>
          <p:cNvCxnSpPr/>
          <p:nvPr/>
        </p:nvCxnSpPr>
        <p:spPr>
          <a:xfrm>
            <a:off x="10020600" y="3661920"/>
            <a:ext cx="1440" cy="1601640"/>
          </a:xfrm>
          <a:prstGeom prst="straightConnector1">
            <a:avLst/>
          </a:prstGeom>
          <a:ln w="0">
            <a:solidFill>
              <a:srgbClr val="000000"/>
            </a:solidFill>
          </a:ln>
        </p:spPr>
      </p:cxnSp>
      <p:sp>
        <p:nvSpPr>
          <p:cNvPr id="113" name="TextBox 26"/>
          <p:cNvSpPr/>
          <p:nvPr/>
        </p:nvSpPr>
        <p:spPr>
          <a:xfrm>
            <a:off x="9258480" y="4191120"/>
            <a:ext cx="251316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SE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Prev    2    Next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14" name="Straight Connector 24"/>
          <p:cNvCxnSpPr/>
          <p:nvPr/>
        </p:nvCxnSpPr>
        <p:spPr>
          <a:xfrm>
            <a:off x="10858680" y="3661920"/>
            <a:ext cx="1440" cy="1601640"/>
          </a:xfrm>
          <a:prstGeom prst="straightConnector1">
            <a:avLst/>
          </a:prstGeom>
          <a:ln w="0">
            <a:solidFill>
              <a:srgbClr val="000000"/>
            </a:solidFill>
          </a:ln>
        </p:spPr>
      </p:cxnSp>
      <p:sp>
        <p:nvSpPr>
          <p:cNvPr id="115" name="Arrow: Curved Down 15"/>
          <p:cNvSpPr/>
          <p:nvPr/>
        </p:nvSpPr>
        <p:spPr>
          <a:xfrm>
            <a:off x="5715360" y="2743200"/>
            <a:ext cx="2132280" cy="836640"/>
          </a:xfrm>
          <a:prstGeom prst="curvedDownArrow">
            <a:avLst>
              <a:gd name="adj1" fmla="val 19689"/>
              <a:gd name="adj2" fmla="val 58255"/>
              <a:gd name="adj3" fmla="val 29453"/>
            </a:avLst>
          </a:prstGeom>
          <a:solidFill>
            <a:schemeClr val="accent2"/>
          </a:solidFill>
          <a:ln>
            <a:solidFill>
              <a:srgbClr val="C00000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SE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6" name="Arrow: Curved Down 16"/>
          <p:cNvSpPr/>
          <p:nvPr/>
        </p:nvSpPr>
        <p:spPr>
          <a:xfrm>
            <a:off x="8458560" y="2738880"/>
            <a:ext cx="2132280" cy="836640"/>
          </a:xfrm>
          <a:prstGeom prst="curvedDownArrow">
            <a:avLst>
              <a:gd name="adj1" fmla="val 19689"/>
              <a:gd name="adj2" fmla="val 58255"/>
              <a:gd name="adj3" fmla="val 29453"/>
            </a:avLst>
          </a:prstGeom>
          <a:solidFill>
            <a:schemeClr val="accent2"/>
          </a:solidFill>
          <a:ln>
            <a:solidFill>
              <a:srgbClr val="C00000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SE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7" name="Arrow: Curved Down 26"/>
          <p:cNvSpPr/>
          <p:nvPr/>
        </p:nvSpPr>
        <p:spPr>
          <a:xfrm>
            <a:off x="11049480" y="2743200"/>
            <a:ext cx="2132280" cy="836640"/>
          </a:xfrm>
          <a:prstGeom prst="curvedDownArrow">
            <a:avLst>
              <a:gd name="adj1" fmla="val 19689"/>
              <a:gd name="adj2" fmla="val 58255"/>
              <a:gd name="adj3" fmla="val 29453"/>
            </a:avLst>
          </a:prstGeom>
          <a:solidFill>
            <a:schemeClr val="accent2"/>
          </a:solidFill>
          <a:ln>
            <a:solidFill>
              <a:srgbClr val="C00000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SE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8" name="Arrow: Curved Down 27"/>
          <p:cNvSpPr/>
          <p:nvPr/>
        </p:nvSpPr>
        <p:spPr>
          <a:xfrm>
            <a:off x="3124440" y="2738880"/>
            <a:ext cx="2132280" cy="836640"/>
          </a:xfrm>
          <a:prstGeom prst="curvedDownArrow">
            <a:avLst>
              <a:gd name="adj1" fmla="val 19689"/>
              <a:gd name="adj2" fmla="val 58255"/>
              <a:gd name="adj3" fmla="val 29453"/>
            </a:avLst>
          </a:prstGeom>
          <a:solidFill>
            <a:schemeClr val="accent2"/>
          </a:solidFill>
          <a:ln>
            <a:solidFill>
              <a:srgbClr val="C00000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SE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9" name="Arrow: Curved Down 28"/>
          <p:cNvSpPr/>
          <p:nvPr/>
        </p:nvSpPr>
        <p:spPr>
          <a:xfrm flipH="1" flipV="1">
            <a:off x="2284920" y="5273640"/>
            <a:ext cx="2132280" cy="836640"/>
          </a:xfrm>
          <a:prstGeom prst="curvedDownArrow">
            <a:avLst>
              <a:gd name="adj1" fmla="val 19689"/>
              <a:gd name="adj2" fmla="val 58255"/>
              <a:gd name="adj3" fmla="val 29453"/>
            </a:avLst>
          </a:prstGeom>
          <a:solidFill>
            <a:schemeClr val="accent2"/>
          </a:solidFill>
          <a:ln>
            <a:solidFill>
              <a:srgbClr val="C00000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SE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0" name="Arrow: Curved Down 29"/>
          <p:cNvSpPr/>
          <p:nvPr/>
        </p:nvSpPr>
        <p:spPr>
          <a:xfrm flipH="1" flipV="1">
            <a:off x="4951800" y="5256360"/>
            <a:ext cx="2132280" cy="836640"/>
          </a:xfrm>
          <a:prstGeom prst="curvedDownArrow">
            <a:avLst>
              <a:gd name="adj1" fmla="val 19689"/>
              <a:gd name="adj2" fmla="val 58255"/>
              <a:gd name="adj3" fmla="val 29453"/>
            </a:avLst>
          </a:prstGeom>
          <a:solidFill>
            <a:schemeClr val="accent2"/>
          </a:solidFill>
          <a:ln>
            <a:solidFill>
              <a:srgbClr val="C00000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SE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1" name="Arrow: Curved Down 31"/>
          <p:cNvSpPr/>
          <p:nvPr/>
        </p:nvSpPr>
        <p:spPr>
          <a:xfrm flipH="1" flipV="1">
            <a:off x="7542720" y="5265360"/>
            <a:ext cx="2132280" cy="836640"/>
          </a:xfrm>
          <a:prstGeom prst="curvedDownArrow">
            <a:avLst>
              <a:gd name="adj1" fmla="val 19689"/>
              <a:gd name="adj2" fmla="val 58255"/>
              <a:gd name="adj3" fmla="val 29453"/>
            </a:avLst>
          </a:prstGeom>
          <a:solidFill>
            <a:schemeClr val="accent2"/>
          </a:solidFill>
          <a:ln>
            <a:solidFill>
              <a:srgbClr val="C00000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SE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2" name="Arrow: Curved Down 32"/>
          <p:cNvSpPr/>
          <p:nvPr/>
        </p:nvSpPr>
        <p:spPr>
          <a:xfrm flipH="1" flipV="1">
            <a:off x="10285920" y="5256360"/>
            <a:ext cx="2132280" cy="836640"/>
          </a:xfrm>
          <a:prstGeom prst="curvedDownArrow">
            <a:avLst>
              <a:gd name="adj1" fmla="val 19689"/>
              <a:gd name="adj2" fmla="val 58255"/>
              <a:gd name="adj3" fmla="val 29453"/>
            </a:avLst>
          </a:prstGeom>
          <a:solidFill>
            <a:schemeClr val="accent2"/>
          </a:solidFill>
          <a:ln>
            <a:solidFill>
              <a:srgbClr val="C00000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SE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object 6"/>
          <p:cNvSpPr/>
          <p:nvPr/>
        </p:nvSpPr>
        <p:spPr>
          <a:xfrm>
            <a:off x="380880" y="888120"/>
            <a:ext cx="12351240" cy="186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54440" rIns="0" bIns="0" anchor="t">
            <a:spAutoFit/>
          </a:bodyPr>
          <a:p>
            <a:pPr>
              <a:lnSpc>
                <a:spcPct val="100000"/>
              </a:lnSpc>
            </a:pPr>
            <a:r>
              <a:rPr lang="en-SE" sz="4000" b="1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🔎 Definition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Adds a new node after a given node in a doubly linked list while maintaining correct next and prev links.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object 3"/>
          <p:cNvSpPr/>
          <p:nvPr/>
        </p:nvSpPr>
        <p:spPr>
          <a:xfrm>
            <a:off x="380880" y="888120"/>
            <a:ext cx="12351240" cy="222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54440" rIns="0" bIns="0" anchor="t">
            <a:spAutoFit/>
          </a:bodyPr>
          <a:p>
            <a:pPr>
              <a:lnSpc>
                <a:spcPct val="100000"/>
              </a:lnSpc>
            </a:pPr>
            <a:r>
              <a:rPr lang="en-SE" sz="4000" b="1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📖 Explanation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🔹 This operation inserts a node in the middle or end of the list (not at the beginning).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🔹 It requires a reference to the target node (usually found using Find).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object 3"/>
          <p:cNvSpPr/>
          <p:nvPr/>
        </p:nvSpPr>
        <p:spPr>
          <a:xfrm>
            <a:off x="380880" y="888120"/>
            <a:ext cx="12351240" cy="368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54440" rIns="0" bIns="0" anchor="t">
            <a:spAutoFit/>
          </a:bodyPr>
          <a:p>
            <a:pPr>
              <a:lnSpc>
                <a:spcPct val="100000"/>
              </a:lnSpc>
            </a:pPr>
            <a:r>
              <a:rPr lang="en-GB" sz="4000" b="1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🟦 Procedures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1️⃣ Find Target Node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	</a:t>
            </a: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📖 Locate the node after which insertion will happen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🟨 Steps: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Microsoft YaHei"/>
              </a:rPr>
              <a:t>	</a:t>
            </a: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Microsoft YaHei"/>
              </a:rPr>
              <a:t>🟩 Traverse from head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Microsoft YaHei"/>
              </a:rPr>
              <a:t>	</a:t>
            </a: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Microsoft YaHei"/>
              </a:rPr>
              <a:t>🟩 Compare values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Microsoft YaHei"/>
              </a:rPr>
              <a:t>	</a:t>
            </a: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Microsoft YaHei"/>
              </a:rPr>
              <a:t>🟩 Return node if found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Microsoft YaHei"/>
              </a:rPr>
              <a:t>➡️ Result: Pointer to the target node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object 1"/>
          <p:cNvSpPr/>
          <p:nvPr/>
        </p:nvSpPr>
        <p:spPr>
          <a:xfrm>
            <a:off x="380880" y="888120"/>
            <a:ext cx="12351240" cy="442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54440" rIns="0" bIns="0" anchor="t">
            <a:spAutoFit/>
          </a:bodyPr>
          <a:p>
            <a:pPr>
              <a:lnSpc>
                <a:spcPct val="100000"/>
              </a:lnSpc>
            </a:pPr>
            <a:r>
              <a:rPr lang="en-GB" sz="4000" b="1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🟦 Procedures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2️⃣ InsertAfter Function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	</a:t>
            </a: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📖 Inserts a new node after a specific node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🟨 Steps: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Microsoft YaHei"/>
              </a:rPr>
              <a:t>	</a:t>
            </a: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Microsoft YaHei"/>
              </a:rPr>
              <a:t>🟩 Create a new node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Microsoft YaHei"/>
              </a:rPr>
              <a:t>	</a:t>
            </a: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Microsoft YaHei"/>
              </a:rPr>
              <a:t>🟩 Set newNode-&gt;value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Microsoft YaHei"/>
              </a:rPr>
              <a:t>	</a:t>
            </a: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Microsoft YaHei"/>
              </a:rPr>
              <a:t>🟩 Set newNode-&gt;next = current-&gt;next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Microsoft YaHei"/>
              </a:rPr>
              <a:t>	</a:t>
            </a: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Microsoft YaHei"/>
              </a:rPr>
              <a:t>🟩 Set newNode-&gt;prev = current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Microsoft YaHei"/>
              </a:rPr>
              <a:t>	</a:t>
            </a: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Microsoft YaHei"/>
              </a:rPr>
              <a:t>🟩 If next node exists → update its prev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Microsoft YaHei"/>
              </a:rPr>
              <a:t>	</a:t>
            </a: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Microsoft YaHei"/>
              </a:rPr>
              <a:t>🟩 Link current node to new node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object 3"/>
          <p:cNvSpPr/>
          <p:nvPr/>
        </p:nvSpPr>
        <p:spPr>
          <a:xfrm>
            <a:off x="380880" y="888120"/>
            <a:ext cx="12351240" cy="295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54440" rIns="0" bIns="0" anchor="t">
            <a:spAutoFit/>
          </a:bodyPr>
          <a:p>
            <a:pPr>
              <a:lnSpc>
                <a:spcPct val="100000"/>
              </a:lnSpc>
            </a:pPr>
            <a:r>
              <a:rPr lang="en-GB" sz="4000" b="1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💡 Example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Before insertion: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NULL &lt;- 1 &lt;-&gt; 2 &lt;-&gt; 3 &lt;-&gt; 4 &lt;-&gt; 5 -&gt; NULL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Insert 500 after 2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After insertion: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NULL &lt;- 1 &lt;-&gt; 2 &lt;-&gt; 500 &lt;-&gt; 3 &lt;-&gt; 4 &lt;-&gt; 5 -&gt; NULL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object 3"/>
          <p:cNvSpPr/>
          <p:nvPr/>
        </p:nvSpPr>
        <p:spPr>
          <a:xfrm>
            <a:off x="380880" y="888120"/>
            <a:ext cx="12351240" cy="286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54440" rIns="0" bIns="0" anchor="t">
            <a:spAutoFit/>
          </a:bodyPr>
          <a:p>
            <a:pPr>
              <a:lnSpc>
                <a:spcPct val="100000"/>
              </a:lnSpc>
            </a:pPr>
            <a:r>
              <a:rPr lang="en-GB" sz="4000" b="1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📌 Note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🔹 Must ensure current is not NULL before inserting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🔹 Works for: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🔹 Middle nodes ✅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🔹 Last node (adds at end) ✅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object 3"/>
          <p:cNvSpPr/>
          <p:nvPr/>
        </p:nvSpPr>
        <p:spPr>
          <a:xfrm>
            <a:off x="380880" y="888120"/>
            <a:ext cx="12351240" cy="149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54440" rIns="0" bIns="0" anchor="t">
            <a:spAutoFit/>
          </a:bodyPr>
          <a:p>
            <a:pPr>
              <a:lnSpc>
                <a:spcPct val="100000"/>
              </a:lnSpc>
            </a:pPr>
            <a:r>
              <a:rPr lang="en-GB" sz="4000" b="1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🚫 Warning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If current = NULL → program may crash ❌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object 3"/>
          <p:cNvSpPr/>
          <p:nvPr/>
        </p:nvSpPr>
        <p:spPr>
          <a:xfrm>
            <a:off x="380880" y="888120"/>
            <a:ext cx="12351240" cy="442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54440" rIns="0" bIns="0" anchor="t">
            <a:spAutoFit/>
          </a:bodyPr>
          <a:p>
            <a:pPr>
              <a:lnSpc>
                <a:spcPct val="100000"/>
              </a:lnSpc>
            </a:pPr>
            <a:r>
              <a:rPr lang="en-GB" sz="4000" b="1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⚖️ Comparison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🟩 Insert At Beginning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	</a:t>
            </a: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✔️ Time Complexity: O(1)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	</a:t>
            </a: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✔️ No traversal needed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	</a:t>
            </a: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✔️ Updates head directly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🟥 Insert After (Specific Node)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	</a:t>
            </a: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✔️ Time Complexity: O(n) (if using Find first)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	</a:t>
            </a: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✔️ Requires finding the node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	</a:t>
            </a: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✔️ Updates multiple pointers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object 3"/>
          <p:cNvSpPr/>
          <p:nvPr/>
        </p:nvSpPr>
        <p:spPr>
          <a:xfrm>
            <a:off x="380880" y="888120"/>
            <a:ext cx="12351240" cy="259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54440" rIns="0" bIns="0" anchor="t">
            <a:spAutoFit/>
          </a:bodyPr>
          <a:p>
            <a:pPr>
              <a:lnSpc>
                <a:spcPct val="100000"/>
              </a:lnSpc>
            </a:pPr>
            <a:r>
              <a:rPr lang="en-GB" sz="4000" b="1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✨ Summary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✅ InsertAfter adds a node after a specific position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✅ Requires correct pointer updates (next &amp; prev)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✅ Often combined with Find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✅ Works for middle and end cases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object 4"/>
          <p:cNvSpPr/>
          <p:nvPr/>
        </p:nvSpPr>
        <p:spPr>
          <a:xfrm>
            <a:off x="0" y="4712760"/>
            <a:ext cx="13409640" cy="63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6920" rIns="0" bIns="0" anchor="t">
            <a:spAutoFit/>
          </a:bodyPr>
          <a:p>
            <a:pPr marL="16920" algn="ctr">
              <a:lnSpc>
                <a:spcPct val="100000"/>
              </a:lnSpc>
              <a:spcBef>
                <a:spcPts val="133"/>
              </a:spcBef>
            </a:pPr>
            <a:r>
              <a:rPr lang="sv-SE" sz="4000" b="1" u="none" spc="-17" strike="noStrike">
                <a:solidFill>
                  <a:srgbClr val="FF0000"/>
                </a:solidFill>
                <a:effectLst/>
                <a:uFillTx/>
                <a:latin typeface="Comic Sans MS"/>
              </a:rPr>
              <a:t>Thank you</a:t>
            </a:r>
            <a:r>
              <a:rPr lang="sv-SE" sz="4000" b="0" u="none" spc="-20" strike="noStrike">
                <a:solidFill>
                  <a:srgbClr val="FF0000"/>
                </a:solidFill>
                <a:effectLst/>
                <a:uFillTx/>
                <a:latin typeface="Calibri"/>
              </a:rPr>
              <a:t> </a:t>
            </a:r>
            <a:r>
              <a:rPr lang="sv-SE" sz="4000" b="0" u="none" spc="-68" strike="noStrike">
                <a:solidFill>
                  <a:srgbClr val="FF0000"/>
                </a:solidFill>
                <a:effectLst/>
                <a:uFillTx/>
                <a:latin typeface="Wingdings"/>
              </a:rPr>
              <a:t>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11895</TotalTime>
  <Application>LibreOffice/26.2.3.2$Windows_X86_64 LibreOffice_project/70e089b17412e4cb7773e41413306b17a2328c34</Application>
  <AppVersion>15.0000</AppVersion>
  <Words>404</Words>
  <Paragraphs>84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2025-12-09T17:44:59Z</dcterms:created>
  <dc:creator>Sara Alterkawi</dc:creator>
  <dc:description/>
  <dc:language>en-US</dc:language>
  <cp:lastModifiedBy/>
  <dcterms:modified xsi:type="dcterms:W3CDTF">2026-05-05T12:30:33Z</dcterms:modified>
  <cp:revision>442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esentationFormat">
    <vt:lpwstr>Custom</vt:lpwstr>
  </property>
  <property fmtid="{D5CDD505-2E9C-101B-9397-08002B2CF9AE}" pid="6" name="Producer">
    <vt:lpwstr>www.ilovepdf.com</vt:lpwstr>
  </property>
  <property fmtid="{D5CDD505-2E9C-101B-9397-08002B2CF9AE}" pid="7" name="Slides">
    <vt:i4>13</vt:i4>
  </property>
</Properties>
</file>