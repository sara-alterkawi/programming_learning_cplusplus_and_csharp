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13411200" cy="100584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6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005840" y="3117960"/>
            <a:ext cx="11399040" cy="89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AC1AF49-1FE7-4F0E-A31E-C1508610DEDD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331200" y="2514600"/>
            <a:ext cx="12753360" cy="4141800"/>
          </a:xfrm>
          <a:custGeom>
            <a:avLst/>
            <a:gdLst>
              <a:gd name="textAreaLeft" fmla="*/ 0 w 12753360"/>
              <a:gd name="textAreaRight" fmla="*/ 12753720 w 12753360"/>
              <a:gd name="textAreaTop" fmla="*/ 0 h 4141800"/>
              <a:gd name="textAreaBottom" fmla="*/ 4142160 h 414180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192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17040" y="3228120"/>
            <a:ext cx="7643160" cy="477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dt" idx="5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A8C5BFD-0302-41C2-8797-CD8F83672446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670680" y="23133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6906600" y="2313360"/>
            <a:ext cx="5833440" cy="2352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876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57752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36664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554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94416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73292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7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8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sldNum" idx="9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006CB9-4F10-47FC-9AB6-BA0041541A4E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bg object 16"/>
          <p:cNvPicPr/>
          <p:nvPr/>
        </p:nvPicPr>
        <p:blipFill>
          <a:blip r:embed="rId2"/>
          <a:stretch/>
        </p:blipFill>
        <p:spPr>
          <a:xfrm>
            <a:off x="0" y="2209680"/>
            <a:ext cx="13410720" cy="5080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" name="bg object 17"/>
          <p:cNvSpPr/>
          <p:nvPr/>
        </p:nvSpPr>
        <p:spPr>
          <a:xfrm>
            <a:off x="105120" y="3901320"/>
            <a:ext cx="13305600" cy="789480"/>
          </a:xfrm>
          <a:custGeom>
            <a:avLst/>
            <a:gdLst>
              <a:gd name="textAreaLeft" fmla="*/ 0 w 13305600"/>
              <a:gd name="textAreaRight" fmla="*/ 13305960 w 13305600"/>
              <a:gd name="textAreaTop" fmla="*/ 0 h 789480"/>
              <a:gd name="textAreaBottom" fmla="*/ 789840 h 789480"/>
            </a:gdLst>
            <a:ahLst/>
            <a:cxnLst/>
            <a:rect l="textAreaLeft" t="textAreaTop" r="textAreaRight" b="textAreaBottom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noFill/>
          <a:ln w="12191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920" cy="902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ftr" idx="10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1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12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704C88-6058-4CF9-9CAC-881C9331D2E0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ftr" idx="16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dt" idx="17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sldNum" idx="18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7D79EFD-AC2F-47D6-8F66-C02F6EE70FC9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ftr" idx="13"/>
          </p:nvPr>
        </p:nvSpPr>
        <p:spPr>
          <a:xfrm>
            <a:off x="4559760" y="9354240"/>
            <a:ext cx="429120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dt" idx="14"/>
          </p:nvPr>
        </p:nvSpPr>
        <p:spPr>
          <a:xfrm>
            <a:off x="67068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sldNum" idx="15"/>
          </p:nvPr>
        </p:nvSpPr>
        <p:spPr>
          <a:xfrm>
            <a:off x="9655920" y="9354240"/>
            <a:ext cx="3084120" cy="276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8D84AE-1A2D-4F53-A3D2-83E35577A70C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>
              <a:buNone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70320" y="401040"/>
            <a:ext cx="12069360" cy="167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670320" y="2353320"/>
            <a:ext cx="12069360" cy="58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 algn="l">
              <a:spcBef>
                <a:spcPts val="1417"/>
              </a:spcBef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29D75905-6970-4891-9938-BBB71682B6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bg object 16"/>
          <p:cNvSpPr/>
          <p:nvPr/>
        </p:nvSpPr>
        <p:spPr>
          <a:xfrm>
            <a:off x="331200" y="2514600"/>
            <a:ext cx="12753000" cy="4141440"/>
          </a:xfrm>
          <a:custGeom>
            <a:avLst/>
            <a:gdLst>
              <a:gd name="textAreaLeft" fmla="*/ 0 w 12753000"/>
              <a:gd name="textAreaRight" fmla="*/ 12753720 w 12753000"/>
              <a:gd name="textAreaTop" fmla="*/ 0 h 4141440"/>
              <a:gd name="textAreaBottom" fmla="*/ 4142160 h 4141440"/>
            </a:gdLst>
            <a:ahLst/>
            <a:cxnLst/>
            <a:rect l="textAreaLeft" t="textAreaTop" r="textAreaRight" b="textAreaBottom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noFill/>
          <a:ln w="1224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117680" y="3823560"/>
            <a:ext cx="7711560" cy="902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586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586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617040" y="3228120"/>
            <a:ext cx="7642800" cy="477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1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1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19"/>
          </p:nvPr>
        </p:nvSpPr>
        <p:spPr>
          <a:xfrm>
            <a:off x="4559760" y="9354240"/>
            <a:ext cx="429084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dt" idx="20"/>
          </p:nvPr>
        </p:nvSpPr>
        <p:spPr>
          <a:xfrm>
            <a:off x="67068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sldNum" idx="21"/>
          </p:nvPr>
        </p:nvSpPr>
        <p:spPr>
          <a:xfrm>
            <a:off x="9655920" y="9354240"/>
            <a:ext cx="3083760" cy="276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FF8424D-8386-40A6-9175-6E26E77AF687}" type="slidenum">
              <a:rPr lang="en-US" sz="14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sldNum" idx="22"/>
          </p:nvPr>
        </p:nvSpPr>
        <p:spPr>
          <a:xfrm>
            <a:off x="22501080" y="12821040"/>
            <a:ext cx="517680" cy="295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spAutoFit/>
          </a:bodyPr>
          <a:lstStyle>
            <a:lvl1pPr marL="65880" indent="0" algn="r">
              <a:lnSpc>
                <a:spcPts val="2259"/>
              </a:lnSpc>
              <a:buNone/>
              <a:def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defRPr>
            </a:lvl1pPr>
          </a:lstStyle>
          <a:p>
            <a:pPr marL="65880" indent="0" algn="r">
              <a:lnSpc>
                <a:spcPts val="2259"/>
              </a:lnSpc>
              <a:buNone/>
            </a:pPr>
            <a:fld id="{477300E8-2085-45FE-A535-F1452DF98DAA}" type="slidenum">
              <a:rPr lang="en-US" sz="1400" b="0" u="none" spc="-85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3" name="object 25"/>
          <p:cNvPicPr/>
          <p:nvPr/>
        </p:nvPicPr>
        <p:blipFill>
          <a:blip r:embed="rId1"/>
          <a:srcRect l="0" t="12" r="0" b="12"/>
          <a:stretch/>
        </p:blipFill>
        <p:spPr>
          <a:xfrm>
            <a:off x="0" y="457200"/>
            <a:ext cx="13410720" cy="9021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object 30"/>
          <p:cNvSpPr/>
          <p:nvPr/>
        </p:nvSpPr>
        <p:spPr>
          <a:xfrm>
            <a:off x="0" y="1143000"/>
            <a:ext cx="12724920" cy="488556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Data Structure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6000" b="1" u="none" strike="noStrike">
                <a:solidFill>
                  <a:schemeClr val="lt1"/>
                </a:solidFill>
                <a:effectLst/>
                <a:uFillTx/>
                <a:latin typeface="Comic Sans MS"/>
              </a:rPr>
              <a:t>Level 1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6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Doubly Linked List Operation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object 2"/>
          <p:cNvGrpSpPr/>
          <p:nvPr/>
        </p:nvGrpSpPr>
        <p:grpSpPr>
          <a:xfrm>
            <a:off x="-10800" y="645480"/>
            <a:ext cx="13410720" cy="8766720"/>
            <a:chOff x="-10800" y="645480"/>
            <a:chExt cx="13410720" cy="8766720"/>
          </a:xfrm>
        </p:grpSpPr>
        <p:pic>
          <p:nvPicPr>
            <p:cNvPr id="46" name="object 3"/>
            <p:cNvPicPr/>
            <p:nvPr/>
          </p:nvPicPr>
          <p:blipFill>
            <a:blip r:embed="rId1"/>
            <a:stretch/>
          </p:blipFill>
          <p:spPr>
            <a:xfrm>
              <a:off x="-10800" y="645480"/>
              <a:ext cx="13410720" cy="876672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" name="object 4"/>
            <p:cNvSpPr/>
            <p:nvPr/>
          </p:nvSpPr>
          <p:spPr>
            <a:xfrm>
              <a:off x="94320" y="3564360"/>
              <a:ext cx="13305600" cy="2182320"/>
            </a:xfrm>
            <a:custGeom>
              <a:avLst/>
              <a:gdLst>
                <a:gd name="textAreaLeft" fmla="*/ 0 w 13305600"/>
                <a:gd name="textAreaRight" fmla="*/ 13305960 w 13305600"/>
                <a:gd name="textAreaTop" fmla="*/ 0 h 2182320"/>
                <a:gd name="textAreaBottom" fmla="*/ 2182680 h 2182320"/>
              </a:gdLst>
              <a:ahLst/>
              <a:cxnLst/>
              <a:rect l="textAreaLeft" t="textAreaTop" r="textAreaRight" b="textAreaBottom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noFill/>
            <a:ln w="12192">
              <a:solidFill>
                <a:srgbClr val="00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tIns="0" rIns="0" bIns="0" anchor="t">
              <a:noAutofit/>
            </a:bodyPr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8" name="object 8"/>
          <p:cNvSpPr/>
          <p:nvPr/>
        </p:nvSpPr>
        <p:spPr>
          <a:xfrm>
            <a:off x="13091760" y="12746160"/>
            <a:ext cx="1825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20880" rIns="0" bIns="0" anchor="t">
            <a:spAutoFit/>
          </a:bodyPr>
          <a:p>
            <a:pPr marL="21960">
              <a:lnSpc>
                <a:spcPct val="100000"/>
              </a:lnSpc>
              <a:spcBef>
                <a:spcPts val="164"/>
              </a:spcBef>
            </a:pPr>
            <a:r>
              <a:rPr lang="en-US" sz="2150" b="0" u="none" spc="-85" strike="noStrike">
                <a:solidFill>
                  <a:srgbClr val="000000"/>
                </a:solidFill>
                <a:effectLst/>
                <a:uFillTx/>
                <a:latin typeface="Calibri"/>
              </a:rPr>
              <a:t>2</a:t>
            </a:r>
            <a:endParaRPr lang="en-US" sz="2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object 30"/>
          <p:cNvSpPr/>
          <p:nvPr/>
        </p:nvSpPr>
        <p:spPr>
          <a:xfrm>
            <a:off x="106560" y="3084120"/>
            <a:ext cx="13304520" cy="1755720"/>
          </a:xfrm>
          <a:prstGeom prst="rect">
            <a:avLst/>
          </a:prstGeom>
          <a:noFill/>
          <a:ln w="12953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GB" sz="40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sv-SE" sz="2400" b="0" u="none" spc="-17" strike="noStrike">
                <a:solidFill>
                  <a:srgbClr val="FFFFFF"/>
                </a:solidFill>
                <a:effectLst/>
                <a:uFillTx/>
                <a:latin typeface="Comic Sans MS"/>
              </a:rPr>
              <a:t>Level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86400" algn="ctr">
              <a:lnSpc>
                <a:spcPct val="100000"/>
              </a:lnSpc>
              <a:spcBef>
                <a:spcPts val="672"/>
              </a:spcBef>
            </a:pPr>
            <a:r>
              <a:rPr lang="en-SE" sz="4000" b="1" u="none" strike="noStrike">
                <a:solidFill>
                  <a:srgbClr val="FFCE53"/>
                </a:solidFill>
                <a:effectLst/>
                <a:uFillTx/>
                <a:latin typeface="Comic Sans MS"/>
              </a:rPr>
              <a:t>Insert Delete Node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object 16"/>
          <p:cNvSpPr/>
          <p:nvPr/>
        </p:nvSpPr>
        <p:spPr>
          <a:xfrm>
            <a:off x="381240" y="88848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Rectangle: Rounded Corners 10"/>
          <p:cNvSpPr/>
          <p:nvPr/>
        </p:nvSpPr>
        <p:spPr>
          <a:xfrm>
            <a:off x="65156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52" name="Straight Connector 19"/>
          <p:cNvCxnSpPr/>
          <p:nvPr/>
        </p:nvCxnSpPr>
        <p:spPr>
          <a:xfrm>
            <a:off x="72774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53" name="TextBox 22"/>
          <p:cNvSpPr/>
          <p:nvPr/>
        </p:nvSpPr>
        <p:spPr>
          <a:xfrm>
            <a:off x="65152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" name="Straight Connector 21"/>
          <p:cNvCxnSpPr/>
          <p:nvPr/>
        </p:nvCxnSpPr>
        <p:spPr>
          <a:xfrm>
            <a:off x="8115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55" name="TextBox 24"/>
          <p:cNvSpPr/>
          <p:nvPr/>
        </p:nvSpPr>
        <p:spPr>
          <a:xfrm>
            <a:off x="2400480" y="373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Box 25"/>
          <p:cNvSpPr/>
          <p:nvPr/>
        </p:nvSpPr>
        <p:spPr>
          <a:xfrm>
            <a:off x="2400480" y="480096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Box 27"/>
          <p:cNvSpPr/>
          <p:nvPr/>
        </p:nvSpPr>
        <p:spPr>
          <a:xfrm>
            <a:off x="12458880" y="472464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Rectangle: Rounded Corners 11"/>
          <p:cNvSpPr/>
          <p:nvPr/>
        </p:nvSpPr>
        <p:spPr>
          <a:xfrm>
            <a:off x="377244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59" name="Straight Connector 22"/>
          <p:cNvCxnSpPr/>
          <p:nvPr/>
        </p:nvCxnSpPr>
        <p:spPr>
          <a:xfrm>
            <a:off x="46864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0" name="TextBox 28"/>
          <p:cNvSpPr/>
          <p:nvPr/>
        </p:nvSpPr>
        <p:spPr>
          <a:xfrm>
            <a:off x="388872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</a:t>
            </a: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   1    </a:t>
            </a: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1" name="Straight Connector 23"/>
          <p:cNvCxnSpPr/>
          <p:nvPr/>
        </p:nvCxnSpPr>
        <p:spPr>
          <a:xfrm>
            <a:off x="552456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2" name="Rectangle: Rounded Corners 12"/>
          <p:cNvSpPr/>
          <p:nvPr/>
        </p:nvSpPr>
        <p:spPr>
          <a:xfrm>
            <a:off x="9258480" y="358632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63" name="Straight Connector 24"/>
          <p:cNvCxnSpPr/>
          <p:nvPr/>
        </p:nvCxnSpPr>
        <p:spPr>
          <a:xfrm>
            <a:off x="1002060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4" name="TextBox 29"/>
          <p:cNvSpPr/>
          <p:nvPr/>
        </p:nvSpPr>
        <p:spPr>
          <a:xfrm>
            <a:off x="9258480" y="419148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5" name="Straight Connector 25"/>
          <p:cNvCxnSpPr/>
          <p:nvPr/>
        </p:nvCxnSpPr>
        <p:spPr>
          <a:xfrm>
            <a:off x="10858680" y="366228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6" name="Arrow: Curved Down 6"/>
          <p:cNvSpPr/>
          <p:nvPr/>
        </p:nvSpPr>
        <p:spPr>
          <a:xfrm>
            <a:off x="571536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Arrow: Curved Down 20"/>
          <p:cNvSpPr/>
          <p:nvPr/>
        </p:nvSpPr>
        <p:spPr>
          <a:xfrm>
            <a:off x="845856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Arrow: Curved Down 21"/>
          <p:cNvSpPr/>
          <p:nvPr/>
        </p:nvSpPr>
        <p:spPr>
          <a:xfrm>
            <a:off x="11049480" y="27435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Arrow: Curved Down 22"/>
          <p:cNvSpPr/>
          <p:nvPr/>
        </p:nvSpPr>
        <p:spPr>
          <a:xfrm>
            <a:off x="3124440" y="27392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Arrow: Curved Down 23"/>
          <p:cNvSpPr/>
          <p:nvPr/>
        </p:nvSpPr>
        <p:spPr>
          <a:xfrm flipH="1" flipV="1">
            <a:off x="2284200" y="52740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Arrow: Curved Down 24"/>
          <p:cNvSpPr/>
          <p:nvPr/>
        </p:nvSpPr>
        <p:spPr>
          <a:xfrm flipH="1" flipV="1">
            <a:off x="495108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Arrow: Curved Down 25"/>
          <p:cNvSpPr/>
          <p:nvPr/>
        </p:nvSpPr>
        <p:spPr>
          <a:xfrm flipH="1" flipV="1">
            <a:off x="7542000" y="5265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Arrow: Curved Down 26"/>
          <p:cNvSpPr/>
          <p:nvPr/>
        </p:nvSpPr>
        <p:spPr>
          <a:xfrm flipH="1" flipV="1">
            <a:off x="10285200" y="525672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8357400" y="5715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Arrow: Curved Down 28"/>
          <p:cNvSpPr/>
          <p:nvPr/>
        </p:nvSpPr>
        <p:spPr>
          <a:xfrm flipH="1" flipV="1">
            <a:off x="5068440" y="5335200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26"/>
          <p:cNvSpPr/>
          <p:nvPr/>
        </p:nvSpPr>
        <p:spPr>
          <a:xfrm>
            <a:off x="5621400" y="571572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object 11"/>
          <p:cNvSpPr/>
          <p:nvPr/>
        </p:nvSpPr>
        <p:spPr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: Rounded Corners 7"/>
          <p:cNvSpPr/>
          <p:nvPr/>
        </p:nvSpPr>
        <p:spPr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79" name="Straight Connector 6"/>
          <p:cNvCxnSpPr/>
          <p:nvPr/>
        </p:nvCxnSpPr>
        <p:spPr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0" name="TextBox 10"/>
          <p:cNvSpPr/>
          <p:nvPr/>
        </p:nvSpPr>
        <p:spPr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" name="Straight Connector 8"/>
          <p:cNvCxnSpPr/>
          <p:nvPr/>
        </p:nvCxnSpPr>
        <p:spPr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2" name="TextBox 13"/>
          <p:cNvSpPr/>
          <p:nvPr/>
        </p:nvSpPr>
        <p:spPr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8"/>
          <p:cNvSpPr/>
          <p:nvPr/>
        </p:nvSpPr>
        <p:spPr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9"/>
          <p:cNvSpPr/>
          <p:nvPr/>
        </p:nvSpPr>
        <p:spPr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ectangle: Rounded Corners 8"/>
          <p:cNvSpPr/>
          <p:nvPr/>
        </p:nvSpPr>
        <p:spPr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86" name="Straight Connector 11"/>
          <p:cNvCxnSpPr/>
          <p:nvPr/>
        </p:nvCxnSpPr>
        <p:spPr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7" name="TextBox 20"/>
          <p:cNvSpPr/>
          <p:nvPr/>
        </p:nvSpPr>
        <p:spPr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" name="Straight Connector 12"/>
          <p:cNvCxnSpPr/>
          <p:nvPr/>
        </p:nvCxnSpPr>
        <p:spPr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89" name="Rectangle: Rounded Corners 9"/>
          <p:cNvSpPr/>
          <p:nvPr/>
        </p:nvSpPr>
        <p:spPr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90" name="Straight Connector 17"/>
          <p:cNvCxnSpPr/>
          <p:nvPr/>
        </p:nvCxnSpPr>
        <p:spPr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1" name="TextBox 21"/>
          <p:cNvSpPr/>
          <p:nvPr/>
        </p:nvSpPr>
        <p:spPr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" name="Straight Connector 18"/>
          <p:cNvCxnSpPr/>
          <p:nvPr/>
        </p:nvCxnSpPr>
        <p:spPr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93" name="Arrow: Curved Down 13"/>
          <p:cNvSpPr/>
          <p:nvPr/>
        </p:nvSpPr>
        <p:spPr>
          <a:xfrm>
            <a:off x="571536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Arrow: Curved Down 14"/>
          <p:cNvSpPr/>
          <p:nvPr/>
        </p:nvSpPr>
        <p:spPr>
          <a:xfrm>
            <a:off x="845856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5" name="Arrow: Curved Down 15"/>
          <p:cNvSpPr/>
          <p:nvPr/>
        </p:nvSpPr>
        <p:spPr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Arrow: Curved Down 16"/>
          <p:cNvSpPr/>
          <p:nvPr/>
        </p:nvSpPr>
        <p:spPr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Arrow: Curved Down 17"/>
          <p:cNvSpPr/>
          <p:nvPr/>
        </p:nvSpPr>
        <p:spPr>
          <a:xfrm flipH="1" flipV="1">
            <a:off x="2284200" y="52736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Arrow: Curved Down 27"/>
          <p:cNvSpPr/>
          <p:nvPr/>
        </p:nvSpPr>
        <p:spPr>
          <a:xfrm flipH="1" flipV="1">
            <a:off x="102852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9" name="Arrow: Curved Down 29"/>
          <p:cNvSpPr/>
          <p:nvPr/>
        </p:nvSpPr>
        <p:spPr>
          <a:xfrm flipH="1" flipV="1">
            <a:off x="5068440" y="5334840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TextBox 23"/>
          <p:cNvSpPr/>
          <p:nvPr/>
        </p:nvSpPr>
        <p:spPr>
          <a:xfrm>
            <a:off x="9113400" y="236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0"/>
          <p:cNvSpPr/>
          <p:nvPr/>
        </p:nvSpPr>
        <p:spPr>
          <a:xfrm>
            <a:off x="6341400" y="2367360"/>
            <a:ext cx="53208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X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Arrow: Curved Down 9"/>
          <p:cNvSpPr/>
          <p:nvPr/>
        </p:nvSpPr>
        <p:spPr>
          <a:xfrm>
            <a:off x="5715720" y="2743200"/>
            <a:ext cx="51044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bject 1"/>
          <p:cNvSpPr/>
          <p:nvPr/>
        </p:nvSpPr>
        <p:spPr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: Rounded Corners 1"/>
          <p:cNvSpPr/>
          <p:nvPr/>
        </p:nvSpPr>
        <p:spPr>
          <a:xfrm>
            <a:off x="65156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05" name="Straight Connector 1"/>
          <p:cNvCxnSpPr/>
          <p:nvPr/>
        </p:nvCxnSpPr>
        <p:spPr>
          <a:xfrm>
            <a:off x="72774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6" name="TextBox 1"/>
          <p:cNvSpPr/>
          <p:nvPr/>
        </p:nvSpPr>
        <p:spPr>
          <a:xfrm>
            <a:off x="65152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2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7" name="Straight Connector 2"/>
          <p:cNvCxnSpPr/>
          <p:nvPr/>
        </p:nvCxnSpPr>
        <p:spPr>
          <a:xfrm>
            <a:off x="8115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08" name="TextBox 8"/>
          <p:cNvSpPr/>
          <p:nvPr/>
        </p:nvSpPr>
        <p:spPr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9"/>
          <p:cNvSpPr/>
          <p:nvPr/>
        </p:nvSpPr>
        <p:spPr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1"/>
          <p:cNvSpPr/>
          <p:nvPr/>
        </p:nvSpPr>
        <p:spPr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: Rounded Corners 4"/>
          <p:cNvSpPr/>
          <p:nvPr/>
        </p:nvSpPr>
        <p:spPr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2" name="Straight Connector 9"/>
          <p:cNvCxnSpPr/>
          <p:nvPr/>
        </p:nvCxnSpPr>
        <p:spPr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3" name="TextBox 12"/>
          <p:cNvSpPr/>
          <p:nvPr/>
        </p:nvSpPr>
        <p:spPr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4" name="Straight Connector 10"/>
          <p:cNvCxnSpPr/>
          <p:nvPr/>
        </p:nvCxnSpPr>
        <p:spPr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5" name="Rectangle: Rounded Corners 5"/>
          <p:cNvSpPr/>
          <p:nvPr/>
        </p:nvSpPr>
        <p:spPr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16" name="Straight Connector 13"/>
          <p:cNvCxnSpPr/>
          <p:nvPr/>
        </p:nvCxnSpPr>
        <p:spPr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7" name="TextBox 14"/>
          <p:cNvSpPr/>
          <p:nvPr/>
        </p:nvSpPr>
        <p:spPr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18" name="Straight Connector 14"/>
          <p:cNvCxnSpPr/>
          <p:nvPr/>
        </p:nvCxnSpPr>
        <p:spPr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19" name="Arrow: Curved Down 10"/>
          <p:cNvSpPr/>
          <p:nvPr/>
        </p:nvSpPr>
        <p:spPr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0" name="Arrow: Curved Down 11"/>
          <p:cNvSpPr/>
          <p:nvPr/>
        </p:nvSpPr>
        <p:spPr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1" name="Arrow: Curved Down 12"/>
          <p:cNvSpPr/>
          <p:nvPr/>
        </p:nvSpPr>
        <p:spPr>
          <a:xfrm flipH="1" flipV="1">
            <a:off x="2284200" y="52736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2" name="Arrow: Curved Down 18"/>
          <p:cNvSpPr/>
          <p:nvPr/>
        </p:nvSpPr>
        <p:spPr>
          <a:xfrm flipH="1" flipV="1">
            <a:off x="102852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Arrow: Curved Down 19"/>
          <p:cNvSpPr/>
          <p:nvPr/>
        </p:nvSpPr>
        <p:spPr>
          <a:xfrm flipH="1" flipV="1">
            <a:off x="5068440" y="5334840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4" name="Arrow: Curved Down 30"/>
          <p:cNvSpPr/>
          <p:nvPr/>
        </p:nvSpPr>
        <p:spPr>
          <a:xfrm>
            <a:off x="5715720" y="2743200"/>
            <a:ext cx="51044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object 10"/>
          <p:cNvSpPr/>
          <p:nvPr/>
        </p:nvSpPr>
        <p:spPr>
          <a:xfrm>
            <a:off x="381240" y="888120"/>
            <a:ext cx="12351240" cy="76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Doubley Linked List Data Structure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Box 2"/>
          <p:cNvSpPr/>
          <p:nvPr/>
        </p:nvSpPr>
        <p:spPr>
          <a:xfrm>
            <a:off x="2400480" y="373392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3"/>
          <p:cNvSpPr/>
          <p:nvPr/>
        </p:nvSpPr>
        <p:spPr>
          <a:xfrm>
            <a:off x="2400480" y="480060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4"/>
          <p:cNvSpPr/>
          <p:nvPr/>
        </p:nvSpPr>
        <p:spPr>
          <a:xfrm>
            <a:off x="12458880" y="4724280"/>
            <a:ext cx="9511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: Rounded Corners 2"/>
          <p:cNvSpPr/>
          <p:nvPr/>
        </p:nvSpPr>
        <p:spPr>
          <a:xfrm>
            <a:off x="377244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30" name="Straight Connector 3"/>
          <p:cNvCxnSpPr/>
          <p:nvPr/>
        </p:nvCxnSpPr>
        <p:spPr>
          <a:xfrm>
            <a:off x="46864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31" name="TextBox 5"/>
          <p:cNvSpPr/>
          <p:nvPr/>
        </p:nvSpPr>
        <p:spPr>
          <a:xfrm>
            <a:off x="388872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   1  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2" name="Straight Connector 4"/>
          <p:cNvCxnSpPr/>
          <p:nvPr/>
        </p:nvCxnSpPr>
        <p:spPr>
          <a:xfrm>
            <a:off x="552456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33" name="Rectangle: Rounded Corners 3"/>
          <p:cNvSpPr/>
          <p:nvPr/>
        </p:nvSpPr>
        <p:spPr>
          <a:xfrm>
            <a:off x="9258480" y="3585960"/>
            <a:ext cx="2513160" cy="167508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560">
            <a:solidFill>
              <a:schemeClr val="accent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  <p:cxnSp>
        <p:nvCxnSpPr>
          <p:cNvPr id="134" name="Straight Connector 5"/>
          <p:cNvCxnSpPr/>
          <p:nvPr/>
        </p:nvCxnSpPr>
        <p:spPr>
          <a:xfrm>
            <a:off x="1002060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35" name="TextBox 6"/>
          <p:cNvSpPr/>
          <p:nvPr/>
        </p:nvSpPr>
        <p:spPr>
          <a:xfrm>
            <a:off x="9258480" y="4191120"/>
            <a:ext cx="251316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SE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Prev  500  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36" name="Straight Connector 7"/>
          <p:cNvCxnSpPr/>
          <p:nvPr/>
        </p:nvCxnSpPr>
        <p:spPr>
          <a:xfrm>
            <a:off x="10858680" y="3661920"/>
            <a:ext cx="1440" cy="160164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137" name="Arrow: Curved Down 3"/>
          <p:cNvSpPr/>
          <p:nvPr/>
        </p:nvSpPr>
        <p:spPr>
          <a:xfrm>
            <a:off x="11049480" y="274320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8" name="Arrow: Curved Down 4"/>
          <p:cNvSpPr/>
          <p:nvPr/>
        </p:nvSpPr>
        <p:spPr>
          <a:xfrm>
            <a:off x="3124440" y="273888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9" name="Arrow: Curved Down 5"/>
          <p:cNvSpPr/>
          <p:nvPr/>
        </p:nvSpPr>
        <p:spPr>
          <a:xfrm flipH="1" flipV="1">
            <a:off x="2284200" y="527364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0" name="Arrow: Curved Down 7"/>
          <p:cNvSpPr/>
          <p:nvPr/>
        </p:nvSpPr>
        <p:spPr>
          <a:xfrm flipH="1" flipV="1">
            <a:off x="10285200" y="5256360"/>
            <a:ext cx="2132280" cy="83664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1" name="Arrow: Curved Down 8"/>
          <p:cNvSpPr/>
          <p:nvPr/>
        </p:nvSpPr>
        <p:spPr>
          <a:xfrm flipH="1" flipV="1">
            <a:off x="5068440" y="5334840"/>
            <a:ext cx="453276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2" name="Arrow: Curved Down 38"/>
          <p:cNvSpPr/>
          <p:nvPr/>
        </p:nvSpPr>
        <p:spPr>
          <a:xfrm>
            <a:off x="5715360" y="2742840"/>
            <a:ext cx="5104440" cy="837000"/>
          </a:xfrm>
          <a:prstGeom prst="curvedDownArrow">
            <a:avLst>
              <a:gd name="adj1" fmla="val 19689"/>
              <a:gd name="adj2" fmla="val 58255"/>
              <a:gd name="adj3" fmla="val 29453"/>
            </a:avLst>
          </a:prstGeom>
          <a:solidFill>
            <a:schemeClr val="accent2"/>
          </a:solidFill>
          <a:ln w="25560">
            <a:solidFill>
              <a:srgbClr val="C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SE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object 5"/>
          <p:cNvSpPr/>
          <p:nvPr/>
        </p:nvSpPr>
        <p:spPr>
          <a:xfrm>
            <a:off x="380880" y="888120"/>
            <a:ext cx="12352320" cy="20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🔎 Definition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Removes a specific node from the doubly linked list and reconnects the surrounding nodes correctly.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object 3"/>
          <p:cNvSpPr/>
          <p:nvPr/>
        </p:nvSpPr>
        <p:spPr>
          <a:xfrm>
            <a:off x="380880" y="888120"/>
            <a:ext cx="12352320" cy="33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SE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📖 Explanation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Deletion requires updating both: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next pointer of the previous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prev pointer of the next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Special handling is needed if the node is: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The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The last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object 3"/>
          <p:cNvSpPr/>
          <p:nvPr/>
        </p:nvSpPr>
        <p:spPr>
          <a:xfrm>
            <a:off x="380880" y="888120"/>
            <a:ext cx="12352320" cy="295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1️⃣ Validate Input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Check: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If head ==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  <a:ea typeface="Microsoft YaHei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If NodeToDelete ==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➡️ Result: Stop if invalid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object 6"/>
          <p:cNvSpPr/>
          <p:nvPr/>
        </p:nvSpPr>
        <p:spPr>
          <a:xfrm>
            <a:off x="380880" y="888120"/>
            <a:ext cx="12352320" cy="22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2️⃣ If Node is Head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Move head to next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7"/>
          <p:cNvSpPr/>
          <p:nvPr/>
        </p:nvSpPr>
        <p:spPr>
          <a:xfrm>
            <a:off x="380880" y="888120"/>
            <a:ext cx="12352320" cy="22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3️⃣ Update Next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If next exists: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next-&gt;prev = current-&gt;prev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object 9"/>
          <p:cNvSpPr/>
          <p:nvPr/>
        </p:nvSpPr>
        <p:spPr>
          <a:xfrm>
            <a:off x="380880" y="888120"/>
            <a:ext cx="12352320" cy="22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4️⃣ Update Previous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If prev exists: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Set prev-&gt;next = current-&gt;next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object 12"/>
          <p:cNvSpPr/>
          <p:nvPr/>
        </p:nvSpPr>
        <p:spPr>
          <a:xfrm>
            <a:off x="380880" y="888120"/>
            <a:ext cx="12352320" cy="259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🟦 Procedures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5️⃣ Delete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🟨 Step: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Free memory using delete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➡️ Result: Node removed safely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object 3"/>
          <p:cNvSpPr/>
          <p:nvPr/>
        </p:nvSpPr>
        <p:spPr>
          <a:xfrm>
            <a:off x="380880" y="888120"/>
            <a:ext cx="12352320" cy="332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💡 Example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Before: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&lt;-&gt; 2 &lt;-&gt; 3 &lt;-&gt; 4 &lt;-&gt;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Delete node with value 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After: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NULL &lt;- 1 &lt;-&gt; 2 &lt;-&gt; 3 &lt;-&gt; 5 -&gt; NULL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object 3"/>
          <p:cNvSpPr/>
          <p:nvPr/>
        </p:nvSpPr>
        <p:spPr>
          <a:xfrm>
            <a:off x="380880" y="888120"/>
            <a:ext cx="12352320" cy="29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📌 Note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Must use Find to locate node before deletion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🔹 Works for: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First node 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Middle node 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Last node ✅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object 3"/>
          <p:cNvSpPr/>
          <p:nvPr/>
        </p:nvSpPr>
        <p:spPr>
          <a:xfrm>
            <a:off x="380880" y="888120"/>
            <a:ext cx="12352320" cy="186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🚫 Warning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⚠️ Deleting without updating pointers correctly → breaks the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⚠️ Deleting NULL pointer → crash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object 3"/>
          <p:cNvSpPr/>
          <p:nvPr/>
        </p:nvSpPr>
        <p:spPr>
          <a:xfrm>
            <a:off x="380880" y="888120"/>
            <a:ext cx="12352320" cy="442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⚖️ Comparison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🟩 Insert Operation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Adds new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Updates surrounding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Does not remove data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🟥 Delete Node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Time Complexity: O(n) (if using Find)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Removes node completely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	</a:t>
            </a: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✔️ Requires careful pointer updates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object 3"/>
          <p:cNvSpPr/>
          <p:nvPr/>
        </p:nvSpPr>
        <p:spPr>
          <a:xfrm>
            <a:off x="380880" y="888120"/>
            <a:ext cx="12352320" cy="259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54440" rIns="0" bIns="0" anchor="t">
            <a:spAutoFit/>
          </a:bodyPr>
          <a:p>
            <a:pPr>
              <a:lnSpc>
                <a:spcPct val="100000"/>
              </a:lnSpc>
            </a:pPr>
            <a:r>
              <a:rPr lang="en-GB" sz="4000" b="1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✨ Summary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DeleteNode removes a specific node from the list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Updates both next and prev pointers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Handles head, middle, and last cases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Comic Sans MS"/>
              </a:rPr>
              <a:t>✅ Requires Find to locate the node first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object 4"/>
          <p:cNvSpPr/>
          <p:nvPr/>
        </p:nvSpPr>
        <p:spPr>
          <a:xfrm>
            <a:off x="0" y="4712760"/>
            <a:ext cx="13410720" cy="63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16920" rIns="0" bIns="0" anchor="t">
            <a:spAutoFit/>
          </a:bodyPr>
          <a:p>
            <a:pPr marL="16920" algn="ctr">
              <a:lnSpc>
                <a:spcPct val="100000"/>
              </a:lnSpc>
              <a:spcBef>
                <a:spcPts val="133"/>
              </a:spcBef>
            </a:pPr>
            <a:r>
              <a:rPr lang="sv-SE" sz="4000" b="1" u="none" spc="-17" strike="noStrike">
                <a:solidFill>
                  <a:srgbClr val="FF0000"/>
                </a:solidFill>
                <a:effectLst/>
                <a:uFillTx/>
                <a:latin typeface="Comic Sans MS"/>
              </a:rPr>
              <a:t>Thank you</a:t>
            </a:r>
            <a:r>
              <a:rPr lang="sv-SE" sz="4000" b="0" u="none" spc="-20" strike="noStrike">
                <a:solidFill>
                  <a:srgbClr val="FF0000"/>
                </a:solidFill>
                <a:effectLst/>
                <a:uFillTx/>
                <a:latin typeface="Calibri"/>
              </a:rPr>
              <a:t> </a:t>
            </a:r>
            <a:r>
              <a:rPr lang="sv-SE" sz="4000" b="0" u="none" spc="-68" strike="noStrike">
                <a:solidFill>
                  <a:srgbClr val="FF0000"/>
                </a:solidFill>
                <a:effectLst/>
                <a:uFillTx/>
                <a:latin typeface="Wingdings"/>
              </a:rPr>
              <a:t>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11884</TotalTime>
  <Application>LibreOffice/26.2.3.2$Windows_X86_64 LibreOffice_project/70e089b17412e4cb7773e41413306b17a2328c34</Application>
  <AppVersion>15.0000</AppVersion>
  <Words>404</Words>
  <Paragraphs>84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2025-12-09T17:44:59Z</dcterms:created>
  <dc:creator>Sara Alterkawi</dc:creator>
  <dc:description/>
  <dc:language>en-US</dc:language>
  <cp:lastModifiedBy/>
  <dcterms:modified xsi:type="dcterms:W3CDTF">2026-05-05T13:11:26Z</dcterms:modified>
  <cp:revision>444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esentationFormat">
    <vt:lpwstr>Custom</vt:lpwstr>
  </property>
  <property fmtid="{D5CDD505-2E9C-101B-9397-08002B2CF9AE}" pid="6" name="Producer">
    <vt:lpwstr>www.ilovepdf.com</vt:lpwstr>
  </property>
  <property fmtid="{D5CDD505-2E9C-101B-9397-08002B2CF9AE}" pid="7" name="Slides">
    <vt:i4>13</vt:i4>
  </property>
</Properties>
</file>