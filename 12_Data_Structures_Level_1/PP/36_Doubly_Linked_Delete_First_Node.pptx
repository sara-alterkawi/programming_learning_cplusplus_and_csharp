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0" d="100"/>
          <a:sy n="40" d="100"/>
        </p:scale>
        <p:origin x="1020" y="15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9955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76812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986169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100797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649318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4417105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919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03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110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33458A-5BE0-397F-1A8E-3FC0DD6302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036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502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005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CED7ED-F2C5-58C4-60D8-3C23AD4A1E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878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888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0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E94C56-F5D4-0AF5-6E8F-E466245B6B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59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7943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004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F60FF0-459C-5FA2-CA78-E163B5F1F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866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1738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256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7406C8-84BF-A399-13BB-A662A6EE6D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46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5938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891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8FA63-5D6B-C224-B41F-30DB6434CE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649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0866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4122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A76C5B-35F8-698E-EDCC-44716EFB6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817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7733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3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83B8F8-081A-6687-4AEE-8244BD3087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609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8785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196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343B05-2A5C-73E4-8535-6F1E54BA0F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9993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6273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9943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397FF3-F086-6F24-ADEF-08EAD97700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506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426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504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F6C72C-7459-B1DC-8ED1-476E554D3C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075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8373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086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1DBDEA-5BCA-4F52-311F-05BFE58EE7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5670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732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67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9033E1-7EA2-0256-FAB6-443A31AB50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33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2075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25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304408-2126-516B-9B6A-D7C003C792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128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5566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592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6D1BB8-36AB-1EFF-0626-EF90DE7425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12729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129230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854749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1744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32639714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4150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926314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729941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10010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877079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36711612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7770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789587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1391677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8718765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295469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28434125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50261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407306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99560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372504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943413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63125052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84491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207823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2963542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4667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814049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99441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649318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73241455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26587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5824933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28579018" name="object 30"/>
          <p:cNvSpPr txBox="1"/>
          <p:nvPr/>
        </p:nvSpPr>
        <p:spPr bwMode="auto">
          <a:xfrm>
            <a:off x="0" y="1143000"/>
            <a:ext cx="12725400" cy="48859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sz="6000" b="1">
                <a:solidFill>
                  <a:srgbClr val="FFCE53"/>
                </a:solidFill>
                <a:latin typeface="Comic Sans MS"/>
                <a:cs typeface="Comic Sans MS"/>
              </a:rPr>
              <a:t>Doubly Linked List Operation</a:t>
            </a:r>
            <a:endParaRPr lang="en-GB" sz="6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9648180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6119773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68802051" name="object 30"/>
          <p:cNvSpPr txBox="1"/>
          <p:nvPr/>
        </p:nvSpPr>
        <p:spPr bwMode="auto">
          <a:xfrm>
            <a:off x="106431" y="3084217"/>
            <a:ext cx="13315207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4000" spc="-17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sz="4000" spc="-17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sz="4000" b="1">
                <a:solidFill>
                  <a:srgbClr val="FFCE53"/>
                </a:solidFill>
                <a:latin typeface="Comic Sans MS"/>
                <a:cs typeface="Comic Sans MS"/>
              </a:rPr>
              <a:t>Delete </a:t>
            </a:r>
            <a:r>
              <a:rPr sz="4000" b="1">
                <a:solidFill>
                  <a:srgbClr val="FFCE53"/>
                </a:solidFill>
                <a:latin typeface="Comic Sans MS"/>
                <a:cs typeface="Comic Sans MS"/>
              </a:rPr>
              <a:t>First Node</a:t>
            </a:r>
            <a:endParaRPr lang="en-GB" sz="4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10682" name="object 16"/>
          <p:cNvSpPr/>
          <p:nvPr/>
        </p:nvSpPr>
        <p:spPr bwMode="auto">
          <a:xfrm>
            <a:off x="381240" y="88848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118428" name="Rectangle: Rounded Corners 10"/>
          <p:cNvSpPr/>
          <p:nvPr/>
        </p:nvSpPr>
        <p:spPr bwMode="auto">
          <a:xfrm>
            <a:off x="651564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630559964" name="Straight Connector 19"/>
          <p:cNvCxnSpPr/>
          <p:nvPr/>
        </p:nvCxnSpPr>
        <p:spPr bwMode="auto">
          <a:xfrm>
            <a:off x="727740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582594208" name="TextBox 22"/>
          <p:cNvSpPr/>
          <p:nvPr/>
        </p:nvSpPr>
        <p:spPr bwMode="auto">
          <a:xfrm>
            <a:off x="651528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2676894" name="Straight Connector 21"/>
          <p:cNvCxnSpPr/>
          <p:nvPr/>
        </p:nvCxnSpPr>
        <p:spPr bwMode="auto">
          <a:xfrm>
            <a:off x="81154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04517643" name="TextBox 24"/>
          <p:cNvSpPr/>
          <p:nvPr/>
        </p:nvSpPr>
        <p:spPr bwMode="auto">
          <a:xfrm>
            <a:off x="2400480" y="373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502457" name="TextBox 25"/>
          <p:cNvSpPr/>
          <p:nvPr/>
        </p:nvSpPr>
        <p:spPr bwMode="auto">
          <a:xfrm>
            <a:off x="2400480" y="480096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337039" name="TextBox 27"/>
          <p:cNvSpPr/>
          <p:nvPr/>
        </p:nvSpPr>
        <p:spPr bwMode="auto">
          <a:xfrm>
            <a:off x="12458880" y="472464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112931" name="Rectangle: Rounded Corners 11"/>
          <p:cNvSpPr/>
          <p:nvPr/>
        </p:nvSpPr>
        <p:spPr bwMode="auto">
          <a:xfrm>
            <a:off x="377244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443481366" name="Straight Connector 22"/>
          <p:cNvCxnSpPr/>
          <p:nvPr/>
        </p:nvCxnSpPr>
        <p:spPr bwMode="auto">
          <a:xfrm>
            <a:off x="46864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049877730" name="TextBox 28"/>
          <p:cNvSpPr/>
          <p:nvPr/>
        </p:nvSpPr>
        <p:spPr bwMode="auto">
          <a:xfrm>
            <a:off x="388872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</a:t>
            </a: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   1    </a:t>
            </a: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42518062" name="Straight Connector 23"/>
          <p:cNvCxnSpPr/>
          <p:nvPr/>
        </p:nvCxnSpPr>
        <p:spPr bwMode="auto">
          <a:xfrm>
            <a:off x="552456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980211650" name="Rectangle: Rounded Corners 12"/>
          <p:cNvSpPr/>
          <p:nvPr/>
        </p:nvSpPr>
        <p:spPr bwMode="auto">
          <a:xfrm>
            <a:off x="925848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438944119" name="Straight Connector 24"/>
          <p:cNvCxnSpPr/>
          <p:nvPr/>
        </p:nvCxnSpPr>
        <p:spPr bwMode="auto">
          <a:xfrm>
            <a:off x="1002060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41357788" name="TextBox 29"/>
          <p:cNvSpPr/>
          <p:nvPr/>
        </p:nvSpPr>
        <p:spPr bwMode="auto">
          <a:xfrm>
            <a:off x="925848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48979884" name="Straight Connector 25"/>
          <p:cNvCxnSpPr/>
          <p:nvPr/>
        </p:nvCxnSpPr>
        <p:spPr bwMode="auto">
          <a:xfrm>
            <a:off x="108586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406447479" name="Arrow: Curved Down 6"/>
          <p:cNvSpPr/>
          <p:nvPr/>
        </p:nvSpPr>
        <p:spPr bwMode="auto">
          <a:xfrm>
            <a:off x="5715360" y="27435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3026811" name="Arrow: Curved Down 20"/>
          <p:cNvSpPr/>
          <p:nvPr/>
        </p:nvSpPr>
        <p:spPr bwMode="auto">
          <a:xfrm>
            <a:off x="8458560" y="27392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5121992" name="Arrow: Curved Down 21"/>
          <p:cNvSpPr/>
          <p:nvPr/>
        </p:nvSpPr>
        <p:spPr bwMode="auto">
          <a:xfrm>
            <a:off x="11049480" y="27435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999351" name="Arrow: Curved Down 22"/>
          <p:cNvSpPr/>
          <p:nvPr/>
        </p:nvSpPr>
        <p:spPr bwMode="auto">
          <a:xfrm>
            <a:off x="3124440" y="27392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5994890" name="Arrow: Curved Down 23"/>
          <p:cNvSpPr/>
          <p:nvPr/>
        </p:nvSpPr>
        <p:spPr bwMode="auto">
          <a:xfrm flipH="1" flipV="1">
            <a:off x="2284200" y="52740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9326722" name="Arrow: Curved Down 24"/>
          <p:cNvSpPr/>
          <p:nvPr/>
        </p:nvSpPr>
        <p:spPr bwMode="auto">
          <a:xfrm flipH="1" flipV="1">
            <a:off x="495108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1352917" name="Arrow: Curved Down 25"/>
          <p:cNvSpPr/>
          <p:nvPr/>
        </p:nvSpPr>
        <p:spPr bwMode="auto">
          <a:xfrm flipH="1" flipV="1">
            <a:off x="7542000" y="5265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9294543" name="Arrow: Curved Down 26"/>
          <p:cNvSpPr/>
          <p:nvPr/>
        </p:nvSpPr>
        <p:spPr bwMode="auto">
          <a:xfrm flipH="1" flipV="1">
            <a:off x="1028520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7182337" name="TextBox 7"/>
          <p:cNvSpPr/>
          <p:nvPr/>
        </p:nvSpPr>
        <p:spPr bwMode="auto">
          <a:xfrm>
            <a:off x="3085560" y="576072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577539" name="Arrow: Curved Down 28"/>
          <p:cNvSpPr/>
          <p:nvPr/>
        </p:nvSpPr>
        <p:spPr bwMode="auto">
          <a:xfrm flipH="1" flipV="1">
            <a:off x="2550600" y="5411400"/>
            <a:ext cx="453276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4647138" name="TextBox 26"/>
          <p:cNvSpPr/>
          <p:nvPr/>
        </p:nvSpPr>
        <p:spPr bwMode="auto">
          <a:xfrm>
            <a:off x="5621400" y="571572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754427" name="object 11"/>
          <p:cNvSpPr/>
          <p:nvPr/>
        </p:nvSpPr>
        <p:spPr bwMode="auto"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669668" name="Rectangle: Rounded Corners 7"/>
          <p:cNvSpPr/>
          <p:nvPr/>
        </p:nvSpPr>
        <p:spPr bwMode="auto"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669772968" name="Straight Connector 6"/>
          <p:cNvCxnSpPr/>
          <p:nvPr/>
        </p:nvCxnSpPr>
        <p:spPr bwMode="auto"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53961347" name="TextBox 10"/>
          <p:cNvSpPr/>
          <p:nvPr/>
        </p:nvSpPr>
        <p:spPr bwMode="auto">
          <a:xfrm>
            <a:off x="65152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96774435" name="Straight Connector 8"/>
          <p:cNvCxnSpPr/>
          <p:nvPr/>
        </p:nvCxnSpPr>
        <p:spPr bwMode="auto"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19309574" name="TextBox 13"/>
          <p:cNvSpPr/>
          <p:nvPr/>
        </p:nvSpPr>
        <p:spPr bwMode="auto"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081060" name="TextBox 18"/>
          <p:cNvSpPr/>
          <p:nvPr/>
        </p:nvSpPr>
        <p:spPr bwMode="auto"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171799" name="TextBox 19"/>
          <p:cNvSpPr/>
          <p:nvPr/>
        </p:nvSpPr>
        <p:spPr bwMode="auto"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593807" name="Rectangle: Rounded Corners 8"/>
          <p:cNvSpPr/>
          <p:nvPr/>
        </p:nvSpPr>
        <p:spPr bwMode="auto"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088428260" name="Straight Connector 11"/>
          <p:cNvCxnSpPr/>
          <p:nvPr/>
        </p:nvCxnSpPr>
        <p:spPr bwMode="auto"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551065513" name="TextBox 20"/>
          <p:cNvSpPr/>
          <p:nvPr/>
        </p:nvSpPr>
        <p:spPr bwMode="auto">
          <a:xfrm>
            <a:off x="388872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18647902" name="Straight Connector 12"/>
          <p:cNvCxnSpPr/>
          <p:nvPr/>
        </p:nvCxnSpPr>
        <p:spPr bwMode="auto"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772744974" name="Rectangle: Rounded Corners 9"/>
          <p:cNvSpPr/>
          <p:nvPr/>
        </p:nvSpPr>
        <p:spPr bwMode="auto"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303828905" name="Straight Connector 17"/>
          <p:cNvCxnSpPr/>
          <p:nvPr/>
        </p:nvCxnSpPr>
        <p:spPr bwMode="auto"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299053827" name="TextBox 21"/>
          <p:cNvSpPr/>
          <p:nvPr/>
        </p:nvSpPr>
        <p:spPr bwMode="auto">
          <a:xfrm>
            <a:off x="92584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29070772" name="Straight Connector 18"/>
          <p:cNvCxnSpPr/>
          <p:nvPr/>
        </p:nvCxnSpPr>
        <p:spPr bwMode="auto"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44324315" name="Arrow: Curved Down 13"/>
          <p:cNvSpPr/>
          <p:nvPr/>
        </p:nvSpPr>
        <p:spPr bwMode="auto">
          <a:xfrm>
            <a:off x="571536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8220826" name="Arrow: Curved Down 14"/>
          <p:cNvSpPr/>
          <p:nvPr/>
        </p:nvSpPr>
        <p:spPr bwMode="auto">
          <a:xfrm>
            <a:off x="845856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5086876" name="Arrow: Curved Down 15"/>
          <p:cNvSpPr/>
          <p:nvPr/>
        </p:nvSpPr>
        <p:spPr bwMode="auto">
          <a:xfrm>
            <a:off x="1104948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6860266" name="Arrow: Curved Down 16"/>
          <p:cNvSpPr/>
          <p:nvPr/>
        </p:nvSpPr>
        <p:spPr bwMode="auto">
          <a:xfrm>
            <a:off x="312444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6695848" name="Arrow: Curved Down 27"/>
          <p:cNvSpPr/>
          <p:nvPr/>
        </p:nvSpPr>
        <p:spPr bwMode="auto">
          <a:xfrm flipH="1" flipV="1">
            <a:off x="10285200" y="5256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4932408" name="TextBox 23"/>
          <p:cNvSpPr/>
          <p:nvPr/>
        </p:nvSpPr>
        <p:spPr bwMode="auto">
          <a:xfrm>
            <a:off x="9113400" y="236736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721144" name="TextBox 30"/>
          <p:cNvSpPr/>
          <p:nvPr/>
        </p:nvSpPr>
        <p:spPr bwMode="auto">
          <a:xfrm>
            <a:off x="6341400" y="236736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726219" name="Arrow: Curved Down 9"/>
          <p:cNvSpPr/>
          <p:nvPr/>
        </p:nvSpPr>
        <p:spPr bwMode="auto">
          <a:xfrm>
            <a:off x="3011040" y="2743200"/>
            <a:ext cx="51044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6355339" name="Arrow: Curved Down 28"/>
          <p:cNvSpPr/>
          <p:nvPr/>
        </p:nvSpPr>
        <p:spPr bwMode="auto">
          <a:xfrm flipH="1" flipV="1">
            <a:off x="2550599" y="5411399"/>
            <a:ext cx="453276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3770378" name="Arrow: Curved Down 25"/>
          <p:cNvSpPr/>
          <p:nvPr/>
        </p:nvSpPr>
        <p:spPr bwMode="auto">
          <a:xfrm flipH="1" flipV="1">
            <a:off x="7542000" y="5265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3237794" name="TextBox 23"/>
          <p:cNvSpPr/>
          <p:nvPr/>
        </p:nvSpPr>
        <p:spPr bwMode="auto">
          <a:xfrm>
            <a:off x="3888720" y="245736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0" u="none" strike="noStrike">
                <a:solidFill>
                  <a:srgbClr val="000000"/>
                </a:solidFill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932431" name="object 1"/>
          <p:cNvSpPr/>
          <p:nvPr/>
        </p:nvSpPr>
        <p:spPr bwMode="auto"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6809561" name="Rectangle: Rounded Corners 1"/>
          <p:cNvSpPr/>
          <p:nvPr/>
        </p:nvSpPr>
        <p:spPr bwMode="auto"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108881873" name="Straight Connector 1"/>
          <p:cNvCxnSpPr/>
          <p:nvPr/>
        </p:nvCxnSpPr>
        <p:spPr bwMode="auto"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688644316" name="TextBox 1"/>
          <p:cNvSpPr/>
          <p:nvPr/>
        </p:nvSpPr>
        <p:spPr bwMode="auto">
          <a:xfrm>
            <a:off x="65152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62577976" name="Straight Connector 2"/>
          <p:cNvCxnSpPr/>
          <p:nvPr/>
        </p:nvCxnSpPr>
        <p:spPr bwMode="auto"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497240395" name="TextBox 8"/>
          <p:cNvSpPr/>
          <p:nvPr/>
        </p:nvSpPr>
        <p:spPr bwMode="auto"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798420" name="TextBox 9"/>
          <p:cNvSpPr/>
          <p:nvPr/>
        </p:nvSpPr>
        <p:spPr bwMode="auto"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293443" name="TextBox 11"/>
          <p:cNvSpPr/>
          <p:nvPr/>
        </p:nvSpPr>
        <p:spPr bwMode="auto"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457169" name="Rectangle: Rounded Corners 4"/>
          <p:cNvSpPr/>
          <p:nvPr/>
        </p:nvSpPr>
        <p:spPr bwMode="auto"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85392894" name="Straight Connector 9"/>
          <p:cNvCxnSpPr/>
          <p:nvPr/>
        </p:nvCxnSpPr>
        <p:spPr bwMode="auto"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931685993" name="TextBox 12"/>
          <p:cNvSpPr/>
          <p:nvPr/>
        </p:nvSpPr>
        <p:spPr bwMode="auto">
          <a:xfrm>
            <a:off x="388872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45316516" name="Straight Connector 10"/>
          <p:cNvCxnSpPr/>
          <p:nvPr/>
        </p:nvCxnSpPr>
        <p:spPr bwMode="auto"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51070169" name="Rectangle: Rounded Corners 5"/>
          <p:cNvSpPr/>
          <p:nvPr/>
        </p:nvSpPr>
        <p:spPr bwMode="auto"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90593079" name="Straight Connector 13"/>
          <p:cNvCxnSpPr/>
          <p:nvPr/>
        </p:nvCxnSpPr>
        <p:spPr bwMode="auto"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764050" name="TextBox 14"/>
          <p:cNvSpPr/>
          <p:nvPr/>
        </p:nvSpPr>
        <p:spPr bwMode="auto">
          <a:xfrm>
            <a:off x="92584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29008667" name="Straight Connector 14"/>
          <p:cNvCxnSpPr/>
          <p:nvPr/>
        </p:nvCxnSpPr>
        <p:spPr bwMode="auto"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48436942" name="Arrow: Curved Down 10"/>
          <p:cNvSpPr/>
          <p:nvPr/>
        </p:nvSpPr>
        <p:spPr bwMode="auto">
          <a:xfrm>
            <a:off x="1104948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0670347" name="Arrow: Curved Down 18"/>
          <p:cNvSpPr/>
          <p:nvPr/>
        </p:nvSpPr>
        <p:spPr bwMode="auto">
          <a:xfrm flipH="1" flipV="1">
            <a:off x="10285200" y="5256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178518" name="Arrow: Curved Down 9"/>
          <p:cNvSpPr/>
          <p:nvPr/>
        </p:nvSpPr>
        <p:spPr bwMode="auto">
          <a:xfrm>
            <a:off x="3011040" y="2743200"/>
            <a:ext cx="51044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8615447" name="Arrow: Curved Down 14"/>
          <p:cNvSpPr/>
          <p:nvPr/>
        </p:nvSpPr>
        <p:spPr bwMode="auto">
          <a:xfrm>
            <a:off x="845856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2752222" name="Arrow: Curved Down 25"/>
          <p:cNvSpPr/>
          <p:nvPr/>
        </p:nvSpPr>
        <p:spPr bwMode="auto">
          <a:xfrm flipH="1" flipV="1">
            <a:off x="7542000" y="5265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3398593" name="Arrow: Curved Down 28"/>
          <p:cNvSpPr/>
          <p:nvPr/>
        </p:nvSpPr>
        <p:spPr bwMode="auto">
          <a:xfrm flipH="1" flipV="1">
            <a:off x="2550599" y="5411399"/>
            <a:ext cx="453276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618537" name="object 1"/>
          <p:cNvSpPr/>
          <p:nvPr/>
        </p:nvSpPr>
        <p:spPr bwMode="auto"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4000" b="1" u="none" strike="noStrike">
                <a:solidFill>
                  <a:srgbClr val="000000"/>
                </a:solidFill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223563" name="Rectangle: Rounded Corners 1"/>
          <p:cNvSpPr/>
          <p:nvPr/>
        </p:nvSpPr>
        <p:spPr bwMode="auto"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475255477" name="Straight Connector 1"/>
          <p:cNvCxnSpPr/>
          <p:nvPr/>
        </p:nvCxnSpPr>
        <p:spPr bwMode="auto"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73753402" name="TextBox 1"/>
          <p:cNvSpPr/>
          <p:nvPr/>
        </p:nvSpPr>
        <p:spPr bwMode="auto">
          <a:xfrm>
            <a:off x="65152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9442703" name="Straight Connector 2"/>
          <p:cNvCxnSpPr/>
          <p:nvPr/>
        </p:nvCxnSpPr>
        <p:spPr bwMode="auto"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08437079" name="TextBox 8"/>
          <p:cNvSpPr/>
          <p:nvPr/>
        </p:nvSpPr>
        <p:spPr bwMode="auto"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218095" name="TextBox 9"/>
          <p:cNvSpPr/>
          <p:nvPr/>
        </p:nvSpPr>
        <p:spPr bwMode="auto"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923852" name="TextBox 11"/>
          <p:cNvSpPr/>
          <p:nvPr/>
        </p:nvSpPr>
        <p:spPr bwMode="auto"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7429430" name="Rectangle: Rounded Corners 5"/>
          <p:cNvSpPr/>
          <p:nvPr/>
        </p:nvSpPr>
        <p:spPr bwMode="auto"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425579826" name="Straight Connector 13"/>
          <p:cNvCxnSpPr/>
          <p:nvPr/>
        </p:nvCxnSpPr>
        <p:spPr bwMode="auto"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454434970" name="TextBox 14"/>
          <p:cNvSpPr/>
          <p:nvPr/>
        </p:nvSpPr>
        <p:spPr bwMode="auto">
          <a:xfrm>
            <a:off x="92584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sz="2400" b="0" u="none" strike="noStrike">
                <a:solidFill>
                  <a:srgbClr val="000000"/>
                </a:solidFill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98502791" name="Straight Connector 14"/>
          <p:cNvCxnSpPr/>
          <p:nvPr/>
        </p:nvCxnSpPr>
        <p:spPr bwMode="auto"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339107112" name="Arrow: Curved Down 10"/>
          <p:cNvSpPr/>
          <p:nvPr/>
        </p:nvSpPr>
        <p:spPr bwMode="auto">
          <a:xfrm>
            <a:off x="1104948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0507578" name="Arrow: Curved Down 18"/>
          <p:cNvSpPr/>
          <p:nvPr/>
        </p:nvSpPr>
        <p:spPr bwMode="auto">
          <a:xfrm flipH="1" flipV="1">
            <a:off x="10285200" y="5256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4939740" name="Arrow: Curved Down 9"/>
          <p:cNvSpPr/>
          <p:nvPr/>
        </p:nvSpPr>
        <p:spPr bwMode="auto">
          <a:xfrm>
            <a:off x="3011040" y="2743200"/>
            <a:ext cx="51044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8610424" name="Arrow: Curved Down 14"/>
          <p:cNvSpPr/>
          <p:nvPr/>
        </p:nvSpPr>
        <p:spPr bwMode="auto">
          <a:xfrm>
            <a:off x="845856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3616154" name="Arrow: Curved Down 25"/>
          <p:cNvSpPr/>
          <p:nvPr/>
        </p:nvSpPr>
        <p:spPr bwMode="auto">
          <a:xfrm flipH="1" flipV="1">
            <a:off x="7542000" y="5265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8121702" name="Arrow: Curved Down 28"/>
          <p:cNvSpPr/>
          <p:nvPr/>
        </p:nvSpPr>
        <p:spPr bwMode="auto">
          <a:xfrm flipH="1" flipV="1">
            <a:off x="2550600" y="5411400"/>
            <a:ext cx="453276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sz="18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43563" name="object 3"/>
          <p:cNvSpPr txBox="1"/>
          <p:nvPr/>
        </p:nvSpPr>
        <p:spPr bwMode="auto">
          <a:xfrm>
            <a:off x="380999" y="888075"/>
            <a:ext cx="12353126" cy="1874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🔎 Definition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Removes the first node (head) from a doubly linked list and updates the new head correctly.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829869" name="object 3"/>
          <p:cNvSpPr txBox="1"/>
          <p:nvPr/>
        </p:nvSpPr>
        <p:spPr bwMode="auto">
          <a:xfrm>
            <a:off x="380999" y="888075"/>
            <a:ext cx="1235564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📖 Explanation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>
                <a:latin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Deleting the first node requires updating: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`head` to point to the next node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`prev` of the new head to `NULL`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The old head must be deleted from memory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59646" name="object 3"/>
          <p:cNvSpPr txBox="1"/>
          <p:nvPr/>
        </p:nvSpPr>
        <p:spPr bwMode="auto">
          <a:xfrm>
            <a:off x="380998" y="888075"/>
            <a:ext cx="12376885" cy="860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Delete</a:t>
            </a:r>
            <a:r>
              <a:rPr sz="4000" b="1">
                <a:latin typeface="Comic Sans MS"/>
              </a:rPr>
              <a:t> First Node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>
                <a:latin typeface="Comic Sans MS"/>
              </a:rPr>
              <a:t>1️⃣ Check if list is empty</a:t>
            </a:r>
            <a:endParaRPr lang="en-GB"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Check: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If `head == 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Stop if the list is empty</a:t>
            </a:r>
            <a:endParaRPr/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the Old Head</a:t>
            </a:r>
            <a:endParaRPr lang="en-GB"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Store `head` in a temporary pointer `temp`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We keep a reference to the node that will be deleted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Move Head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Set `head = head-&gt;next`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The second node becomes the new head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Update Previous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If the new head exists: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Set `head-&gt;prev = NULL`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The new head has no previous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Delete Old Head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Step: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`delete temp`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The old first node is removed from memory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174070" name="object 3"/>
          <p:cNvSpPr txBox="1"/>
          <p:nvPr/>
        </p:nvSpPr>
        <p:spPr bwMode="auto">
          <a:xfrm>
            <a:off x="380999" y="888075"/>
            <a:ext cx="12353126" cy="40687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💡 Example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NULL &lt;--&gt; 1 &lt;--&gt; 2 &lt;--&gt; 3 &lt;--&gt; 4 &lt;--&gt; 5 &lt;--&gt; NULL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Delete the first node: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Delete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NULL &lt;--&gt; 2 &lt;--&gt; 3 &lt;--&gt; 4 &lt;--&gt; 5 &lt;--&gt; NULL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550084" name="object 3"/>
          <p:cNvSpPr txBox="1"/>
          <p:nvPr/>
        </p:nvSpPr>
        <p:spPr bwMode="auto">
          <a:xfrm>
            <a:off x="380999" y="888075"/>
            <a:ext cx="12354205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📌 Note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`DeleteFirstNode` is different from `DeleteNode` because: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always removes the first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 `Find` operation is required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 traversal is required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135293" name="object 3"/>
          <p:cNvSpPr txBox="1"/>
          <p:nvPr/>
        </p:nvSpPr>
        <p:spPr bwMode="auto">
          <a:xfrm>
            <a:off x="380999" y="888075"/>
            <a:ext cx="12355286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Delete First Node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Time Complexity: O(1)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traversal needed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Directly updates the head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Delete Specific Node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Time Complexity: O(n) (if using Find)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finding the node first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Updates surrounding pointers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897389" name="object 3"/>
          <p:cNvSpPr txBox="1"/>
          <p:nvPr/>
        </p:nvSpPr>
        <p:spPr bwMode="auto">
          <a:xfrm>
            <a:off x="380999" y="888075"/>
            <a:ext cx="12353126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Always check if `head == NULL` before deleting.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The new head's `prev` must be set to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Forgetting `delete temp` causes a memory leak.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662268" name="object 3"/>
          <p:cNvSpPr txBox="1"/>
          <p:nvPr/>
        </p:nvSpPr>
        <p:spPr bwMode="auto">
          <a:xfrm>
            <a:off x="380999" y="888075"/>
            <a:ext cx="1235312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✨ Summary</a:t>
            </a:r>
            <a:endParaRPr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DeleteFirstNode removes the first node from the list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Updates head to the next node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Sets the new head's prev to NULL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Time Complexity is O(1)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08267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/>
  <cp:revision>437</cp:revision>
  <dcterms:created xsi:type="dcterms:W3CDTF">2025-12-09T17:44:59Z</dcterms:created>
  <dcterms:modified xsi:type="dcterms:W3CDTF">2026-08-23T20:49:49Z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