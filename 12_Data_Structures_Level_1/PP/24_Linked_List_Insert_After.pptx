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11" r:id="rId2"/>
    <p:sldId id="257" r:id="rId3"/>
    <p:sldId id="363" r:id="rId4"/>
    <p:sldId id="364" r:id="rId5"/>
    <p:sldId id="354" r:id="rId6"/>
    <p:sldId id="355" r:id="rId7"/>
    <p:sldId id="356" r:id="rId8"/>
    <p:sldId id="357" r:id="rId9"/>
    <p:sldId id="358" r:id="rId10"/>
    <p:sldId id="359" r:id="rId11"/>
    <p:sldId id="362" r:id="rId12"/>
    <p:sldId id="361" r:id="rId13"/>
    <p:sldId id="353" r:id="rId14"/>
  </p:sldIdLst>
  <p:sldSz cx="134112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7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E53"/>
    <a:srgbClr val="FFFFFF"/>
    <a:srgbClr val="262626"/>
    <a:srgbClr val="2929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0" d="100"/>
          <a:sy n="40" d="100"/>
        </p:scale>
        <p:origin x="1020" y="63"/>
      </p:cViewPr>
      <p:guideLst>
        <p:guide orient="horz" pos="2880"/>
        <p:guide pos="372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5"/>
            <a:ext cx="7643507" cy="477951"/>
          </a:xfrm>
        </p:spPr>
        <p:txBody>
          <a:bodyPr lIns="0" tIns="0" rIns="0" bIns="0"/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3"/>
            <a:ext cx="764350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EB70-F102-BAB5-31FD-19FC3742A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>
            <a:extLst>
              <a:ext uri="{FF2B5EF4-FFF2-40B4-BE49-F238E27FC236}">
                <a16:creationId xmlns:a16="http://schemas.microsoft.com/office/drawing/2014/main" id="{1FBE4D91-85C7-0256-4A79-65056ECD04F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</a:pPr>
            <a:fld id="{81D60167-4931-47E6-BA6A-407CBD079E47}" type="slidenum">
              <a:rPr spc="-86" dirty="0"/>
              <a:pPr marL="65742">
                <a:lnSpc>
                  <a:spcPts val="2260"/>
                </a:lnSpc>
              </a:pPr>
              <a:t>1</a:t>
            </a:fld>
            <a:endParaRPr spc="-86" dirty="0"/>
          </a:p>
        </p:txBody>
      </p:sp>
      <p:pic>
        <p:nvPicPr>
          <p:cNvPr id="47" name="object 25">
            <a:extLst>
              <a:ext uri="{FF2B5EF4-FFF2-40B4-BE49-F238E27FC236}">
                <a16:creationId xmlns:a16="http://schemas.microsoft.com/office/drawing/2014/main" id="{98B72FCF-C42A-5F3E-FCAD-5FE306171E0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" b="17"/>
          <a:stretch/>
        </p:blipFill>
        <p:spPr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3" name="object 30">
            <a:extLst>
              <a:ext uri="{FF2B5EF4-FFF2-40B4-BE49-F238E27FC236}">
                <a16:creationId xmlns:a16="http://schemas.microsoft.com/office/drawing/2014/main" id="{B85DEC78-C825-AA3F-520D-C936B7F83D23}"/>
              </a:ext>
            </a:extLst>
          </p:cNvPr>
          <p:cNvSpPr txBox="1"/>
          <p:nvPr/>
        </p:nvSpPr>
        <p:spPr>
          <a:xfrm>
            <a:off x="0" y="1143000"/>
            <a:ext cx="12725400" cy="488595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en-GB" sz="6000" b="1" dirty="0">
                <a:solidFill>
                  <a:srgbClr val="FFCE53"/>
                </a:solidFill>
                <a:latin typeface="Comic Sans MS"/>
              </a:rPr>
              <a:t>Data Structure</a:t>
            </a:r>
            <a:endParaRPr lang="sv-SE" sz="6000" b="1" dirty="0">
              <a:solidFill>
                <a:srgbClr val="FFCE53"/>
              </a:solidFill>
              <a:latin typeface="Comic Sans MS"/>
            </a:endParaRPr>
          </a:p>
          <a:p>
            <a:pPr marL="2786346" algn="ctr">
              <a:spcBef>
                <a:spcPts val="673"/>
              </a:spcBef>
            </a:pPr>
            <a:r>
              <a:rPr lang="en-GB" sz="6000" b="1" dirty="0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ar-SY" sz="6000" b="1" dirty="0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endParaRPr lang="en-GB" sz="6000" b="1" dirty="0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r>
              <a:rPr lang="en-SE" sz="6000" b="1" dirty="0">
                <a:solidFill>
                  <a:srgbClr val="FFCE53"/>
                </a:solidFill>
                <a:latin typeface="Comic Sans MS"/>
                <a:cs typeface="Comic Sans MS"/>
              </a:rPr>
              <a:t>Singly Linked List </a:t>
            </a:r>
            <a:r>
              <a:rPr lang="en-GB" sz="6000" b="1" dirty="0">
                <a:solidFill>
                  <a:srgbClr val="FFCE53"/>
                </a:solidFill>
                <a:latin typeface="Comic Sans MS"/>
                <a:cs typeface="Comic Sans MS"/>
              </a:rPr>
              <a:t>Data Structures</a:t>
            </a:r>
            <a:r>
              <a:rPr lang="en-SE" sz="6000" b="1" dirty="0">
                <a:solidFill>
                  <a:srgbClr val="FFCE53"/>
                </a:solidFill>
                <a:latin typeface="Comic Sans MS"/>
                <a:cs typeface="Comic Sans MS"/>
              </a:rPr>
              <a:t> Operations</a:t>
            </a:r>
            <a:endParaRPr lang="en-GB" sz="6000" b="1" dirty="0">
              <a:solidFill>
                <a:srgbClr val="FFCE53"/>
              </a:solidFill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3694772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1779974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en-GB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Data Structure</a:t>
            </a:r>
            <a:endParaRPr lang="en-SE" sz="4000" spc="-17" dirty="0">
              <a:solidFill>
                <a:srgbClr val="FFFFFF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786346" algn="ctr">
              <a:spcBef>
                <a:spcPts val="673"/>
              </a:spcBef>
            </a:pPr>
            <a:r>
              <a:rPr lang="en-SE" sz="4000" b="1" dirty="0">
                <a:solidFill>
                  <a:srgbClr val="FFCE53"/>
                </a:solidFill>
                <a:latin typeface="Comic Sans MS"/>
                <a:cs typeface="Comic Sans MS"/>
              </a:rPr>
              <a:t>Insert After</a:t>
            </a:r>
            <a:endParaRPr lang="en-GB" sz="4000" b="1" dirty="0">
              <a:solidFill>
                <a:srgbClr val="FFCE53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9B5F4669-BEB7-1B3B-CEA3-4D5DC5D20F71}"/>
              </a:ext>
            </a:extLst>
          </p:cNvPr>
          <p:cNvSpPr/>
          <p:nvPr/>
        </p:nvSpPr>
        <p:spPr>
          <a:xfrm>
            <a:off x="7010402" y="6324600"/>
            <a:ext cx="2514593" cy="1676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E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F2357F53-BE7F-8529-0684-467F58693C6F}"/>
              </a:ext>
            </a:extLst>
          </p:cNvPr>
          <p:cNvSpPr/>
          <p:nvPr/>
        </p:nvSpPr>
        <p:spPr>
          <a:xfrm>
            <a:off x="8839207" y="3657600"/>
            <a:ext cx="2514593" cy="1676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E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83B6B9DA-84E3-ED50-76DA-2D7C05C73E07}"/>
              </a:ext>
            </a:extLst>
          </p:cNvPr>
          <p:cNvSpPr/>
          <p:nvPr/>
        </p:nvSpPr>
        <p:spPr>
          <a:xfrm>
            <a:off x="5334007" y="3657600"/>
            <a:ext cx="2514593" cy="1676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E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30BD1C94-884C-57BB-F049-73C473EE5335}"/>
              </a:ext>
            </a:extLst>
          </p:cNvPr>
          <p:cNvSpPr/>
          <p:nvPr/>
        </p:nvSpPr>
        <p:spPr>
          <a:xfrm>
            <a:off x="1828800" y="3657600"/>
            <a:ext cx="2514593" cy="1676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E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771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4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Linked List Data Structure</a:t>
            </a:r>
            <a:endParaRPr kumimoji="0" lang="en-SE" sz="24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AE49478-9F5A-9389-3DB5-E33272AEE85E}"/>
              </a:ext>
            </a:extLst>
          </p:cNvPr>
          <p:cNvCxnSpPr>
            <a:cxnSpLocks/>
          </p:cNvCxnSpPr>
          <p:nvPr/>
        </p:nvCxnSpPr>
        <p:spPr>
          <a:xfrm>
            <a:off x="3086100" y="3733800"/>
            <a:ext cx="0" cy="1600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ADC4E3B-47C1-B910-1F46-076D10036280}"/>
              </a:ext>
            </a:extLst>
          </p:cNvPr>
          <p:cNvSpPr txBox="1"/>
          <p:nvPr/>
        </p:nvSpPr>
        <p:spPr>
          <a:xfrm>
            <a:off x="2133600" y="4262735"/>
            <a:ext cx="1905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1 	Next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2AD2ECFB-5DC2-363F-5C0D-5807350B2A3F}"/>
              </a:ext>
            </a:extLst>
          </p:cNvPr>
          <p:cNvSpPr/>
          <p:nvPr/>
        </p:nvSpPr>
        <p:spPr>
          <a:xfrm>
            <a:off x="838200" y="4419600"/>
            <a:ext cx="990600" cy="228600"/>
          </a:xfrm>
          <a:prstGeom prst="rightArrow">
            <a:avLst/>
          </a:prstGeom>
          <a:solidFill>
            <a:schemeClr val="accent2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E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5555685-A19C-1CDC-C9DC-19FAD2EE5263}"/>
              </a:ext>
            </a:extLst>
          </p:cNvPr>
          <p:cNvSpPr txBox="1"/>
          <p:nvPr/>
        </p:nvSpPr>
        <p:spPr>
          <a:xfrm>
            <a:off x="0" y="4267201"/>
            <a:ext cx="952501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Head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D3A4721-9E6B-D418-2ADB-F6D428D7B23E}"/>
              </a:ext>
            </a:extLst>
          </p:cNvPr>
          <p:cNvCxnSpPr>
            <a:cxnSpLocks/>
          </p:cNvCxnSpPr>
          <p:nvPr/>
        </p:nvCxnSpPr>
        <p:spPr>
          <a:xfrm>
            <a:off x="6591300" y="3733800"/>
            <a:ext cx="0" cy="1600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CF5ABA8-3D75-8B6F-2F00-DBBA9720F566}"/>
              </a:ext>
            </a:extLst>
          </p:cNvPr>
          <p:cNvSpPr txBox="1"/>
          <p:nvPr/>
        </p:nvSpPr>
        <p:spPr>
          <a:xfrm>
            <a:off x="5638800" y="4262735"/>
            <a:ext cx="1905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2 	Next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82259595-FAED-9E7F-9A36-812E7BE40881}"/>
              </a:ext>
            </a:extLst>
          </p:cNvPr>
          <p:cNvSpPr/>
          <p:nvPr/>
        </p:nvSpPr>
        <p:spPr>
          <a:xfrm>
            <a:off x="7848600" y="4419600"/>
            <a:ext cx="990600" cy="228600"/>
          </a:xfrm>
          <a:prstGeom prst="rightArrow">
            <a:avLst/>
          </a:prstGeom>
          <a:solidFill>
            <a:schemeClr val="accent2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E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E7E5B2B0-C60C-0C34-4EA4-80D44DA68DAB}"/>
              </a:ext>
            </a:extLst>
          </p:cNvPr>
          <p:cNvSpPr/>
          <p:nvPr/>
        </p:nvSpPr>
        <p:spPr>
          <a:xfrm>
            <a:off x="4343400" y="4419600"/>
            <a:ext cx="990600" cy="228600"/>
          </a:xfrm>
          <a:prstGeom prst="rightArrow">
            <a:avLst/>
          </a:prstGeom>
          <a:solidFill>
            <a:schemeClr val="accent2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E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25DF8E3-BC90-FA52-0698-1BB9E2F17C7F}"/>
              </a:ext>
            </a:extLst>
          </p:cNvPr>
          <p:cNvCxnSpPr>
            <a:cxnSpLocks/>
          </p:cNvCxnSpPr>
          <p:nvPr/>
        </p:nvCxnSpPr>
        <p:spPr>
          <a:xfrm>
            <a:off x="10096500" y="3733800"/>
            <a:ext cx="0" cy="1600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99160DA4-DBE0-B7C0-C676-4C605068D9F0}"/>
              </a:ext>
            </a:extLst>
          </p:cNvPr>
          <p:cNvSpPr txBox="1"/>
          <p:nvPr/>
        </p:nvSpPr>
        <p:spPr>
          <a:xfrm>
            <a:off x="9144000" y="4262735"/>
            <a:ext cx="1905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3 	Next</a:t>
            </a:r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ED04C025-22A1-C7E1-6F3A-BB2E0F7668A2}"/>
              </a:ext>
            </a:extLst>
          </p:cNvPr>
          <p:cNvSpPr/>
          <p:nvPr/>
        </p:nvSpPr>
        <p:spPr>
          <a:xfrm>
            <a:off x="11353800" y="4419600"/>
            <a:ext cx="990600" cy="228600"/>
          </a:xfrm>
          <a:prstGeom prst="rightArrow">
            <a:avLst/>
          </a:prstGeom>
          <a:solidFill>
            <a:schemeClr val="accent2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E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C3C0AB2-4825-D50A-687C-EE6056A099A4}"/>
              </a:ext>
            </a:extLst>
          </p:cNvPr>
          <p:cNvSpPr txBox="1"/>
          <p:nvPr/>
        </p:nvSpPr>
        <p:spPr>
          <a:xfrm>
            <a:off x="12458699" y="4267200"/>
            <a:ext cx="952501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Null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234F879-0B14-8DEE-59B3-891268A2C549}"/>
              </a:ext>
            </a:extLst>
          </p:cNvPr>
          <p:cNvSpPr txBox="1"/>
          <p:nvPr/>
        </p:nvSpPr>
        <p:spPr>
          <a:xfrm>
            <a:off x="2667000" y="5410200"/>
            <a:ext cx="952501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Node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3D22409-DEE3-EDCB-5109-6D3844BBFE11}"/>
              </a:ext>
            </a:extLst>
          </p:cNvPr>
          <p:cNvCxnSpPr>
            <a:cxnSpLocks/>
          </p:cNvCxnSpPr>
          <p:nvPr/>
        </p:nvCxnSpPr>
        <p:spPr>
          <a:xfrm>
            <a:off x="8267702" y="6324600"/>
            <a:ext cx="0" cy="1600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A3CE6BE4-620F-C9DD-C3B0-85E4BD71B22A}"/>
              </a:ext>
            </a:extLst>
          </p:cNvPr>
          <p:cNvSpPr txBox="1"/>
          <p:nvPr/>
        </p:nvSpPr>
        <p:spPr>
          <a:xfrm>
            <a:off x="7315200" y="6931461"/>
            <a:ext cx="1905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500 	Next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8DD7B4F4-EA8A-22B6-7BE1-94EE3D1D8065}"/>
              </a:ext>
            </a:extLst>
          </p:cNvPr>
          <p:cNvSpPr/>
          <p:nvPr/>
        </p:nvSpPr>
        <p:spPr>
          <a:xfrm rot="17714473">
            <a:off x="8638902" y="5716450"/>
            <a:ext cx="990600" cy="228600"/>
          </a:xfrm>
          <a:prstGeom prst="rightArrow">
            <a:avLst/>
          </a:prstGeom>
          <a:solidFill>
            <a:schemeClr val="accent2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E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BD1E801-60CF-B7DB-2851-37DDA0A74D9B}"/>
              </a:ext>
            </a:extLst>
          </p:cNvPr>
          <p:cNvCxnSpPr>
            <a:cxnSpLocks/>
          </p:cNvCxnSpPr>
          <p:nvPr/>
        </p:nvCxnSpPr>
        <p:spPr>
          <a:xfrm flipH="1">
            <a:off x="8039108" y="3962400"/>
            <a:ext cx="495291" cy="10668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14D971E-88CF-0900-5410-23DD78C5FAF7}"/>
              </a:ext>
            </a:extLst>
          </p:cNvPr>
          <p:cNvCxnSpPr>
            <a:cxnSpLocks/>
          </p:cNvCxnSpPr>
          <p:nvPr/>
        </p:nvCxnSpPr>
        <p:spPr>
          <a:xfrm flipH="1" flipV="1">
            <a:off x="7962899" y="3962400"/>
            <a:ext cx="685800" cy="10668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74877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9B5F4669-BEB7-1B3B-CEA3-4D5DC5D20F71}"/>
              </a:ext>
            </a:extLst>
          </p:cNvPr>
          <p:cNvSpPr/>
          <p:nvPr/>
        </p:nvSpPr>
        <p:spPr>
          <a:xfrm>
            <a:off x="7010402" y="6324600"/>
            <a:ext cx="2514593" cy="1676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E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F2357F53-BE7F-8529-0684-467F58693C6F}"/>
              </a:ext>
            </a:extLst>
          </p:cNvPr>
          <p:cNvSpPr/>
          <p:nvPr/>
        </p:nvSpPr>
        <p:spPr>
          <a:xfrm>
            <a:off x="8839207" y="3657600"/>
            <a:ext cx="2514593" cy="1676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E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83B6B9DA-84E3-ED50-76DA-2D7C05C73E07}"/>
              </a:ext>
            </a:extLst>
          </p:cNvPr>
          <p:cNvSpPr/>
          <p:nvPr/>
        </p:nvSpPr>
        <p:spPr>
          <a:xfrm>
            <a:off x="5334007" y="3657600"/>
            <a:ext cx="2514593" cy="1676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E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30BD1C94-884C-57BB-F049-73C473EE5335}"/>
              </a:ext>
            </a:extLst>
          </p:cNvPr>
          <p:cNvSpPr/>
          <p:nvPr/>
        </p:nvSpPr>
        <p:spPr>
          <a:xfrm>
            <a:off x="1828800" y="3657600"/>
            <a:ext cx="2514593" cy="1676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E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771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4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Linked List Data Structure</a:t>
            </a:r>
            <a:endParaRPr kumimoji="0" lang="en-SE" sz="24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AE49478-9F5A-9389-3DB5-E33272AEE85E}"/>
              </a:ext>
            </a:extLst>
          </p:cNvPr>
          <p:cNvCxnSpPr>
            <a:cxnSpLocks/>
          </p:cNvCxnSpPr>
          <p:nvPr/>
        </p:nvCxnSpPr>
        <p:spPr>
          <a:xfrm>
            <a:off x="3086100" y="3733800"/>
            <a:ext cx="0" cy="1600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ADC4E3B-47C1-B910-1F46-076D10036280}"/>
              </a:ext>
            </a:extLst>
          </p:cNvPr>
          <p:cNvSpPr txBox="1"/>
          <p:nvPr/>
        </p:nvSpPr>
        <p:spPr>
          <a:xfrm>
            <a:off x="2133600" y="4262735"/>
            <a:ext cx="1905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1 	Next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2AD2ECFB-5DC2-363F-5C0D-5807350B2A3F}"/>
              </a:ext>
            </a:extLst>
          </p:cNvPr>
          <p:cNvSpPr/>
          <p:nvPr/>
        </p:nvSpPr>
        <p:spPr>
          <a:xfrm>
            <a:off x="838200" y="4419600"/>
            <a:ext cx="990600" cy="228600"/>
          </a:xfrm>
          <a:prstGeom prst="rightArrow">
            <a:avLst/>
          </a:prstGeom>
          <a:solidFill>
            <a:schemeClr val="accent2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E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5555685-A19C-1CDC-C9DC-19FAD2EE5263}"/>
              </a:ext>
            </a:extLst>
          </p:cNvPr>
          <p:cNvSpPr txBox="1"/>
          <p:nvPr/>
        </p:nvSpPr>
        <p:spPr>
          <a:xfrm>
            <a:off x="0" y="4267201"/>
            <a:ext cx="952501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Head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D3A4721-9E6B-D418-2ADB-F6D428D7B23E}"/>
              </a:ext>
            </a:extLst>
          </p:cNvPr>
          <p:cNvCxnSpPr>
            <a:cxnSpLocks/>
          </p:cNvCxnSpPr>
          <p:nvPr/>
        </p:nvCxnSpPr>
        <p:spPr>
          <a:xfrm>
            <a:off x="6591300" y="3733800"/>
            <a:ext cx="0" cy="1600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CF5ABA8-3D75-8B6F-2F00-DBBA9720F566}"/>
              </a:ext>
            </a:extLst>
          </p:cNvPr>
          <p:cNvSpPr txBox="1"/>
          <p:nvPr/>
        </p:nvSpPr>
        <p:spPr>
          <a:xfrm>
            <a:off x="5638800" y="4262735"/>
            <a:ext cx="1905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2 	Next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82259595-FAED-9E7F-9A36-812E7BE40881}"/>
              </a:ext>
            </a:extLst>
          </p:cNvPr>
          <p:cNvSpPr/>
          <p:nvPr/>
        </p:nvSpPr>
        <p:spPr>
          <a:xfrm rot="3602845">
            <a:off x="6930771" y="5705916"/>
            <a:ext cx="990600" cy="228600"/>
          </a:xfrm>
          <a:prstGeom prst="rightArrow">
            <a:avLst/>
          </a:prstGeom>
          <a:solidFill>
            <a:schemeClr val="accent2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E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E7E5B2B0-C60C-0C34-4EA4-80D44DA68DAB}"/>
              </a:ext>
            </a:extLst>
          </p:cNvPr>
          <p:cNvSpPr/>
          <p:nvPr/>
        </p:nvSpPr>
        <p:spPr>
          <a:xfrm>
            <a:off x="4343400" y="4419600"/>
            <a:ext cx="990600" cy="228600"/>
          </a:xfrm>
          <a:prstGeom prst="rightArrow">
            <a:avLst/>
          </a:prstGeom>
          <a:solidFill>
            <a:schemeClr val="accent2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E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25DF8E3-BC90-FA52-0698-1BB9E2F17C7F}"/>
              </a:ext>
            </a:extLst>
          </p:cNvPr>
          <p:cNvCxnSpPr>
            <a:cxnSpLocks/>
          </p:cNvCxnSpPr>
          <p:nvPr/>
        </p:nvCxnSpPr>
        <p:spPr>
          <a:xfrm>
            <a:off x="10096500" y="3733800"/>
            <a:ext cx="0" cy="1600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99160DA4-DBE0-B7C0-C676-4C605068D9F0}"/>
              </a:ext>
            </a:extLst>
          </p:cNvPr>
          <p:cNvSpPr txBox="1"/>
          <p:nvPr/>
        </p:nvSpPr>
        <p:spPr>
          <a:xfrm>
            <a:off x="9144000" y="4262735"/>
            <a:ext cx="1905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3 	Next</a:t>
            </a:r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ED04C025-22A1-C7E1-6F3A-BB2E0F7668A2}"/>
              </a:ext>
            </a:extLst>
          </p:cNvPr>
          <p:cNvSpPr/>
          <p:nvPr/>
        </p:nvSpPr>
        <p:spPr>
          <a:xfrm>
            <a:off x="11353800" y="4419600"/>
            <a:ext cx="990600" cy="228600"/>
          </a:xfrm>
          <a:prstGeom prst="rightArrow">
            <a:avLst/>
          </a:prstGeom>
          <a:solidFill>
            <a:schemeClr val="accent2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E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C3C0AB2-4825-D50A-687C-EE6056A099A4}"/>
              </a:ext>
            </a:extLst>
          </p:cNvPr>
          <p:cNvSpPr txBox="1"/>
          <p:nvPr/>
        </p:nvSpPr>
        <p:spPr>
          <a:xfrm>
            <a:off x="12458699" y="4267200"/>
            <a:ext cx="952501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Null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234F879-0B14-8DEE-59B3-891268A2C549}"/>
              </a:ext>
            </a:extLst>
          </p:cNvPr>
          <p:cNvSpPr txBox="1"/>
          <p:nvPr/>
        </p:nvSpPr>
        <p:spPr>
          <a:xfrm>
            <a:off x="2667000" y="5410200"/>
            <a:ext cx="952501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Node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3D22409-DEE3-EDCB-5109-6D3844BBFE11}"/>
              </a:ext>
            </a:extLst>
          </p:cNvPr>
          <p:cNvCxnSpPr>
            <a:cxnSpLocks/>
          </p:cNvCxnSpPr>
          <p:nvPr/>
        </p:nvCxnSpPr>
        <p:spPr>
          <a:xfrm>
            <a:off x="8267702" y="6324600"/>
            <a:ext cx="0" cy="1600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A3CE6BE4-620F-C9DD-C3B0-85E4BD71B22A}"/>
              </a:ext>
            </a:extLst>
          </p:cNvPr>
          <p:cNvSpPr txBox="1"/>
          <p:nvPr/>
        </p:nvSpPr>
        <p:spPr>
          <a:xfrm>
            <a:off x="7315200" y="6931461"/>
            <a:ext cx="1905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500 	Next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8DD7B4F4-EA8A-22B6-7BE1-94EE3D1D8065}"/>
              </a:ext>
            </a:extLst>
          </p:cNvPr>
          <p:cNvSpPr/>
          <p:nvPr/>
        </p:nvSpPr>
        <p:spPr>
          <a:xfrm rot="17714473">
            <a:off x="8638902" y="5716450"/>
            <a:ext cx="990600" cy="228600"/>
          </a:xfrm>
          <a:prstGeom prst="rightArrow">
            <a:avLst/>
          </a:prstGeom>
          <a:solidFill>
            <a:schemeClr val="accent2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E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08019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298754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SE" sz="4000" b="1" dirty="0">
                <a:latin typeface="Comic Sans MS" panose="030F0702030302020204" pitchFamily="66" charset="0"/>
              </a:rPr>
              <a:t>🔎 Definition</a:t>
            </a:r>
          </a:p>
          <a:p>
            <a:endParaRPr lang="en-SE" sz="2400" dirty="0">
              <a:latin typeface="Comic Sans MS" panose="030F0702030302020204" pitchFamily="66" charset="0"/>
            </a:endParaRPr>
          </a:p>
          <a:p>
            <a:r>
              <a:rPr lang="en-GB" sz="2400" dirty="0" err="1">
                <a:latin typeface="Comic Sans MS" panose="030F0702030302020204" pitchFamily="66" charset="0"/>
              </a:rPr>
              <a:t>InsertAfter</a:t>
            </a:r>
            <a:r>
              <a:rPr lang="en-GB" sz="2400" dirty="0">
                <a:latin typeface="Comic Sans MS" panose="030F0702030302020204" pitchFamily="66" charset="0"/>
              </a:rPr>
              <a:t>() Function: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Inserts a new node after a given node in the linked list.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	</a:t>
            </a:r>
            <a:r>
              <a:rPr lang="en-GB" sz="2400" dirty="0">
                <a:latin typeface="Comic Sans MS" panose="030F0702030302020204" pitchFamily="66" charset="0"/>
              </a:rPr>
              <a:t>🟨 Requirements: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		</a:t>
            </a:r>
            <a:r>
              <a:rPr lang="en-GB" sz="2400" dirty="0">
                <a:latin typeface="Comic Sans MS" panose="030F0702030302020204" pitchFamily="66" charset="0"/>
              </a:rPr>
              <a:t>🟩 A valid pointer to the previous node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		</a:t>
            </a:r>
            <a:r>
              <a:rPr lang="en-GB" sz="2400" dirty="0">
                <a:latin typeface="Comic Sans MS" panose="030F0702030302020204" pitchFamily="66" charset="0"/>
              </a:rPr>
              <a:t>🟩 A value to insert</a:t>
            </a:r>
            <a:endParaRPr lang="en-SE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38094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298754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SE" sz="4000" b="1" dirty="0">
                <a:latin typeface="Comic Sans MS" panose="030F0702030302020204" pitchFamily="66" charset="0"/>
              </a:rPr>
              <a:t>📖 Explanation</a:t>
            </a:r>
          </a:p>
          <a:p>
            <a:endParaRPr lang="en-SE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🔹 First, we create a linked list using </a:t>
            </a:r>
            <a:r>
              <a:rPr lang="en-GB" sz="2400" dirty="0" err="1">
                <a:latin typeface="Comic Sans MS" panose="030F0702030302020204" pitchFamily="66" charset="0"/>
              </a:rPr>
              <a:t>InsertAtBeginning</a:t>
            </a:r>
            <a:r>
              <a:rPr lang="en-GB" sz="2400" dirty="0">
                <a:latin typeface="Comic Sans MS" panose="030F0702030302020204" pitchFamily="66" charset="0"/>
              </a:rPr>
              <a:t>().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🔹 Then we search for a specific node using Find().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🔹 After finding the node, we call </a:t>
            </a:r>
            <a:r>
              <a:rPr lang="en-GB" sz="2400" dirty="0" err="1">
                <a:latin typeface="Comic Sans MS" panose="030F0702030302020204" pitchFamily="66" charset="0"/>
              </a:rPr>
              <a:t>InsertAfter</a:t>
            </a:r>
            <a:r>
              <a:rPr lang="en-GB" sz="2400" dirty="0">
                <a:latin typeface="Comic Sans MS" panose="030F0702030302020204" pitchFamily="66" charset="0"/>
              </a:rPr>
              <a:t>() to insert a new node immediately </a:t>
            </a:r>
            <a:r>
              <a:rPr lang="en-SE" sz="2400" dirty="0">
                <a:latin typeface="Comic Sans MS" panose="030F0702030302020204" pitchFamily="66" charset="0"/>
              </a:rPr>
              <a:t>	</a:t>
            </a:r>
            <a:r>
              <a:rPr lang="en-GB" sz="2400" dirty="0">
                <a:latin typeface="Comic Sans MS" panose="030F0702030302020204" pitchFamily="66" charset="0"/>
              </a:rPr>
              <a:t>after it.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🔹 Pointer connections are updated carefully to preserve the list structure.</a:t>
            </a:r>
            <a:endParaRPr lang="en-SE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96548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446487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🟦 Procedures (Insert </a:t>
            </a:r>
            <a:r>
              <a:rPr lang="en-SE" sz="4000" b="1">
                <a:latin typeface="Comic Sans MS" panose="030F0702030302020204" pitchFamily="66" charset="0"/>
              </a:rPr>
              <a:t>After</a:t>
            </a:r>
            <a:r>
              <a:rPr lang="en-GB" sz="4000" b="1">
                <a:latin typeface="Comic Sans MS" panose="030F0702030302020204" pitchFamily="66" charset="0"/>
              </a:rPr>
              <a:t>)</a:t>
            </a:r>
            <a:endParaRPr lang="en-GB" sz="4000" b="1" dirty="0">
              <a:latin typeface="Comic Sans MS" panose="030F0702030302020204" pitchFamily="66" charset="0"/>
            </a:endParaRPr>
          </a:p>
          <a:p>
            <a:endParaRPr lang="en-SE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1️⃣ Create an empty linked list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2️⃣ Insert elements at the beginning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3️⃣ Print the list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4️⃣ Call Find(head, value) to locate target node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5️⃣ Pass returned pointer to </a:t>
            </a:r>
            <a:r>
              <a:rPr lang="en-GB" sz="2400" dirty="0" err="1">
                <a:latin typeface="Comic Sans MS" panose="030F0702030302020204" pitchFamily="66" charset="0"/>
              </a:rPr>
              <a:t>InsertAfter</a:t>
            </a:r>
            <a:r>
              <a:rPr lang="en-GB" sz="2400" dirty="0">
                <a:latin typeface="Comic Sans MS" panose="030F0702030302020204" pitchFamily="66" charset="0"/>
              </a:rPr>
              <a:t>()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6️⃣ Create new node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7️⃣ Set </a:t>
            </a:r>
            <a:r>
              <a:rPr lang="en-GB" sz="2400" dirty="0" err="1">
                <a:latin typeface="Comic Sans MS" panose="030F0702030302020204" pitchFamily="66" charset="0"/>
              </a:rPr>
              <a:t>new_node</a:t>
            </a:r>
            <a:r>
              <a:rPr lang="en-GB" sz="2400" dirty="0">
                <a:latin typeface="Comic Sans MS" panose="030F0702030302020204" pitchFamily="66" charset="0"/>
              </a:rPr>
              <a:t>-&gt;next = </a:t>
            </a:r>
            <a:r>
              <a:rPr lang="en-GB" sz="2400" dirty="0" err="1">
                <a:latin typeface="Comic Sans MS" panose="030F0702030302020204" pitchFamily="66" charset="0"/>
              </a:rPr>
              <a:t>prev_node</a:t>
            </a:r>
            <a:r>
              <a:rPr lang="en-GB" sz="2400" dirty="0">
                <a:latin typeface="Comic Sans MS" panose="030F0702030302020204" pitchFamily="66" charset="0"/>
              </a:rPr>
              <a:t>-&gt;next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8️⃣ Set </a:t>
            </a:r>
            <a:r>
              <a:rPr lang="en-GB" sz="2400" dirty="0" err="1">
                <a:latin typeface="Comic Sans MS" panose="030F0702030302020204" pitchFamily="66" charset="0"/>
              </a:rPr>
              <a:t>prev_node</a:t>
            </a:r>
            <a:r>
              <a:rPr lang="en-GB" sz="2400" dirty="0">
                <a:latin typeface="Comic Sans MS" panose="030F0702030302020204" pitchFamily="66" charset="0"/>
              </a:rPr>
              <a:t>-&gt;next = </a:t>
            </a:r>
            <a:r>
              <a:rPr lang="en-GB" sz="2400" dirty="0" err="1">
                <a:latin typeface="Comic Sans MS" panose="030F0702030302020204" pitchFamily="66" charset="0"/>
              </a:rPr>
              <a:t>new_node</a:t>
            </a:r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9️⃣ Print updated list</a:t>
            </a:r>
            <a:endParaRPr lang="en-SE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35080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335687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💡 Example</a:t>
            </a:r>
          </a:p>
          <a:p>
            <a:endParaRPr lang="en-SE" sz="2400" dirty="0">
              <a:latin typeface="Comic Sans MS" panose="030F0702030302020204" pitchFamily="66" charset="0"/>
            </a:endParaRPr>
          </a:p>
          <a:p>
            <a:r>
              <a:rPr lang="en-SE" sz="2400" dirty="0">
                <a:latin typeface="Comic Sans MS" panose="030F0702030302020204" pitchFamily="66" charset="0"/>
              </a:rPr>
              <a:t>After inserting values (1,2,3,4,5) at beginning: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List becomes:</a:t>
            </a:r>
            <a:br>
              <a:rPr lang="en-SE" sz="2400" dirty="0">
                <a:latin typeface="Comic Sans MS" panose="030F0702030302020204" pitchFamily="66" charset="0"/>
              </a:rPr>
            </a:br>
            <a:r>
              <a:rPr lang="en-SE" sz="2400" dirty="0">
                <a:latin typeface="Comic Sans MS" panose="030F0702030302020204" pitchFamily="66" charset="0"/>
              </a:rPr>
              <a:t>5 → 4 → 3 → 2 → 1 → NULL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Now inserting </a:t>
            </a:r>
            <a:r>
              <a:rPr lang="en-SE" sz="2400" b="1" dirty="0">
                <a:latin typeface="Comic Sans MS" panose="030F0702030302020204" pitchFamily="66" charset="0"/>
              </a:rPr>
              <a:t>500 after 2</a:t>
            </a:r>
            <a:endParaRPr lang="en-SE" sz="2400" dirty="0">
              <a:latin typeface="Comic Sans MS" panose="030F0702030302020204" pitchFamily="66" charset="0"/>
            </a:endParaRPr>
          </a:p>
          <a:p>
            <a:r>
              <a:rPr lang="en-SE" sz="2400" dirty="0">
                <a:latin typeface="Comic Sans MS" panose="030F0702030302020204" pitchFamily="66" charset="0"/>
              </a:rPr>
              <a:t>➡️ Updated list:</a:t>
            </a:r>
            <a:br>
              <a:rPr lang="en-SE" sz="2400" dirty="0">
                <a:latin typeface="Comic Sans MS" panose="030F0702030302020204" pitchFamily="66" charset="0"/>
              </a:rPr>
            </a:br>
            <a:r>
              <a:rPr lang="en-SE" sz="2400" dirty="0">
                <a:latin typeface="Comic Sans MS" panose="030F0702030302020204" pitchFamily="66" charset="0"/>
              </a:rPr>
              <a:t>5 → 4 → 3 → 2 → 500 → 1 → NULL</a:t>
            </a:r>
          </a:p>
        </p:txBody>
      </p:sp>
    </p:spTree>
    <p:extLst>
      <p:ext uri="{BB962C8B-B14F-4D97-AF65-F5344CB8AC3E}">
        <p14:creationId xmlns:p14="http://schemas.microsoft.com/office/powerpoint/2010/main" val="12753873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2248881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📌 Note</a:t>
            </a:r>
          </a:p>
          <a:p>
            <a:endParaRPr lang="en-SE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The order of pointer updates is very important: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🟩 First connect new node to next node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🟩 Then connect previous node to new node</a:t>
            </a:r>
            <a:endParaRPr lang="en-SE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37385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4095541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⚖️ Comparison</a:t>
            </a:r>
          </a:p>
          <a:p>
            <a:endParaRPr lang="en-SE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🟩 Insert at Beginning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	</a:t>
            </a:r>
            <a:r>
              <a:rPr lang="en-GB" sz="2400" dirty="0">
                <a:latin typeface="Comic Sans MS" panose="030F0702030302020204" pitchFamily="66" charset="0"/>
              </a:rPr>
              <a:t>✔️ O(1) time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	</a:t>
            </a:r>
            <a:r>
              <a:rPr lang="en-GB" sz="2400" dirty="0">
                <a:latin typeface="Comic Sans MS" panose="030F0702030302020204" pitchFamily="66" charset="0"/>
              </a:rPr>
              <a:t>✔️ No search required</a:t>
            </a: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🟥 Insert After Specific Node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	</a:t>
            </a:r>
            <a:r>
              <a:rPr lang="en-GB" sz="2400" dirty="0">
                <a:latin typeface="Comic Sans MS" panose="030F0702030302020204" pitchFamily="66" charset="0"/>
              </a:rPr>
              <a:t>✔️ Requires search first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	</a:t>
            </a:r>
            <a:r>
              <a:rPr lang="en-GB" sz="2400" dirty="0">
                <a:latin typeface="Comic Sans MS" panose="030F0702030302020204" pitchFamily="66" charset="0"/>
              </a:rPr>
              <a:t>✔️ Overall time complexity: O(n)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	</a:t>
            </a:r>
            <a:r>
              <a:rPr lang="en-GB" sz="2400" dirty="0">
                <a:latin typeface="Comic Sans MS" panose="030F0702030302020204" pitchFamily="66" charset="0"/>
              </a:rPr>
              <a:t>✔️ More pointer operations</a:t>
            </a:r>
            <a:endParaRPr lang="en-SE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46561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187954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🚫 Warning</a:t>
            </a:r>
          </a:p>
          <a:p>
            <a:endParaRPr lang="en-SE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If </a:t>
            </a:r>
            <a:r>
              <a:rPr lang="en-GB" sz="2400" dirty="0" err="1">
                <a:latin typeface="Comic Sans MS" panose="030F0702030302020204" pitchFamily="66" charset="0"/>
              </a:rPr>
              <a:t>prev_node</a:t>
            </a:r>
            <a:r>
              <a:rPr lang="en-GB" sz="2400" dirty="0">
                <a:latin typeface="Comic Sans MS" panose="030F0702030302020204" pitchFamily="66" charset="0"/>
              </a:rPr>
              <a:t> is NULL, insertion is not possible and may cause a crash.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The program correctly checks this condition.</a:t>
            </a:r>
            <a:endParaRPr lang="en-SE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42369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298754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✨ Summary</a:t>
            </a:r>
            <a:endParaRPr lang="en-SE" sz="2400" dirty="0">
              <a:latin typeface="Comic Sans MS" panose="030F0702030302020204" pitchFamily="66" charset="0"/>
            </a:endParaRPr>
          </a:p>
          <a:p>
            <a:endParaRPr lang="en-SE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✅ </a:t>
            </a:r>
            <a:r>
              <a:rPr lang="en-GB" sz="2400" dirty="0" err="1">
                <a:latin typeface="Comic Sans MS" panose="030F0702030302020204" pitchFamily="66" charset="0"/>
              </a:rPr>
              <a:t>InsertAfter</a:t>
            </a:r>
            <a:r>
              <a:rPr lang="en-GB" sz="2400" dirty="0">
                <a:latin typeface="Comic Sans MS" panose="030F0702030302020204" pitchFamily="66" charset="0"/>
              </a:rPr>
              <a:t>() adds a node after a specific node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✅ Requires finding the node first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✅ Pointer updates must be done carefully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✅ Time complexity is O(n) due to search</a:t>
            </a:r>
          </a:p>
          <a:p>
            <a:r>
              <a:rPr lang="en-GB" sz="2400">
                <a:latin typeface="Comic Sans MS" panose="030F0702030302020204" pitchFamily="66" charset="0"/>
              </a:rPr>
              <a:t>✅ Maintains linked list structure properly</a:t>
            </a:r>
            <a:endParaRPr lang="en-SE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91774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0C985-45BF-D625-B127-8108457FD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4">
            <a:extLst>
              <a:ext uri="{FF2B5EF4-FFF2-40B4-BE49-F238E27FC236}">
                <a16:creationId xmlns:a16="http://schemas.microsoft.com/office/drawing/2014/main" id="{2DD6DF42-8147-ACB0-9155-6AB216D32B4F}"/>
              </a:ext>
            </a:extLst>
          </p:cNvPr>
          <p:cNvSpPr txBox="1">
            <a:spLocks/>
          </p:cNvSpPr>
          <p:nvPr/>
        </p:nvSpPr>
        <p:spPr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 kern="0"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</a:pP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 dirty="0">
                <a:solidFill>
                  <a:srgbClr val="FF0000"/>
                </a:solidFill>
              </a:rPr>
              <a:t> </a:t>
            </a:r>
            <a:r>
              <a:rPr lang="sv-SE" sz="4000" spc="-67" dirty="0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 dirty="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23304135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11817</TotalTime>
  <Words>415</Words>
  <Application>Microsoft Office PowerPoint</Application>
  <PresentationFormat>Custom</PresentationFormat>
  <Paragraphs>82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 MT</vt:lpstr>
      <vt:lpstr>Calibri</vt:lpstr>
      <vt:lpstr>Comic Sans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Sara Alterkawi</dc:creator>
  <cp:lastModifiedBy>Sara Alterkawi</cp:lastModifiedBy>
  <cp:revision>398</cp:revision>
  <dcterms:created xsi:type="dcterms:W3CDTF">2025-12-09T17:44:59Z</dcterms:created>
  <dcterms:modified xsi:type="dcterms:W3CDTF">2026-02-11T16:36:38Z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