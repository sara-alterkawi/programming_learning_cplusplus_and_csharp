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63" r:id="rId4"/>
    <p:sldId id="364" r:id="rId5"/>
    <p:sldId id="354" r:id="rId6"/>
    <p:sldId id="355" r:id="rId7"/>
    <p:sldId id="356" r:id="rId8"/>
    <p:sldId id="357" r:id="rId9"/>
    <p:sldId id="358" r:id="rId10"/>
    <p:sldId id="359" r:id="rId11"/>
    <p:sldId id="362" r:id="rId12"/>
    <p:sldId id="361" r:id="rId13"/>
    <p:sldId id="353" r:id="rId14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E53"/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1020" y="63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48859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Data Structure</a:t>
            </a:r>
            <a:endParaRPr lang="sv-SE" sz="6000" b="1" dirty="0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SE" sz="6000" b="1" dirty="0">
                <a:solidFill>
                  <a:srgbClr val="FFCE53"/>
                </a:solidFill>
                <a:latin typeface="Comic Sans MS"/>
                <a:cs typeface="Comic Sans MS"/>
              </a:rPr>
              <a:t>Singly Linked List </a:t>
            </a: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Data Structures</a:t>
            </a:r>
            <a:r>
              <a:rPr lang="en-SE" sz="6000" b="1" dirty="0">
                <a:solidFill>
                  <a:srgbClr val="FFCE53"/>
                </a:solidFill>
                <a:latin typeface="Comic Sans MS"/>
                <a:cs typeface="Comic Sans MS"/>
              </a:rPr>
              <a:t> Operations</a:t>
            </a:r>
            <a:endParaRPr lang="en-GB" sz="6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Insert At End</a:t>
            </a:r>
            <a:endParaRPr lang="en-GB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B5F4669-BEB7-1B3B-CEA3-4D5DC5D20F71}"/>
              </a:ext>
            </a:extLst>
          </p:cNvPr>
          <p:cNvSpPr/>
          <p:nvPr/>
        </p:nvSpPr>
        <p:spPr>
          <a:xfrm>
            <a:off x="8991607" y="6324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2357F53-BE7F-8529-0684-467F58693C6F}"/>
              </a:ext>
            </a:extLst>
          </p:cNvPr>
          <p:cNvSpPr/>
          <p:nvPr/>
        </p:nvSpPr>
        <p:spPr>
          <a:xfrm>
            <a:off x="8839207" y="3657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3B6B9DA-84E3-ED50-76DA-2D7C05C73E07}"/>
              </a:ext>
            </a:extLst>
          </p:cNvPr>
          <p:cNvSpPr/>
          <p:nvPr/>
        </p:nvSpPr>
        <p:spPr>
          <a:xfrm>
            <a:off x="5334007" y="3657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0BD1C94-884C-57BB-F049-73C473EE5335}"/>
              </a:ext>
            </a:extLst>
          </p:cNvPr>
          <p:cNvSpPr/>
          <p:nvPr/>
        </p:nvSpPr>
        <p:spPr>
          <a:xfrm>
            <a:off x="1828800" y="3657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Linked List Data Structure</a:t>
            </a:r>
            <a:endParaRPr kumimoji="0" lang="en-SE" sz="2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E49478-9F5A-9389-3DB5-E33272AEE85E}"/>
              </a:ext>
            </a:extLst>
          </p:cNvPr>
          <p:cNvCxnSpPr>
            <a:cxnSpLocks/>
          </p:cNvCxnSpPr>
          <p:nvPr/>
        </p:nvCxnSpPr>
        <p:spPr>
          <a:xfrm>
            <a:off x="3086100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ADC4E3B-47C1-B910-1F46-076D10036280}"/>
              </a:ext>
            </a:extLst>
          </p:cNvPr>
          <p:cNvSpPr txBox="1"/>
          <p:nvPr/>
        </p:nvSpPr>
        <p:spPr>
          <a:xfrm>
            <a:off x="2133600" y="4262735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1 	Next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AD2ECFB-5DC2-363F-5C0D-5807350B2A3F}"/>
              </a:ext>
            </a:extLst>
          </p:cNvPr>
          <p:cNvSpPr/>
          <p:nvPr/>
        </p:nvSpPr>
        <p:spPr>
          <a:xfrm>
            <a:off x="8382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555685-A19C-1CDC-C9DC-19FAD2EE5263}"/>
              </a:ext>
            </a:extLst>
          </p:cNvPr>
          <p:cNvSpPr txBox="1"/>
          <p:nvPr/>
        </p:nvSpPr>
        <p:spPr>
          <a:xfrm>
            <a:off x="0" y="4267201"/>
            <a:ext cx="95250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Head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D3A4721-9E6B-D418-2ADB-F6D428D7B23E}"/>
              </a:ext>
            </a:extLst>
          </p:cNvPr>
          <p:cNvCxnSpPr>
            <a:cxnSpLocks/>
          </p:cNvCxnSpPr>
          <p:nvPr/>
        </p:nvCxnSpPr>
        <p:spPr>
          <a:xfrm>
            <a:off x="6591300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F5ABA8-3D75-8B6F-2F00-DBBA9720F566}"/>
              </a:ext>
            </a:extLst>
          </p:cNvPr>
          <p:cNvSpPr txBox="1"/>
          <p:nvPr/>
        </p:nvSpPr>
        <p:spPr>
          <a:xfrm>
            <a:off x="5638800" y="4262735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2 	Next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2259595-FAED-9E7F-9A36-812E7BE40881}"/>
              </a:ext>
            </a:extLst>
          </p:cNvPr>
          <p:cNvSpPr/>
          <p:nvPr/>
        </p:nvSpPr>
        <p:spPr>
          <a:xfrm>
            <a:off x="78486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7E5B2B0-C60C-0C34-4EA4-80D44DA68DAB}"/>
              </a:ext>
            </a:extLst>
          </p:cNvPr>
          <p:cNvSpPr/>
          <p:nvPr/>
        </p:nvSpPr>
        <p:spPr>
          <a:xfrm>
            <a:off x="43434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25DF8E3-BC90-FA52-0698-1BB9E2F17C7F}"/>
              </a:ext>
            </a:extLst>
          </p:cNvPr>
          <p:cNvCxnSpPr>
            <a:cxnSpLocks/>
          </p:cNvCxnSpPr>
          <p:nvPr/>
        </p:nvCxnSpPr>
        <p:spPr>
          <a:xfrm>
            <a:off x="10096500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9160DA4-DBE0-B7C0-C676-4C605068D9F0}"/>
              </a:ext>
            </a:extLst>
          </p:cNvPr>
          <p:cNvSpPr txBox="1"/>
          <p:nvPr/>
        </p:nvSpPr>
        <p:spPr>
          <a:xfrm>
            <a:off x="9144000" y="4262735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3 	Next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ED04C025-22A1-C7E1-6F3A-BB2E0F7668A2}"/>
              </a:ext>
            </a:extLst>
          </p:cNvPr>
          <p:cNvSpPr/>
          <p:nvPr/>
        </p:nvSpPr>
        <p:spPr>
          <a:xfrm>
            <a:off x="113538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3C0AB2-4825-D50A-687C-EE6056A099A4}"/>
              </a:ext>
            </a:extLst>
          </p:cNvPr>
          <p:cNvSpPr txBox="1"/>
          <p:nvPr/>
        </p:nvSpPr>
        <p:spPr>
          <a:xfrm>
            <a:off x="12458699" y="4267200"/>
            <a:ext cx="95250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Null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34F879-0B14-8DEE-59B3-891268A2C549}"/>
              </a:ext>
            </a:extLst>
          </p:cNvPr>
          <p:cNvSpPr txBox="1"/>
          <p:nvPr/>
        </p:nvSpPr>
        <p:spPr>
          <a:xfrm>
            <a:off x="2667000" y="5410200"/>
            <a:ext cx="95250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Node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3D22409-DEE3-EDCB-5109-6D3844BBFE11}"/>
              </a:ext>
            </a:extLst>
          </p:cNvPr>
          <p:cNvCxnSpPr>
            <a:cxnSpLocks/>
          </p:cNvCxnSpPr>
          <p:nvPr/>
        </p:nvCxnSpPr>
        <p:spPr>
          <a:xfrm>
            <a:off x="10248907" y="63246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3CE6BE4-620F-C9DD-C3B0-85E4BD71B22A}"/>
              </a:ext>
            </a:extLst>
          </p:cNvPr>
          <p:cNvSpPr txBox="1"/>
          <p:nvPr/>
        </p:nvSpPr>
        <p:spPr>
          <a:xfrm>
            <a:off x="9296405" y="6931461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500 	Next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8DD7B4F4-EA8A-22B6-7BE1-94EE3D1D8065}"/>
              </a:ext>
            </a:extLst>
          </p:cNvPr>
          <p:cNvSpPr/>
          <p:nvPr/>
        </p:nvSpPr>
        <p:spPr>
          <a:xfrm rot="7923094">
            <a:off x="9522525" y="571645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BD1E801-60CF-B7DB-2851-37DDA0A74D9B}"/>
              </a:ext>
            </a:extLst>
          </p:cNvPr>
          <p:cNvCxnSpPr>
            <a:cxnSpLocks/>
          </p:cNvCxnSpPr>
          <p:nvPr/>
        </p:nvCxnSpPr>
        <p:spPr>
          <a:xfrm flipH="1">
            <a:off x="11658609" y="3962400"/>
            <a:ext cx="495291" cy="1066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14D971E-88CF-0900-5410-23DD78C5FAF7}"/>
              </a:ext>
            </a:extLst>
          </p:cNvPr>
          <p:cNvCxnSpPr>
            <a:cxnSpLocks/>
          </p:cNvCxnSpPr>
          <p:nvPr/>
        </p:nvCxnSpPr>
        <p:spPr>
          <a:xfrm flipH="1" flipV="1">
            <a:off x="11582400" y="3962400"/>
            <a:ext cx="685800" cy="1066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Arrow: Right 4">
            <a:extLst>
              <a:ext uri="{FF2B5EF4-FFF2-40B4-BE49-F238E27FC236}">
                <a16:creationId xmlns:a16="http://schemas.microsoft.com/office/drawing/2014/main" id="{BF9DB3B5-019B-D7C4-D70C-57A12CFB026A}"/>
              </a:ext>
            </a:extLst>
          </p:cNvPr>
          <p:cNvSpPr/>
          <p:nvPr/>
        </p:nvSpPr>
        <p:spPr>
          <a:xfrm>
            <a:off x="11506200" y="7086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A70CEC-8C69-35A1-89D6-75E444EDF489}"/>
              </a:ext>
            </a:extLst>
          </p:cNvPr>
          <p:cNvSpPr txBox="1"/>
          <p:nvPr/>
        </p:nvSpPr>
        <p:spPr>
          <a:xfrm>
            <a:off x="12611099" y="6934200"/>
            <a:ext cx="95250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2857487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B5F4669-BEB7-1B3B-CEA3-4D5DC5D20F71}"/>
              </a:ext>
            </a:extLst>
          </p:cNvPr>
          <p:cNvSpPr/>
          <p:nvPr/>
        </p:nvSpPr>
        <p:spPr>
          <a:xfrm>
            <a:off x="8991607" y="6324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2357F53-BE7F-8529-0684-467F58693C6F}"/>
              </a:ext>
            </a:extLst>
          </p:cNvPr>
          <p:cNvSpPr/>
          <p:nvPr/>
        </p:nvSpPr>
        <p:spPr>
          <a:xfrm>
            <a:off x="8839207" y="3657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3B6B9DA-84E3-ED50-76DA-2D7C05C73E07}"/>
              </a:ext>
            </a:extLst>
          </p:cNvPr>
          <p:cNvSpPr/>
          <p:nvPr/>
        </p:nvSpPr>
        <p:spPr>
          <a:xfrm>
            <a:off x="5334007" y="3657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0BD1C94-884C-57BB-F049-73C473EE5335}"/>
              </a:ext>
            </a:extLst>
          </p:cNvPr>
          <p:cNvSpPr/>
          <p:nvPr/>
        </p:nvSpPr>
        <p:spPr>
          <a:xfrm>
            <a:off x="1828800" y="3657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Linked List Data Structure</a:t>
            </a:r>
            <a:endParaRPr kumimoji="0" lang="en-SE" sz="2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E49478-9F5A-9389-3DB5-E33272AEE85E}"/>
              </a:ext>
            </a:extLst>
          </p:cNvPr>
          <p:cNvCxnSpPr>
            <a:cxnSpLocks/>
          </p:cNvCxnSpPr>
          <p:nvPr/>
        </p:nvCxnSpPr>
        <p:spPr>
          <a:xfrm>
            <a:off x="3086100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ADC4E3B-47C1-B910-1F46-076D10036280}"/>
              </a:ext>
            </a:extLst>
          </p:cNvPr>
          <p:cNvSpPr txBox="1"/>
          <p:nvPr/>
        </p:nvSpPr>
        <p:spPr>
          <a:xfrm>
            <a:off x="2133600" y="4262735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1 	Next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AD2ECFB-5DC2-363F-5C0D-5807350B2A3F}"/>
              </a:ext>
            </a:extLst>
          </p:cNvPr>
          <p:cNvSpPr/>
          <p:nvPr/>
        </p:nvSpPr>
        <p:spPr>
          <a:xfrm>
            <a:off x="8382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555685-A19C-1CDC-C9DC-19FAD2EE5263}"/>
              </a:ext>
            </a:extLst>
          </p:cNvPr>
          <p:cNvSpPr txBox="1"/>
          <p:nvPr/>
        </p:nvSpPr>
        <p:spPr>
          <a:xfrm>
            <a:off x="0" y="4267201"/>
            <a:ext cx="95250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Head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D3A4721-9E6B-D418-2ADB-F6D428D7B23E}"/>
              </a:ext>
            </a:extLst>
          </p:cNvPr>
          <p:cNvCxnSpPr>
            <a:cxnSpLocks/>
          </p:cNvCxnSpPr>
          <p:nvPr/>
        </p:nvCxnSpPr>
        <p:spPr>
          <a:xfrm>
            <a:off x="6591300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F5ABA8-3D75-8B6F-2F00-DBBA9720F566}"/>
              </a:ext>
            </a:extLst>
          </p:cNvPr>
          <p:cNvSpPr txBox="1"/>
          <p:nvPr/>
        </p:nvSpPr>
        <p:spPr>
          <a:xfrm>
            <a:off x="5638800" y="4262735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2 	Next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2259595-FAED-9E7F-9A36-812E7BE40881}"/>
              </a:ext>
            </a:extLst>
          </p:cNvPr>
          <p:cNvSpPr/>
          <p:nvPr/>
        </p:nvSpPr>
        <p:spPr>
          <a:xfrm>
            <a:off x="78486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7E5B2B0-C60C-0C34-4EA4-80D44DA68DAB}"/>
              </a:ext>
            </a:extLst>
          </p:cNvPr>
          <p:cNvSpPr/>
          <p:nvPr/>
        </p:nvSpPr>
        <p:spPr>
          <a:xfrm>
            <a:off x="43434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25DF8E3-BC90-FA52-0698-1BB9E2F17C7F}"/>
              </a:ext>
            </a:extLst>
          </p:cNvPr>
          <p:cNvCxnSpPr>
            <a:cxnSpLocks/>
          </p:cNvCxnSpPr>
          <p:nvPr/>
        </p:nvCxnSpPr>
        <p:spPr>
          <a:xfrm>
            <a:off x="10096500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9160DA4-DBE0-B7C0-C676-4C605068D9F0}"/>
              </a:ext>
            </a:extLst>
          </p:cNvPr>
          <p:cNvSpPr txBox="1"/>
          <p:nvPr/>
        </p:nvSpPr>
        <p:spPr>
          <a:xfrm>
            <a:off x="9144000" y="4262735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3 	Next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34F879-0B14-8DEE-59B3-891268A2C549}"/>
              </a:ext>
            </a:extLst>
          </p:cNvPr>
          <p:cNvSpPr txBox="1"/>
          <p:nvPr/>
        </p:nvSpPr>
        <p:spPr>
          <a:xfrm>
            <a:off x="2667000" y="5410200"/>
            <a:ext cx="95250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Node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3D22409-DEE3-EDCB-5109-6D3844BBFE11}"/>
              </a:ext>
            </a:extLst>
          </p:cNvPr>
          <p:cNvCxnSpPr>
            <a:cxnSpLocks/>
          </p:cNvCxnSpPr>
          <p:nvPr/>
        </p:nvCxnSpPr>
        <p:spPr>
          <a:xfrm>
            <a:off x="10248907" y="63246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3CE6BE4-620F-C9DD-C3B0-85E4BD71B22A}"/>
              </a:ext>
            </a:extLst>
          </p:cNvPr>
          <p:cNvSpPr txBox="1"/>
          <p:nvPr/>
        </p:nvSpPr>
        <p:spPr>
          <a:xfrm>
            <a:off x="9296405" y="6931461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500 	Next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8DD7B4F4-EA8A-22B6-7BE1-94EE3D1D8065}"/>
              </a:ext>
            </a:extLst>
          </p:cNvPr>
          <p:cNvSpPr/>
          <p:nvPr/>
        </p:nvSpPr>
        <p:spPr>
          <a:xfrm rot="7923094">
            <a:off x="9522525" y="571645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F9DB3B5-019B-D7C4-D70C-57A12CFB026A}"/>
              </a:ext>
            </a:extLst>
          </p:cNvPr>
          <p:cNvSpPr/>
          <p:nvPr/>
        </p:nvSpPr>
        <p:spPr>
          <a:xfrm>
            <a:off x="11506200" y="7086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A70CEC-8C69-35A1-89D6-75E444EDF489}"/>
              </a:ext>
            </a:extLst>
          </p:cNvPr>
          <p:cNvSpPr txBox="1"/>
          <p:nvPr/>
        </p:nvSpPr>
        <p:spPr>
          <a:xfrm>
            <a:off x="12611099" y="6934200"/>
            <a:ext cx="95250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3639154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🔎 Definition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 err="1">
                <a:latin typeface="Comic Sans MS" panose="030F0702030302020204" pitchFamily="66" charset="0"/>
              </a:rPr>
              <a:t>InsertAtEnd</a:t>
            </a:r>
            <a:r>
              <a:rPr lang="en-GB" sz="2400" dirty="0">
                <a:latin typeface="Comic Sans MS" panose="030F0702030302020204" pitchFamily="66" charset="0"/>
              </a:rPr>
              <a:t>() Function: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Adds a new node at the end of the linked list.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en-GB" sz="2400" dirty="0" err="1">
                <a:latin typeface="Comic Sans MS" panose="030F0702030302020204" pitchFamily="66" charset="0"/>
              </a:rPr>
              <a:t>Behavior</a:t>
            </a:r>
            <a:r>
              <a:rPr lang="en-GB" sz="2400" dirty="0">
                <a:latin typeface="Comic Sans MS" panose="030F0702030302020204" pitchFamily="66" charset="0"/>
              </a:rPr>
              <a:t>: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🟩 Creates a new node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🟩 Sets its next to NULL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🟩 Traverses to the last node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🟩 Links the last node to the new node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809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📖 Explanation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If the list is empty (head == NULL), the new node becomes the head.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Otherwise, we iterate through the list until </a:t>
            </a:r>
            <a:r>
              <a:rPr lang="en-GB" sz="2400" dirty="0" err="1">
                <a:latin typeface="Comic Sans MS" panose="030F0702030302020204" pitchFamily="66" charset="0"/>
              </a:rPr>
              <a:t>LastNode</a:t>
            </a:r>
            <a:r>
              <a:rPr lang="en-GB" sz="2400" dirty="0">
                <a:latin typeface="Comic Sans MS" panose="030F0702030302020204" pitchFamily="66" charset="0"/>
              </a:rPr>
              <a:t>-&gt;next == NULL.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The last node’s next pointer is updated to the new node.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This preserves the linked structure.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654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🟦 Procedures (Insert at </a:t>
            </a:r>
            <a:r>
              <a:rPr lang="en-SE" sz="4000" b="1">
                <a:latin typeface="Comic Sans MS" panose="030F0702030302020204" pitchFamily="66" charset="0"/>
              </a:rPr>
              <a:t>End</a:t>
            </a:r>
            <a:r>
              <a:rPr lang="en-GB" sz="4000" b="1">
                <a:latin typeface="Comic Sans MS" panose="030F0702030302020204" pitchFamily="66" charset="0"/>
              </a:rPr>
              <a:t>)</a:t>
            </a:r>
            <a:endParaRPr lang="en-GB" sz="4000" b="1" dirty="0">
              <a:latin typeface="Comic Sans MS" panose="030F0702030302020204" pitchFamily="66" charset="0"/>
            </a:endParaRP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1️⃣ Create a new node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2️⃣ Assign value to the node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3️⃣ Set </a:t>
            </a:r>
            <a:r>
              <a:rPr lang="en-GB" sz="2400" dirty="0" err="1">
                <a:latin typeface="Comic Sans MS" panose="030F0702030302020204" pitchFamily="66" charset="0"/>
              </a:rPr>
              <a:t>new_node</a:t>
            </a:r>
            <a:r>
              <a:rPr lang="en-GB" sz="2400" dirty="0">
                <a:latin typeface="Comic Sans MS" panose="030F0702030302020204" pitchFamily="66" charset="0"/>
              </a:rPr>
              <a:t>-&gt;next = NULL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4️⃣ Check if list is empty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5️⃣ If empty → set head = </a:t>
            </a:r>
            <a:r>
              <a:rPr lang="en-GB" sz="2400" dirty="0" err="1">
                <a:latin typeface="Comic Sans MS" panose="030F0702030302020204" pitchFamily="66" charset="0"/>
              </a:rPr>
              <a:t>new_node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6️⃣ If not empty → traverse to last node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7️⃣ Move pointer until next == NULL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8️⃣ Set </a:t>
            </a:r>
            <a:r>
              <a:rPr lang="en-GB" sz="2400" dirty="0" err="1">
                <a:latin typeface="Comic Sans MS" panose="030F0702030302020204" pitchFamily="66" charset="0"/>
              </a:rPr>
              <a:t>LastNode</a:t>
            </a:r>
            <a:r>
              <a:rPr lang="en-GB" sz="2400" dirty="0">
                <a:latin typeface="Comic Sans MS" panose="030F0702030302020204" pitchFamily="66" charset="0"/>
              </a:rPr>
              <a:t>-&gt;next = </a:t>
            </a:r>
            <a:r>
              <a:rPr lang="en-GB" sz="2400" dirty="0" err="1">
                <a:latin typeface="Comic Sans MS" panose="030F0702030302020204" pitchFamily="66" charset="0"/>
              </a:rPr>
              <a:t>new_node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9️⃣ Print the updated list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508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💡 Example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Operations in main():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 err="1">
                <a:latin typeface="Comic Sans MS" panose="030F0702030302020204" pitchFamily="66" charset="0"/>
              </a:rPr>
              <a:t>InsertAtEnd</a:t>
            </a:r>
            <a:r>
              <a:rPr lang="en-GB" sz="2400" dirty="0">
                <a:latin typeface="Comic Sans MS" panose="030F0702030302020204" pitchFamily="66" charset="0"/>
              </a:rPr>
              <a:t>(1)</a:t>
            </a:r>
          </a:p>
          <a:p>
            <a:r>
              <a:rPr lang="en-GB" sz="2400" dirty="0" err="1">
                <a:latin typeface="Comic Sans MS" panose="030F0702030302020204" pitchFamily="66" charset="0"/>
              </a:rPr>
              <a:t>InsertAtEnd</a:t>
            </a:r>
            <a:r>
              <a:rPr lang="en-GB" sz="2400" dirty="0">
                <a:latin typeface="Comic Sans MS" panose="030F0702030302020204" pitchFamily="66" charset="0"/>
              </a:rPr>
              <a:t>(2)</a:t>
            </a:r>
          </a:p>
          <a:p>
            <a:r>
              <a:rPr lang="en-GB" sz="2400" dirty="0" err="1">
                <a:latin typeface="Comic Sans MS" panose="030F0702030302020204" pitchFamily="66" charset="0"/>
              </a:rPr>
              <a:t>InsertAtEnd</a:t>
            </a:r>
            <a:r>
              <a:rPr lang="en-GB" sz="2400" dirty="0">
                <a:latin typeface="Comic Sans MS" panose="030F0702030302020204" pitchFamily="66" charset="0"/>
              </a:rPr>
              <a:t>(3)</a:t>
            </a:r>
          </a:p>
          <a:p>
            <a:r>
              <a:rPr lang="en-GB" sz="2400" dirty="0" err="1">
                <a:latin typeface="Comic Sans MS" panose="030F0702030302020204" pitchFamily="66" charset="0"/>
              </a:rPr>
              <a:t>InsertAtBeginning</a:t>
            </a:r>
            <a:r>
              <a:rPr lang="en-GB" sz="2400" dirty="0">
                <a:latin typeface="Comic Sans MS" panose="030F0702030302020204" pitchFamily="66" charset="0"/>
              </a:rPr>
              <a:t>(0)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➡️ Final List: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0 → 1 → 2 → 3 → NULL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387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📌 Note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/>
              <a:t>Insertion at end requires traversal, unlike insertion at beginning.</a:t>
            </a:r>
          </a:p>
        </p:txBody>
      </p:sp>
    </p:spTree>
    <p:extLst>
      <p:ext uri="{BB962C8B-B14F-4D97-AF65-F5344CB8AC3E}">
        <p14:creationId xmlns:p14="http://schemas.microsoft.com/office/powerpoint/2010/main" val="3393738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⚖️ Comparison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🟩 Insert at Beginning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O(1) time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No search required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🟥 Insert at End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Time Complexity: O(n)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Requires traversal to last node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656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🚫 Warning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If you forget to set </a:t>
            </a:r>
            <a:r>
              <a:rPr lang="en-GB" sz="2400" dirty="0" err="1">
                <a:latin typeface="Comic Sans MS" panose="030F0702030302020204" pitchFamily="66" charset="0"/>
              </a:rPr>
              <a:t>new_node</a:t>
            </a:r>
            <a:r>
              <a:rPr lang="en-GB" sz="2400" dirty="0">
                <a:latin typeface="Comic Sans MS" panose="030F0702030302020204" pitchFamily="66" charset="0"/>
              </a:rPr>
              <a:t>-&gt;next = NULL, the list may contain garbage values and cause errors.</a:t>
            </a:r>
          </a:p>
        </p:txBody>
      </p:sp>
    </p:spTree>
    <p:extLst>
      <p:ext uri="{BB962C8B-B14F-4D97-AF65-F5344CB8AC3E}">
        <p14:creationId xmlns:p14="http://schemas.microsoft.com/office/powerpoint/2010/main" val="3134236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✨ Summary</a:t>
            </a:r>
            <a:endParaRPr lang="en-SE" sz="2400" dirty="0">
              <a:latin typeface="Comic Sans MS" panose="030F0702030302020204" pitchFamily="66" charset="0"/>
            </a:endParaRP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✅ </a:t>
            </a:r>
            <a:r>
              <a:rPr lang="en-GB" sz="2400" dirty="0" err="1">
                <a:latin typeface="Comic Sans MS" panose="030F0702030302020204" pitchFamily="66" charset="0"/>
              </a:rPr>
              <a:t>InsertAtEnd</a:t>
            </a:r>
            <a:r>
              <a:rPr lang="en-GB" sz="2400" dirty="0">
                <a:latin typeface="Comic Sans MS" panose="030F0702030302020204" pitchFamily="66" charset="0"/>
              </a:rPr>
              <a:t> adds node to the end of the list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✅ Requires traversal if list is not empty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✅ Time complexity is O(n)</a:t>
            </a:r>
          </a:p>
          <a:p>
            <a:r>
              <a:rPr lang="en-GB" sz="2400">
                <a:latin typeface="Comic Sans MS" panose="030F0702030302020204" pitchFamily="66" charset="0"/>
              </a:rPr>
              <a:t>✅ Can be optimized using a tail pointer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177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330413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11833</TotalTime>
  <Words>392</Words>
  <Application>Microsoft Office PowerPoint</Application>
  <PresentationFormat>Custom</PresentationFormat>
  <Paragraphs>85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407</cp:revision>
  <dcterms:created xsi:type="dcterms:W3CDTF">2025-12-09T17:44:59Z</dcterms:created>
  <dcterms:modified xsi:type="dcterms:W3CDTF">2026-02-11T16:35:03Z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