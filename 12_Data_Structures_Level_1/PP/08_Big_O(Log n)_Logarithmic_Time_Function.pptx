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11" r:id="rId2"/>
    <p:sldId id="257" r:id="rId3"/>
    <p:sldId id="343" r:id="rId4"/>
    <p:sldId id="345" r:id="rId5"/>
    <p:sldId id="348" r:id="rId6"/>
    <p:sldId id="342" r:id="rId7"/>
    <p:sldId id="349" r:id="rId8"/>
    <p:sldId id="313" r:id="rId9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E53"/>
    <a:srgbClr val="FFFFFF"/>
    <a:srgbClr val="262626"/>
    <a:srgbClr val="29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54" y="771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" name="object 30">
            <a:extLst>
              <a:ext uri="{FF2B5EF4-FFF2-40B4-BE49-F238E27FC236}">
                <a16:creationId xmlns:a16="http://schemas.microsoft.com/office/drawing/2014/main" id="{B85DEC78-C825-AA3F-520D-C936B7F83D23}"/>
              </a:ext>
            </a:extLst>
          </p:cNvPr>
          <p:cNvSpPr txBox="1"/>
          <p:nvPr/>
        </p:nvSpPr>
        <p:spPr>
          <a:xfrm>
            <a:off x="0" y="1143000"/>
            <a:ext cx="12725400" cy="488595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 dirty="0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endParaRPr lang="en-GB" sz="6000" b="1" dirty="0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en-GB" sz="6000" b="1" dirty="0">
                <a:solidFill>
                  <a:srgbClr val="FFCE53"/>
                </a:solidFill>
                <a:latin typeface="Comic Sans MS"/>
                <a:cs typeface="Comic Sans MS"/>
              </a:rPr>
              <a:t>Big O(Log n) : Logarithmic Time Function</a:t>
            </a:r>
          </a:p>
        </p:txBody>
      </p:sp>
    </p:spTree>
    <p:extLst>
      <p:ext uri="{BB962C8B-B14F-4D97-AF65-F5344CB8AC3E}">
        <p14:creationId xmlns:p14="http://schemas.microsoft.com/office/powerpoint/2010/main" val="3694772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319061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Complexity of an Algorithm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Big 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O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O(Log n)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177997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</a:t>
            </a: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hat do we mean by log?</a:t>
            </a:r>
          </a:p>
        </p:txBody>
      </p:sp>
    </p:spTree>
    <p:extLst>
      <p:ext uri="{BB962C8B-B14F-4D97-AF65-F5344CB8AC3E}">
        <p14:creationId xmlns:p14="http://schemas.microsoft.com/office/powerpoint/2010/main" val="1585311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187954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Comic Sans MS" panose="030F0702030302020204" pitchFamily="66" charset="0"/>
              </a:rPr>
              <a:t>What do we mean by log?</a:t>
            </a:r>
            <a:endParaRPr kumimoji="0" lang="en-SE" sz="4000" b="1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>
              <a:defRPr/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x^2 → double itself</a:t>
            </a:r>
          </a:p>
          <a:p>
            <a:pPr>
              <a:defRPr/>
            </a:pPr>
            <a:r>
              <a:rPr lang="en-SE" sz="2400" dirty="0">
                <a:solidFill>
                  <a:schemeClr val="tx1"/>
                </a:solidFill>
                <a:latin typeface="Comic Sans MS" panose="030F0702030302020204" pitchFamily="66" charset="0"/>
              </a:rPr>
              <a:t>Log2 → half itself</a:t>
            </a:r>
            <a:endParaRPr lang="en-GB" sz="2400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5452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en-GB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lang="en-SE" sz="4000" spc="-17" dirty="0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</a:p>
          <a:p>
            <a:pPr marL="2786346" algn="ctr">
              <a:spcBef>
                <a:spcPts val="673"/>
              </a:spcBef>
            </a:pPr>
            <a:r>
              <a:rPr lang="en-SE" sz="4000" b="1" dirty="0">
                <a:solidFill>
                  <a:srgbClr val="FFCE53"/>
                </a:solidFill>
                <a:latin typeface="Comic Sans MS"/>
                <a:cs typeface="Comic Sans MS"/>
              </a:rPr>
              <a:t>Calculating Algorithm Complexity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O(Log n)</a:t>
            </a:r>
            <a:endParaRPr lang="en-SE" sz="4000" b="1" dirty="0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2145249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852771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Calculating Algorithm Complexity:</a:t>
            </a:r>
            <a:endParaRPr kumimoji="0" lang="en-SE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omic Sans MS" panose="030F0702030302020204" pitchFamily="66" charset="0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  <a:p>
            <a:pPr marL="12700" marR="821055">
              <a:lnSpc>
                <a:spcPct val="71000"/>
              </a:lnSpc>
              <a:spcBef>
                <a:spcPts val="660"/>
              </a:spcBef>
            </a:pPr>
            <a:r>
              <a:rPr lang="en-GB" sz="2400" dirty="0">
                <a:solidFill>
                  <a:schemeClr val="tx1"/>
                </a:solidFill>
                <a:latin typeface="Comic Sans MS" panose="030F0702030302020204" pitchFamily="66" charset="0"/>
                <a:cs typeface="Trebuchet MS"/>
              </a:rPr>
              <a:t>Depends on n size, and relation is logarithmic Time Function.</a:t>
            </a:r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B62960E8-E475-3E65-5DE8-D5E912D2D46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1905" y="2058183"/>
            <a:ext cx="12987389" cy="694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4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266C84-96DF-4E4E-6F8B-91A05446C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FC5D9C1-B6BF-65E1-D3D6-95868F3F585A}"/>
              </a:ext>
            </a:extLst>
          </p:cNvPr>
          <p:cNvSpPr txBox="1"/>
          <p:nvPr/>
        </p:nvSpPr>
        <p:spPr>
          <a:xfrm>
            <a:off x="381000" y="888075"/>
            <a:ext cx="12352767" cy="77155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E" sz="40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Whích</a:t>
            </a:r>
            <a:r>
              <a:rPr kumimoji="0" lang="en-SE" sz="40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 </a:t>
            </a:r>
            <a:r>
              <a:rPr kumimoji="0" lang="en-SE" sz="40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</a:rPr>
              <a:t>is faster?</a:t>
            </a:r>
            <a:endParaRPr lang="en-SE" sz="2400" dirty="0">
              <a:solidFill>
                <a:schemeClr val="tx1"/>
              </a:solidFill>
              <a:latin typeface="Comic Sans MS" panose="030F0702030302020204" pitchFamily="66" charset="0"/>
              <a:cs typeface="Trebuchet MS"/>
            </a:endParaRPr>
          </a:p>
        </p:txBody>
      </p:sp>
      <p:pic>
        <p:nvPicPr>
          <p:cNvPr id="2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60064" y="2310836"/>
            <a:ext cx="6291072" cy="5436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782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0C985-45BF-D625-B127-8108457FD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4">
            <a:extLst>
              <a:ext uri="{FF2B5EF4-FFF2-40B4-BE49-F238E27FC236}">
                <a16:creationId xmlns:a16="http://schemas.microsoft.com/office/drawing/2014/main" id="{2DD6DF42-8147-ACB0-9155-6AB216D32B4F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13031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11645</TotalTime>
  <Words>97</Words>
  <Application>Microsoft Office PowerPoint</Application>
  <PresentationFormat>Custom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274</cp:revision>
  <dcterms:created xsi:type="dcterms:W3CDTF">2025-12-09T17:44:59Z</dcterms:created>
  <dcterms:modified xsi:type="dcterms:W3CDTF">2026-02-09T13:37:13Z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