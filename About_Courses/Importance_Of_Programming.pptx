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E38577-2701-D5E6-47FD-0B3B6D7F62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CF564D-E930-5FAE-E299-36EAE291F1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F99FD8-67A8-311F-05FA-D09AA33680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69E757-DEA1-7B22-A67E-54C1294E61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08448-1104-DF28-9F35-46E7E7F068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F8553F-D194-502B-DAD3-59EC6D1E33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8C1348-693B-E51C-730E-911F438D78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03764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484537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286209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646862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16930053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69174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049970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56962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18526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02536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249113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1447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992401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461809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8105646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168945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168065926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374949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0725608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5718096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953166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282679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59528682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08554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179407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9680133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262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927346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164486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878960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118691018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11643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1284609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345122" name="object 30"/>
          <p:cNvSpPr txBox="1"/>
          <p:nvPr/>
        </p:nvSpPr>
        <p:spPr bwMode="auto">
          <a:xfrm>
            <a:off x="0" y="3402211"/>
            <a:ext cx="12725400" cy="276998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  <a:defRPr/>
            </a:pPr>
            <a:r>
              <a:rPr lang="en-GB" sz="6000" b="1">
                <a:solidFill>
                  <a:srgbClr val="FFCE53"/>
                </a:solidFill>
                <a:latin typeface="Comic Sans MS"/>
              </a:rPr>
              <a:t>The importance of programming and the importance of learning it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8640529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1115617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7633123" name="object 30"/>
          <p:cNvSpPr txBox="1"/>
          <p:nvPr/>
        </p:nvSpPr>
        <p:spPr bwMode="auto">
          <a:xfrm>
            <a:off x="106432" y="3810174"/>
            <a:ext cx="13304768" cy="129522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The importance of programming </a:t>
            </a:r>
            <a:endParaRPr/>
          </a:p>
          <a:p>
            <a:pPr marL="2089760" algn="ctr">
              <a:spcBef>
                <a:spcPts val="505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and the importance of learning it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619925" name="object 3"/>
          <p:cNvSpPr txBox="1"/>
          <p:nvPr/>
        </p:nvSpPr>
        <p:spPr bwMode="auto">
          <a:xfrm>
            <a:off x="381000" y="888075"/>
            <a:ext cx="12352767" cy="6557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The importance of programming and the importance of learning it</a:t>
            </a:r>
            <a:endParaRPr/>
          </a:p>
          <a:p>
            <a:pPr>
              <a:defRPr/>
            </a:pPr>
            <a:endParaRPr lang="en-GB" sz="2400" b="1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1️⃣ The Importance of Learning Programming the Right Way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Main Concept: Programming is one of the highest-paying professions and 			requires proper study and progression.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Key point: You can't expect to reach a professional level in just a few months.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💡 Example : A doctor studies for nine years to earn a high salary, and the same 	goes for engineers and lawyers.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2️⃣ Why People Fail to Learn Programming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Main Concept: Lack of a Progressive and Interconnected Programming 			Learning Methodology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Key Point: Most courses focus on a specific language or single skill without 			building a foundation.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💡 Example : : A student starts programming directly with advanced techniques 		and skips the basics, becoming a limited programmer.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14083" name="object 3"/>
          <p:cNvSpPr txBox="1"/>
          <p:nvPr/>
        </p:nvSpPr>
        <p:spPr bwMode="auto">
          <a:xfrm>
            <a:off x="381000" y="888075"/>
            <a:ext cx="12352767" cy="90199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3️⃣ Foundations of Learning Programming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Definition: Any profession requires a solid foundation, and programming is no 		exception.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Main Concept: Learning programming requires time, effort, and a gradual 			approach.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Key Point: Focus on developing analytical and problem-solving skills before 			learning programming languages. 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💡 Example : : Solve addition and subtraction problems on paper before moving 		on to differential and integral calculus.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4️⃣ Roadmap for Learning Programming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Definition: A roadmap consists of progressive and interconnected courses, 		starting with the fundamentals and culminating in specialization.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Main Concept: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1️⃣ Blue Section: General Foundations of Programming	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	🟨 Learning Computer Science from Scratch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	🟨 Developing Analytical and Logical Thinking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	🟨 Gradual Problem Solving (Divide and Conquer, LEGO Method)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 	🟨 Building Problem-Solving Skills Before Learning Languages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 2️⃣ Yellow Section: Beginning Specialization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	🟨 Specializes in various fields such as web, mobile, or backend 					development.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	🟨 Intersects with most other specializations.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	💡 Example : After completing course 13, you can begin C# and database 			courses simultaneously.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057376" name="object 3"/>
          <p:cNvSpPr txBox="1"/>
          <p:nvPr/>
        </p:nvSpPr>
        <p:spPr bwMode="auto">
          <a:xfrm>
            <a:off x="381000" y="888075"/>
            <a:ext cx="12352767" cy="68039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5️⃣ Sequence of Learning Languages ​​and Tools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🟩Main Concept: Learning programming is not limited to one language, but 			rather focuses on the principles of problem-solving and logical thinking.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Key Point: Start with C++ because it requires learning fundamental concepts. 	🟩 Later, move on to C# to develop web and mobile applications.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💡 Example: Courses include small projects that gradually increase in difficulty, 		with an emphasis on applying practical experience.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6️⃣ Practical vs. Theoretical Learning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Definition: Programming is an applied profession, not a theoretical one.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💡 Example : Remote logic exercises focus on the applied solution, not just 			observing the code.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7️⃣ Tips for Success in Learning Programming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Main Concept: Gradual progress and patience are the keys to success.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🟩 Key Point: Don't believe advertisements promising to learn programming in 		months and earn a high salary immediately. </a:t>
            </a:r>
            <a:endParaRPr/>
          </a:p>
          <a:p>
            <a:pPr>
              <a:defRPr/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💡 Example : Completing courses in order accelerates the learning of advanced 		skills later on and makes any new language easier to learn.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7968597" name="object 2"/>
          <p:cNvPicPr/>
          <p:nvPr/>
        </p:nvPicPr>
        <p:blipFill rotWithShape="1">
          <a:blip r:embed="rId3"/>
        </p:blipFill>
        <p:spPr bwMode="auto">
          <a:xfrm>
            <a:off x="5862" y="29308"/>
            <a:ext cx="13386948" cy="100290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4913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202</cp:revision>
  <dcterms:created xsi:type="dcterms:W3CDTF">2025-12-09T17:44:59Z</dcterms:created>
  <dcterms:modified xsi:type="dcterms:W3CDTF">2026-10-07T13:11:43Z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