
<file path=[Content_Types].xml><?xml version="1.0" encoding="utf-8"?>
<Types xmlns="http://schemas.openxmlformats.org/package/2006/content-types">
  <Default Extension="jpg" ContentType="image/jp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media/image2.jpg" ContentType="image/jpeg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311" r:id="rId2"/>
    <p:sldId id="257" r:id="rId3"/>
    <p:sldId id="333" r:id="rId4"/>
    <p:sldId id="334" r:id="rId5"/>
    <p:sldId id="335" r:id="rId6"/>
    <p:sldId id="336" r:id="rId7"/>
    <p:sldId id="337" r:id="rId8"/>
    <p:sldId id="313" r:id="rId9"/>
  </p:sldIdLst>
  <p:sldSz cx="13411200" cy="10058400"/>
  <p:notesSz cx="7772400" cy="10058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 userDrawn="1">
          <p15:clr>
            <a:srgbClr val="A4A3A4"/>
          </p15:clr>
        </p15:guide>
        <p15:guide id="2" pos="3727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262626"/>
    <a:srgbClr val="29292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41" d="100"/>
          <a:sy n="41" d="100"/>
        </p:scale>
        <p:origin x="54" y="684"/>
      </p:cViewPr>
      <p:guideLst>
        <p:guide orient="horz" pos="2880"/>
        <p:guide pos="3727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1005840" y="3118104"/>
            <a:ext cx="11399520" cy="90287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5867" b="0" i="0">
                <a:solidFill>
                  <a:srgbClr val="FF0000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2011680" y="5632706"/>
            <a:ext cx="9387840" cy="47795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106" b="0" i="0">
                <a:solidFill>
                  <a:schemeClr val="tx1"/>
                </a:solidFill>
                <a:latin typeface="Arial MT"/>
                <a:cs typeface="Arial MT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12/30/2025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331334" y="2514600"/>
            <a:ext cx="12753788" cy="4142104"/>
          </a:xfrm>
          <a:custGeom>
            <a:avLst/>
            <a:gdLst/>
            <a:ahLst/>
            <a:cxnLst/>
            <a:rect l="l" t="t" r="r" b="b"/>
            <a:pathLst>
              <a:path w="7391400" h="4142104">
                <a:moveTo>
                  <a:pt x="0" y="4141597"/>
                </a:moveTo>
                <a:lnTo>
                  <a:pt x="7391146" y="4141597"/>
                </a:lnTo>
                <a:lnTo>
                  <a:pt x="7391146" y="0"/>
                </a:lnTo>
                <a:lnTo>
                  <a:pt x="0" y="0"/>
                </a:lnTo>
                <a:lnTo>
                  <a:pt x="0" y="4141597"/>
                </a:lnTo>
                <a:close/>
              </a:path>
            </a:pathLst>
          </a:custGeom>
          <a:ln w="12192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4117587" y="3823463"/>
            <a:ext cx="7712317" cy="902876"/>
          </a:xfrm>
        </p:spPr>
        <p:txBody>
          <a:bodyPr lIns="0" tIns="0" rIns="0" bIns="0"/>
          <a:lstStyle>
            <a:lvl1pPr>
              <a:defRPr sz="5867" b="0" i="0">
                <a:solidFill>
                  <a:srgbClr val="FF0000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17089" y="3228215"/>
            <a:ext cx="7643507" cy="477951"/>
          </a:xfrm>
        </p:spPr>
        <p:txBody>
          <a:bodyPr lIns="0" tIns="0" rIns="0" bIns="0"/>
          <a:lstStyle>
            <a:lvl1pPr>
              <a:defRPr sz="3106" b="0" i="0">
                <a:solidFill>
                  <a:schemeClr val="tx1"/>
                </a:solidFill>
                <a:latin typeface="Arial MT"/>
                <a:cs typeface="Arial MT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12/30/2025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4117587" y="3823463"/>
            <a:ext cx="7712317" cy="902876"/>
          </a:xfrm>
        </p:spPr>
        <p:txBody>
          <a:bodyPr lIns="0" tIns="0" rIns="0" bIns="0"/>
          <a:lstStyle>
            <a:lvl1pPr>
              <a:defRPr sz="5867" b="0" i="0">
                <a:solidFill>
                  <a:srgbClr val="FF0000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70560" y="2313434"/>
            <a:ext cx="5833872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906768" y="2313434"/>
            <a:ext cx="5833872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12/30/2025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" y="2209800"/>
            <a:ext cx="13411198" cy="5081016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105186" y="3901439"/>
            <a:ext cx="13306014" cy="789940"/>
          </a:xfrm>
          <a:custGeom>
            <a:avLst/>
            <a:gdLst/>
            <a:ahLst/>
            <a:cxnLst/>
            <a:rect l="l" t="t" r="r" b="b"/>
            <a:pathLst>
              <a:path w="7711440" h="789939">
                <a:moveTo>
                  <a:pt x="0" y="789431"/>
                </a:moveTo>
                <a:lnTo>
                  <a:pt x="7711440" y="789431"/>
                </a:lnTo>
                <a:lnTo>
                  <a:pt x="7711440" y="0"/>
                </a:lnTo>
                <a:lnTo>
                  <a:pt x="0" y="0"/>
                </a:lnTo>
                <a:lnTo>
                  <a:pt x="0" y="789431"/>
                </a:lnTo>
                <a:close/>
              </a:path>
            </a:pathLst>
          </a:custGeom>
          <a:ln w="12191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4117587" y="3823463"/>
            <a:ext cx="7712317" cy="902876"/>
          </a:xfrm>
        </p:spPr>
        <p:txBody>
          <a:bodyPr lIns="0" tIns="0" rIns="0" bIns="0"/>
          <a:lstStyle>
            <a:lvl1pPr>
              <a:defRPr sz="5867" b="0" i="0">
                <a:solidFill>
                  <a:srgbClr val="FF0000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12/30/2025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12/30/2025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4117587" y="3823463"/>
            <a:ext cx="7712317" cy="5232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400" b="0" i="0">
                <a:solidFill>
                  <a:srgbClr val="FF0000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17089" y="3228213"/>
            <a:ext cx="7643507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800" b="0" i="0">
                <a:solidFill>
                  <a:schemeClr val="tx1"/>
                </a:solidFill>
                <a:latin typeface="Arial MT"/>
                <a:cs typeface="Arial MT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559808" y="9354314"/>
            <a:ext cx="4291584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70560" y="9354314"/>
            <a:ext cx="3084576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12/30/2025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9656064" y="9354314"/>
            <a:ext cx="3084576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788842">
        <a:defRPr>
          <a:latin typeface="+mn-lt"/>
          <a:ea typeface="+mn-ea"/>
          <a:cs typeface="+mn-cs"/>
        </a:defRPr>
      </a:lvl2pPr>
      <a:lvl3pPr marL="1577682">
        <a:defRPr>
          <a:latin typeface="+mn-lt"/>
          <a:ea typeface="+mn-ea"/>
          <a:cs typeface="+mn-cs"/>
        </a:defRPr>
      </a:lvl3pPr>
      <a:lvl4pPr marL="2366523">
        <a:defRPr>
          <a:latin typeface="+mn-lt"/>
          <a:ea typeface="+mn-ea"/>
          <a:cs typeface="+mn-cs"/>
        </a:defRPr>
      </a:lvl4pPr>
      <a:lvl5pPr marL="3155365">
        <a:defRPr>
          <a:latin typeface="+mn-lt"/>
          <a:ea typeface="+mn-ea"/>
          <a:cs typeface="+mn-cs"/>
        </a:defRPr>
      </a:lvl5pPr>
      <a:lvl6pPr marL="3944207">
        <a:defRPr>
          <a:latin typeface="+mn-lt"/>
          <a:ea typeface="+mn-ea"/>
          <a:cs typeface="+mn-cs"/>
        </a:defRPr>
      </a:lvl6pPr>
      <a:lvl7pPr marL="4733048">
        <a:defRPr>
          <a:latin typeface="+mn-lt"/>
          <a:ea typeface="+mn-ea"/>
          <a:cs typeface="+mn-cs"/>
        </a:defRPr>
      </a:lvl7pPr>
      <a:lvl8pPr marL="5521888">
        <a:defRPr>
          <a:latin typeface="+mn-lt"/>
          <a:ea typeface="+mn-ea"/>
          <a:cs typeface="+mn-cs"/>
        </a:defRPr>
      </a:lvl8pPr>
      <a:lvl9pPr marL="631073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788842">
        <a:defRPr>
          <a:latin typeface="+mn-lt"/>
          <a:ea typeface="+mn-ea"/>
          <a:cs typeface="+mn-cs"/>
        </a:defRPr>
      </a:lvl2pPr>
      <a:lvl3pPr marL="1577682">
        <a:defRPr>
          <a:latin typeface="+mn-lt"/>
          <a:ea typeface="+mn-ea"/>
          <a:cs typeface="+mn-cs"/>
        </a:defRPr>
      </a:lvl3pPr>
      <a:lvl4pPr marL="2366523">
        <a:defRPr>
          <a:latin typeface="+mn-lt"/>
          <a:ea typeface="+mn-ea"/>
          <a:cs typeface="+mn-cs"/>
        </a:defRPr>
      </a:lvl4pPr>
      <a:lvl5pPr marL="3155365">
        <a:defRPr>
          <a:latin typeface="+mn-lt"/>
          <a:ea typeface="+mn-ea"/>
          <a:cs typeface="+mn-cs"/>
        </a:defRPr>
      </a:lvl5pPr>
      <a:lvl6pPr marL="3944207">
        <a:defRPr>
          <a:latin typeface="+mn-lt"/>
          <a:ea typeface="+mn-ea"/>
          <a:cs typeface="+mn-cs"/>
        </a:defRPr>
      </a:lvl6pPr>
      <a:lvl7pPr marL="4733048">
        <a:defRPr>
          <a:latin typeface="+mn-lt"/>
          <a:ea typeface="+mn-ea"/>
          <a:cs typeface="+mn-cs"/>
        </a:defRPr>
      </a:lvl7pPr>
      <a:lvl8pPr marL="5521888">
        <a:defRPr>
          <a:latin typeface="+mn-lt"/>
          <a:ea typeface="+mn-ea"/>
          <a:cs typeface="+mn-cs"/>
        </a:defRPr>
      </a:lvl8pPr>
      <a:lvl9pPr marL="631073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58EB70-F102-BAB5-31FD-19FC3742A4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object 46">
            <a:extLst>
              <a:ext uri="{FF2B5EF4-FFF2-40B4-BE49-F238E27FC236}">
                <a16:creationId xmlns:a16="http://schemas.microsoft.com/office/drawing/2014/main" id="{1FBE4D91-85C7-0256-4A79-65056ECD04F4}"/>
              </a:ext>
            </a:extLst>
          </p:cNvPr>
          <p:cNvSpPr txBox="1">
            <a:spLocks noGrp="1"/>
          </p:cNvSpPr>
          <p:nvPr>
            <p:ph type="sldNum" sz="quarter" idx="7"/>
          </p:nvPr>
        </p:nvSpPr>
        <p:spPr>
          <a:xfrm>
            <a:off x="22501110" y="12821186"/>
            <a:ext cx="518023" cy="294953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5742">
              <a:lnSpc>
                <a:spcPts val="2260"/>
              </a:lnSpc>
            </a:pPr>
            <a:fld id="{81D60167-4931-47E6-BA6A-407CBD079E47}" type="slidenum">
              <a:rPr spc="-86" dirty="0"/>
              <a:pPr marL="65742">
                <a:lnSpc>
                  <a:spcPts val="2260"/>
                </a:lnSpc>
              </a:pPr>
              <a:t>1</a:t>
            </a:fld>
            <a:endParaRPr spc="-86" dirty="0"/>
          </a:p>
        </p:txBody>
      </p:sp>
      <p:pic>
        <p:nvPicPr>
          <p:cNvPr id="47" name="object 25">
            <a:extLst>
              <a:ext uri="{FF2B5EF4-FFF2-40B4-BE49-F238E27FC236}">
                <a16:creationId xmlns:a16="http://schemas.microsoft.com/office/drawing/2014/main" id="{98B72FCF-C42A-5F3E-FCAD-5FE306171E0D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" b="17"/>
          <a:stretch/>
        </p:blipFill>
        <p:spPr>
          <a:xfrm>
            <a:off x="1" y="457200"/>
            <a:ext cx="13411199" cy="9021482"/>
          </a:xfrm>
          <a:prstGeom prst="rect">
            <a:avLst/>
          </a:prstGeom>
        </p:spPr>
      </p:pic>
      <p:sp>
        <p:nvSpPr>
          <p:cNvPr id="3" name="object 30">
            <a:extLst>
              <a:ext uri="{FF2B5EF4-FFF2-40B4-BE49-F238E27FC236}">
                <a16:creationId xmlns:a16="http://schemas.microsoft.com/office/drawing/2014/main" id="{B85DEC78-C825-AA3F-520D-C936B7F83D23}"/>
              </a:ext>
            </a:extLst>
          </p:cNvPr>
          <p:cNvSpPr txBox="1"/>
          <p:nvPr/>
        </p:nvSpPr>
        <p:spPr>
          <a:xfrm>
            <a:off x="0" y="3402211"/>
            <a:ext cx="12725400" cy="2769989"/>
          </a:xfrm>
          <a:prstGeom prst="rect">
            <a:avLst/>
          </a:prstGeom>
          <a:ln w="12953">
            <a:noFill/>
          </a:ln>
        </p:spPr>
        <p:txBody>
          <a:bodyPr vert="horz" wrap="square" lIns="0" tIns="0" rIns="0" bIns="0" rtlCol="0">
            <a:spAutoFit/>
          </a:bodyPr>
          <a:lstStyle/>
          <a:p>
            <a:pPr marL="2089760" algn="ctr">
              <a:spcBef>
                <a:spcPts val="505"/>
              </a:spcBef>
            </a:pPr>
            <a:r>
              <a:rPr lang="en-GB" sz="6000" b="1" dirty="0">
                <a:solidFill>
                  <a:srgbClr val="FFCE53"/>
                </a:solidFill>
                <a:latin typeface="Comic Sans MS"/>
              </a:rPr>
              <a:t>The importance of programming and the importance of learning it</a:t>
            </a:r>
          </a:p>
        </p:txBody>
      </p:sp>
    </p:spTree>
    <p:extLst>
      <p:ext uri="{BB962C8B-B14F-4D97-AF65-F5344CB8AC3E}">
        <p14:creationId xmlns:p14="http://schemas.microsoft.com/office/powerpoint/2010/main" val="36947725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-10957" y="645359"/>
            <a:ext cx="13422157" cy="8767682"/>
            <a:chOff x="0" y="2209800"/>
            <a:chExt cx="7778750" cy="508127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2209800"/>
              <a:ext cx="7772399" cy="5081016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60960" y="3901439"/>
              <a:ext cx="7711440" cy="1264920"/>
            </a:xfrm>
            <a:custGeom>
              <a:avLst/>
              <a:gdLst/>
              <a:ahLst/>
              <a:cxnLst/>
              <a:rect l="l" t="t" r="r" b="b"/>
              <a:pathLst>
                <a:path w="7711440" h="1264920">
                  <a:moveTo>
                    <a:pt x="0" y="1264919"/>
                  </a:moveTo>
                  <a:lnTo>
                    <a:pt x="7711440" y="1264919"/>
                  </a:lnTo>
                  <a:lnTo>
                    <a:pt x="7711440" y="0"/>
                  </a:lnTo>
                  <a:lnTo>
                    <a:pt x="0" y="0"/>
                  </a:lnTo>
                  <a:lnTo>
                    <a:pt x="0" y="1264919"/>
                  </a:lnTo>
                  <a:close/>
                </a:path>
              </a:pathLst>
            </a:custGeom>
            <a:ln w="1219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/>
          <p:nvPr/>
        </p:nvSpPr>
        <p:spPr>
          <a:xfrm>
            <a:off x="13091697" y="12746337"/>
            <a:ext cx="182980" cy="352972"/>
          </a:xfrm>
          <a:prstGeom prst="rect">
            <a:avLst/>
          </a:prstGeom>
        </p:spPr>
        <p:txBody>
          <a:bodyPr vert="horz" wrap="square" lIns="0" tIns="20818" rIns="0" bIns="0" rtlCol="0">
            <a:spAutoFit/>
          </a:bodyPr>
          <a:lstStyle/>
          <a:p>
            <a:pPr marL="21914">
              <a:spcBef>
                <a:spcPts val="164"/>
              </a:spcBef>
            </a:pPr>
            <a:r>
              <a:rPr sz="2157" spc="-86" dirty="0">
                <a:latin typeface="Calibri"/>
                <a:cs typeface="Calibri"/>
              </a:rPr>
              <a:t>2</a:t>
            </a:r>
            <a:endParaRPr sz="2157">
              <a:latin typeface="Calibri"/>
              <a:cs typeface="Calibri"/>
            </a:endParaRPr>
          </a:p>
        </p:txBody>
      </p:sp>
      <p:sp>
        <p:nvSpPr>
          <p:cNvPr id="9" name="object 30">
            <a:extLst>
              <a:ext uri="{FF2B5EF4-FFF2-40B4-BE49-F238E27FC236}">
                <a16:creationId xmlns:a16="http://schemas.microsoft.com/office/drawing/2014/main" id="{3AA9CB0E-53FA-ACBF-E593-FD91CDBB5BFF}"/>
              </a:ext>
            </a:extLst>
          </p:cNvPr>
          <p:cNvSpPr txBox="1"/>
          <p:nvPr/>
        </p:nvSpPr>
        <p:spPr>
          <a:xfrm>
            <a:off x="106432" y="3810174"/>
            <a:ext cx="13304768" cy="1295226"/>
          </a:xfrm>
          <a:prstGeom prst="rect">
            <a:avLst/>
          </a:prstGeom>
          <a:ln w="12953">
            <a:noFill/>
          </a:ln>
        </p:spPr>
        <p:txBody>
          <a:bodyPr vert="horz" wrap="square" lIns="0" tIns="0" rIns="0" bIns="0" rtlCol="0">
            <a:spAutoFit/>
          </a:bodyPr>
          <a:lstStyle/>
          <a:p>
            <a:pPr marL="2089760" algn="ctr">
              <a:spcBef>
                <a:spcPts val="505"/>
              </a:spcBef>
            </a:pPr>
            <a:r>
              <a:rPr lang="en-GB" sz="4000" b="1" dirty="0">
                <a:solidFill>
                  <a:srgbClr val="FFCE53"/>
                </a:solidFill>
                <a:latin typeface="Comic Sans MS"/>
                <a:cs typeface="Comic Sans MS"/>
              </a:rPr>
              <a:t>The importance of programming </a:t>
            </a:r>
          </a:p>
          <a:p>
            <a:pPr marL="2089760" algn="ctr">
              <a:spcBef>
                <a:spcPts val="505"/>
              </a:spcBef>
            </a:pPr>
            <a:r>
              <a:rPr lang="en-GB" sz="4000" b="1" dirty="0">
                <a:solidFill>
                  <a:srgbClr val="FFCE53"/>
                </a:solidFill>
                <a:latin typeface="Comic Sans MS"/>
                <a:cs typeface="Comic Sans MS"/>
              </a:rPr>
              <a:t>and the importance of learning it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03266C84-96DF-4E4E-6F8B-91A05446CA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>
            <a:extLst>
              <a:ext uri="{FF2B5EF4-FFF2-40B4-BE49-F238E27FC236}">
                <a16:creationId xmlns:a16="http://schemas.microsoft.com/office/drawing/2014/main" id="{DFC5D9C1-B6BF-65E1-D3D6-95868F3F585A}"/>
              </a:ext>
            </a:extLst>
          </p:cNvPr>
          <p:cNvSpPr txBox="1"/>
          <p:nvPr/>
        </p:nvSpPr>
        <p:spPr>
          <a:xfrm>
            <a:off x="381000" y="888075"/>
            <a:ext cx="12352767" cy="6557753"/>
          </a:xfrm>
          <a:prstGeom prst="rect">
            <a:avLst/>
          </a:prstGeom>
        </p:spPr>
        <p:txBody>
          <a:bodyPr vert="horz" wrap="square" lIns="0" tIns="154492" rIns="0" bIns="0" rtlCol="0">
            <a:spAutoFit/>
          </a:bodyPr>
          <a:lstStyle/>
          <a:p>
            <a:r>
              <a:rPr lang="en-GB" sz="4000" b="1" dirty="0">
                <a:latin typeface="Comic Sans MS" panose="030F0702030302020204" pitchFamily="66" charset="0"/>
              </a:rPr>
              <a:t>The importance of programming and the importance of learning it</a:t>
            </a:r>
          </a:p>
          <a:p>
            <a:endParaRPr lang="en-GB" sz="2400" b="1" spc="-17" dirty="0">
              <a:solidFill>
                <a:schemeClr val="tx1"/>
              </a:solidFill>
              <a:latin typeface="Comic Sans MS" panose="030F0702030302020204" pitchFamily="66" charset="0"/>
              <a:cs typeface="Comic Sans MS"/>
            </a:endParaRPr>
          </a:p>
          <a:p>
            <a:r>
              <a:rPr lang="en-GB" sz="2400" spc="-17" dirty="0">
                <a:solidFill>
                  <a:schemeClr val="tx1"/>
                </a:solidFill>
                <a:latin typeface="Comic Sans MS" panose="030F0702030302020204" pitchFamily="66" charset="0"/>
                <a:cs typeface="Comic Sans MS"/>
              </a:rPr>
              <a:t>1️⃣ The Importance of Learning Programming the Right Way</a:t>
            </a:r>
          </a:p>
          <a:p>
            <a:r>
              <a:rPr lang="en-GB" sz="2400" spc="-17" dirty="0">
                <a:solidFill>
                  <a:schemeClr val="tx1"/>
                </a:solidFill>
                <a:latin typeface="Comic Sans MS" panose="030F0702030302020204" pitchFamily="66" charset="0"/>
                <a:cs typeface="Comic Sans MS"/>
              </a:rPr>
              <a:t>	🟩 Main Concept: Programming is one of the highest-paying professions and 			requires proper study and progression.</a:t>
            </a:r>
          </a:p>
          <a:p>
            <a:r>
              <a:rPr lang="en-GB" sz="2400" spc="-17" dirty="0">
                <a:solidFill>
                  <a:schemeClr val="tx1"/>
                </a:solidFill>
                <a:latin typeface="Comic Sans MS" panose="030F0702030302020204" pitchFamily="66" charset="0"/>
                <a:cs typeface="Comic Sans MS"/>
              </a:rPr>
              <a:t>	🟩 Key point: You can't expect to reach a professional level in just a few months.</a:t>
            </a:r>
          </a:p>
          <a:p>
            <a:r>
              <a:rPr lang="en-GB" sz="2400" spc="-17" dirty="0">
                <a:solidFill>
                  <a:schemeClr val="tx1"/>
                </a:solidFill>
                <a:latin typeface="Comic Sans MS" panose="030F0702030302020204" pitchFamily="66" charset="0"/>
                <a:cs typeface="Comic Sans MS"/>
              </a:rPr>
              <a:t>	💡 Example : A doctor studies for nine years to earn a high salary, and the same 	goes for engineers and lawyers.</a:t>
            </a:r>
          </a:p>
          <a:p>
            <a:r>
              <a:rPr lang="en-GB" sz="2400" spc="-17" dirty="0">
                <a:solidFill>
                  <a:schemeClr val="tx1"/>
                </a:solidFill>
                <a:latin typeface="Comic Sans MS" panose="030F0702030302020204" pitchFamily="66" charset="0"/>
                <a:cs typeface="Comic Sans MS"/>
              </a:rPr>
              <a:t>2️⃣ Why People Fail to Learn Programming</a:t>
            </a:r>
          </a:p>
          <a:p>
            <a:r>
              <a:rPr lang="en-GB" sz="2400" spc="-17" dirty="0">
                <a:solidFill>
                  <a:schemeClr val="tx1"/>
                </a:solidFill>
                <a:latin typeface="Comic Sans MS" panose="030F0702030302020204" pitchFamily="66" charset="0"/>
                <a:cs typeface="Comic Sans MS"/>
              </a:rPr>
              <a:t>	🟩 Main Concept: Lack of a Progressive and Interconnected Programming 			Learning Methodology</a:t>
            </a:r>
          </a:p>
          <a:p>
            <a:r>
              <a:rPr lang="en-GB" sz="2400" spc="-17" dirty="0">
                <a:solidFill>
                  <a:schemeClr val="tx1"/>
                </a:solidFill>
                <a:latin typeface="Comic Sans MS" panose="030F0702030302020204" pitchFamily="66" charset="0"/>
                <a:cs typeface="Comic Sans MS"/>
              </a:rPr>
              <a:t>	🟩 Key Point: Most courses focus on a specific language or single skill without 			building a foundation.</a:t>
            </a:r>
          </a:p>
          <a:p>
            <a:r>
              <a:rPr lang="en-GB" sz="2400" spc="-17" dirty="0">
                <a:solidFill>
                  <a:schemeClr val="tx1"/>
                </a:solidFill>
                <a:latin typeface="Comic Sans MS" panose="030F0702030302020204" pitchFamily="66" charset="0"/>
                <a:cs typeface="Comic Sans MS"/>
              </a:rPr>
              <a:t>	💡 Example : : A student starts programming directly with advanced techniques 		and skips the basics, becoming a limited programmer.</a:t>
            </a:r>
          </a:p>
        </p:txBody>
      </p:sp>
    </p:spTree>
    <p:extLst>
      <p:ext uri="{BB962C8B-B14F-4D97-AF65-F5344CB8AC3E}">
        <p14:creationId xmlns:p14="http://schemas.microsoft.com/office/powerpoint/2010/main" val="40466650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68334D91-D606-E7DE-7A5D-DA629F399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>
            <a:extLst>
              <a:ext uri="{FF2B5EF4-FFF2-40B4-BE49-F238E27FC236}">
                <a16:creationId xmlns:a16="http://schemas.microsoft.com/office/drawing/2014/main" id="{F84FC38A-9693-E28B-501B-9EA2937EBD10}"/>
              </a:ext>
            </a:extLst>
          </p:cNvPr>
          <p:cNvSpPr txBox="1"/>
          <p:nvPr/>
        </p:nvSpPr>
        <p:spPr>
          <a:xfrm>
            <a:off x="381000" y="888075"/>
            <a:ext cx="12352767" cy="9019966"/>
          </a:xfrm>
          <a:prstGeom prst="rect">
            <a:avLst/>
          </a:prstGeom>
        </p:spPr>
        <p:txBody>
          <a:bodyPr vert="horz" wrap="square" lIns="0" tIns="154492" rIns="0" bIns="0" rtlCol="0">
            <a:spAutoFit/>
          </a:bodyPr>
          <a:lstStyle/>
          <a:p>
            <a:r>
              <a:rPr lang="en-GB" sz="2400" spc="-17" dirty="0">
                <a:solidFill>
                  <a:schemeClr val="tx1"/>
                </a:solidFill>
                <a:latin typeface="Comic Sans MS" panose="030F0702030302020204" pitchFamily="66" charset="0"/>
                <a:cs typeface="Comic Sans MS"/>
              </a:rPr>
              <a:t>3️⃣ Foundations of Learning Programming</a:t>
            </a:r>
          </a:p>
          <a:p>
            <a:r>
              <a:rPr lang="en-GB" sz="2400" spc="-17" dirty="0">
                <a:solidFill>
                  <a:schemeClr val="tx1"/>
                </a:solidFill>
                <a:latin typeface="Comic Sans MS" panose="030F0702030302020204" pitchFamily="66" charset="0"/>
                <a:cs typeface="Comic Sans MS"/>
              </a:rPr>
              <a:t>	🟩 Definition: Any profession requires a solid foundation, and programming is no 		exception.</a:t>
            </a:r>
          </a:p>
          <a:p>
            <a:r>
              <a:rPr lang="en-GB" sz="2400" spc="-17" dirty="0">
                <a:solidFill>
                  <a:schemeClr val="tx1"/>
                </a:solidFill>
                <a:latin typeface="Comic Sans MS" panose="030F0702030302020204" pitchFamily="66" charset="0"/>
                <a:cs typeface="Comic Sans MS"/>
              </a:rPr>
              <a:t>	🟩 Main Concept: Learning programming requires time, effort, and a gradual 			approach.</a:t>
            </a:r>
          </a:p>
          <a:p>
            <a:r>
              <a:rPr lang="en-GB" sz="2400" spc="-17" dirty="0">
                <a:solidFill>
                  <a:schemeClr val="tx1"/>
                </a:solidFill>
                <a:latin typeface="Comic Sans MS" panose="030F0702030302020204" pitchFamily="66" charset="0"/>
                <a:cs typeface="Comic Sans MS"/>
              </a:rPr>
              <a:t>	🟩 Key Point: Focus on developing analytical and problem-solving skills before 			learning programming languages. </a:t>
            </a:r>
          </a:p>
          <a:p>
            <a:r>
              <a:rPr lang="en-GB" sz="2400" spc="-17" dirty="0">
                <a:solidFill>
                  <a:schemeClr val="tx1"/>
                </a:solidFill>
                <a:latin typeface="Comic Sans MS" panose="030F0702030302020204" pitchFamily="66" charset="0"/>
                <a:cs typeface="Comic Sans MS"/>
              </a:rPr>
              <a:t>	💡 Example : : Solve addition and subtraction problems on paper before moving 		on to differential and integral calculus.</a:t>
            </a:r>
          </a:p>
          <a:p>
            <a:r>
              <a:rPr lang="en-GB" sz="2400" spc="-17" dirty="0">
                <a:solidFill>
                  <a:schemeClr val="tx1"/>
                </a:solidFill>
                <a:latin typeface="Comic Sans MS" panose="030F0702030302020204" pitchFamily="66" charset="0"/>
                <a:cs typeface="Comic Sans MS"/>
              </a:rPr>
              <a:t>4️⃣ Roadmap for Learning Programming</a:t>
            </a:r>
          </a:p>
          <a:p>
            <a:r>
              <a:rPr lang="en-GB" sz="2400" spc="-17" dirty="0">
                <a:solidFill>
                  <a:schemeClr val="tx1"/>
                </a:solidFill>
                <a:latin typeface="Comic Sans MS" panose="030F0702030302020204" pitchFamily="66" charset="0"/>
                <a:cs typeface="Comic Sans MS"/>
              </a:rPr>
              <a:t>	🟩 Definition: A roadmap consists of progressive and interconnected courses, 		starting with the fundamentals and culminating in specialization.</a:t>
            </a:r>
          </a:p>
          <a:p>
            <a:r>
              <a:rPr lang="en-GB" sz="2400" spc="-17" dirty="0">
                <a:solidFill>
                  <a:schemeClr val="tx1"/>
                </a:solidFill>
                <a:latin typeface="Comic Sans MS" panose="030F0702030302020204" pitchFamily="66" charset="0"/>
                <a:cs typeface="Comic Sans MS"/>
              </a:rPr>
              <a:t>	🟩 Main Concept:</a:t>
            </a:r>
          </a:p>
          <a:p>
            <a:r>
              <a:rPr lang="en-GB" sz="2400" spc="-17" dirty="0">
                <a:solidFill>
                  <a:schemeClr val="tx1"/>
                </a:solidFill>
                <a:latin typeface="Comic Sans MS" panose="030F0702030302020204" pitchFamily="66" charset="0"/>
                <a:cs typeface="Comic Sans MS"/>
              </a:rPr>
              <a:t>	1️⃣ Blue Section: General Foundations of Programming	</a:t>
            </a:r>
          </a:p>
          <a:p>
            <a:r>
              <a:rPr lang="en-GB" sz="2400" spc="-17" dirty="0">
                <a:solidFill>
                  <a:schemeClr val="tx1"/>
                </a:solidFill>
                <a:latin typeface="Comic Sans MS" panose="030F0702030302020204" pitchFamily="66" charset="0"/>
                <a:cs typeface="Comic Sans MS"/>
              </a:rPr>
              <a:t>		🟨 Learning Computer Science from Scratch</a:t>
            </a:r>
          </a:p>
          <a:p>
            <a:r>
              <a:rPr lang="en-GB" sz="2400" spc="-17" dirty="0">
                <a:solidFill>
                  <a:schemeClr val="tx1"/>
                </a:solidFill>
                <a:latin typeface="Comic Sans MS" panose="030F0702030302020204" pitchFamily="66" charset="0"/>
                <a:cs typeface="Comic Sans MS"/>
              </a:rPr>
              <a:t>		🟨 Developing Analytical and Logical Thinking</a:t>
            </a:r>
          </a:p>
          <a:p>
            <a:r>
              <a:rPr lang="en-GB" sz="2400" spc="-17" dirty="0">
                <a:solidFill>
                  <a:schemeClr val="tx1"/>
                </a:solidFill>
                <a:latin typeface="Comic Sans MS" panose="030F0702030302020204" pitchFamily="66" charset="0"/>
                <a:cs typeface="Comic Sans MS"/>
              </a:rPr>
              <a:t>		🟨 Gradual Problem Solving (Divide and Conquer, LEGO Method)</a:t>
            </a:r>
          </a:p>
          <a:p>
            <a:r>
              <a:rPr lang="en-GB" sz="2400" spc="-17" dirty="0">
                <a:solidFill>
                  <a:schemeClr val="tx1"/>
                </a:solidFill>
                <a:latin typeface="Comic Sans MS" panose="030F0702030302020204" pitchFamily="66" charset="0"/>
                <a:cs typeface="Comic Sans MS"/>
              </a:rPr>
              <a:t>	 	🟨 Building Problem-Solving Skills Before Learning Languages</a:t>
            </a:r>
          </a:p>
          <a:p>
            <a:r>
              <a:rPr lang="en-GB" sz="2400" spc="-17" dirty="0">
                <a:solidFill>
                  <a:schemeClr val="tx1"/>
                </a:solidFill>
                <a:latin typeface="Comic Sans MS" panose="030F0702030302020204" pitchFamily="66" charset="0"/>
                <a:cs typeface="Comic Sans MS"/>
              </a:rPr>
              <a:t>	 2️⃣ Yellow Section: Beginning Specialization</a:t>
            </a:r>
          </a:p>
          <a:p>
            <a:r>
              <a:rPr lang="en-GB" sz="2400" spc="-17" dirty="0">
                <a:solidFill>
                  <a:schemeClr val="tx1"/>
                </a:solidFill>
                <a:latin typeface="Comic Sans MS" panose="030F0702030302020204" pitchFamily="66" charset="0"/>
                <a:cs typeface="Comic Sans MS"/>
              </a:rPr>
              <a:t>		🟨 Specializes in various fields such as web, mobile, or backend 					development.</a:t>
            </a:r>
          </a:p>
          <a:p>
            <a:r>
              <a:rPr lang="en-GB" sz="2400" spc="-17" dirty="0">
                <a:solidFill>
                  <a:schemeClr val="tx1"/>
                </a:solidFill>
                <a:latin typeface="Comic Sans MS" panose="030F0702030302020204" pitchFamily="66" charset="0"/>
                <a:cs typeface="Comic Sans MS"/>
              </a:rPr>
              <a:t>		🟨 Intersects with most other specializations.</a:t>
            </a:r>
          </a:p>
          <a:p>
            <a:r>
              <a:rPr lang="en-GB" sz="2400" spc="-17" dirty="0">
                <a:solidFill>
                  <a:schemeClr val="tx1"/>
                </a:solidFill>
                <a:latin typeface="Comic Sans MS" panose="030F0702030302020204" pitchFamily="66" charset="0"/>
                <a:cs typeface="Comic Sans MS"/>
              </a:rPr>
              <a:t>		💡 Example : After completing course 13, you can begin C# and database 			courses simultaneously.</a:t>
            </a:r>
          </a:p>
        </p:txBody>
      </p:sp>
    </p:spTree>
    <p:extLst>
      <p:ext uri="{BB962C8B-B14F-4D97-AF65-F5344CB8AC3E}">
        <p14:creationId xmlns:p14="http://schemas.microsoft.com/office/powerpoint/2010/main" val="32696358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9DD0199E-F430-922A-F2B7-088E3C41F8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>
            <a:extLst>
              <a:ext uri="{FF2B5EF4-FFF2-40B4-BE49-F238E27FC236}">
                <a16:creationId xmlns:a16="http://schemas.microsoft.com/office/drawing/2014/main" id="{98CCE4FA-836B-6AE2-481D-4F973FF4E2ED}"/>
              </a:ext>
            </a:extLst>
          </p:cNvPr>
          <p:cNvSpPr txBox="1"/>
          <p:nvPr/>
        </p:nvSpPr>
        <p:spPr>
          <a:xfrm>
            <a:off x="381000" y="888075"/>
            <a:ext cx="12352767" cy="6803974"/>
          </a:xfrm>
          <a:prstGeom prst="rect">
            <a:avLst/>
          </a:prstGeom>
        </p:spPr>
        <p:txBody>
          <a:bodyPr vert="horz" wrap="square" lIns="0" tIns="154492" rIns="0" bIns="0" rtlCol="0">
            <a:spAutoFit/>
          </a:bodyPr>
          <a:lstStyle/>
          <a:p>
            <a:endParaRPr lang="en-GB" sz="2400" spc="-17" dirty="0">
              <a:solidFill>
                <a:schemeClr val="tx1"/>
              </a:solidFill>
              <a:latin typeface="Comic Sans MS" panose="030F0702030302020204" pitchFamily="66" charset="0"/>
              <a:cs typeface="Comic Sans MS"/>
            </a:endParaRPr>
          </a:p>
          <a:p>
            <a:r>
              <a:rPr lang="en-GB" sz="2400" spc="-17" dirty="0">
                <a:solidFill>
                  <a:schemeClr val="tx1"/>
                </a:solidFill>
                <a:latin typeface="Comic Sans MS" panose="030F0702030302020204" pitchFamily="66" charset="0"/>
                <a:cs typeface="Comic Sans MS"/>
              </a:rPr>
              <a:t>5️⃣ Sequence of Learning Languages ​​and Tools</a:t>
            </a:r>
          </a:p>
          <a:p>
            <a:r>
              <a:rPr lang="en-GB" sz="2400" spc="-17" dirty="0">
                <a:solidFill>
                  <a:schemeClr val="tx1"/>
                </a:solidFill>
                <a:latin typeface="Comic Sans MS" panose="030F0702030302020204" pitchFamily="66" charset="0"/>
                <a:cs typeface="Comic Sans MS"/>
              </a:rPr>
              <a:t>	🟩Main Concept: Learning programming is not limited to one language, but 			rather focuses on the principles of problem-solving and logical thinking.</a:t>
            </a:r>
          </a:p>
          <a:p>
            <a:r>
              <a:rPr lang="en-GB" sz="2400" spc="-17" dirty="0">
                <a:solidFill>
                  <a:schemeClr val="tx1"/>
                </a:solidFill>
                <a:latin typeface="Comic Sans MS" panose="030F0702030302020204" pitchFamily="66" charset="0"/>
                <a:cs typeface="Comic Sans MS"/>
              </a:rPr>
              <a:t>	🟩 Key Point: Start with C++ because it requires learning fundamental concepts. 	🟩 Later, move on to C# to develop web and mobile applications.</a:t>
            </a:r>
          </a:p>
          <a:p>
            <a:r>
              <a:rPr lang="en-GB" sz="2400" spc="-17" dirty="0">
                <a:solidFill>
                  <a:schemeClr val="tx1"/>
                </a:solidFill>
                <a:latin typeface="Comic Sans MS" panose="030F0702030302020204" pitchFamily="66" charset="0"/>
                <a:cs typeface="Comic Sans MS"/>
              </a:rPr>
              <a:t>	💡 Example: Courses include small projects that gradually increase in difficulty, 		with an emphasis on applying practical experience.</a:t>
            </a:r>
          </a:p>
          <a:p>
            <a:r>
              <a:rPr lang="en-GB" sz="2400" spc="-17" dirty="0">
                <a:solidFill>
                  <a:schemeClr val="tx1"/>
                </a:solidFill>
                <a:latin typeface="Comic Sans MS" panose="030F0702030302020204" pitchFamily="66" charset="0"/>
                <a:cs typeface="Comic Sans MS"/>
              </a:rPr>
              <a:t>6️⃣ Practical vs. Theoretical Learning</a:t>
            </a:r>
          </a:p>
          <a:p>
            <a:r>
              <a:rPr lang="en-GB" sz="2400" spc="-17" dirty="0">
                <a:solidFill>
                  <a:schemeClr val="tx1"/>
                </a:solidFill>
                <a:latin typeface="Comic Sans MS" panose="030F0702030302020204" pitchFamily="66" charset="0"/>
                <a:cs typeface="Comic Sans MS"/>
              </a:rPr>
              <a:t>	🟩 Definition: Programming is an applied profession, not a theoretical one.</a:t>
            </a:r>
          </a:p>
          <a:p>
            <a:r>
              <a:rPr lang="en-GB" sz="2400" spc="-17" dirty="0">
                <a:solidFill>
                  <a:schemeClr val="tx1"/>
                </a:solidFill>
                <a:latin typeface="Comic Sans MS" panose="030F0702030302020204" pitchFamily="66" charset="0"/>
                <a:cs typeface="Comic Sans MS"/>
              </a:rPr>
              <a:t>	💡 Example : Remote logic exercises focus on the applied solution, not just 			observing the code.</a:t>
            </a:r>
          </a:p>
          <a:p>
            <a:r>
              <a:rPr lang="en-GB" sz="2400" spc="-17" dirty="0">
                <a:solidFill>
                  <a:schemeClr val="tx1"/>
                </a:solidFill>
                <a:latin typeface="Comic Sans MS" panose="030F0702030302020204" pitchFamily="66" charset="0"/>
                <a:cs typeface="Comic Sans MS"/>
              </a:rPr>
              <a:t>7️⃣ Tips for Success in Learning Programming</a:t>
            </a:r>
          </a:p>
          <a:p>
            <a:r>
              <a:rPr lang="en-GB" sz="2400" spc="-17" dirty="0">
                <a:solidFill>
                  <a:schemeClr val="tx1"/>
                </a:solidFill>
                <a:latin typeface="Comic Sans MS" panose="030F0702030302020204" pitchFamily="66" charset="0"/>
                <a:cs typeface="Comic Sans MS"/>
              </a:rPr>
              <a:t>	🟩 Main Concept: Gradual progress and patience are the keys to success.</a:t>
            </a:r>
          </a:p>
          <a:p>
            <a:r>
              <a:rPr lang="en-GB" sz="2400" spc="-17" dirty="0">
                <a:solidFill>
                  <a:schemeClr val="tx1"/>
                </a:solidFill>
                <a:latin typeface="Comic Sans MS" panose="030F0702030302020204" pitchFamily="66" charset="0"/>
                <a:cs typeface="Comic Sans MS"/>
              </a:rPr>
              <a:t>	🟩 Key Point: Don't believe advertisements promising to learn programming in 		months and earn a high salary immediately. </a:t>
            </a:r>
          </a:p>
          <a:p>
            <a:r>
              <a:rPr lang="en-GB" sz="2400" spc="-17" dirty="0">
                <a:solidFill>
                  <a:schemeClr val="tx1"/>
                </a:solidFill>
                <a:latin typeface="Comic Sans MS" panose="030F0702030302020204" pitchFamily="66" charset="0"/>
                <a:cs typeface="Comic Sans MS"/>
              </a:rPr>
              <a:t>	💡 Example : Completing courses in order accelerates the learning of advanced 		skills later on and makes any new language easier to learn.</a:t>
            </a:r>
          </a:p>
        </p:txBody>
      </p:sp>
    </p:spTree>
    <p:extLst>
      <p:ext uri="{BB962C8B-B14F-4D97-AF65-F5344CB8AC3E}">
        <p14:creationId xmlns:p14="http://schemas.microsoft.com/office/powerpoint/2010/main" val="39164744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89437448-96B9-E9B7-9E55-EA23035101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862" y="29308"/>
            <a:ext cx="13386948" cy="100290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28284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44A67A5D-627C-0F98-41B1-39B12A49CD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609600"/>
            <a:ext cx="13437370" cy="883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62162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00C985-45BF-D625-B127-8108457FDB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4">
            <a:extLst>
              <a:ext uri="{FF2B5EF4-FFF2-40B4-BE49-F238E27FC236}">
                <a16:creationId xmlns:a16="http://schemas.microsoft.com/office/drawing/2014/main" id="{2DD6DF42-8147-ACB0-9155-6AB216D32B4F}"/>
              </a:ext>
            </a:extLst>
          </p:cNvPr>
          <p:cNvSpPr txBox="1">
            <a:spLocks/>
          </p:cNvSpPr>
          <p:nvPr/>
        </p:nvSpPr>
        <p:spPr>
          <a:xfrm>
            <a:off x="0" y="4712874"/>
            <a:ext cx="13411200" cy="632652"/>
          </a:xfrm>
          <a:prstGeom prst="rect">
            <a:avLst/>
          </a:prstGeom>
        </p:spPr>
        <p:txBody>
          <a:bodyPr vert="horz" wrap="square" lIns="0" tIns="16934" rIns="0" bIns="0" rtlCol="0">
            <a:spAutoFit/>
          </a:bodyPr>
          <a:lstStyle>
            <a:defPPr>
              <a:defRPr kern="0"/>
            </a:defPPr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6932" algn="ctr">
              <a:spcBef>
                <a:spcPts val="133"/>
              </a:spcBef>
            </a:pPr>
            <a:r>
              <a:rPr lang="sv-SE" sz="4000" b="1" spc="-17" dirty="0" err="1">
                <a:solidFill>
                  <a:srgbClr val="FF0000"/>
                </a:solidFill>
                <a:latin typeface="Comic Sans MS"/>
              </a:rPr>
              <a:t>Thank</a:t>
            </a:r>
            <a:r>
              <a:rPr lang="sv-SE" sz="4000" b="1" spc="-17" dirty="0">
                <a:solidFill>
                  <a:srgbClr val="FF0000"/>
                </a:solidFill>
                <a:latin typeface="Comic Sans MS"/>
              </a:rPr>
              <a:t> </a:t>
            </a:r>
            <a:r>
              <a:rPr lang="sv-SE" sz="4000" b="1" spc="-17" dirty="0" err="1">
                <a:solidFill>
                  <a:srgbClr val="FF0000"/>
                </a:solidFill>
                <a:latin typeface="Comic Sans MS"/>
              </a:rPr>
              <a:t>you</a:t>
            </a:r>
            <a:r>
              <a:rPr lang="sv-SE" sz="4000" spc="-21" dirty="0">
                <a:solidFill>
                  <a:srgbClr val="FF0000"/>
                </a:solidFill>
              </a:rPr>
              <a:t> </a:t>
            </a:r>
            <a:r>
              <a:rPr lang="sv-SE" sz="4000" spc="-67" dirty="0">
                <a:solidFill>
                  <a:srgbClr val="FF0000"/>
                </a:solidFill>
                <a:latin typeface="Wingdings"/>
                <a:cs typeface="Wingdings"/>
              </a:rPr>
              <a:t></a:t>
            </a:r>
            <a:endParaRPr lang="sv-SE" sz="4000" dirty="0">
              <a:solidFill>
                <a:srgbClr val="FF0000"/>
              </a:solidFill>
              <a:latin typeface="Wingdings"/>
              <a:cs typeface="Wingdings"/>
            </a:endParaRPr>
          </a:p>
        </p:txBody>
      </p:sp>
    </p:spTree>
    <p:extLst>
      <p:ext uri="{BB962C8B-B14F-4D97-AF65-F5344CB8AC3E}">
        <p14:creationId xmlns:p14="http://schemas.microsoft.com/office/powerpoint/2010/main" val="13031109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2916</TotalTime>
  <Words>624</Words>
  <Application>Microsoft Office PowerPoint</Application>
  <PresentationFormat>Custom</PresentationFormat>
  <Paragraphs>45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Arial MT</vt:lpstr>
      <vt:lpstr>Calibri</vt:lpstr>
      <vt:lpstr>Comic Sans MS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Sara Alterkawi</cp:lastModifiedBy>
  <cp:revision>201</cp:revision>
  <dcterms:created xsi:type="dcterms:W3CDTF">2025-12-09T17:44:59Z</dcterms:created>
  <dcterms:modified xsi:type="dcterms:W3CDTF">2025-12-30T21:40:15Z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2025-12-09T00:00:00Z</vt:filetime>
  </property>
  <property fmtid="{D5CDD505-2E9C-101B-9397-08002B2CF9AE}" pid="3" name="Creator">
    <vt:lpwstr>Microsoft® PowerPoint® 2016</vt:lpwstr>
  </property>
  <property fmtid="{D5CDD505-2E9C-101B-9397-08002B2CF9AE}" pid="4" name="LastSaved">
    <vt:filetime>2025-12-09T00:00:00Z</vt:filetime>
  </property>
  <property fmtid="{D5CDD505-2E9C-101B-9397-08002B2CF9AE}" pid="5" name="Producer">
    <vt:lpwstr>www.ilovepdf.com</vt:lpwstr>
  </property>
</Properties>
</file>