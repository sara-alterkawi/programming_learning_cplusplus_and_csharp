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5179374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808500665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0711292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454610063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979154228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265483592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7488713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0420646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218860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042649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2763036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638875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650235-5017-31DA-ADE7-2E5720A08C55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7539874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1796949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01193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655231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7060538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7699125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123550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9163337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399229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478163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9863990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817264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647351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1631614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2550867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169626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4381190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5475896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8F9459-2AB7-7A11-3614-6196561F7B41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061668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2219302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3360241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6612F-4D71-E8FE-73F2-51D32A4C3E49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177782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2196645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564092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989268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5413383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854348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3956141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60194724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82145828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28182568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00109366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9657480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49180479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06662702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29606053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021890007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424624812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1154279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341370439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499527667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414193264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64459426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982241276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44916080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47930552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07075279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51740997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19520697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357155364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77619263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33032806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535143533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0072168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5768568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791105470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66587647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2032335750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9094578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1746826919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1729056132" name="object 30"/>
          <p:cNvSpPr txBox="1"/>
          <p:nvPr/>
        </p:nvSpPr>
        <p:spPr bwMode="auto">
          <a:xfrm>
            <a:off x="0" y="1143000"/>
            <a:ext cx="13102947" cy="406613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</a:t>
            </a:r>
            <a:r>
              <a:rPr sz="6000" b="1">
                <a:solidFill>
                  <a:schemeClr val="bg1"/>
                </a:solidFill>
                <a:latin typeface="Comic Sans MS"/>
                <a:cs typeface="Comic Sans MS"/>
              </a:rPr>
              <a:t>3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0"/>
              </a:spcBef>
              <a:defRPr/>
            </a:pPr>
            <a:endParaRPr lang="sv-SE"/>
          </a:p>
          <a:p>
            <a:pPr marL="2786346" algn="ctr">
              <a:spcBef>
                <a:spcPts val="671"/>
              </a:spcBef>
              <a:defRPr/>
            </a:pP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Fibonacci Series with Recursion</a:t>
            </a:r>
            <a:endParaRPr lang="en-US" sz="6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759206459" name="object 2"/>
          <p:cNvGrpSpPr/>
          <p:nvPr/>
        </p:nvGrpSpPr>
        <p:grpSpPr bwMode="auto"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 bwMode="auto">
            <a:xfrm>
              <a:off x="60960" y="3901439"/>
              <a:ext cx="7711440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1514359469" name="object 8"/>
          <p:cNvSpPr txBox="1"/>
          <p:nvPr/>
        </p:nvSpPr>
        <p:spPr bwMode="auto"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3"/>
              </a:spcBef>
              <a:defRPr/>
            </a:pPr>
            <a:r>
              <a:rPr sz="2150" spc="-86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1734828874" name="object 30"/>
          <p:cNvSpPr txBox="1"/>
          <p:nvPr/>
        </p:nvSpPr>
        <p:spPr bwMode="auto">
          <a:xfrm flipH="0" flipV="0">
            <a:off x="106425" y="3084201"/>
            <a:ext cx="13272777" cy="175600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sv-SE" sz="2400" spc="-17">
                <a:solidFill>
                  <a:srgbClr val="FFFFFF"/>
                </a:solidFill>
                <a:latin typeface="Comic Sans MS"/>
                <a:cs typeface="Comic Sans MS"/>
              </a:rPr>
              <a:t>Level </a:t>
            </a:r>
            <a:r>
              <a:rPr sz="2400" spc="-16">
                <a:solidFill>
                  <a:srgbClr val="FFFFFF"/>
                </a:solidFill>
                <a:latin typeface="Comic Sans MS"/>
                <a:cs typeface="Comic Sans MS"/>
              </a:rPr>
              <a:t>3</a:t>
            </a:r>
            <a:endParaRPr/>
          </a:p>
          <a:p>
            <a:pPr marL="2786346" algn="ctr">
              <a:spcBef>
                <a:spcPts val="671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Fibonacci Series with Recursion</a:t>
            </a:r>
            <a:endParaRPr lang="en-US" sz="4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4438588" name="object 3"/>
          <p:cNvSpPr txBox="1"/>
          <p:nvPr/>
        </p:nvSpPr>
        <p:spPr bwMode="auto">
          <a:xfrm>
            <a:off x="380997" y="888075"/>
            <a:ext cx="12367870" cy="262822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Recursive Fibonacci Sequence Generation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Program generates Fibonacci terms through recursive function calls.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The function passes the current state and remaining count through its parameters.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4710163" name="object 3"/>
          <p:cNvSpPr txBox="1"/>
          <p:nvPr/>
        </p:nvSpPr>
        <p:spPr bwMode="auto">
          <a:xfrm>
            <a:off x="380997" y="888075"/>
            <a:ext cx="12382632" cy="523350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Recursive State Passing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Parameters such as `count`, `prev1`, and `prev2` carry the required Fibonacci state from one call to the next.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This avoids recalculating previous Fibonacci values in this particular tail-recursive design.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Next-Term Calculation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The next Fibonacci value is calculated from the two previous values.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The function then calls itself with updated state values.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Base Condition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Recursion stops when the requested number of terms has been generated.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A correct base condition is essential to prevent infinite recursive calls.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199677" name="object 3"/>
          <p:cNvSpPr txBox="1"/>
          <p:nvPr/>
        </p:nvSpPr>
        <p:spPr bwMode="auto">
          <a:xfrm>
            <a:off x="380997" y="888075"/>
            <a:ext cx="12396309" cy="338222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spc="-17">
                <a:solidFill>
                  <a:prstClr val="black"/>
                </a:solidFill>
                <a:latin typeface="Comic Sans MS"/>
              </a:rPr>
              <a:t>🟦 </a:t>
            </a:r>
            <a:r>
              <a:rPr lang="en-GB" sz="4000" b="1" i="0" u="none" strike="noStrike" cap="none" spc="-16">
                <a:solidFill>
                  <a:prstClr val="black"/>
                </a:solidFill>
                <a:latin typeface="Comic Sans MS"/>
                <a:ea typeface="Comic Sans MS"/>
                <a:cs typeface="Comic Sans MS"/>
              </a:rPr>
              <a:t>Procedures</a:t>
            </a:r>
            <a:endParaRPr lang="en-GB" sz="4000"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Define `generateAndPrintFibonacci(count, prev1, prev2)`.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2️⃣ Check the termination condition.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3️⃣ Calculate the next Fibonacci number.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4️⃣ Print the current term.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5️⃣ Call the function recursively with updated values.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6️⃣ Start the process from `main()`.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6482873" name="object 3"/>
          <p:cNvSpPr txBox="1"/>
          <p:nvPr/>
        </p:nvSpPr>
        <p:spPr bwMode="auto">
          <a:xfrm>
            <a:off x="380997" y="888075"/>
            <a:ext cx="12372918" cy="276563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1   1   2   3   5   8   13   21   34   55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➡️ Result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The Fibonacci sequence is generated recursively.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8639609" name="object 3"/>
          <p:cNvSpPr txBox="1"/>
          <p:nvPr/>
        </p:nvSpPr>
        <p:spPr bwMode="auto">
          <a:xfrm>
            <a:off x="380997" y="888075"/>
            <a:ext cx="12363559" cy="314638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This implementation is different from the classic recursive formula `F(n) = F(n-1) + F(n-2)`.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Passing the previous values as parameters makes the recursion linear rather than branching.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Each recursive call creates a stack frame, so auxiliary stack space is O(N).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9545656" name="object 3"/>
          <p:cNvSpPr txBox="1"/>
          <p:nvPr/>
        </p:nvSpPr>
        <p:spPr bwMode="auto">
          <a:xfrm>
            <a:off x="380997" y="888075"/>
            <a:ext cx="12365714" cy="262822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🚫 Warning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base condition must eventually be reached.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Deep recursion can exhaust stack memory.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Temporary values must be preserved before updating the previous Fibonacci parameters.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91677669" name="object 3"/>
          <p:cNvSpPr txBox="1"/>
          <p:nvPr/>
        </p:nvSpPr>
        <p:spPr bwMode="auto">
          <a:xfrm>
            <a:off x="380997" y="888075"/>
            <a:ext cx="12370759" cy="464688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⚖️ Comparison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Tail-Style Recursive Fibonacci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Passes the current state through parameters.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Makes one recursive call per generated term.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Uses O(N) call-stack space.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🟥 Classic Recursive Fibonacci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Uses the mathematical definition with two recursive calls.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Recomputes overlapping subproblems without memoization.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Has exponential time complexity in the naive implementation.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1812188" name="object 3"/>
          <p:cNvSpPr txBox="1"/>
          <p:nvPr/>
        </p:nvSpPr>
        <p:spPr bwMode="auto">
          <a:xfrm>
            <a:off x="380997" y="888075"/>
            <a:ext cx="12384432" cy="300147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Generates Fibonacci values through recursive function calls.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Carries previous values through function parameters.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Uses a base condition to terminate recursion.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Demonstrates a linear recursive approach rather than the expensive branching Fibonacci formula.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3272460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11</Slides>
  <Notes>11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348</cp:revision>
  <dcterms:created xsi:type="dcterms:W3CDTF">2025-12-09T17:44:59Z</dcterms:created>
  <dcterms:modified xsi:type="dcterms:W3CDTF">2026-09-28T10:59:36Z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