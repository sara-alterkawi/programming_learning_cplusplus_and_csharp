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2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11" r:id="rId2"/>
    <p:sldId id="257" r:id="rId3"/>
    <p:sldId id="333" r:id="rId4"/>
    <p:sldId id="341" r:id="rId5"/>
    <p:sldId id="325" r:id="rId6"/>
    <p:sldId id="342" r:id="rId7"/>
    <p:sldId id="343" r:id="rId8"/>
    <p:sldId id="338" r:id="rId9"/>
    <p:sldId id="340" r:id="rId10"/>
    <p:sldId id="339" r:id="rId11"/>
    <p:sldId id="335" r:id="rId12"/>
    <p:sldId id="329" r:id="rId13"/>
    <p:sldId id="330" r:id="rId14"/>
    <p:sldId id="332" r:id="rId15"/>
    <p:sldId id="313" r:id="rId16"/>
  </p:sldIdLst>
  <p:sldSz cx="134112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372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62626"/>
    <a:srgbClr val="2929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40" d="100"/>
          <a:sy n="40" d="100"/>
        </p:scale>
        <p:origin x="1020" y="45"/>
      </p:cViewPr>
      <p:guideLst>
        <p:guide orient="horz" pos="2880"/>
        <p:guide pos="372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5"/>
            <a:ext cx="7643507" cy="477951"/>
          </a:xfrm>
        </p:spPr>
        <p:txBody>
          <a:bodyPr lIns="0" tIns="0" rIns="0" bIns="0"/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3"/>
            <a:ext cx="764350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8EB70-F102-BAB5-31FD-19FC3742A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>
            <a:extLst>
              <a:ext uri="{FF2B5EF4-FFF2-40B4-BE49-F238E27FC236}">
                <a16:creationId xmlns:a16="http://schemas.microsoft.com/office/drawing/2014/main" id="{1FBE4D91-85C7-0256-4A79-65056ECD04F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</a:pPr>
            <a:fld id="{81D60167-4931-47E6-BA6A-407CBD079E47}" type="slidenum">
              <a:rPr spc="-86" dirty="0"/>
              <a:pPr marL="65742">
                <a:lnSpc>
                  <a:spcPts val="2260"/>
                </a:lnSpc>
              </a:pPr>
              <a:t>1</a:t>
            </a:fld>
            <a:endParaRPr spc="-86" dirty="0"/>
          </a:p>
        </p:txBody>
      </p:sp>
      <p:pic>
        <p:nvPicPr>
          <p:cNvPr id="47" name="object 25">
            <a:extLst>
              <a:ext uri="{FF2B5EF4-FFF2-40B4-BE49-F238E27FC236}">
                <a16:creationId xmlns:a16="http://schemas.microsoft.com/office/drawing/2014/main" id="{98B72FCF-C42A-5F3E-FCAD-5FE306171E0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" b="17"/>
          <a:stretch/>
        </p:blipFill>
        <p:spPr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3" name="object 30">
            <a:extLst>
              <a:ext uri="{FF2B5EF4-FFF2-40B4-BE49-F238E27FC236}">
                <a16:creationId xmlns:a16="http://schemas.microsoft.com/office/drawing/2014/main" id="{B85DEC78-C825-AA3F-520D-C936B7F83D23}"/>
              </a:ext>
            </a:extLst>
          </p:cNvPr>
          <p:cNvSpPr txBox="1"/>
          <p:nvPr/>
        </p:nvSpPr>
        <p:spPr>
          <a:xfrm>
            <a:off x="0" y="1143000"/>
            <a:ext cx="12725400" cy="5988819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sv-SE" sz="6000" b="1" dirty="0">
                <a:solidFill>
                  <a:srgbClr val="FFCE53"/>
                </a:solidFill>
                <a:latin typeface="Comic Sans MS"/>
              </a:rPr>
              <a:t>OOP as it </a:t>
            </a:r>
            <a:r>
              <a:rPr lang="sv-SE" sz="6000" b="1" dirty="0" err="1">
                <a:solidFill>
                  <a:srgbClr val="FFCE53"/>
                </a:solidFill>
                <a:latin typeface="Comic Sans MS"/>
              </a:rPr>
              <a:t>Should</a:t>
            </a:r>
            <a:r>
              <a:rPr lang="sv-SE" sz="6000" b="1" dirty="0">
                <a:solidFill>
                  <a:srgbClr val="FFCE53"/>
                </a:solidFill>
                <a:latin typeface="Comic Sans MS"/>
              </a:rPr>
              <a:t> Be</a:t>
            </a:r>
          </a:p>
          <a:p>
            <a:pPr marL="2786346" algn="ctr">
              <a:spcBef>
                <a:spcPts val="673"/>
              </a:spcBef>
            </a:pPr>
            <a:r>
              <a:rPr lang="en-GB" sz="6000" b="1" dirty="0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ar-SY" sz="6000" b="1" dirty="0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</a:pPr>
            <a:endParaRPr lang="en-GB" sz="6000" b="1" dirty="0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</a:pPr>
            <a:r>
              <a:rPr lang="en-GB" sz="6000" b="1" dirty="0">
                <a:solidFill>
                  <a:srgbClr val="FFCE53"/>
                </a:solidFill>
                <a:latin typeface="Comic Sans MS"/>
                <a:cs typeface="Comic Sans MS"/>
              </a:rPr>
              <a:t>Static/Early Binding</a:t>
            </a:r>
          </a:p>
          <a:p>
            <a:pPr marL="2786346" algn="ctr">
              <a:spcBef>
                <a:spcPts val="673"/>
              </a:spcBef>
            </a:pPr>
            <a:r>
              <a:rPr lang="en-GB" sz="6000" b="1" dirty="0">
                <a:solidFill>
                  <a:srgbClr val="FFCE53"/>
                </a:solidFill>
                <a:latin typeface="Comic Sans MS"/>
                <a:cs typeface="Comic Sans MS"/>
              </a:rPr>
              <a:t>VS</a:t>
            </a:r>
          </a:p>
          <a:p>
            <a:pPr marL="2786346" algn="ctr">
              <a:spcBef>
                <a:spcPts val="673"/>
              </a:spcBef>
            </a:pPr>
            <a:r>
              <a:rPr lang="en-GB" sz="6000" b="1" dirty="0">
                <a:solidFill>
                  <a:srgbClr val="FFCE53"/>
                </a:solidFill>
                <a:latin typeface="Comic Sans MS"/>
                <a:cs typeface="Comic Sans MS"/>
              </a:rPr>
              <a:t>Dynamic/Late Binding</a:t>
            </a:r>
          </a:p>
        </p:txBody>
      </p:sp>
    </p:spTree>
    <p:extLst>
      <p:ext uri="{BB962C8B-B14F-4D97-AF65-F5344CB8AC3E}">
        <p14:creationId xmlns:p14="http://schemas.microsoft.com/office/powerpoint/2010/main" val="3694772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3AA9CB0E-53FA-ACBF-E593-FD91CDBB5BFF}"/>
              </a:ext>
            </a:extLst>
          </p:cNvPr>
          <p:cNvSpPr txBox="1"/>
          <p:nvPr/>
        </p:nvSpPr>
        <p:spPr>
          <a:xfrm>
            <a:off x="106432" y="3084218"/>
            <a:ext cx="13304768" cy="319061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sv-SE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OOP as it </a:t>
            </a:r>
            <a:r>
              <a:rPr lang="sv-SE" sz="40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Should</a:t>
            </a:r>
            <a:r>
              <a:rPr lang="sv-SE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 Be</a:t>
            </a:r>
          </a:p>
          <a:p>
            <a:pPr marL="2786346" algn="ctr">
              <a:spcBef>
                <a:spcPts val="673"/>
              </a:spcBef>
            </a:pPr>
            <a:r>
              <a:rPr lang="sv-SE" sz="24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 dirty="0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</a:p>
          <a:p>
            <a:pPr marL="2786346" algn="ctr">
              <a:spcBef>
                <a:spcPts val="673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Static-Early Binding</a:t>
            </a:r>
          </a:p>
          <a:p>
            <a:pPr marL="2786346" algn="ctr">
              <a:spcBef>
                <a:spcPts val="673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VS</a:t>
            </a:r>
          </a:p>
          <a:p>
            <a:pPr marL="2786346" algn="ctr">
              <a:spcBef>
                <a:spcPts val="673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Dynamic-Late Binding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338765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</a:p>
          <a:p>
            <a:pPr marL="21912">
              <a:spcBef>
                <a:spcPts val="1216"/>
              </a:spcBef>
            </a:pPr>
            <a:endParaRPr lang="en-GB" sz="2400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🔹 Binding is the process of connecting a function call to its actual implementation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🔹 C++ supports two types of binding: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🟩 Static (Early) Binding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🟩 Dynamic (Late) Binding</a:t>
            </a:r>
          </a:p>
        </p:txBody>
      </p:sp>
    </p:spTree>
    <p:extLst>
      <p:ext uri="{BB962C8B-B14F-4D97-AF65-F5344CB8AC3E}">
        <p14:creationId xmlns:p14="http://schemas.microsoft.com/office/powerpoint/2010/main" val="40466650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BB0340B-9791-4D97-CA7A-7590FC1EC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FBB8136C-9DF7-F1E3-EB77-9535CD57733A}"/>
              </a:ext>
            </a:extLst>
          </p:cNvPr>
          <p:cNvSpPr txBox="1"/>
          <p:nvPr/>
        </p:nvSpPr>
        <p:spPr>
          <a:xfrm>
            <a:off x="381000" y="888075"/>
            <a:ext cx="12352767" cy="338765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6"/>
              </a:spcBef>
            </a:pPr>
            <a:r>
              <a:rPr lang="en-GB" sz="4000" b="1" spc="-17" dirty="0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</a:p>
          <a:p>
            <a:pPr marL="21912">
              <a:spcBef>
                <a:spcPts val="1216"/>
              </a:spcBef>
            </a:pPr>
            <a:endParaRPr lang="en-GB" sz="2400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🔹 The example demonstrates how C++ decides which Print() function to execute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🔹 The decision depends on: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🟩 The type of reference or pointer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🟩 Whether the function is declared virtual</a:t>
            </a:r>
          </a:p>
        </p:txBody>
      </p:sp>
    </p:spTree>
    <p:extLst>
      <p:ext uri="{BB962C8B-B14F-4D97-AF65-F5344CB8AC3E}">
        <p14:creationId xmlns:p14="http://schemas.microsoft.com/office/powerpoint/2010/main" val="15110001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8951666-2BEA-8492-55C5-6B7685B7E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62E41D81-6EA7-1326-B30A-F0FAE1F5E2F7}"/>
              </a:ext>
            </a:extLst>
          </p:cNvPr>
          <p:cNvSpPr txBox="1"/>
          <p:nvPr/>
        </p:nvSpPr>
        <p:spPr>
          <a:xfrm>
            <a:off x="381000" y="888075"/>
            <a:ext cx="12352767" cy="440331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6"/>
              </a:spcBef>
            </a:pPr>
            <a:r>
              <a:rPr lang="en-GB" sz="4000" b="1" spc="-17" dirty="0">
                <a:solidFill>
                  <a:schemeClr val="tx1"/>
                </a:solidFill>
                <a:latin typeface="Comic Sans MS"/>
                <a:cs typeface="Comic Sans MS"/>
              </a:rPr>
              <a:t>🟨 Class Structure</a:t>
            </a:r>
          </a:p>
          <a:p>
            <a:pPr marL="21912">
              <a:spcBef>
                <a:spcPts val="1216"/>
              </a:spcBef>
            </a:pPr>
            <a:endParaRPr lang="en-GB" sz="4000" b="1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SE" sz="4000" dirty="0"/>
              <a:t>🔹</a:t>
            </a:r>
            <a:r>
              <a:rPr lang="en-GB" sz="4000" spc="-17" dirty="0">
                <a:solidFill>
                  <a:schemeClr val="tx1"/>
                </a:solidFill>
                <a:latin typeface="Comic Sans MS"/>
                <a:cs typeface="Comic Sans MS"/>
              </a:rPr>
              <a:t> </a:t>
            </a:r>
            <a:r>
              <a:rPr lang="en-GB" sz="4000" b="1" spc="-17" dirty="0">
                <a:solidFill>
                  <a:schemeClr val="tx1"/>
                </a:solidFill>
                <a:latin typeface="Comic Sans MS"/>
                <a:cs typeface="Comic Sans MS"/>
              </a:rPr>
              <a:t>Base </a:t>
            </a:r>
            <a:r>
              <a:rPr lang="en-GB" sz="4000" b="1" spc="-17" dirty="0" err="1">
                <a:solidFill>
                  <a:schemeClr val="tx1"/>
                </a:solidFill>
                <a:latin typeface="Comic Sans MS"/>
                <a:cs typeface="Comic Sans MS"/>
              </a:rPr>
              <a:t>clsPerson</a:t>
            </a:r>
            <a:endParaRPr lang="en-GB" sz="2400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🟩  Public virtual function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	🟨 Print()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	🟨 Enables dynamic binding</a:t>
            </a:r>
          </a:p>
        </p:txBody>
      </p:sp>
    </p:spTree>
    <p:extLst>
      <p:ext uri="{BB962C8B-B14F-4D97-AF65-F5344CB8AC3E}">
        <p14:creationId xmlns:p14="http://schemas.microsoft.com/office/powerpoint/2010/main" val="28772705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9FD15F1-7847-FF99-08C8-C61E37D82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340F6444-636A-A884-5750-47D1BC7D32FA}"/>
              </a:ext>
            </a:extLst>
          </p:cNvPr>
          <p:cNvSpPr txBox="1"/>
          <p:nvPr/>
        </p:nvSpPr>
        <p:spPr>
          <a:xfrm>
            <a:off x="381000" y="888075"/>
            <a:ext cx="12352767" cy="388009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6"/>
              </a:spcBef>
            </a:pPr>
            <a:r>
              <a:rPr lang="en-GB" sz="4000" b="1" spc="-17" dirty="0">
                <a:solidFill>
                  <a:schemeClr val="tx1"/>
                </a:solidFill>
                <a:latin typeface="Comic Sans MS"/>
                <a:cs typeface="Comic Sans MS"/>
              </a:rPr>
              <a:t>🟨 Class Structure</a:t>
            </a:r>
          </a:p>
          <a:p>
            <a:pPr marL="21912">
              <a:spcBef>
                <a:spcPts val="1216"/>
              </a:spcBef>
            </a:pPr>
            <a:endParaRPr lang="en-GB" sz="4000" b="1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SE" sz="4000" b="1" dirty="0"/>
              <a:t>🔹</a:t>
            </a:r>
            <a:r>
              <a:rPr lang="en-GB" sz="4000" b="1" dirty="0"/>
              <a:t> </a:t>
            </a:r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Derived Class: </a:t>
            </a:r>
            <a:r>
              <a:rPr lang="en-GB" sz="4000" b="1" spc="-17" dirty="0" err="1">
                <a:solidFill>
                  <a:schemeClr val="tx1"/>
                </a:solidFill>
                <a:latin typeface="Comic Sans MS"/>
              </a:rPr>
              <a:t>clsEmployee</a:t>
            </a:r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 : public </a:t>
            </a:r>
            <a:r>
              <a:rPr lang="en-GB" sz="4000" b="1" spc="-17" dirty="0" err="1">
                <a:solidFill>
                  <a:schemeClr val="tx1"/>
                </a:solidFill>
                <a:latin typeface="Comic Sans MS"/>
              </a:rPr>
              <a:t>clsPerson</a:t>
            </a:r>
            <a:endParaRPr lang="en-GB" sz="2400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🟩 Overrides Print()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	🟨 Overrides  Print()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	🟨 Prints employee-specific message</a:t>
            </a:r>
          </a:p>
        </p:txBody>
      </p:sp>
    </p:spTree>
    <p:extLst>
      <p:ext uri="{BB962C8B-B14F-4D97-AF65-F5344CB8AC3E}">
        <p14:creationId xmlns:p14="http://schemas.microsoft.com/office/powerpoint/2010/main" val="20357586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4727218-A730-E87B-E46F-677F028D4B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4762F572-2F5A-E7A3-381E-FFE80428DD52}"/>
              </a:ext>
            </a:extLst>
          </p:cNvPr>
          <p:cNvSpPr txBox="1"/>
          <p:nvPr/>
        </p:nvSpPr>
        <p:spPr>
          <a:xfrm>
            <a:off x="381000" y="888075"/>
            <a:ext cx="12352767" cy="335687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6"/>
              </a:spcBef>
            </a:pPr>
            <a:r>
              <a:rPr lang="en-GB" sz="4000" b="1" spc="-17" dirty="0">
                <a:solidFill>
                  <a:schemeClr val="tx1"/>
                </a:solidFill>
                <a:latin typeface="Comic Sans MS"/>
                <a:cs typeface="Comic Sans MS"/>
              </a:rPr>
              <a:t>🟨 Class Structure</a:t>
            </a:r>
          </a:p>
          <a:p>
            <a:pPr marL="21912">
              <a:spcBef>
                <a:spcPts val="1216"/>
              </a:spcBef>
            </a:pPr>
            <a:endParaRPr lang="en-GB" sz="4000" b="1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SE" sz="4000" b="1" dirty="0"/>
              <a:t>🔹</a:t>
            </a:r>
            <a:r>
              <a:rPr lang="en-GB" sz="4000" b="1" dirty="0"/>
              <a:t> </a:t>
            </a:r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Derived Class: </a:t>
            </a:r>
            <a:r>
              <a:rPr lang="en-GB" sz="4000" b="1" spc="-17" dirty="0" err="1">
                <a:solidFill>
                  <a:schemeClr val="tx1"/>
                </a:solidFill>
                <a:latin typeface="Comic Sans MS"/>
              </a:rPr>
              <a:t>clsStudent</a:t>
            </a:r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 : public </a:t>
            </a:r>
            <a:r>
              <a:rPr lang="en-GB" sz="4000" b="1" spc="-17" dirty="0" err="1">
                <a:solidFill>
                  <a:schemeClr val="tx1"/>
                </a:solidFill>
                <a:latin typeface="Comic Sans MS"/>
              </a:rPr>
              <a:t>clsPerson</a:t>
            </a:r>
            <a:endParaRPr lang="en-GB" sz="2400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🟩 Overrides Print()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	🟨 Prints student-specific message</a:t>
            </a:r>
          </a:p>
        </p:txBody>
      </p:sp>
    </p:spTree>
    <p:extLst>
      <p:ext uri="{BB962C8B-B14F-4D97-AF65-F5344CB8AC3E}">
        <p14:creationId xmlns:p14="http://schemas.microsoft.com/office/powerpoint/2010/main" val="39593153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086F65D-1FA8-E86B-C74C-A04F73552A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ACB3EACE-1BDF-8A70-127F-9480C6E56C56}"/>
              </a:ext>
            </a:extLst>
          </p:cNvPr>
          <p:cNvSpPr txBox="1"/>
          <p:nvPr/>
        </p:nvSpPr>
        <p:spPr>
          <a:xfrm>
            <a:off x="381000" y="888075"/>
            <a:ext cx="12352767" cy="7050196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6"/>
              </a:spcBef>
            </a:pPr>
            <a:r>
              <a:rPr lang="en-GB" sz="4000" b="1" spc="-17" dirty="0">
                <a:solidFill>
                  <a:schemeClr val="tx1"/>
                </a:solidFill>
                <a:latin typeface="Comic Sans MS"/>
                <a:cs typeface="Comic Sans MS"/>
              </a:rPr>
              <a:t>🔎 Static (Early) Binding</a:t>
            </a:r>
          </a:p>
          <a:p>
            <a:pPr marL="21912">
              <a:spcBef>
                <a:spcPts val="1216"/>
              </a:spcBef>
            </a:pPr>
            <a:endParaRPr lang="en-GB" sz="2400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🔹 Static binding occurs at compile time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🟩 Characteristics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	🟨 Function call depends on object type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	🟨 Resolved during compilation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	🟨 Faster execution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	🟨 No polymorphism involved</a:t>
            </a:r>
          </a:p>
          <a:p>
            <a:pPr marL="21912">
              <a:spcBef>
                <a:spcPts val="1216"/>
              </a:spcBef>
            </a:pPr>
            <a:endParaRPr lang="en-GB" sz="2400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💡 Example</a:t>
            </a:r>
          </a:p>
          <a:p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🔹 Compiler knows the exact object types 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 Employee1.</a:t>
            </a:r>
            <a:r>
              <a:rPr lang="en-GB" sz="2400" spc="-17" dirty="0">
                <a:solidFill>
                  <a:schemeClr val="bg2">
                    <a:lumMod val="75000"/>
                  </a:schemeClr>
                </a:solidFill>
                <a:latin typeface="Comic Sans MS"/>
              </a:rPr>
              <a:t>Print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();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Student1.</a:t>
            </a:r>
            <a:r>
              <a:rPr lang="en-GB" sz="2400" spc="-17" dirty="0">
                <a:solidFill>
                  <a:schemeClr val="bg2">
                    <a:lumMod val="75000"/>
                  </a:schemeClr>
                </a:solidFill>
                <a:latin typeface="Comic Sans MS"/>
              </a:rPr>
              <a:t>Print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33419206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D526205-CAFC-529B-C6C1-068E05DB6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A8B3084E-D71F-9A20-FB43-49EC4B69AEDF}"/>
              </a:ext>
            </a:extLst>
          </p:cNvPr>
          <p:cNvSpPr txBox="1"/>
          <p:nvPr/>
        </p:nvSpPr>
        <p:spPr>
          <a:xfrm>
            <a:off x="381000" y="888075"/>
            <a:ext cx="12352767" cy="772730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6"/>
              </a:spcBef>
            </a:pPr>
            <a:r>
              <a:rPr lang="en-GB" sz="4000" b="1" spc="-17" dirty="0">
                <a:solidFill>
                  <a:schemeClr val="tx1"/>
                </a:solidFill>
                <a:latin typeface="Comic Sans MS"/>
                <a:cs typeface="Comic Sans MS"/>
              </a:rPr>
              <a:t>🔎 Dynamic (Late) Binding</a:t>
            </a:r>
            <a:endParaRPr lang="en-GB" sz="2400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endParaRPr lang="en-GB" sz="2400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🔹 Static binding occurs at compile time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🟩 Characteristics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	🟨 Function call depends on actual object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	🟨 Requires virtual function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	🟨 Enables polymorphism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	🟨 Slight runtime overhead</a:t>
            </a:r>
          </a:p>
          <a:p>
            <a:pPr marL="21912">
              <a:spcBef>
                <a:spcPts val="1216"/>
              </a:spcBef>
            </a:pPr>
            <a:endParaRPr lang="en-GB" sz="2400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💡 Example</a:t>
            </a:r>
          </a:p>
          <a:p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clsPerson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* Person1 = &amp;Employee1;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clsPerson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* Person2 = &amp;Student1;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Person1-&gt;Print();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Person2-&gt;Print();</a:t>
            </a:r>
          </a:p>
        </p:txBody>
      </p:sp>
    </p:spTree>
    <p:extLst>
      <p:ext uri="{BB962C8B-B14F-4D97-AF65-F5344CB8AC3E}">
        <p14:creationId xmlns:p14="http://schemas.microsoft.com/office/powerpoint/2010/main" val="33283833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2BF0CD4-0319-9496-8478-267F28598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F2F894D4-F401-E6A7-0F75-B717EFD319F6}"/>
              </a:ext>
            </a:extLst>
          </p:cNvPr>
          <p:cNvSpPr txBox="1"/>
          <p:nvPr/>
        </p:nvSpPr>
        <p:spPr>
          <a:xfrm>
            <a:off x="381000" y="888075"/>
            <a:ext cx="12352767" cy="261821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🟦 Steps in main()</a:t>
            </a:r>
          </a:p>
          <a:p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1️⃣ Create derived class objects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2️⃣ Call Print() directly (Early Binding)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3️⃣ Create base-class pointers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4️⃣ Call Print() through base pointers (Late Binding)</a:t>
            </a:r>
          </a:p>
        </p:txBody>
      </p:sp>
    </p:spTree>
    <p:extLst>
      <p:ext uri="{BB962C8B-B14F-4D97-AF65-F5344CB8AC3E}">
        <p14:creationId xmlns:p14="http://schemas.microsoft.com/office/powerpoint/2010/main" val="26042688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CDB6C49-EACC-9FE4-C633-CACDEA6BA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A2E9409D-8454-F144-09AA-0F831C297726}"/>
              </a:ext>
            </a:extLst>
          </p:cNvPr>
          <p:cNvSpPr txBox="1"/>
          <p:nvPr/>
        </p:nvSpPr>
        <p:spPr>
          <a:xfrm>
            <a:off x="381000" y="888075"/>
            <a:ext cx="12352767" cy="335687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sv-SE" sz="4000" b="1" spc="-17" dirty="0">
                <a:solidFill>
                  <a:schemeClr val="tx1"/>
                </a:solidFill>
                <a:latin typeface="Comic Sans MS"/>
              </a:rPr>
              <a:t>➡️ </a:t>
            </a:r>
            <a:r>
              <a:rPr lang="sv-SE" sz="4000" b="1" spc="-17" dirty="0" err="1">
                <a:solidFill>
                  <a:schemeClr val="tx1"/>
                </a:solidFill>
                <a:latin typeface="Comic Sans MS"/>
              </a:rPr>
              <a:t>Expected</a:t>
            </a:r>
            <a:r>
              <a:rPr lang="sv-SE" sz="4000" b="1" spc="-17" dirty="0">
                <a:solidFill>
                  <a:schemeClr val="tx1"/>
                </a:solidFill>
                <a:latin typeface="Comic Sans MS"/>
              </a:rPr>
              <a:t> Output</a:t>
            </a:r>
          </a:p>
          <a:p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🔹 Early binding calls: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Employee message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Student message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🔹 Late binding calls: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Employee message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Student message</a:t>
            </a:r>
          </a:p>
        </p:txBody>
      </p:sp>
    </p:spTree>
    <p:extLst>
      <p:ext uri="{BB962C8B-B14F-4D97-AF65-F5344CB8AC3E}">
        <p14:creationId xmlns:p14="http://schemas.microsoft.com/office/powerpoint/2010/main" val="2283341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81BE943-6BF8-6560-128F-3A2B5B25F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4A9D01D0-5E83-97B5-892D-5D4DC706BDFD}"/>
              </a:ext>
            </a:extLst>
          </p:cNvPr>
          <p:cNvSpPr txBox="1"/>
          <p:nvPr/>
        </p:nvSpPr>
        <p:spPr>
          <a:xfrm>
            <a:off x="381000" y="888075"/>
            <a:ext cx="12352767" cy="5203536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⚖️ Comparison</a:t>
            </a:r>
          </a:p>
          <a:p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🟩 Static (Early) Binding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✔️ Compile-time resolution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✔️ Object type matters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✔️ Faster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✔️ No polymorphism</a:t>
            </a:r>
          </a:p>
          <a:p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🟥 Dynamic (Late) Binding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✔️ Runtime resolution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✔️ Actual object matters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✔️ Requires virtual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✔️ Supports polymorphism</a:t>
            </a:r>
          </a:p>
        </p:txBody>
      </p:sp>
    </p:spTree>
    <p:extLst>
      <p:ext uri="{BB962C8B-B14F-4D97-AF65-F5344CB8AC3E}">
        <p14:creationId xmlns:p14="http://schemas.microsoft.com/office/powerpoint/2010/main" val="13954876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990E0AC-1179-7FB7-16BD-3B0B6827A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E03FC800-D303-BD33-7789-3A9B80106EA6}"/>
              </a:ext>
            </a:extLst>
          </p:cNvPr>
          <p:cNvSpPr txBox="1"/>
          <p:nvPr/>
        </p:nvSpPr>
        <p:spPr>
          <a:xfrm>
            <a:off x="381000" y="888075"/>
            <a:ext cx="12352767" cy="2248881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🚫 Warning</a:t>
            </a:r>
          </a:p>
          <a:p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🔹 If Print() is not virtual in the base class: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Late binding will not occur 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Base-class function will execute instead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9417163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6548168-F6BF-9E3C-8335-7DFD704D0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B7131D51-6AAA-DD4B-6C31-C4D46506634E}"/>
              </a:ext>
            </a:extLst>
          </p:cNvPr>
          <p:cNvSpPr txBox="1"/>
          <p:nvPr/>
        </p:nvSpPr>
        <p:spPr>
          <a:xfrm>
            <a:off x="381000" y="888075"/>
            <a:ext cx="12352767" cy="286443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✨ Summary</a:t>
            </a:r>
          </a:p>
          <a:p>
            <a:endParaRPr lang="en-GB" sz="40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✅ Demonstrates early vs late binding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✅ Shows impact of virtual keyword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✅ Explains runtime polymorphism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✅ Highlights binding decision timing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4647757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0C985-45BF-D625-B127-8108457FD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4">
            <a:extLst>
              <a:ext uri="{FF2B5EF4-FFF2-40B4-BE49-F238E27FC236}">
                <a16:creationId xmlns:a16="http://schemas.microsoft.com/office/drawing/2014/main" id="{2DD6DF42-8147-ACB0-9155-6AB216D32B4F}"/>
              </a:ext>
            </a:extLst>
          </p:cNvPr>
          <p:cNvSpPr txBox="1">
            <a:spLocks/>
          </p:cNvSpPr>
          <p:nvPr/>
        </p:nvSpPr>
        <p:spPr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 kern="0"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</a:pP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 dirty="0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 dirty="0">
                <a:solidFill>
                  <a:srgbClr val="FF0000"/>
                </a:solidFill>
              </a:rPr>
              <a:t> </a:t>
            </a:r>
            <a:r>
              <a:rPr lang="sv-SE" sz="4000" spc="-67" dirty="0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 dirty="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  <p:extLst>
      <p:ext uri="{BB962C8B-B14F-4D97-AF65-F5344CB8AC3E}">
        <p14:creationId xmlns:p14="http://schemas.microsoft.com/office/powerpoint/2010/main" val="13031109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1843</TotalTime>
  <Words>472</Words>
  <Application>Microsoft Office PowerPoint</Application>
  <PresentationFormat>Custom</PresentationFormat>
  <Paragraphs>111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 MT</vt:lpstr>
      <vt:lpstr>Calibri</vt:lpstr>
      <vt:lpstr>Comic Sans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Sara Alterkawi</cp:lastModifiedBy>
  <cp:revision>145</cp:revision>
  <dcterms:created xsi:type="dcterms:W3CDTF">2025-12-09T17:44:59Z</dcterms:created>
  <dcterms:modified xsi:type="dcterms:W3CDTF">2026-01-02T12:29:44Z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