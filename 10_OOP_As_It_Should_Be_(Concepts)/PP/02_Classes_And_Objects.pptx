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258" r:id="rId4"/>
    <p:sldId id="315" r:id="rId5"/>
    <p:sldId id="317" r:id="rId6"/>
    <p:sldId id="314" r:id="rId7"/>
    <p:sldId id="318" r:id="rId8"/>
    <p:sldId id="319" r:id="rId9"/>
    <p:sldId id="320" r:id="rId10"/>
    <p:sldId id="321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36" d="100"/>
          <a:sy n="36" d="100"/>
        </p:scale>
        <p:origin x="1176" y="69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6455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54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Classes and Objects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unctional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 vs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bject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riented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University System 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A3D0C9F-33A4-2C20-EDB5-DB478A9E63D9}"/>
              </a:ext>
            </a:extLst>
          </p:cNvPr>
          <p:cNvSpPr txBox="1"/>
          <p:nvPr/>
        </p:nvSpPr>
        <p:spPr>
          <a:xfrm>
            <a:off x="381000" y="2667000"/>
            <a:ext cx="10287000" cy="6248400"/>
          </a:xfrm>
          <a:prstGeom prst="rect">
            <a:avLst/>
          </a:prstGeom>
        </p:spPr>
        <p:txBody>
          <a:bodyPr vert="horz" wrap="square" lIns="0" tIns="154492" rIns="0" bIns="0" numCol="2" rtlCol="0">
            <a:spAutoFit/>
          </a:bodyPr>
          <a:lstStyle/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CalculateAverage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DeleteCouse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EnrollStudentInCourse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UnEnrollStudentFromCoruse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HowManyStudentsInCourse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Doctor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, Edit,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)</a:t>
            </a: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AssignCourse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SendEmail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TextMessage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SendEmailToDoctor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TextMessage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CallStudent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CallDoctor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CalculateSalary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PaySalary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………………….</a:t>
            </a:r>
            <a:endParaRPr lang="sv-SE" sz="2400" dirty="0">
              <a:solidFill>
                <a:schemeClr val="accent1"/>
              </a:solidFill>
              <a:latin typeface="Comic Sans MS"/>
              <a:cs typeface="Comic Sans MS"/>
            </a:endParaRPr>
          </a:p>
        </p:txBody>
      </p:sp>
      <p:pic>
        <p:nvPicPr>
          <p:cNvPr id="8" name="Picture 7" descr="A cartoon of a yellow emoticon&#10;&#10;AI-generated content may be incorrect.">
            <a:extLst>
              <a:ext uri="{FF2B5EF4-FFF2-40B4-BE49-F238E27FC236}">
                <a16:creationId xmlns:a16="http://schemas.microsoft.com/office/drawing/2014/main" id="{F06308B9-72EB-9960-C7F0-9D3E5909B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5052646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6389AE-829D-6805-2D27-56141584A3BB}"/>
              </a:ext>
            </a:extLst>
          </p:cNvPr>
          <p:cNvSpPr txBox="1"/>
          <p:nvPr/>
        </p:nvSpPr>
        <p:spPr>
          <a:xfrm>
            <a:off x="9067800" y="7016841"/>
            <a:ext cx="434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2400" b="1" dirty="0">
                <a:solidFill>
                  <a:srgbClr val="FF0000"/>
                </a:solidFill>
                <a:latin typeface="Comic Sans MS"/>
              </a:rPr>
              <a:t>Simply</a:t>
            </a:r>
          </a:p>
          <a:p>
            <a:r>
              <a:rPr lang="en-SE" sz="2400" b="1" dirty="0">
                <a:solidFill>
                  <a:schemeClr val="tx1"/>
                </a:solidFill>
                <a:latin typeface="Comic Sans MS"/>
              </a:rPr>
              <a:t>You can have thousands of</a:t>
            </a:r>
            <a:r>
              <a:rPr lang="sv-SE" sz="2400" b="1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SE" sz="2400" b="1" dirty="0">
                <a:solidFill>
                  <a:schemeClr val="tx1"/>
                </a:solidFill>
                <a:latin typeface="Comic Sans MS"/>
              </a:rPr>
              <a:t>functions in your System!!!!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7B0B42-D5C4-EAC1-1EBB-2DD798B5E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D6274C-4F8B-31EE-1AD4-9890CF36F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7" y="2777172"/>
            <a:ext cx="10575041" cy="613822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9511867-0D8F-9EB0-00DB-50266AB33023}"/>
              </a:ext>
            </a:extLst>
          </p:cNvPr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What is Class? Why we call it Class?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University System 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6F649-4206-D98D-A2CF-120049037316}"/>
              </a:ext>
            </a:extLst>
          </p:cNvPr>
          <p:cNvSpPr txBox="1"/>
          <p:nvPr/>
        </p:nvSpPr>
        <p:spPr>
          <a:xfrm>
            <a:off x="9067800" y="7016841"/>
            <a:ext cx="434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2400" b="1" dirty="0">
                <a:solidFill>
                  <a:srgbClr val="FF0000"/>
                </a:solidFill>
                <a:latin typeface="Comic Sans MS"/>
              </a:rPr>
              <a:t>Simply</a:t>
            </a:r>
          </a:p>
          <a:p>
            <a:r>
              <a:rPr lang="en-GB" sz="2400" b="1" dirty="0">
                <a:solidFill>
                  <a:schemeClr val="tx1"/>
                </a:solidFill>
                <a:latin typeface="Comic Sans MS"/>
              </a:rPr>
              <a:t>Class came from Classification</a:t>
            </a:r>
            <a:endParaRPr lang="en-SE" sz="2400" b="1" dirty="0">
              <a:solidFill>
                <a:schemeClr val="tx1"/>
              </a:solidFill>
              <a:latin typeface="Comic Sans M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816FEC9-7714-D4FC-5C4D-0D047E555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61077" y="5037757"/>
            <a:ext cx="2438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6389AE-829D-6805-2D27-56141584A3BB}"/>
              </a:ext>
            </a:extLst>
          </p:cNvPr>
          <p:cNvSpPr txBox="1"/>
          <p:nvPr/>
        </p:nvSpPr>
        <p:spPr>
          <a:xfrm>
            <a:off x="2390683" y="2641611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26D75-EAA8-E3FE-3B24-E7481DBB21BA}"/>
              </a:ext>
            </a:extLst>
          </p:cNvPr>
          <p:cNvSpPr txBox="1"/>
          <p:nvPr/>
        </p:nvSpPr>
        <p:spPr>
          <a:xfrm>
            <a:off x="2414129" y="4724400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799C-23E0-EBFB-A4C5-AF17144CF0E6}"/>
              </a:ext>
            </a:extLst>
          </p:cNvPr>
          <p:cNvSpPr txBox="1"/>
          <p:nvPr/>
        </p:nvSpPr>
        <p:spPr>
          <a:xfrm>
            <a:off x="2595815" y="6484933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EA6A8-7BDF-8F5C-49A0-E5B181102132}"/>
              </a:ext>
            </a:extLst>
          </p:cNvPr>
          <p:cNvSpPr txBox="1"/>
          <p:nvPr/>
        </p:nvSpPr>
        <p:spPr>
          <a:xfrm>
            <a:off x="6064174" y="6894514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7C93C-1743-B9B0-E451-CDE37E9EE726}"/>
              </a:ext>
            </a:extLst>
          </p:cNvPr>
          <p:cNvSpPr txBox="1"/>
          <p:nvPr/>
        </p:nvSpPr>
        <p:spPr>
          <a:xfrm>
            <a:off x="5915957" y="5105400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053D75-A659-6F2C-C26A-0D7DE6EEF52E}"/>
              </a:ext>
            </a:extLst>
          </p:cNvPr>
          <p:cNvSpPr txBox="1"/>
          <p:nvPr/>
        </p:nvSpPr>
        <p:spPr>
          <a:xfrm>
            <a:off x="5575148" y="3258694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B29A-805B-77BA-1EBC-99F405515CA5}"/>
              </a:ext>
            </a:extLst>
          </p:cNvPr>
          <p:cNvSpPr txBox="1"/>
          <p:nvPr/>
        </p:nvSpPr>
        <p:spPr>
          <a:xfrm>
            <a:off x="9067800" y="3414095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5BA37-C2F2-5CDA-E8FE-CBDE773ED702}"/>
              </a:ext>
            </a:extLst>
          </p:cNvPr>
          <p:cNvSpPr txBox="1"/>
          <p:nvPr/>
        </p:nvSpPr>
        <p:spPr>
          <a:xfrm>
            <a:off x="9337844" y="5388468"/>
            <a:ext cx="1282852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  <a:latin typeface="Comic Sans MS"/>
              </a:rPr>
              <a:t>Class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79677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E9E8FB-815B-26A3-1E45-382C16BF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9CEFBCE-09B0-40A7-0E4D-D2BD2B33C70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E197132-A30F-8D95-99BA-26CD293710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1C10096-3BF1-3EBD-1F28-FD3B1EEA1E7F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AF6475A-FAAB-44C2-9B57-7DB14F6BC67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582C18A7-E9EC-13C7-0CB9-92C0744D36BD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Let us code now….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93536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998F32-622F-4169-222F-E3EB7A42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34210B-F8CB-412E-2984-53464723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653"/>
            <a:ext cx="13411200" cy="804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4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10192D-9A15-A58B-C137-637FDDD6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5108153-8FA8-7B35-C364-0C35DB2E90E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E550AAF-1628-EC46-AF2C-438B365DD6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2092117-037C-3755-DCC4-25AE6E15D22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D4E6AE5-0B65-EF2A-B364-D6EC2730FAB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37BD37F-87E1-3D6E-271F-2C2580B5D1DD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Class Members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0264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7F2947-4826-E373-6B38-209AF6C5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A1C19B-0B2D-A8BD-689A-5D20050566B3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Class Members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26B90C-8F8D-4972-4014-79C5F9B05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6000"/>
            <a:ext cx="4296375" cy="6020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5369D0-2B5D-59D7-1977-203FDCB7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375" y="3233869"/>
            <a:ext cx="863085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B7C4F7-28F7-D350-5DEC-5B1E2C44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AF94CB9-E9AC-5A3B-82FE-C0F89CF03BE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6E824DE-4D88-7E4A-8EE2-72E6374329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B38CDBD-BBE3-756E-2B1B-D8C74921D8D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3BBC0AD-34C4-BD85-4E67-C0137CDA7B1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0A7BE8E3-368B-D0FC-4061-F9F2E9E3E6FC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Objects In Memory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365574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B02CBF-06E6-EF11-FD4F-4CCA2BD0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64BC05E-BA2C-5A0A-890F-2D0BC3ACE168}"/>
              </a:ext>
            </a:extLst>
          </p:cNvPr>
          <p:cNvSpPr txBox="1"/>
          <p:nvPr/>
        </p:nvSpPr>
        <p:spPr>
          <a:xfrm>
            <a:off x="381000" y="888075"/>
            <a:ext cx="12352767" cy="8946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Each instance has its own space in memory, Only Member functions are shared among all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18EC4-B46C-7F81-7625-B72ED4A3B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1251"/>
            <a:ext cx="4991797" cy="2495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3FC2F-46C6-D0FF-29C5-E9C764D1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299" y="3428776"/>
            <a:ext cx="4305901" cy="320084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BAF18F3-B442-ED06-B2CA-2266832E76DC}"/>
              </a:ext>
            </a:extLst>
          </p:cNvPr>
          <p:cNvGrpSpPr/>
          <p:nvPr/>
        </p:nvGrpSpPr>
        <p:grpSpPr>
          <a:xfrm>
            <a:off x="4876800" y="2362200"/>
            <a:ext cx="4296375" cy="6020640"/>
            <a:chOff x="4876800" y="2362200"/>
            <a:chExt cx="4296375" cy="60206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F1E9D0-2552-81D5-7D27-11FC05FE4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6800" y="2362200"/>
              <a:ext cx="4296375" cy="60206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4988C77-02E2-64A7-C7C9-72D1A8060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859" t="13006"/>
            <a:stretch>
              <a:fillRect/>
            </a:stretch>
          </p:blipFill>
          <p:spPr>
            <a:xfrm>
              <a:off x="5029200" y="5943600"/>
              <a:ext cx="4023622" cy="21441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564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564051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168</Words>
  <Application>Microsoft Office PowerPoint</Application>
  <PresentationFormat>Custom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28</cp:revision>
  <dcterms:created xsi:type="dcterms:W3CDTF">2025-12-09T17:44:59Z</dcterms:created>
  <dcterms:modified xsi:type="dcterms:W3CDTF">2026-01-16T19:48:53Z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