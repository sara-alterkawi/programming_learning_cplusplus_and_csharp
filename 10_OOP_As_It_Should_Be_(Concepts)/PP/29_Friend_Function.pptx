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42" r:id="rId5"/>
    <p:sldId id="325" r:id="rId6"/>
    <p:sldId id="343" r:id="rId7"/>
    <p:sldId id="344" r:id="rId8"/>
    <p:sldId id="339" r:id="rId9"/>
    <p:sldId id="335" r:id="rId10"/>
    <p:sldId id="329" r:id="rId11"/>
    <p:sldId id="330" r:id="rId12"/>
    <p:sldId id="332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684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Friend Functions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Friend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🔹 </a:t>
            </a:r>
            <a:r>
              <a:rPr lang="en-GB" sz="2400" dirty="0">
                <a:latin typeface="Comic Sans MS" panose="030F0702030302020204" pitchFamily="66" charset="0"/>
              </a:rPr>
              <a:t>A </a:t>
            </a:r>
            <a:r>
              <a:rPr lang="en-GB" sz="2400" b="1" dirty="0">
                <a:latin typeface="Comic Sans MS" panose="030F0702030302020204" pitchFamily="66" charset="0"/>
              </a:rPr>
              <a:t>friend function</a:t>
            </a:r>
            <a:r>
              <a:rPr lang="en-GB" sz="2400" dirty="0">
                <a:latin typeface="Comic Sans MS" panose="030F0702030302020204" pitchFamily="66" charset="0"/>
              </a:rPr>
              <a:t> is a </a:t>
            </a:r>
            <a:r>
              <a:rPr lang="en-GB" sz="2400" b="1" dirty="0">
                <a:latin typeface="Comic Sans MS" panose="030F0702030302020204" pitchFamily="66" charset="0"/>
              </a:rPr>
              <a:t>non-member function</a:t>
            </a:r>
            <a:r>
              <a:rPr lang="en-GB" sz="2400" dirty="0">
                <a:latin typeface="Comic Sans MS" panose="030F0702030302020204" pitchFamily="66" charset="0"/>
              </a:rPr>
              <a:t> that is allowed to access the </a:t>
            </a:r>
            <a:r>
              <a:rPr lang="en-GB" sz="2400" b="1" dirty="0">
                <a:latin typeface="Comic Sans MS" panose="030F0702030302020204" pitchFamily="66" charset="0"/>
              </a:rPr>
              <a:t>private 	and protected members</a:t>
            </a:r>
            <a:r>
              <a:rPr lang="en-GB" sz="2400" dirty="0">
                <a:latin typeface="Comic Sans MS" panose="030F0702030302020204" pitchFamily="66" charset="0"/>
              </a:rPr>
              <a:t> of a class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Friendship is granted explicitly using the friend keyword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602A26-E2DB-3EC3-CDEC-BD91E567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458D62A-ED0D-005C-6EC5-FF31F2AB458E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📖 Explanation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dirty="0">
                <a:latin typeface="Comic Sans MS" panose="030F0702030302020204" pitchFamily="66" charset="0"/>
              </a:rPr>
              <a:t>🔹 Normally, only member functions can access private and protected data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A friend function breaks this rule </a:t>
            </a:r>
            <a:r>
              <a:rPr lang="en-GB" sz="2400" b="1" dirty="0">
                <a:latin typeface="Comic Sans MS" panose="030F0702030302020204" pitchFamily="66" charset="0"/>
              </a:rPr>
              <a:t>in a controlled way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12011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951666-2BEA-8492-55C5-6B7685B7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E41D81-6EA7-1326-B30A-F0FAE1F5E2F7}"/>
              </a:ext>
            </a:extLst>
          </p:cNvPr>
          <p:cNvSpPr txBox="1"/>
          <p:nvPr/>
        </p:nvSpPr>
        <p:spPr>
          <a:xfrm>
            <a:off x="381000" y="888075"/>
            <a:ext cx="12352767" cy="51419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  <a:cs typeface="Comic Sans MS"/>
              </a:rPr>
              <a:t>🟨 Class Structure</a:t>
            </a:r>
          </a:p>
          <a:p>
            <a:pPr marL="21912">
              <a:spcBef>
                <a:spcPts val="1216"/>
              </a:spcBef>
            </a:pPr>
            <a:endParaRPr lang="sv-SE" sz="2400" b="1" dirty="0">
              <a:latin typeface="Comic Sans MS" panose="030F0702030302020204" pitchFamily="66" charset="0"/>
            </a:endParaRPr>
          </a:p>
          <a:p>
            <a:pPr marL="21912">
              <a:spcBef>
                <a:spcPts val="1216"/>
              </a:spcBef>
            </a:pPr>
            <a:r>
              <a:rPr lang="en-SE" sz="2400" b="1" dirty="0">
                <a:latin typeface="Comic Sans MS" panose="030F0702030302020204" pitchFamily="66" charset="0"/>
              </a:rPr>
              <a:t>🟨 </a:t>
            </a:r>
            <a:r>
              <a:rPr lang="sv-SE" sz="2400" b="1" dirty="0">
                <a:latin typeface="Comic Sans MS" panose="030F0702030302020204" pitchFamily="66" charset="0"/>
              </a:rPr>
              <a:t>Class </a:t>
            </a:r>
            <a:r>
              <a:rPr lang="sv-SE" sz="2400" b="1" dirty="0" err="1">
                <a:latin typeface="Comic Sans MS" panose="030F0702030302020204" pitchFamily="66" charset="0"/>
              </a:rPr>
              <a:t>clsA</a:t>
            </a:r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en-GB" sz="2400" dirty="0">
                <a:latin typeface="Comic Sans MS" panose="030F0702030302020204" pitchFamily="66" charset="0"/>
              </a:rPr>
              <a:t>Contains private, protected, and public members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</a:t>
            </a:r>
            <a:r>
              <a:rPr lang="en-SE" sz="2400" dirty="0">
                <a:latin typeface="Comic Sans MS" panose="030F0702030302020204" pitchFamily="66" charset="0"/>
              </a:rPr>
              <a:t>🟨 </a:t>
            </a:r>
            <a:r>
              <a:rPr lang="sv-SE" sz="2400" dirty="0" err="1">
                <a:latin typeface="Comic Sans MS" panose="030F0702030302020204" pitchFamily="66" charset="0"/>
              </a:rPr>
              <a:t>Member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Visibility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b="1" dirty="0">
                <a:latin typeface="Comic Sans MS" panose="030F0702030302020204" pitchFamily="66" charset="0"/>
              </a:rPr>
              <a:t>Private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	</a:t>
            </a:r>
            <a:r>
              <a:rPr lang="en-SE" sz="2400" dirty="0">
                <a:latin typeface="Comic Sans MS" panose="030F0702030302020204" pitchFamily="66" charset="0"/>
              </a:rPr>
              <a:t>🔹 </a:t>
            </a:r>
            <a:r>
              <a:rPr lang="sv-SE" sz="2400" dirty="0">
                <a:latin typeface="Comic Sans MS" panose="030F0702030302020204" pitchFamily="66" charset="0"/>
              </a:rPr>
              <a:t>_Var1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b="1" dirty="0" err="1">
                <a:latin typeface="Comic Sans MS" panose="030F0702030302020204" pitchFamily="66" charset="0"/>
              </a:rPr>
              <a:t>Protected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	</a:t>
            </a:r>
            <a:r>
              <a:rPr lang="en-SE" sz="2400" dirty="0">
                <a:latin typeface="Comic Sans MS" panose="030F0702030302020204" pitchFamily="66" charset="0"/>
              </a:rPr>
              <a:t>🔹 </a:t>
            </a:r>
            <a:r>
              <a:rPr lang="sv-SE" sz="2400" dirty="0">
                <a:latin typeface="Comic Sans MS" panose="030F0702030302020204" pitchFamily="66" charset="0"/>
              </a:rPr>
              <a:t>_Var3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	</a:t>
            </a:r>
            <a:r>
              <a:rPr lang="en-SE" sz="2400" dirty="0">
                <a:latin typeface="Comic Sans MS" panose="030F0702030302020204" pitchFamily="66" charset="0"/>
              </a:rPr>
              <a:t>🟩 </a:t>
            </a:r>
            <a:r>
              <a:rPr lang="sv-SE" sz="2400" b="1" dirty="0">
                <a:latin typeface="Comic Sans MS" panose="030F0702030302020204" pitchFamily="66" charset="0"/>
              </a:rPr>
              <a:t>Public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			</a:t>
            </a:r>
            <a:r>
              <a:rPr lang="en-SE" sz="2400" dirty="0">
                <a:latin typeface="Comic Sans MS" panose="030F0702030302020204" pitchFamily="66" charset="0"/>
              </a:rPr>
              <a:t>🔹 </a:t>
            </a:r>
            <a:r>
              <a:rPr lang="sv-SE" sz="2400" dirty="0">
                <a:latin typeface="Comic Sans MS" panose="030F0702030302020204" pitchFamily="66" charset="0"/>
              </a:rPr>
              <a:t>Var2</a:t>
            </a:r>
          </a:p>
          <a:p>
            <a:r>
              <a:rPr lang="en-SE" sz="2400" b="1" dirty="0">
                <a:latin typeface="Comic Sans MS" panose="030F0702030302020204" pitchFamily="66" charset="0"/>
              </a:rPr>
              <a:t>🟨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Constructor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initializes</a:t>
            </a:r>
            <a:r>
              <a:rPr lang="sv-SE" sz="2400" dirty="0">
                <a:latin typeface="Comic Sans MS" panose="030F0702030302020204" pitchFamily="66" charset="0"/>
              </a:rPr>
              <a:t> all </a:t>
            </a:r>
            <a:r>
              <a:rPr lang="sv-SE" sz="2400" dirty="0" err="1">
                <a:latin typeface="Comic Sans MS" panose="030F0702030302020204" pitchFamily="66" charset="0"/>
              </a:rPr>
              <a:t>members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2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ECE2D1-8270-1BF4-7D36-3FE122833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A25DA77-2178-E663-24A6-91544F9D12C6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🟨 Friend Function Declaration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</a:t>
            </a:r>
            <a:r>
              <a:rPr lang="en-GB" sz="2400" dirty="0" err="1">
                <a:latin typeface="Comic Sans MS" panose="030F0702030302020204" pitchFamily="66" charset="0"/>
              </a:rPr>
              <a:t>MySum</a:t>
            </a:r>
            <a:r>
              <a:rPr lang="en-GB" sz="2400" dirty="0">
                <a:latin typeface="Comic Sans MS" panose="030F0702030302020204" pitchFamily="66" charset="0"/>
              </a:rPr>
              <a:t>() is declared as a </a:t>
            </a:r>
            <a:r>
              <a:rPr lang="en-GB" sz="2400" b="1" dirty="0">
                <a:latin typeface="Comic Sans MS" panose="030F0702030302020204" pitchFamily="66" charset="0"/>
              </a:rPr>
              <a:t>friend function</a:t>
            </a:r>
            <a:r>
              <a:rPr lang="en-GB" sz="2400" dirty="0">
                <a:latin typeface="Comic Sans MS" panose="030F0702030302020204" pitchFamily="66" charset="0"/>
              </a:rPr>
              <a:t> inside </a:t>
            </a:r>
            <a:r>
              <a:rPr lang="en-GB" sz="2400" dirty="0" err="1">
                <a:latin typeface="Comic Sans MS" panose="030F0702030302020204" pitchFamily="66" charset="0"/>
              </a:rPr>
              <a:t>clsA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</a:t>
            </a:r>
            <a:r>
              <a:rPr lang="en-GB" sz="2400" dirty="0" err="1">
                <a:latin typeface="Comic Sans MS" panose="030F0702030302020204" pitchFamily="66" charset="0"/>
              </a:rPr>
              <a:t>MySum</a:t>
            </a:r>
            <a:r>
              <a:rPr lang="en-GB" sz="2400" dirty="0">
                <a:latin typeface="Comic Sans MS" panose="030F0702030302020204" pitchFamily="66" charset="0"/>
              </a:rPr>
              <a:t>() is a </a:t>
            </a:r>
            <a:r>
              <a:rPr lang="en-GB" sz="2400" b="1" dirty="0">
                <a:latin typeface="Comic Sans MS" panose="030F0702030302020204" pitchFamily="66" charset="0"/>
              </a:rPr>
              <a:t>normal global function</a:t>
            </a:r>
            <a:r>
              <a:rPr lang="en-GB" sz="2400" dirty="0">
                <a:latin typeface="Comic Sans MS" panose="030F0702030302020204" pitchFamily="66" charset="0"/>
              </a:rPr>
              <a:t>, not a class member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It can access _Var1 and _Var3 </a:t>
            </a:r>
            <a:r>
              <a:rPr lang="en-GB" sz="2400" b="1" dirty="0">
                <a:latin typeface="Comic Sans MS" panose="030F0702030302020204" pitchFamily="66" charset="0"/>
              </a:rPr>
              <a:t>only because it is a friend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194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0493257-758A-6AB2-58AB-03C72E069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7684C10-C4C3-B68F-5237-3EC31249E5F1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💡 </a:t>
            </a:r>
            <a:r>
              <a:rPr lang="sv-SE" sz="4000" b="1" dirty="0" err="1">
                <a:latin typeface="Comic Sans MS" panose="030F0702030302020204" pitchFamily="66" charset="0"/>
              </a:rPr>
              <a:t>Example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friend int </a:t>
            </a:r>
            <a:r>
              <a:rPr lang="en-GB" sz="2400" spc="-17" dirty="0" err="1">
                <a:solidFill>
                  <a:schemeClr val="tx1"/>
                </a:solidFill>
                <a:latin typeface="Comic Sans MS" panose="030F0702030302020204" pitchFamily="66" charset="0"/>
              </a:rPr>
              <a:t>MySum</a:t>
            </a: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(</a:t>
            </a:r>
            <a:r>
              <a:rPr lang="en-GB" sz="2400" spc="-17" dirty="0" err="1">
                <a:solidFill>
                  <a:schemeClr val="tx1"/>
                </a:solidFill>
                <a:latin typeface="Comic Sans MS" panose="030F0702030302020204" pitchFamily="66" charset="0"/>
              </a:rPr>
              <a:t>clsA</a:t>
            </a: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 A1);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This grants </a:t>
            </a:r>
            <a:r>
              <a:rPr lang="en-GB" sz="2400" dirty="0" err="1">
                <a:latin typeface="Comic Sans MS" panose="030F0702030302020204" pitchFamily="66" charset="0"/>
              </a:rPr>
              <a:t>MySum</a:t>
            </a:r>
            <a:r>
              <a:rPr lang="en-GB" sz="2400" dirty="0">
                <a:latin typeface="Comic Sans MS" panose="030F0702030302020204" pitchFamily="66" charset="0"/>
              </a:rPr>
              <a:t>() access to: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Private members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Protected members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Public members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75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🟦 Steps in main()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1️⃣ Create an object of </a:t>
            </a:r>
            <a:r>
              <a:rPr lang="en-GB" sz="2400" spc="-17" dirty="0" err="1">
                <a:solidFill>
                  <a:schemeClr val="tx1"/>
                </a:solidFill>
                <a:latin typeface="Comic Sans MS" panose="030F0702030302020204" pitchFamily="66" charset="0"/>
              </a:rPr>
              <a:t>clsA</a:t>
            </a:r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2️⃣ Call the friend function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The function accesses all members successfully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DB6C49-EACC-9FE4-C633-CACDEA6B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E9409D-8454-F144-09AA-0F831C297726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➡️ </a:t>
            </a:r>
            <a:r>
              <a:rPr lang="sv-SE" sz="4000" b="1" spc="-17" dirty="0" err="1">
                <a:solidFill>
                  <a:schemeClr val="tx1"/>
                </a:solidFill>
                <a:latin typeface="Comic Sans MS" panose="030F0702030302020204" pitchFamily="66" charset="0"/>
              </a:rPr>
              <a:t>Expected</a:t>
            </a:r>
            <a:r>
              <a:rPr lang="sv-SE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 Output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60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The sum includes: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Private member _Var1 → 10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Public member Var2 → 20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Protected member _Var3 → 30</a:t>
            </a:r>
          </a:p>
        </p:txBody>
      </p:sp>
    </p:spTree>
    <p:extLst>
      <p:ext uri="{BB962C8B-B14F-4D97-AF65-F5344CB8AC3E}">
        <p14:creationId xmlns:p14="http://schemas.microsoft.com/office/powerpoint/2010/main" val="22833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BE943-6BF8-6560-128F-3A2B5B25F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A9D01D0-5E83-97B5-892D-5D4DC706BDFD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⚖️ Comparison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🟩 Normal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Cannot access private/protected members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Compilation error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🟨 Friend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Can access all members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✔️ Requires explicit permission</a:t>
            </a:r>
          </a:p>
        </p:txBody>
      </p:sp>
    </p:spTree>
    <p:extLst>
      <p:ext uri="{BB962C8B-B14F-4D97-AF65-F5344CB8AC3E}">
        <p14:creationId xmlns:p14="http://schemas.microsoft.com/office/powerpoint/2010/main" val="139548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90E0AC-1179-7FB7-16BD-3B0B6827A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03FC800-D303-BD33-7789-3A9B80106EA6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🚫 Warning</a:t>
            </a:r>
          </a:p>
          <a:p>
            <a:endParaRPr lang="en-GB" sz="24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🔹 </a:t>
            </a:r>
            <a:r>
              <a:rPr lang="en-GB" sz="2400" dirty="0">
                <a:latin typeface="Comic Sans MS" panose="030F0702030302020204" pitchFamily="66" charset="0"/>
              </a:rPr>
              <a:t>Friendship </a:t>
            </a: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	🟩 </a:t>
            </a:r>
            <a:r>
              <a:rPr lang="en-GB" sz="2400" dirty="0">
                <a:latin typeface="Comic Sans MS" panose="030F0702030302020204" pitchFamily="66" charset="0"/>
              </a:rPr>
              <a:t>Breaks encapsulation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🟩 </a:t>
            </a:r>
            <a:r>
              <a:rPr lang="en-GB" sz="2400" dirty="0">
                <a:latin typeface="Comic Sans MS" panose="030F0702030302020204" pitchFamily="66" charset="0"/>
              </a:rPr>
              <a:t>Are not members of the class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</a:t>
            </a:r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🟩 </a:t>
            </a:r>
            <a:r>
              <a:rPr lang="en-GB" sz="2400" dirty="0">
                <a:latin typeface="Comic Sans MS" panose="030F0702030302020204" pitchFamily="66" charset="0"/>
              </a:rPr>
              <a:t>Are not inherited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Use friend functions </a:t>
            </a:r>
            <a:r>
              <a:rPr lang="en-GB" sz="2400" b="1" dirty="0">
                <a:latin typeface="Comic Sans MS" panose="030F0702030302020204" pitchFamily="66" charset="0"/>
              </a:rPr>
              <a:t>only when necessary</a:t>
            </a:r>
            <a:endParaRPr lang="en-GB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71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548168-F6BF-9E3C-8335-7DFD704D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7131D51-6AAA-DD4B-6C31-C4D46506634E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Friend functions can access private and protected data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They are declared inside the class but defined outside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They are normal functions, not class members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They should be used carefully</a:t>
            </a:r>
          </a:p>
        </p:txBody>
      </p:sp>
    </p:spTree>
    <p:extLst>
      <p:ext uri="{BB962C8B-B14F-4D97-AF65-F5344CB8AC3E}">
        <p14:creationId xmlns:p14="http://schemas.microsoft.com/office/powerpoint/2010/main" val="146477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2902</TotalTime>
  <Words>364</Words>
  <Application>Microsoft Office PowerPoint</Application>
  <PresentationFormat>Custom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180</cp:revision>
  <dcterms:created xsi:type="dcterms:W3CDTF">2025-12-09T17:44:59Z</dcterms:created>
  <dcterms:modified xsi:type="dcterms:W3CDTF">2026-01-02T13:06:46Z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