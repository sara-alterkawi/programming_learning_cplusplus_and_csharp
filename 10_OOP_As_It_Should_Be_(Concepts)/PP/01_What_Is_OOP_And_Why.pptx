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ppt/media/image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48" r:id="rId3"/>
    <p:sldId id="258" r:id="rId4"/>
    <p:sldId id="296" r:id="rId5"/>
    <p:sldId id="312" r:id="rId6"/>
    <p:sldId id="314" r:id="rId7"/>
    <p:sldId id="315" r:id="rId8"/>
    <p:sldId id="316" r:id="rId9"/>
    <p:sldId id="313" r:id="rId10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7" d="100"/>
          <a:sy n="37" d="100"/>
        </p:scale>
        <p:origin x="1131" y="36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6455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54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54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54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7D40FEF-3BA2-CA37-F217-743FD1114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0FF4956-9A48-B4F6-30D1-F7269C6E81AE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4367D23-DA05-AD03-BCF0-45C645D75D3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3D49E3A-7825-2ED8-B174-44003AA93083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301212C5-029B-062D-10CA-92189AF441C9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0D4E3193-6B57-5F8F-55D8-0B2B1E4BB433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What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is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OOP and Why??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480536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888075"/>
            <a:ext cx="12352767" cy="1817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F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unctional (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FP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) vs 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O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bject 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O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riented (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OOP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)</a:t>
            </a:r>
          </a:p>
          <a:p>
            <a:pPr marL="21912">
              <a:spcBef>
                <a:spcPts val="1216"/>
              </a:spcBef>
            </a:pPr>
            <a:endParaRPr lang="sv-SE" sz="2400" b="1" dirty="0">
              <a:solidFill>
                <a:srgbClr val="FF0000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University System </a:t>
            </a:r>
            <a:r>
              <a:rPr lang="sv-SE" sz="2400" b="1" dirty="0" err="1">
                <a:solidFill>
                  <a:schemeClr val="tx1"/>
                </a:solidFill>
                <a:latin typeface="Comic Sans MS"/>
                <a:cs typeface="Comic Sans MS"/>
              </a:rPr>
              <a:t>Example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 (</a:t>
            </a: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FP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)</a:t>
            </a:r>
            <a:endParaRPr lang="sv-SE" sz="2400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BA3D0C9F-33A4-2C20-EDB5-DB478A9E63D9}"/>
              </a:ext>
            </a:extLst>
          </p:cNvPr>
          <p:cNvSpPr txBox="1"/>
          <p:nvPr/>
        </p:nvSpPr>
        <p:spPr>
          <a:xfrm>
            <a:off x="381000" y="2667000"/>
            <a:ext cx="10287000" cy="6248400"/>
          </a:xfrm>
          <a:prstGeom prst="rect">
            <a:avLst/>
          </a:prstGeom>
        </p:spPr>
        <p:txBody>
          <a:bodyPr vert="horz" wrap="square" lIns="0" tIns="154492" rIns="0" bIns="0" numCol="2" rtlCol="0">
            <a:spAutoFit/>
          </a:bodyPr>
          <a:lstStyle/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AddStudent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UpdateStudent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DeleteStudent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CalculateAverage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AddCourse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UpdateCourse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DeleteCouse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EnrollStudentInCourse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UnEnrollStudentFromCoruse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HowManyStudentsInCourse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Doctor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(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Add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, Edit,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Delete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)</a:t>
            </a: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AssignCourse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ToDoctor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SendEmail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ToStudent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Send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TextMessage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ToStudent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SendEmailToDoctor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Send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TextMessage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ToDoctor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CallStudent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CallDoctor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AddEmployee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UpdateEmployee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DeleteEmployee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CalculateSalary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PaySalary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………………….</a:t>
            </a:r>
            <a:endParaRPr lang="sv-SE" sz="2400" dirty="0">
              <a:solidFill>
                <a:schemeClr val="accent1"/>
              </a:solidFill>
              <a:latin typeface="Comic Sans MS"/>
              <a:cs typeface="Comic Sans MS"/>
            </a:endParaRPr>
          </a:p>
        </p:txBody>
      </p:sp>
      <p:pic>
        <p:nvPicPr>
          <p:cNvPr id="8" name="Picture 7" descr="A cartoon of a yellow emoticon&#10;&#10;AI-generated content may be incorrect.">
            <a:extLst>
              <a:ext uri="{FF2B5EF4-FFF2-40B4-BE49-F238E27FC236}">
                <a16:creationId xmlns:a16="http://schemas.microsoft.com/office/drawing/2014/main" id="{F06308B9-72EB-9960-C7F0-9D3E5909B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0" y="5052646"/>
            <a:ext cx="2143125" cy="21431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6389AE-829D-6805-2D27-56141584A3BB}"/>
              </a:ext>
            </a:extLst>
          </p:cNvPr>
          <p:cNvSpPr txBox="1"/>
          <p:nvPr/>
        </p:nvSpPr>
        <p:spPr>
          <a:xfrm>
            <a:off x="9067800" y="7016841"/>
            <a:ext cx="4343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2400" b="1" dirty="0">
                <a:solidFill>
                  <a:srgbClr val="FF0000"/>
                </a:solidFill>
                <a:latin typeface="Comic Sans MS"/>
              </a:rPr>
              <a:t>Simply</a:t>
            </a:r>
          </a:p>
          <a:p>
            <a:r>
              <a:rPr lang="en-SE" sz="2400" b="1" dirty="0">
                <a:solidFill>
                  <a:schemeClr val="tx1"/>
                </a:solidFill>
                <a:latin typeface="Comic Sans MS"/>
              </a:rPr>
              <a:t>You can have thousands of</a:t>
            </a:r>
            <a:r>
              <a:rPr lang="sv-SE" sz="2400" b="1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en-SE" sz="2400" b="1" dirty="0">
                <a:solidFill>
                  <a:schemeClr val="tx1"/>
                </a:solidFill>
                <a:latin typeface="Comic Sans MS"/>
              </a:rPr>
              <a:t>functions in your System!!!!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1C9F7-9A4E-8ADE-F459-033126BEC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02C8EC2C-677B-304A-CD8B-D1856A74C784}"/>
              </a:ext>
            </a:extLst>
          </p:cNvPr>
          <p:cNvSpPr txBox="1">
            <a:spLocks/>
          </p:cNvSpPr>
          <p:nvPr/>
        </p:nvSpPr>
        <p:spPr>
          <a:xfrm>
            <a:off x="0" y="3770308"/>
            <a:ext cx="13411200" cy="2517784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en-GB" sz="4000" dirty="0">
                <a:solidFill>
                  <a:schemeClr val="tx1"/>
                </a:solidFill>
              </a:rPr>
              <a:t>The </a:t>
            </a:r>
            <a:r>
              <a:rPr lang="en-GB" sz="4000" u="sng" dirty="0">
                <a:solidFill>
                  <a:srgbClr val="FF0000"/>
                </a:solidFill>
              </a:rPr>
              <a:t>problem is not with number of functions </a:t>
            </a:r>
            <a:r>
              <a:rPr lang="en-GB" sz="4000" dirty="0">
                <a:solidFill>
                  <a:schemeClr val="tx1"/>
                </a:solidFill>
              </a:rPr>
              <a:t>at all </a:t>
            </a:r>
            <a:r>
              <a:rPr lang="sv-SE" sz="4000" spc="-67" dirty="0">
                <a:solidFill>
                  <a:schemeClr val="tx1"/>
                </a:solidFill>
                <a:latin typeface="Wingdings"/>
                <a:cs typeface="Wingdings"/>
              </a:rPr>
              <a:t></a:t>
            </a:r>
          </a:p>
          <a:p>
            <a:pPr marL="16932" algn="ctr">
              <a:spcBef>
                <a:spcPts val="133"/>
              </a:spcBef>
            </a:pPr>
            <a:endParaRPr lang="en-GB" sz="4000" dirty="0">
              <a:solidFill>
                <a:schemeClr val="tx1"/>
              </a:solidFill>
            </a:endParaRPr>
          </a:p>
          <a:p>
            <a:pPr marL="16932" algn="ctr">
              <a:spcBef>
                <a:spcPts val="133"/>
              </a:spcBef>
            </a:pPr>
            <a:r>
              <a:rPr lang="en-GB" sz="4000" spc="-21" dirty="0">
                <a:solidFill>
                  <a:schemeClr val="tx1"/>
                </a:solidFill>
              </a:rPr>
              <a:t>The problem is with </a:t>
            </a:r>
            <a:r>
              <a:rPr lang="en-GB" sz="4000" u="sng" spc="-21" dirty="0">
                <a:solidFill>
                  <a:srgbClr val="FF0000"/>
                </a:solidFill>
              </a:rPr>
              <a:t>organizing them and the way you look</a:t>
            </a:r>
          </a:p>
          <a:p>
            <a:pPr marL="16932" algn="ctr">
              <a:spcBef>
                <a:spcPts val="133"/>
              </a:spcBef>
            </a:pPr>
            <a:r>
              <a:rPr lang="en-GB" sz="4000" spc="-21" dirty="0">
                <a:solidFill>
                  <a:schemeClr val="tx1"/>
                </a:solidFill>
              </a:rPr>
              <a:t>at them </a:t>
            </a:r>
            <a:r>
              <a:rPr lang="sv-SE" sz="4000" spc="-67" dirty="0">
                <a:solidFill>
                  <a:schemeClr val="tx1"/>
                </a:solidFill>
                <a:latin typeface="Wingdings"/>
                <a:cs typeface="Wingdings"/>
              </a:rPr>
              <a:t></a:t>
            </a:r>
          </a:p>
        </p:txBody>
      </p:sp>
    </p:spTree>
    <p:extLst>
      <p:ext uri="{BB962C8B-B14F-4D97-AF65-F5344CB8AC3E}">
        <p14:creationId xmlns:p14="http://schemas.microsoft.com/office/powerpoint/2010/main" val="1721197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877DB8-EB77-0D59-49BE-8EC42F38B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E413FAE-6402-58A2-B070-7CE2160B52FF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 lvl="1">
              <a:spcBef>
                <a:spcPts val="1216"/>
              </a:spcBef>
            </a:pPr>
            <a:r>
              <a:rPr lang="en-GB" sz="4000" dirty="0">
                <a:solidFill>
                  <a:schemeClr val="tx1"/>
                </a:solidFill>
                <a:latin typeface="Comic Sans MS"/>
                <a:cs typeface="Comic Sans MS"/>
              </a:rPr>
              <a:t>To make it simple for you </a:t>
            </a:r>
            <a:r>
              <a:rPr lang="sv-SE" sz="4000" spc="-67" dirty="0">
                <a:solidFill>
                  <a:schemeClr val="tx1"/>
                </a:solidFill>
                <a:latin typeface="Wingdings"/>
                <a:cs typeface="Wingdings"/>
              </a:rPr>
              <a:t></a:t>
            </a:r>
            <a:endParaRPr lang="en-GB" sz="40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 lvl="1">
              <a:spcBef>
                <a:spcPts val="1216"/>
              </a:spcBef>
            </a:pPr>
            <a:r>
              <a:rPr lang="en-GB" sz="4000" dirty="0">
                <a:solidFill>
                  <a:schemeClr val="tx1"/>
                </a:solidFill>
                <a:latin typeface="Comic Sans MS"/>
                <a:cs typeface="Comic Sans MS"/>
              </a:rPr>
              <a:t>What if you have </a:t>
            </a:r>
            <a:r>
              <a:rPr lang="en-GB" sz="4000" u="sng" dirty="0">
                <a:solidFill>
                  <a:srgbClr val="FF0000"/>
                </a:solidFill>
                <a:latin typeface="Comic Sans MS"/>
                <a:cs typeface="Comic Sans MS"/>
              </a:rPr>
              <a:t>thousands of contacts and phone numbers </a:t>
            </a:r>
            <a:r>
              <a:rPr lang="en-GB" sz="4000" dirty="0">
                <a:solidFill>
                  <a:schemeClr val="tx1"/>
                </a:solidFill>
                <a:latin typeface="Comic Sans MS"/>
                <a:cs typeface="Comic Sans MS"/>
              </a:rPr>
              <a:t>and all</a:t>
            </a:r>
          </a:p>
          <a:p>
            <a:pPr marL="21912" lvl="1">
              <a:spcBef>
                <a:spcPts val="1216"/>
              </a:spcBef>
            </a:pPr>
            <a:r>
              <a:rPr lang="en-GB" sz="4000" dirty="0">
                <a:solidFill>
                  <a:schemeClr val="tx1"/>
                </a:solidFill>
                <a:latin typeface="Comic Sans MS"/>
                <a:cs typeface="Comic Sans MS"/>
              </a:rPr>
              <a:t>these contacts and numbers are </a:t>
            </a:r>
            <a:r>
              <a:rPr lang="en-GB" sz="4000" dirty="0">
                <a:solidFill>
                  <a:srgbClr val="FF0000"/>
                </a:solidFill>
                <a:latin typeface="Comic Sans MS"/>
                <a:cs typeface="Comic Sans MS"/>
              </a:rPr>
              <a:t>not organized!</a:t>
            </a:r>
          </a:p>
          <a:p>
            <a:pPr marL="21912" lvl="1">
              <a:spcBef>
                <a:spcPts val="1216"/>
              </a:spcBef>
            </a:pPr>
            <a:r>
              <a:rPr lang="en-GB" sz="4000" dirty="0">
                <a:solidFill>
                  <a:schemeClr val="tx1"/>
                </a:solidFill>
                <a:latin typeface="Comic Sans MS"/>
                <a:cs typeface="Comic Sans MS"/>
              </a:rPr>
              <a:t>You will have a nightmare </a:t>
            </a:r>
            <a:r>
              <a:rPr lang="sv-SE" sz="4000" spc="-67" dirty="0">
                <a:solidFill>
                  <a:schemeClr val="tx1"/>
                </a:solidFill>
                <a:latin typeface="Wingdings"/>
                <a:cs typeface="Wingdings"/>
              </a:rPr>
              <a:t></a:t>
            </a:r>
          </a:p>
          <a:p>
            <a:pPr marL="21912">
              <a:spcBef>
                <a:spcPts val="1216"/>
              </a:spcBef>
            </a:pPr>
            <a:endParaRPr lang="sv-SE" sz="4000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  <p:pic>
        <p:nvPicPr>
          <p:cNvPr id="1026" name="Picture 2" descr="Gun To My Head Emoticon">
            <a:extLst>
              <a:ext uri="{FF2B5EF4-FFF2-40B4-BE49-F238E27FC236}">
                <a16:creationId xmlns:a16="http://schemas.microsoft.com/office/drawing/2014/main" id="{E5B05348-E9B5-E917-AD64-9CECDEEEF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2920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D95B0E-571C-0295-1A84-619AFBAA9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308" y="5152851"/>
            <a:ext cx="3286584" cy="2495898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5B0D84A5-0941-7208-5075-22A640E4C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961077" y="5037757"/>
            <a:ext cx="2438400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4627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F998F32-622F-4169-222F-E3EB7A42C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6DA0554-03F2-BB37-B5AB-0EADC0FB7955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 lvl="1">
              <a:spcBef>
                <a:spcPts val="1216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</a:rPr>
              <a:t>OOP will solve this Problem for you</a:t>
            </a:r>
          </a:p>
          <a:p>
            <a:pPr marL="21912" lvl="1">
              <a:spcBef>
                <a:spcPts val="1216"/>
              </a:spcBef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21912" lvl="1">
              <a:spcBef>
                <a:spcPts val="1216"/>
              </a:spcBef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OOP Makes Programming and the Way you look at programming near to the way you look at your lite</a:t>
            </a:r>
            <a:endParaRPr lang="sv-SE" sz="2400" dirty="0">
              <a:solidFill>
                <a:schemeClr val="tx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329745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7B0B42-D5C4-EAC1-1EBB-2DD798B5E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D6274C-4F8B-31EE-1AD4-9890CF36F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07" y="2777172"/>
            <a:ext cx="10575041" cy="6138228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59511867-0D8F-9EB0-00DB-50266AB33023}"/>
              </a:ext>
            </a:extLst>
          </p:cNvPr>
          <p:cNvSpPr txBox="1"/>
          <p:nvPr/>
        </p:nvSpPr>
        <p:spPr>
          <a:xfrm>
            <a:off x="381000" y="888075"/>
            <a:ext cx="12352767" cy="1817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F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unctional (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FP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) vs 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O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bject 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O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riented (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OOP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)</a:t>
            </a:r>
          </a:p>
          <a:p>
            <a:pPr marL="21912">
              <a:spcBef>
                <a:spcPts val="1216"/>
              </a:spcBef>
            </a:pPr>
            <a:endParaRPr lang="sv-SE" sz="2400" b="1" dirty="0">
              <a:solidFill>
                <a:srgbClr val="FF0000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University System </a:t>
            </a:r>
            <a:r>
              <a:rPr lang="sv-SE" sz="2400" b="1" dirty="0" err="1">
                <a:solidFill>
                  <a:schemeClr val="tx1"/>
                </a:solidFill>
                <a:latin typeface="Comic Sans MS"/>
                <a:cs typeface="Comic Sans MS"/>
              </a:rPr>
              <a:t>Example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 (</a:t>
            </a: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OOP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)</a:t>
            </a:r>
            <a:endParaRPr lang="sv-SE" sz="2400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86F649-4206-D98D-A2CF-120049037316}"/>
              </a:ext>
            </a:extLst>
          </p:cNvPr>
          <p:cNvSpPr txBox="1"/>
          <p:nvPr/>
        </p:nvSpPr>
        <p:spPr>
          <a:xfrm>
            <a:off x="9067800" y="7016841"/>
            <a:ext cx="4343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2400" b="1" dirty="0">
                <a:solidFill>
                  <a:srgbClr val="FF0000"/>
                </a:solidFill>
                <a:latin typeface="Comic Sans MS"/>
              </a:rPr>
              <a:t>Simply</a:t>
            </a:r>
          </a:p>
          <a:p>
            <a:r>
              <a:rPr lang="en-GB" sz="2400" b="1" dirty="0">
                <a:solidFill>
                  <a:schemeClr val="tx1"/>
                </a:solidFill>
                <a:latin typeface="Comic Sans MS"/>
              </a:rPr>
              <a:t>Group Members and Functions Inside Related Objects</a:t>
            </a:r>
            <a:endParaRPr lang="en-SE" sz="2400" b="1" dirty="0">
              <a:solidFill>
                <a:schemeClr val="tx1"/>
              </a:solidFill>
              <a:latin typeface="Comic Sans MS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816FEC9-7714-D4FC-5C4D-0D047E555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961077" y="5037757"/>
            <a:ext cx="2438400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6779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FA459D-045C-389F-CA08-0DE733B89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2B0E27-372A-613F-08D7-4B783356A0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410" b="70383"/>
          <a:stretch>
            <a:fillRect/>
          </a:stretch>
        </p:blipFill>
        <p:spPr>
          <a:xfrm>
            <a:off x="410307" y="2777172"/>
            <a:ext cx="3552093" cy="18179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738A6B-BE9E-0B5A-084D-79CF74DC757A}"/>
              </a:ext>
            </a:extLst>
          </p:cNvPr>
          <p:cNvSpPr txBox="1"/>
          <p:nvPr/>
        </p:nvSpPr>
        <p:spPr>
          <a:xfrm>
            <a:off x="9067800" y="7016841"/>
            <a:ext cx="4343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E" sz="2400" b="1" dirty="0">
              <a:solidFill>
                <a:srgbClr val="FF0000"/>
              </a:solidFill>
              <a:latin typeface="Comic Sans MS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Comic Sans MS"/>
              </a:rPr>
              <a:t>You can do whatever you want with a certain student through its object</a:t>
            </a:r>
            <a:endParaRPr lang="en-SE" sz="2400" b="1" dirty="0">
              <a:solidFill>
                <a:srgbClr val="FF0000"/>
              </a:solidFill>
              <a:latin typeface="Comic Sans MS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C977B78-9818-85D1-3E8B-D8406387C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961077" y="5037757"/>
            <a:ext cx="2438400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66DD3F94-ADF6-3389-BA57-5F3653FB0A07}"/>
              </a:ext>
            </a:extLst>
          </p:cNvPr>
          <p:cNvSpPr txBox="1"/>
          <p:nvPr/>
        </p:nvSpPr>
        <p:spPr>
          <a:xfrm>
            <a:off x="381000" y="4648200"/>
            <a:ext cx="10287000" cy="4187874"/>
          </a:xfrm>
          <a:prstGeom prst="rect">
            <a:avLst/>
          </a:prstGeom>
        </p:spPr>
        <p:txBody>
          <a:bodyPr vert="horz" wrap="square" lIns="0" tIns="154492" rIns="0" bIns="0" numCol="1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Student1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.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Name</a:t>
            </a: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Student1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.Email</a:t>
            </a: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Student1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.GetEnrolledCourses()</a:t>
            </a: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Student1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.CalcuateAverage()</a:t>
            </a: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Student1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.SendEmail(</a:t>
            </a:r>
            <a:r>
              <a:rPr lang="sv-SE" sz="2400" b="1" dirty="0" err="1">
                <a:solidFill>
                  <a:schemeClr val="tx1"/>
                </a:solidFill>
                <a:latin typeface="Comic Sans MS"/>
                <a:cs typeface="Comic Sans MS"/>
              </a:rPr>
              <a:t>Subject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, Body)</a:t>
            </a: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Student1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.EnrollInCourse(10)</a:t>
            </a: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Student1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.PayFees</a:t>
            </a: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Student1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.UnEnrolFromCourse(10)</a:t>
            </a:r>
            <a:endParaRPr lang="sv-SE" sz="2400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7F7ADB6-589F-74E5-1F13-AD7EE6017381}"/>
              </a:ext>
            </a:extLst>
          </p:cNvPr>
          <p:cNvSpPr txBox="1"/>
          <p:nvPr/>
        </p:nvSpPr>
        <p:spPr>
          <a:xfrm>
            <a:off x="381000" y="888075"/>
            <a:ext cx="12352767" cy="1817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F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unctional (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FP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) vs 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O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bject 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O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riented (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OOP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)</a:t>
            </a:r>
          </a:p>
          <a:p>
            <a:pPr marL="21912">
              <a:spcBef>
                <a:spcPts val="1216"/>
              </a:spcBef>
            </a:pPr>
            <a:endParaRPr lang="sv-SE" sz="2400" b="1" dirty="0">
              <a:solidFill>
                <a:srgbClr val="FF0000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Student </a:t>
            </a:r>
            <a:r>
              <a:rPr lang="sv-SE" sz="2400" b="1" dirty="0" err="1">
                <a:solidFill>
                  <a:srgbClr val="FF0000"/>
                </a:solidFill>
                <a:latin typeface="Comic Sans MS"/>
                <a:cs typeface="Comic Sans MS"/>
              </a:rPr>
              <a:t>Object</a:t>
            </a:r>
            <a:endParaRPr lang="sv-SE" sz="2400" dirty="0">
              <a:solidFill>
                <a:srgbClr val="FF0000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460765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</TotalTime>
  <Words>255</Words>
  <Application>Microsoft Office PowerPoint</Application>
  <PresentationFormat>Custom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26</cp:revision>
  <dcterms:created xsi:type="dcterms:W3CDTF">2025-12-09T17:44:59Z</dcterms:created>
  <dcterms:modified xsi:type="dcterms:W3CDTF">2026-01-16T19:47:02Z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