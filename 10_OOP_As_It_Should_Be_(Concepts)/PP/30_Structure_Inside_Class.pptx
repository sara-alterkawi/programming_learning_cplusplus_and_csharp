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42" r:id="rId5"/>
    <p:sldId id="325" r:id="rId6"/>
    <p:sldId id="343" r:id="rId7"/>
    <p:sldId id="344" r:id="rId8"/>
    <p:sldId id="339" r:id="rId9"/>
    <p:sldId id="335" r:id="rId10"/>
    <p:sldId id="329" r:id="rId11"/>
    <p:sldId id="330" r:id="rId12"/>
    <p:sldId id="332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684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Structure Inside Class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Structure Inside Class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dirty="0">
                <a:latin typeface="Comic Sans MS" panose="030F0702030302020204" pitchFamily="66" charset="0"/>
              </a:rPr>
              <a:t>🔹 A </a:t>
            </a:r>
            <a:r>
              <a:rPr lang="en-GB" sz="2400" b="1" dirty="0">
                <a:latin typeface="Comic Sans MS" panose="030F0702030302020204" pitchFamily="66" charset="0"/>
              </a:rPr>
              <a:t>structure inside a class</a:t>
            </a:r>
            <a:r>
              <a:rPr lang="en-GB" sz="2400" dirty="0">
                <a:latin typeface="Comic Sans MS" panose="030F0702030302020204" pitchFamily="66" charset="0"/>
              </a:rPr>
              <a:t> is a user-defined data type declared within a class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It is used to </a:t>
            </a:r>
            <a:r>
              <a:rPr lang="en-GB" sz="2400" b="1" dirty="0">
                <a:latin typeface="Comic Sans MS" panose="030F0702030302020204" pitchFamily="66" charset="0"/>
              </a:rPr>
              <a:t>group related data</a:t>
            </a:r>
            <a:r>
              <a:rPr lang="en-GB" sz="2400" dirty="0">
                <a:latin typeface="Comic Sans MS" panose="030F0702030302020204" pitchFamily="66" charset="0"/>
              </a:rPr>
              <a:t> as a single member of the class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602A26-E2DB-3EC3-CDEC-BD91E567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458D62A-ED0D-005C-6EC5-FF31F2AB458E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dirty="0">
                <a:latin typeface="Comic Sans MS" panose="030F0702030302020204" pitchFamily="66" charset="0"/>
              </a:rPr>
              <a:t>🔹 This example demonstrates </a:t>
            </a:r>
            <a:r>
              <a:rPr lang="en-GB" sz="2400" b="1" dirty="0">
                <a:latin typeface="Comic Sans MS" panose="030F0702030302020204" pitchFamily="66" charset="0"/>
              </a:rPr>
              <a:t>composition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The class </a:t>
            </a:r>
            <a:r>
              <a:rPr lang="en-GB" sz="2400" dirty="0" err="1">
                <a:latin typeface="Comic Sans MS" panose="030F0702030302020204" pitchFamily="66" charset="0"/>
              </a:rPr>
              <a:t>clsPerson</a:t>
            </a:r>
            <a:r>
              <a:rPr lang="en-GB" sz="2400" dirty="0">
                <a:latin typeface="Comic Sans MS" panose="030F0702030302020204" pitchFamily="66" charset="0"/>
              </a:rPr>
              <a:t> </a:t>
            </a:r>
            <a:r>
              <a:rPr lang="en-GB" sz="2400" b="1" dirty="0">
                <a:latin typeface="Comic Sans MS" panose="030F0702030302020204" pitchFamily="66" charset="0"/>
              </a:rPr>
              <a:t>contains</a:t>
            </a:r>
            <a:r>
              <a:rPr lang="en-GB" sz="2400" dirty="0">
                <a:latin typeface="Comic Sans MS" panose="030F0702030302020204" pitchFamily="66" charset="0"/>
              </a:rPr>
              <a:t> a structure </a:t>
            </a:r>
            <a:r>
              <a:rPr lang="en-GB" sz="2400" dirty="0" err="1">
                <a:latin typeface="Comic Sans MS" panose="030F0702030302020204" pitchFamily="66" charset="0"/>
              </a:rPr>
              <a:t>stAddress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The structure represents address information related to a person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12011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329532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🟨 Class Structure</a:t>
            </a:r>
          </a:p>
          <a:p>
            <a:pPr marL="21912">
              <a:spcBef>
                <a:spcPts val="1216"/>
              </a:spcBef>
            </a:pPr>
            <a:endParaRPr lang="sv-SE" sz="2400" b="1" dirty="0">
              <a:latin typeface="Comic Sans MS" panose="030F0702030302020204" pitchFamily="66" charset="0"/>
            </a:endParaRPr>
          </a:p>
          <a:p>
            <a:pPr marL="21912">
              <a:spcBef>
                <a:spcPts val="1216"/>
              </a:spcBef>
            </a:pPr>
            <a:r>
              <a:rPr lang="en-SE" sz="2400" b="1" dirty="0">
                <a:latin typeface="Comic Sans MS" panose="030F0702030302020204" pitchFamily="66" charset="0"/>
              </a:rPr>
              <a:t>🟨 </a:t>
            </a:r>
            <a:r>
              <a:rPr lang="sv-SE" sz="2400" b="1" dirty="0">
                <a:latin typeface="Comic Sans MS" panose="030F0702030302020204" pitchFamily="66" charset="0"/>
              </a:rPr>
              <a:t>Class </a:t>
            </a:r>
            <a:r>
              <a:rPr lang="sv-SE" sz="2400" dirty="0" err="1">
                <a:latin typeface="Comic Sans MS" panose="030F0702030302020204" pitchFamily="66" charset="0"/>
              </a:rPr>
              <a:t>clsPerson</a:t>
            </a:r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en-GB" sz="2400" dirty="0">
                <a:latin typeface="Comic Sans MS" panose="030F0702030302020204" pitchFamily="66" charset="0"/>
              </a:rPr>
              <a:t>Represents a person with personal and address data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dirty="0" err="1">
                <a:latin typeface="Comic Sans MS" panose="030F0702030302020204" pitchFamily="66" charset="0"/>
              </a:rPr>
              <a:t>Puplic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Members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b="1" dirty="0" err="1">
                <a:latin typeface="Comic Sans MS" panose="030F0702030302020204" pitchFamily="66" charset="0"/>
              </a:rPr>
              <a:t>FullName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b="1" dirty="0" err="1">
                <a:latin typeface="Comic Sans MS" panose="030F0702030302020204" pitchFamily="66" charset="0"/>
              </a:rPr>
              <a:t>Address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dirty="0">
                <a:latin typeface="Comic Sans MS" panose="030F0702030302020204" pitchFamily="66" charset="0"/>
              </a:rPr>
              <a:t>→ </a:t>
            </a:r>
            <a:r>
              <a:rPr lang="sv-SE" sz="2400" dirty="0" err="1">
                <a:latin typeface="Comic Sans MS" panose="030F0702030302020204" pitchFamily="66" charset="0"/>
              </a:rPr>
              <a:t>object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of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type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stAddress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ECE2D1-8270-1BF4-7D36-3FE122833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A25DA77-2178-E663-24A6-91544F9D12C6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🟨 </a:t>
            </a:r>
            <a:r>
              <a:rPr lang="sv-SE" sz="4000" b="1" dirty="0" err="1">
                <a:latin typeface="Comic Sans MS" panose="030F0702030302020204" pitchFamily="66" charset="0"/>
              </a:rPr>
              <a:t>Structure</a:t>
            </a:r>
            <a:r>
              <a:rPr lang="sv-SE" sz="4000" b="1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stAddress</a:t>
            </a:r>
            <a:r>
              <a:rPr lang="sv-SE" sz="4000" b="1" dirty="0">
                <a:latin typeface="Comic Sans MS" panose="030F0702030302020204" pitchFamily="66" charset="0"/>
              </a:rPr>
              <a:t> (Inside Class)</a:t>
            </a:r>
          </a:p>
          <a:p>
            <a:endParaRPr lang="sv-SE" sz="2400" dirty="0"/>
          </a:p>
          <a:p>
            <a:r>
              <a:rPr lang="en-SE" sz="2400" dirty="0">
                <a:latin typeface="Comic Sans MS" panose="030F0702030302020204" pitchFamily="66" charset="0"/>
              </a:rPr>
              <a:t>🔹 </a:t>
            </a:r>
            <a:r>
              <a:rPr lang="sv-SE" sz="2400" dirty="0" err="1">
                <a:latin typeface="Comic Sans MS" panose="030F0702030302020204" pitchFamily="66" charset="0"/>
              </a:rPr>
              <a:t>Defined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b="1" dirty="0">
                <a:latin typeface="Comic Sans MS" panose="030F0702030302020204" pitchFamily="66" charset="0"/>
              </a:rPr>
              <a:t>inside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clsPerson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dirty="0" err="1">
                <a:latin typeface="Comic Sans MS" panose="030F0702030302020204" pitchFamily="66" charset="0"/>
              </a:rPr>
              <a:t>Structure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Members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>
                <a:latin typeface="Comic Sans MS" panose="030F0702030302020204" pitchFamily="66" charset="0"/>
              </a:rPr>
              <a:t>AddressLine1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>
                <a:latin typeface="Comic Sans MS" panose="030F0702030302020204" pitchFamily="66" charset="0"/>
              </a:rPr>
              <a:t>AddressLine2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>
                <a:latin typeface="Comic Sans MS" panose="030F0702030302020204" pitchFamily="66" charset="0"/>
              </a:rPr>
              <a:t>City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dirty="0">
                <a:latin typeface="Comic Sans MS" panose="030F0702030302020204" pitchFamily="66" charset="0"/>
              </a:rPr>
              <a:t>Country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🔹 </a:t>
            </a:r>
            <a:r>
              <a:rPr lang="sv-SE" sz="2400" dirty="0" err="1">
                <a:latin typeface="Comic Sans MS" panose="030F0702030302020204" pitchFamily="66" charset="0"/>
              </a:rPr>
              <a:t>Used</a:t>
            </a:r>
            <a:r>
              <a:rPr lang="sv-SE" sz="2400" dirty="0">
                <a:latin typeface="Comic Sans MS" panose="030F0702030302020204" pitchFamily="66" charset="0"/>
              </a:rPr>
              <a:t> as a </a:t>
            </a:r>
            <a:r>
              <a:rPr lang="sv-SE" sz="2400" b="1" dirty="0" err="1">
                <a:latin typeface="Comic Sans MS" panose="030F0702030302020204" pitchFamily="66" charset="0"/>
              </a:rPr>
              <a:t>single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logical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unit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194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493257-758A-6AB2-58AB-03C72E069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7684C10-C4C3-B68F-5237-3EC31249E5F1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💡 </a:t>
            </a:r>
            <a:r>
              <a:rPr lang="sv-SE" sz="4000" b="1" dirty="0" err="1">
                <a:latin typeface="Comic Sans MS" panose="030F0702030302020204" pitchFamily="66" charset="0"/>
              </a:rPr>
              <a:t>Example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rgbClr val="7030A0"/>
                </a:solidFill>
                <a:latin typeface="Comic Sans MS" panose="030F0702030302020204" pitchFamily="66" charset="0"/>
              </a:rPr>
              <a:t>struct</a:t>
            </a: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spc="-17" dirty="0" err="1">
                <a:solidFill>
                  <a:srgbClr val="0070C0"/>
                </a:solidFill>
                <a:latin typeface="Comic Sans MS" panose="030F0702030302020204" pitchFamily="66" charset="0"/>
              </a:rPr>
              <a:t>stAddress</a:t>
            </a:r>
            <a:endParaRPr lang="en-GB" sz="2400" spc="-17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{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string AddressLine1;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string AddressLine2;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string City;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string Country;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};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The structure is declared inside the class and used as a data member</a:t>
            </a:r>
          </a:p>
        </p:txBody>
      </p:sp>
    </p:spTree>
    <p:extLst>
      <p:ext uri="{BB962C8B-B14F-4D97-AF65-F5344CB8AC3E}">
        <p14:creationId xmlns:p14="http://schemas.microsoft.com/office/powerpoint/2010/main" val="104775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1️⃣ Create an object of </a:t>
            </a:r>
            <a:r>
              <a:rPr lang="sv-SE" sz="2400" dirty="0" err="1">
                <a:latin typeface="Comic Sans MS" panose="030F0702030302020204" pitchFamily="66" charset="0"/>
              </a:rPr>
              <a:t>clsPerson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2️⃣ </a:t>
            </a:r>
            <a:r>
              <a:rPr lang="sv-SE" sz="2400" dirty="0" err="1">
                <a:latin typeface="Comic Sans MS" panose="030F0702030302020204" pitchFamily="66" charset="0"/>
              </a:rPr>
              <a:t>Constructor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initializes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en-GB" sz="2400" dirty="0" err="1">
                <a:latin typeface="Comic Sans MS" panose="030F0702030302020204" pitchFamily="66" charset="0"/>
              </a:rPr>
              <a:t>FullName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All address fields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Call </a:t>
            </a:r>
            <a:r>
              <a:rPr lang="en-GB" sz="2400" dirty="0" err="1">
                <a:latin typeface="Comic Sans MS" panose="030F0702030302020204" pitchFamily="66" charset="0"/>
              </a:rPr>
              <a:t>PrintAddress</a:t>
            </a:r>
            <a:r>
              <a:rPr lang="en-GB" sz="2400" dirty="0">
                <a:latin typeface="Comic Sans MS" panose="030F0702030302020204" pitchFamily="66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 panose="030F0702030302020204" pitchFamily="66" charset="0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sv-SE" sz="2400" dirty="0" err="1">
                <a:latin typeface="Comic Sans MS" panose="030F0702030302020204" pitchFamily="66" charset="0"/>
              </a:rPr>
              <a:t>Address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sv-SE" sz="2400" dirty="0" err="1">
                <a:latin typeface="Comic Sans MS" panose="030F0702030302020204" pitchFamily="66" charset="0"/>
              </a:rPr>
              <a:t>Kolarevägen</a:t>
            </a:r>
            <a:r>
              <a:rPr lang="sv-SE" sz="2400" dirty="0">
                <a:latin typeface="Comic Sans MS" panose="030F0702030302020204" pitchFamily="66" charset="0"/>
              </a:rPr>
              <a:t> 5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28434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Perstorp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Sweden</a:t>
            </a: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🟩 Structure inside class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Groups related data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Improves organization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Represents composition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Separate structure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Independent data type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Less tightly coupled</a:t>
            </a:r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🔹 </a:t>
            </a:r>
            <a:r>
              <a:rPr lang="en-GB" sz="2400" dirty="0">
                <a:latin typeface="Comic Sans MS" panose="030F0702030302020204" pitchFamily="66" charset="0"/>
              </a:rPr>
              <a:t>If the structure is declared: </a:t>
            </a: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🟩 </a:t>
            </a:r>
            <a:r>
              <a:rPr lang="en-GB" sz="2400" dirty="0">
                <a:latin typeface="Comic Sans MS" panose="030F0702030302020204" pitchFamily="66" charset="0"/>
              </a:rPr>
              <a:t>Inside private section → not accessible outside the class 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🟩 </a:t>
            </a:r>
            <a:r>
              <a:rPr lang="en-GB" sz="2400" dirty="0">
                <a:latin typeface="Comic Sans MS" panose="030F0702030302020204" pitchFamily="66" charset="0"/>
              </a:rPr>
              <a:t>Inside public section → accessible through objects </a:t>
            </a:r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✅ Demonstrates structure declaration inside a class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✅ Shows composition in C++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✅ Improves data organization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 panose="030F0702030302020204" pitchFamily="66" charset="0"/>
              </a:rPr>
              <a:t>✅ Simplifies object design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2911</TotalTime>
  <Words>318</Words>
  <Application>Microsoft Office PowerPoint</Application>
  <PresentationFormat>Custom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187</cp:revision>
  <dcterms:created xsi:type="dcterms:W3CDTF">2025-12-09T17:44:59Z</dcterms:created>
  <dcterms:modified xsi:type="dcterms:W3CDTF">2026-01-02T13:23:38Z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