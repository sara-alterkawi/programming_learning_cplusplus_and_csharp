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11" r:id="rId2"/>
    <p:sldId id="257" r:id="rId3"/>
    <p:sldId id="333" r:id="rId4"/>
    <p:sldId id="342" r:id="rId5"/>
    <p:sldId id="347" r:id="rId6"/>
    <p:sldId id="344" r:id="rId7"/>
    <p:sldId id="335" r:id="rId8"/>
    <p:sldId id="348" r:id="rId9"/>
    <p:sldId id="330" r:id="rId10"/>
    <p:sldId id="332" r:id="rId11"/>
    <p:sldId id="313" r:id="rId12"/>
  </p:sldIdLst>
  <p:sldSz cx="134112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37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62626"/>
    <a:srgbClr val="2929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1" d="100"/>
          <a:sy n="41" d="100"/>
        </p:scale>
        <p:origin x="54" y="684"/>
      </p:cViewPr>
      <p:guideLst>
        <p:guide orient="horz" pos="2880"/>
        <p:guide pos="372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5"/>
            <a:ext cx="7643507" cy="477951"/>
          </a:xfrm>
        </p:spPr>
        <p:txBody>
          <a:bodyPr lIns="0" tIns="0" rIns="0" bIns="0"/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3"/>
            <a:ext cx="764350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8EB70-F102-BAB5-31FD-19FC3742A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>
            <a:extLst>
              <a:ext uri="{FF2B5EF4-FFF2-40B4-BE49-F238E27FC236}">
                <a16:creationId xmlns:a16="http://schemas.microsoft.com/office/drawing/2014/main" id="{1FBE4D91-85C7-0256-4A79-65056ECD04F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</a:pPr>
            <a:fld id="{81D60167-4931-47E6-BA6A-407CBD079E47}" type="slidenum">
              <a:rPr spc="-86" dirty="0"/>
              <a:pPr marL="65742">
                <a:lnSpc>
                  <a:spcPts val="2260"/>
                </a:lnSpc>
              </a:pPr>
              <a:t>1</a:t>
            </a:fld>
            <a:endParaRPr spc="-86" dirty="0"/>
          </a:p>
        </p:txBody>
      </p:sp>
      <p:pic>
        <p:nvPicPr>
          <p:cNvPr id="47" name="object 25">
            <a:extLst>
              <a:ext uri="{FF2B5EF4-FFF2-40B4-BE49-F238E27FC236}">
                <a16:creationId xmlns:a16="http://schemas.microsoft.com/office/drawing/2014/main" id="{98B72FCF-C42A-5F3E-FCAD-5FE306171E0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" b="17"/>
          <a:stretch/>
        </p:blipFill>
        <p:spPr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3" name="object 30">
            <a:extLst>
              <a:ext uri="{FF2B5EF4-FFF2-40B4-BE49-F238E27FC236}">
                <a16:creationId xmlns:a16="http://schemas.microsoft.com/office/drawing/2014/main" id="{B85DEC78-C825-AA3F-520D-C936B7F83D23}"/>
              </a:ext>
            </a:extLst>
          </p:cNvPr>
          <p:cNvSpPr txBox="1"/>
          <p:nvPr/>
        </p:nvSpPr>
        <p:spPr>
          <a:xfrm>
            <a:off x="0" y="1143000"/>
            <a:ext cx="12725400" cy="396262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sv-SE" sz="6000" b="1" dirty="0">
                <a:solidFill>
                  <a:srgbClr val="FFCE53"/>
                </a:solidFill>
                <a:latin typeface="Comic Sans MS"/>
              </a:rPr>
              <a:t>OOP as it </a:t>
            </a:r>
            <a:r>
              <a:rPr lang="sv-SE" sz="6000" b="1" dirty="0" err="1">
                <a:solidFill>
                  <a:srgbClr val="FFCE53"/>
                </a:solidFill>
                <a:latin typeface="Comic Sans MS"/>
              </a:rPr>
              <a:t>Should</a:t>
            </a:r>
            <a:r>
              <a:rPr lang="sv-SE" sz="6000" b="1" dirty="0">
                <a:solidFill>
                  <a:srgbClr val="FFCE53"/>
                </a:solidFill>
                <a:latin typeface="Comic Sans MS"/>
              </a:rPr>
              <a:t> Be</a:t>
            </a:r>
          </a:p>
          <a:p>
            <a:pPr marL="2786346" algn="ctr">
              <a:spcBef>
                <a:spcPts val="673"/>
              </a:spcBef>
            </a:pPr>
            <a:r>
              <a:rPr lang="en-GB" sz="6000" b="1" dirty="0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ar-SY" sz="6000" b="1" dirty="0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endParaRPr lang="en-GB" sz="6000" b="1" dirty="0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r>
              <a:rPr lang="en-GB" sz="6000" b="1" dirty="0">
                <a:solidFill>
                  <a:srgbClr val="FFCE53"/>
                </a:solidFill>
                <a:latin typeface="Comic Sans MS"/>
                <a:cs typeface="Comic Sans MS"/>
              </a:rPr>
              <a:t>Objects and Vectors</a:t>
            </a:r>
          </a:p>
        </p:txBody>
      </p:sp>
    </p:spTree>
    <p:extLst>
      <p:ext uri="{BB962C8B-B14F-4D97-AF65-F5344CB8AC3E}">
        <p14:creationId xmlns:p14="http://schemas.microsoft.com/office/powerpoint/2010/main" val="3694772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2485296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sv-SE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OOP as it </a:t>
            </a:r>
            <a:r>
              <a:rPr lang="sv-SE" sz="40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Should</a:t>
            </a:r>
            <a:r>
              <a:rPr lang="sv-SE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 Be</a:t>
            </a: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786346" algn="ctr">
              <a:spcBef>
                <a:spcPts val="673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Objects and Vectors</a:t>
            </a:r>
          </a:p>
          <a:p>
            <a:pPr marL="2786346" algn="ctr">
              <a:spcBef>
                <a:spcPts val="673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Adding Objects to Vector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292599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 panose="030F0702030302020204" pitchFamily="66" charset="0"/>
                <a:cs typeface="Comic Sans MS"/>
              </a:rPr>
              <a:t>🔎 Definition</a:t>
            </a:r>
          </a:p>
          <a:p>
            <a:pPr marL="21912">
              <a:spcBef>
                <a:spcPts val="1216"/>
              </a:spcBef>
            </a:pPr>
            <a:endParaRPr lang="en-GB" sz="2400" spc="-17" dirty="0">
              <a:solidFill>
                <a:schemeClr val="tx1"/>
              </a:solidFill>
              <a:latin typeface="Comic Sans MS" panose="030F0702030302020204" pitchFamily="66" charset="0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dirty="0">
                <a:latin typeface="Comic Sans MS" panose="030F0702030302020204" pitchFamily="66" charset="0"/>
              </a:rPr>
              <a:t>🔹 </a:t>
            </a:r>
            <a:r>
              <a:rPr lang="en-GB" sz="2400" b="1" dirty="0">
                <a:latin typeface="Comic Sans MS" panose="030F0702030302020204" pitchFamily="66" charset="0"/>
              </a:rPr>
              <a:t>Vector of Objects</a:t>
            </a:r>
            <a:r>
              <a:rPr lang="en-GB" sz="2400" dirty="0">
                <a:latin typeface="Comic Sans MS" panose="030F0702030302020204" pitchFamily="66" charset="0"/>
              </a:rPr>
              <a:t> is a standard C++ container (std::vector) that stores objects of 	a class instead of primitive data types.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🔹 Each element in the vector is a </a:t>
            </a:r>
            <a:r>
              <a:rPr lang="en-GB" sz="2400" b="1" dirty="0">
                <a:latin typeface="Comic Sans MS" panose="030F0702030302020204" pitchFamily="66" charset="0"/>
              </a:rPr>
              <a:t>full object</a:t>
            </a:r>
            <a:r>
              <a:rPr lang="en-GB" sz="2400" dirty="0">
                <a:latin typeface="Comic Sans MS" panose="030F0702030302020204" pitchFamily="66" charset="0"/>
              </a:rPr>
              <a:t> with its own data members and 	methods.</a:t>
            </a:r>
            <a:endParaRPr lang="en-GB" sz="2400" spc="-17" dirty="0">
              <a:solidFill>
                <a:schemeClr val="tx1"/>
              </a:solidFill>
              <a:latin typeface="Comic Sans MS" panose="030F0702030302020204" pitchFamily="66" charset="0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40466650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6602A26-E2DB-3EC3-CDEC-BD91E567B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E458D62A-ED0D-005C-6EC5-FF31F2AB458E}"/>
              </a:ext>
            </a:extLst>
          </p:cNvPr>
          <p:cNvSpPr txBox="1"/>
          <p:nvPr/>
        </p:nvSpPr>
        <p:spPr>
          <a:xfrm>
            <a:off x="381000" y="888075"/>
            <a:ext cx="12352767" cy="4618761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6"/>
              </a:spcBef>
            </a:pPr>
            <a:r>
              <a:rPr lang="en-GB" sz="4000" b="1" spc="-17" dirty="0">
                <a:solidFill>
                  <a:schemeClr val="tx1"/>
                </a:solidFill>
                <a:latin typeface="Comic Sans MS" panose="030F0702030302020204" pitchFamily="66" charset="0"/>
                <a:cs typeface="Comic Sans MS"/>
              </a:rPr>
              <a:t>📖 Explanation</a:t>
            </a:r>
          </a:p>
          <a:p>
            <a:pPr marL="21912">
              <a:spcBef>
                <a:spcPts val="1216"/>
              </a:spcBef>
            </a:pPr>
            <a:endParaRPr lang="en-GB" sz="2400" spc="-17" dirty="0">
              <a:solidFill>
                <a:schemeClr val="tx1"/>
              </a:solidFill>
              <a:latin typeface="Comic Sans MS" panose="030F0702030302020204" pitchFamily="66" charset="0"/>
              <a:cs typeface="Comic Sans MS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🔹 This program demonstrates how to: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	1️⃣ Define a simple class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	2️⃣ Create a vector that stores objects of this class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	3️⃣ Add objects to the vector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	4️⃣ Access and use object methods from the vector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🔹 The class </a:t>
            </a:r>
            <a:r>
              <a:rPr lang="en-GB" sz="2400" dirty="0" err="1">
                <a:latin typeface="Comic Sans MS" panose="030F0702030302020204" pitchFamily="66" charset="0"/>
              </a:rPr>
              <a:t>clsA</a:t>
            </a:r>
            <a:r>
              <a:rPr lang="en-GB" sz="2400" dirty="0">
                <a:latin typeface="Comic Sans MS" panose="030F0702030302020204" pitchFamily="66" charset="0"/>
              </a:rPr>
              <a:t> contains: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	🟩 A data member x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	🟩 A parameterized constructor to initialize x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	🟩 A Print() method to display the value</a:t>
            </a:r>
          </a:p>
        </p:txBody>
      </p:sp>
    </p:spTree>
    <p:extLst>
      <p:ext uri="{BB962C8B-B14F-4D97-AF65-F5344CB8AC3E}">
        <p14:creationId xmlns:p14="http://schemas.microsoft.com/office/powerpoint/2010/main" val="11201182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2BF0CD4-0319-9496-8478-267F28598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F2F894D4-F401-E6A7-0F75-B717EFD319F6}"/>
              </a:ext>
            </a:extLst>
          </p:cNvPr>
          <p:cNvSpPr txBox="1"/>
          <p:nvPr/>
        </p:nvSpPr>
        <p:spPr>
          <a:xfrm>
            <a:off x="381000" y="888075"/>
            <a:ext cx="12352767" cy="298754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1" i="0" u="none" strike="noStrike" kern="0" cap="none" spc="-1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</a:rPr>
              <a:t>🟦 Steps in main()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0" cap="none" spc="-17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1️⃣ Define a class with constructor and method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2️⃣ Declare a vector of class type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3️⃣ Use </a:t>
            </a:r>
            <a:r>
              <a:rPr lang="en-GB" sz="2400" dirty="0" err="1">
                <a:latin typeface="Comic Sans MS" panose="030F0702030302020204" pitchFamily="66" charset="0"/>
              </a:rPr>
              <a:t>push_back</a:t>
            </a:r>
            <a:r>
              <a:rPr lang="en-GB" sz="2400" dirty="0">
                <a:latin typeface="Comic Sans MS" panose="030F0702030302020204" pitchFamily="66" charset="0"/>
              </a:rPr>
              <a:t>() to add objects to the vector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4️⃣ Loop through the vector using index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5️⃣ Call object methods using . operator</a:t>
            </a:r>
          </a:p>
        </p:txBody>
      </p:sp>
    </p:spTree>
    <p:extLst>
      <p:ext uri="{BB962C8B-B14F-4D97-AF65-F5344CB8AC3E}">
        <p14:creationId xmlns:p14="http://schemas.microsoft.com/office/powerpoint/2010/main" val="18301671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0493257-758A-6AB2-58AB-03C72E069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A7684C10-C4C3-B68F-5237-3EC31249E5F1}"/>
              </a:ext>
            </a:extLst>
          </p:cNvPr>
          <p:cNvSpPr txBox="1"/>
          <p:nvPr/>
        </p:nvSpPr>
        <p:spPr>
          <a:xfrm>
            <a:off x="381000" y="888075"/>
            <a:ext cx="12352767" cy="261821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SE" sz="4000" b="1" dirty="0">
                <a:latin typeface="Comic Sans MS" panose="030F0702030302020204" pitchFamily="66" charset="0"/>
              </a:rPr>
              <a:t>💡 </a:t>
            </a:r>
            <a:r>
              <a:rPr lang="sv-SE" sz="4000" b="1" dirty="0" err="1">
                <a:latin typeface="Comic Sans MS" panose="030F0702030302020204" pitchFamily="66" charset="0"/>
              </a:rPr>
              <a:t>Example</a:t>
            </a:r>
            <a:endParaRPr lang="en-GB" sz="4000" b="1" spc="-17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endParaRPr lang="en-GB" sz="2400" spc="-17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🔹 When </a:t>
            </a:r>
            <a:r>
              <a:rPr lang="en-GB" sz="2400" dirty="0" err="1">
                <a:latin typeface="Comic Sans MS" panose="030F0702030302020204" pitchFamily="66" charset="0"/>
              </a:rPr>
              <a:t>push_back</a:t>
            </a:r>
            <a:r>
              <a:rPr lang="en-GB" sz="2400" dirty="0">
                <a:latin typeface="Comic Sans MS" panose="030F0702030302020204" pitchFamily="66" charset="0"/>
              </a:rPr>
              <a:t>(</a:t>
            </a:r>
            <a:r>
              <a:rPr lang="en-GB" sz="2400" dirty="0" err="1">
                <a:latin typeface="Comic Sans MS" panose="030F0702030302020204" pitchFamily="66" charset="0"/>
              </a:rPr>
              <a:t>clsA</a:t>
            </a:r>
            <a:r>
              <a:rPr lang="en-GB" sz="2400" dirty="0">
                <a:latin typeface="Comic Sans MS" panose="030F0702030302020204" pitchFamily="66" charset="0"/>
              </a:rPr>
              <a:t>(</a:t>
            </a:r>
            <a:r>
              <a:rPr lang="en-GB" sz="2400" dirty="0" err="1">
                <a:latin typeface="Comic Sans MS" panose="030F0702030302020204" pitchFamily="66" charset="0"/>
              </a:rPr>
              <a:t>i</a:t>
            </a:r>
            <a:r>
              <a:rPr lang="en-GB" sz="2400" dirty="0">
                <a:latin typeface="Comic Sans MS" panose="030F0702030302020204" pitchFamily="66" charset="0"/>
              </a:rPr>
              <a:t>)) is used: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	🟩 A temporary object is created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	🟩 The object is copied into the vector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	🟩 The constructor initializes x with the value of </a:t>
            </a:r>
            <a:r>
              <a:rPr lang="en-GB" sz="2400" dirty="0" err="1">
                <a:latin typeface="Comic Sans MS" panose="030F0702030302020204" pitchFamily="66" charset="0"/>
              </a:rPr>
              <a:t>i</a:t>
            </a:r>
            <a:endParaRPr lang="en-GB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7755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CDB6C49-EACC-9FE4-C633-CACDEA6BA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A2E9409D-8454-F144-09AA-0F831C297726}"/>
              </a:ext>
            </a:extLst>
          </p:cNvPr>
          <p:cNvSpPr txBox="1"/>
          <p:nvPr/>
        </p:nvSpPr>
        <p:spPr>
          <a:xfrm>
            <a:off x="381000" y="888075"/>
            <a:ext cx="12352767" cy="335687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sz="4000" b="1" i="0" u="none" strike="noStrike" kern="0" cap="none" spc="-1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</a:rPr>
              <a:t>➡️ </a:t>
            </a:r>
            <a:r>
              <a:rPr kumimoji="0" lang="sv-SE" sz="4000" b="1" i="0" u="none" strike="noStrike" kern="0" cap="none" spc="-17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</a:rPr>
              <a:t>Expected</a:t>
            </a:r>
            <a:r>
              <a:rPr kumimoji="0" lang="sv-SE" sz="4000" b="1" i="0" u="none" strike="noStrike" kern="0" cap="none" spc="-1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</a:rPr>
              <a:t> Output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0" cap="none" spc="-17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🔹 The program prints the values stored in each object inside the vector: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Object 0 → x = 0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	Object 1 → x = 1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	Object 2 → x = 2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	Object 3 → x = 3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	Object 4 → x = 4</a:t>
            </a:r>
          </a:p>
        </p:txBody>
      </p:sp>
    </p:spTree>
    <p:extLst>
      <p:ext uri="{BB962C8B-B14F-4D97-AF65-F5344CB8AC3E}">
        <p14:creationId xmlns:p14="http://schemas.microsoft.com/office/powerpoint/2010/main" val="2283341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793906B-1B54-AEDF-2BA4-E964C62CB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3B90902B-E7F3-85FC-81FA-1F51C3E9071C}"/>
              </a:ext>
            </a:extLst>
          </p:cNvPr>
          <p:cNvSpPr txBox="1"/>
          <p:nvPr/>
        </p:nvSpPr>
        <p:spPr>
          <a:xfrm>
            <a:off x="381000" y="888075"/>
            <a:ext cx="12352767" cy="2248881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SE" sz="4000" dirty="0"/>
              <a:t>📌</a:t>
            </a:r>
            <a:r>
              <a:rPr lang="en-GB" sz="4000" b="1" spc="-17" dirty="0">
                <a:solidFill>
                  <a:schemeClr val="tx1"/>
                </a:solidFill>
                <a:latin typeface="Comic Sans MS" panose="030F0702030302020204" pitchFamily="66" charset="0"/>
              </a:rPr>
              <a:t> Note</a:t>
            </a:r>
          </a:p>
          <a:p>
            <a:endParaRPr lang="en-GB" sz="2400" spc="-17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🔹 Objects stored in a vector behave exactly like normal objects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🔹 You can call their methods using: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	🟩 vector[index].</a:t>
            </a:r>
            <a:r>
              <a:rPr lang="en-GB" sz="2400" dirty="0" err="1">
                <a:latin typeface="Comic Sans MS" panose="030F0702030302020204" pitchFamily="66" charset="0"/>
              </a:rPr>
              <a:t>MethodName</a:t>
            </a:r>
            <a:r>
              <a:rPr lang="en-GB" sz="2400" dirty="0">
                <a:latin typeface="Comic Sans MS" panose="030F0702030302020204" pitchFamily="66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41770054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990E0AC-1179-7FB7-16BD-3B0B6827A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E03FC800-D303-BD33-7789-3A9B80106EA6}"/>
              </a:ext>
            </a:extLst>
          </p:cNvPr>
          <p:cNvSpPr txBox="1"/>
          <p:nvPr/>
        </p:nvSpPr>
        <p:spPr>
          <a:xfrm>
            <a:off x="381000" y="888075"/>
            <a:ext cx="12352767" cy="298754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 panose="030F0702030302020204" pitchFamily="66" charset="0"/>
              </a:rPr>
              <a:t>🚫 Warning</a:t>
            </a:r>
          </a:p>
          <a:p>
            <a:endParaRPr lang="en-GB" sz="2400" spc="-17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🔹 Storing large objects in vectors may cause performance issues due to copying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🔹 In real projects, consider: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	🟩 Using references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	🟩 Using pointers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	🟩 Using </a:t>
            </a:r>
            <a:r>
              <a:rPr lang="en-GB" sz="2400" dirty="0" err="1">
                <a:latin typeface="Comic Sans MS" panose="030F0702030302020204" pitchFamily="66" charset="0"/>
              </a:rPr>
              <a:t>emplace_back</a:t>
            </a:r>
            <a:r>
              <a:rPr lang="en-GB" sz="2400" dirty="0">
                <a:latin typeface="Comic Sans MS" panose="030F0702030302020204" pitchFamily="66" charset="0"/>
              </a:rPr>
              <a:t>() instead of </a:t>
            </a:r>
            <a:r>
              <a:rPr lang="en-GB" sz="2400" dirty="0" err="1">
                <a:latin typeface="Comic Sans MS" panose="030F0702030302020204" pitchFamily="66" charset="0"/>
              </a:rPr>
              <a:t>push_back</a:t>
            </a:r>
            <a:r>
              <a:rPr lang="en-GB" sz="2400" dirty="0">
                <a:latin typeface="Comic Sans MS" panose="030F0702030302020204" pitchFamily="66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9417163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6548168-F6BF-9E3C-8335-7DFD704D0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B7131D51-6AAA-DD4B-6C31-C4D46506634E}"/>
              </a:ext>
            </a:extLst>
          </p:cNvPr>
          <p:cNvSpPr txBox="1"/>
          <p:nvPr/>
        </p:nvSpPr>
        <p:spPr>
          <a:xfrm>
            <a:off x="381000" y="888075"/>
            <a:ext cx="12352767" cy="261821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 panose="030F0702030302020204" pitchFamily="66" charset="0"/>
              </a:rPr>
              <a:t>✨ Summary</a:t>
            </a:r>
            <a:endParaRPr lang="en-GB" sz="4000" spc="-17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endParaRPr lang="en-GB" sz="2400" spc="-17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✅ Vectors can store objects just like primitive types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✅ Each object keeps its own data and </a:t>
            </a:r>
            <a:r>
              <a:rPr lang="en-GB" sz="2400" dirty="0" err="1">
                <a:latin typeface="Comic Sans MS" panose="030F0702030302020204" pitchFamily="66" charset="0"/>
              </a:rPr>
              <a:t>behavior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✅ </a:t>
            </a:r>
            <a:r>
              <a:rPr lang="en-GB" sz="2400" dirty="0" err="1">
                <a:latin typeface="Comic Sans MS" panose="030F0702030302020204" pitchFamily="66" charset="0"/>
              </a:rPr>
              <a:t>push_back</a:t>
            </a:r>
            <a:r>
              <a:rPr lang="en-GB" sz="2400" dirty="0">
                <a:latin typeface="Comic Sans MS" panose="030F0702030302020204" pitchFamily="66" charset="0"/>
              </a:rPr>
              <a:t>() adds objects to the vector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✅ Objects inside vectors can call their own methods normally</a:t>
            </a:r>
          </a:p>
        </p:txBody>
      </p:sp>
    </p:spTree>
    <p:extLst>
      <p:ext uri="{BB962C8B-B14F-4D97-AF65-F5344CB8AC3E}">
        <p14:creationId xmlns:p14="http://schemas.microsoft.com/office/powerpoint/2010/main" val="14647757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0C985-45BF-D625-B127-8108457FD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4">
            <a:extLst>
              <a:ext uri="{FF2B5EF4-FFF2-40B4-BE49-F238E27FC236}">
                <a16:creationId xmlns:a16="http://schemas.microsoft.com/office/drawing/2014/main" id="{2DD6DF42-8147-ACB0-9155-6AB216D32B4F}"/>
              </a:ext>
            </a:extLst>
          </p:cNvPr>
          <p:cNvSpPr txBox="1">
            <a:spLocks/>
          </p:cNvSpPr>
          <p:nvPr/>
        </p:nvSpPr>
        <p:spPr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 kern="0"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</a:pP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 dirty="0">
                <a:solidFill>
                  <a:srgbClr val="FF0000"/>
                </a:solidFill>
              </a:rPr>
              <a:t> </a:t>
            </a:r>
            <a:r>
              <a:rPr lang="sv-SE" sz="4000" spc="-67" dirty="0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 dirty="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1303110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2979</TotalTime>
  <Words>431</Words>
  <Application>Microsoft Office PowerPoint</Application>
  <PresentationFormat>Custom</PresentationFormat>
  <Paragraphs>37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 MT</vt:lpstr>
      <vt:lpstr>Calibri</vt:lpstr>
      <vt:lpstr>Comic Sans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Sara Alterkawi</cp:lastModifiedBy>
  <cp:revision>219</cp:revision>
  <dcterms:created xsi:type="dcterms:W3CDTF">2025-12-09T17:44:59Z</dcterms:created>
  <dcterms:modified xsi:type="dcterms:W3CDTF">2026-01-13T10:09:00Z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