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33" r:id="rId4"/>
    <p:sldId id="336" r:id="rId5"/>
    <p:sldId id="325" r:id="rId6"/>
    <p:sldId id="334" r:id="rId7"/>
    <p:sldId id="327" r:id="rId8"/>
    <p:sldId id="335" r:id="rId9"/>
    <p:sldId id="328" r:id="rId10"/>
    <p:sldId id="329" r:id="rId11"/>
    <p:sldId id="330" r:id="rId12"/>
    <p:sldId id="332" r:id="rId13"/>
    <p:sldId id="313" r:id="rId14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1020" y="45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396262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60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Static Members</a:t>
            </a:r>
            <a:endParaRPr lang="sv-SE" sz="6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Static Members</a:t>
            </a:r>
            <a:endParaRPr lang="sv-SE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18732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This example demonstrates static members in C++, which are shared across all objects of a class.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EFCEA7D-0E27-3149-A426-FB2433F8E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E2787F7-D65B-E509-3B85-75F8169BC310}"/>
              </a:ext>
            </a:extLst>
          </p:cNvPr>
          <p:cNvSpPr txBox="1"/>
          <p:nvPr/>
        </p:nvSpPr>
        <p:spPr>
          <a:xfrm>
            <a:off x="381000" y="888075"/>
            <a:ext cx="12352767" cy="338765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A static member belongs to the class itself, not individual objects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Only one copy exists in memory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All objects share and modify the same value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Must be defined outside the class</a:t>
            </a:r>
          </a:p>
        </p:txBody>
      </p:sp>
    </p:spTree>
    <p:extLst>
      <p:ext uri="{BB962C8B-B14F-4D97-AF65-F5344CB8AC3E}">
        <p14:creationId xmlns:p14="http://schemas.microsoft.com/office/powerpoint/2010/main" val="1413664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951666-2BEA-8492-55C5-6B7685B7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E41D81-6EA7-1326-B30A-F0FAE1F5E2F7}"/>
              </a:ext>
            </a:extLst>
          </p:cNvPr>
          <p:cNvSpPr txBox="1"/>
          <p:nvPr/>
        </p:nvSpPr>
        <p:spPr>
          <a:xfrm>
            <a:off x="381000" y="888075"/>
            <a:ext cx="12352767" cy="600375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Key Class Components</a:t>
            </a:r>
            <a:endParaRPr lang="en-GB" sz="24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endParaRPr lang="en-GB" sz="24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1️⃣ Data Members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int var; — instance variable (per object)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static int counter; — shared between all objects</a:t>
            </a: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2️⃣ Constructor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</a:t>
            </a:r>
            <a:r>
              <a:rPr lang="en-GB" sz="2400" spc="-17" dirty="0" err="1">
                <a:solidFill>
                  <a:srgbClr val="FFC000"/>
                </a:solidFill>
                <a:latin typeface="Comic Sans MS"/>
                <a:cs typeface="Comic Sans MS"/>
              </a:rPr>
              <a:t>clsA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{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counter++;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}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increases static counter each time a new object is created</a:t>
            </a:r>
          </a:p>
        </p:txBody>
      </p:sp>
    </p:spTree>
    <p:extLst>
      <p:ext uri="{BB962C8B-B14F-4D97-AF65-F5344CB8AC3E}">
        <p14:creationId xmlns:p14="http://schemas.microsoft.com/office/powerpoint/2010/main" val="2877270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FF3E806-6B2C-2350-27D3-5B66340E7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2FEE8C1-9C09-EC1F-69B1-4CC8FA04611E}"/>
              </a:ext>
            </a:extLst>
          </p:cNvPr>
          <p:cNvSpPr txBox="1"/>
          <p:nvPr/>
        </p:nvSpPr>
        <p:spPr>
          <a:xfrm>
            <a:off x="381000" y="888075"/>
            <a:ext cx="12352767" cy="52343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3️⃣ Static Member Initialization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int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clsA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::counter = 0;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required because static members exist independently of objects</a:t>
            </a: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4️⃣ Print Member Function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</a:t>
            </a:r>
            <a:r>
              <a:rPr lang="en-GB" sz="2400" spc="-17" dirty="0">
                <a:solidFill>
                  <a:srgbClr val="FFC000"/>
                </a:solidFill>
                <a:latin typeface="Comic Sans MS"/>
                <a:cs typeface="Comic Sans MS"/>
              </a:rPr>
              <a:t>void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spc="-17" dirty="0">
                <a:solidFill>
                  <a:srgbClr val="0070C0"/>
                </a:solidFill>
                <a:latin typeface="Comic Sans MS"/>
                <a:cs typeface="Comic Sans MS"/>
              </a:rPr>
              <a:t>Print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{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cout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&lt;&lt; "\</a:t>
            </a:r>
            <a:r>
              <a:rPr lang="en-GB" sz="2400" spc="-17" dirty="0" err="1">
                <a:solidFill>
                  <a:srgbClr val="00B050"/>
                </a:solidFill>
                <a:latin typeface="Comic Sans MS"/>
                <a:cs typeface="Comic Sans MS"/>
              </a:rPr>
              <a:t>nvar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= " &lt;&lt; var &lt;&lt;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endl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;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cout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&lt;&lt; "</a:t>
            </a:r>
            <a:r>
              <a:rPr lang="en-GB" sz="2400" spc="-17" dirty="0">
                <a:solidFill>
                  <a:srgbClr val="00B050"/>
                </a:solidFill>
                <a:latin typeface="Comic Sans MS"/>
                <a:cs typeface="Comic Sans MS"/>
              </a:rPr>
              <a:t>counter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= " &lt;&lt; counter &lt;&lt;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endl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;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}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shows difference between object-specific var and shared counter</a:t>
            </a:r>
          </a:p>
        </p:txBody>
      </p:sp>
    </p:spTree>
    <p:extLst>
      <p:ext uri="{BB962C8B-B14F-4D97-AF65-F5344CB8AC3E}">
        <p14:creationId xmlns:p14="http://schemas.microsoft.com/office/powerpoint/2010/main" val="3374540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F16C899-C0D7-7D2B-418E-53117E1BB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E16194E-9095-D151-5629-3C631EE7D6E9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Steps in main()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Create object A1 → counter becomes 1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Assign var = 10, print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Create object A2 → counter becomes 2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Assign var = 20, print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Create object A3 → counter becomes 3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Assign var = 30, print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Change static member via A1</a:t>
            </a:r>
          </a:p>
        </p:txBody>
      </p:sp>
    </p:spTree>
    <p:extLst>
      <p:ext uri="{BB962C8B-B14F-4D97-AF65-F5344CB8AC3E}">
        <p14:creationId xmlns:p14="http://schemas.microsoft.com/office/powerpoint/2010/main" val="706711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E3AAAA1-5D25-6462-44DB-99C03F9B1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74E89ED-8689-6466-3964-135EBFE3D86D}"/>
              </a:ext>
            </a:extLst>
          </p:cNvPr>
          <p:cNvSpPr txBox="1"/>
          <p:nvPr/>
        </p:nvSpPr>
        <p:spPr>
          <a:xfrm>
            <a:off x="381000" y="888075"/>
            <a:ext cx="12352767" cy="520353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➡️ </a:t>
            </a:r>
            <a:r>
              <a:rPr lang="sv-SE" sz="4000" b="1" spc="-17" dirty="0" err="1">
                <a:solidFill>
                  <a:schemeClr val="tx1"/>
                </a:solidFill>
                <a:latin typeface="Comic Sans MS"/>
              </a:rPr>
              <a:t>Expected</a:t>
            </a:r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 Output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var = 10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counter = 1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var = 20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counter = 2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var = 30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counter = 3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after changing the static member counter in one object: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var = 10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counter = 500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var = 20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counter = 500</a:t>
            </a:r>
          </a:p>
        </p:txBody>
      </p:sp>
    </p:spTree>
    <p:extLst>
      <p:ext uri="{BB962C8B-B14F-4D97-AF65-F5344CB8AC3E}">
        <p14:creationId xmlns:p14="http://schemas.microsoft.com/office/powerpoint/2010/main" val="3137397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8890F28-9D96-D2B6-A9A6-3E01DFAB0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2D6BA6E-9226-A9F6-6B88-476F33F7768F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Even though accessed through objects, the static member is still the same global shared variable.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224923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1BE943-6BF8-6560-128F-3A2B5B25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A9D01D0-5E83-97B5-892D-5D4DC706BDFD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⚖️ Comparison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🟩 Instance (non-static) variables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 ✔️ each object has its own copy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Static variables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 ✔️ shared among all objects</a:t>
            </a:r>
          </a:p>
        </p:txBody>
      </p:sp>
    </p:spTree>
    <p:extLst>
      <p:ext uri="{BB962C8B-B14F-4D97-AF65-F5344CB8AC3E}">
        <p14:creationId xmlns:p14="http://schemas.microsoft.com/office/powerpoint/2010/main" val="1395487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90E0AC-1179-7FB7-16BD-3B0B6827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03FC800-D303-BD33-7789-3A9B80106EA6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🚫 Warning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Modifying static members through objects can confuse readers—prefer accessing via:</a:t>
            </a:r>
          </a:p>
          <a:p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clsA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::counter;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41716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static members belong to the class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only one copy exists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shared across objects</a:t>
            </a:r>
          </a:p>
          <a:p>
            <a:r>
              <a:rPr lang="en-GB" sz="2400" spc="-17">
                <a:solidFill>
                  <a:schemeClr val="tx1"/>
                </a:solidFill>
                <a:latin typeface="Comic Sans MS"/>
              </a:rPr>
              <a:t>✅ good for tracking number of instances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1580</TotalTime>
  <Words>395</Words>
  <Application>Microsoft Office PowerPoint</Application>
  <PresentationFormat>Custom</PresentationFormat>
  <Paragraphs>82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66</cp:revision>
  <dcterms:created xsi:type="dcterms:W3CDTF">2025-12-09T17:44:59Z</dcterms:created>
  <dcterms:modified xsi:type="dcterms:W3CDTF">2026-01-02T12:17:35Z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