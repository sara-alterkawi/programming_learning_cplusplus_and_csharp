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4" r:id="rId4"/>
    <p:sldId id="323" r:id="rId5"/>
    <p:sldId id="333" r:id="rId6"/>
    <p:sldId id="313" r:id="rId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63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OOP as it </a:t>
            </a:r>
            <a:r>
              <a:rPr lang="sv-SE" sz="6000" b="1" dirty="0" err="1">
                <a:solidFill>
                  <a:srgbClr val="FFCE53"/>
                </a:solidFill>
                <a:latin typeface="Comic Sans MS"/>
              </a:rPr>
              <a:t>Should</a:t>
            </a:r>
            <a:r>
              <a:rPr lang="sv-SE" sz="6000" b="1" dirty="0">
                <a:solidFill>
                  <a:srgbClr val="FFCE53"/>
                </a:solidFill>
                <a:latin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First Principle Concept Of OOP Encapsulation</a:t>
            </a:r>
            <a:endParaRPr lang="sv-SE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39552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OOP as it </a:t>
            </a:r>
            <a:r>
              <a:rPr lang="sv-SE" sz="40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Should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 Be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First Principle Concept Of OOP Encapsulation</a:t>
            </a:r>
            <a:endParaRPr lang="sv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D856BE-AA18-F231-8C5C-9DCC778F1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B6D0C1C5-2539-FA93-1315-A7414C27E06A}"/>
              </a:ext>
            </a:extLst>
          </p:cNvPr>
          <p:cNvSpPr txBox="1"/>
          <p:nvPr/>
        </p:nvSpPr>
        <p:spPr>
          <a:xfrm>
            <a:off x="381000" y="888075"/>
            <a:ext cx="12352767" cy="1817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unctional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FP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 vs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bject 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riented (</a:t>
            </a:r>
            <a:r>
              <a:rPr lang="en-GB" sz="4000" b="1" spc="-17" dirty="0">
                <a:solidFill>
                  <a:srgbClr val="FF0000"/>
                </a:solidFill>
                <a:latin typeface="Comic Sans MS"/>
                <a:cs typeface="Comic Sans MS"/>
              </a:rPr>
              <a:t>OOP</a:t>
            </a:r>
            <a:r>
              <a:rPr lang="en-GB" sz="4000" b="1" spc="-17" dirty="0">
                <a:solidFill>
                  <a:srgbClr val="000000"/>
                </a:solidFill>
                <a:latin typeface="Comic Sans MS"/>
                <a:cs typeface="Comic Sans MS"/>
              </a:rPr>
              <a:t>)</a:t>
            </a:r>
          </a:p>
          <a:p>
            <a:pPr marL="21912">
              <a:spcBef>
                <a:spcPts val="1216"/>
              </a:spcBef>
            </a:pPr>
            <a:endParaRPr lang="sv-SE" sz="2400" b="1" dirty="0">
              <a:solidFill>
                <a:srgbClr val="FF0000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University System </a:t>
            </a:r>
            <a:r>
              <a:rPr lang="sv-SE" sz="2400" b="1" dirty="0" err="1">
                <a:solidFill>
                  <a:schemeClr val="tx1"/>
                </a:solidFill>
                <a:latin typeface="Comic Sans MS"/>
                <a:cs typeface="Comic Sans MS"/>
              </a:rPr>
              <a:t>Example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 (</a:t>
            </a: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FP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)</a:t>
            </a:r>
            <a:endParaRPr lang="sv-SE" sz="24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EADAB38-08C8-4337-499D-E669EF498B8C}"/>
              </a:ext>
            </a:extLst>
          </p:cNvPr>
          <p:cNvSpPr txBox="1"/>
          <p:nvPr/>
        </p:nvSpPr>
        <p:spPr>
          <a:xfrm>
            <a:off x="381000" y="2667000"/>
            <a:ext cx="10287000" cy="6248400"/>
          </a:xfrm>
          <a:prstGeom prst="rect">
            <a:avLst/>
          </a:prstGeom>
        </p:spPr>
        <p:txBody>
          <a:bodyPr vert="horz" wrap="square" lIns="0" tIns="154492" rIns="0" bIns="0" numCol="2" rtlCol="0">
            <a:spAutoFit/>
          </a:bodyPr>
          <a:lstStyle/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UpdateStudent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CalculateAverage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UpdateCourse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DeleteCouse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EnrollStudentInCourse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UnEnrollStudentFromCoruse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HowManyStudentsInCourse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Doctor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(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, Edit,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)</a:t>
            </a: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AssignCourse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SendEmail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TextMessage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SendEmailToDoctor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Send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TextMessage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 </a:t>
            </a: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ToDoctor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CallStudent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CallDoctor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AddEmployee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UpdateEmployee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DeleteEmployee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CalculateSalary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 err="1">
                <a:solidFill>
                  <a:schemeClr val="accent1"/>
                </a:solidFill>
                <a:latin typeface="Comic Sans MS"/>
                <a:cs typeface="Comic Sans MS"/>
              </a:rPr>
              <a:t>PaySalary</a:t>
            </a:r>
            <a:endParaRPr lang="sv-SE" sz="2400" b="1" dirty="0">
              <a:solidFill>
                <a:schemeClr val="accent1"/>
              </a:solidFill>
              <a:latin typeface="Comic Sans MS"/>
              <a:cs typeface="Comic Sans MS"/>
            </a:endParaRPr>
          </a:p>
          <a:p>
            <a:pPr marL="364812" indent="-342900">
              <a:spcBef>
                <a:spcPts val="1216"/>
              </a:spcBef>
              <a:buFont typeface="Arial" panose="020B0604020202020204" pitchFamily="34" charset="0"/>
              <a:buChar char="•"/>
            </a:pP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………………….</a:t>
            </a:r>
            <a:endParaRPr lang="sv-SE" sz="2400" dirty="0">
              <a:solidFill>
                <a:schemeClr val="accent1"/>
              </a:solidFill>
              <a:latin typeface="Comic Sans MS"/>
              <a:cs typeface="Comic Sans MS"/>
            </a:endParaRPr>
          </a:p>
        </p:txBody>
      </p:sp>
      <p:pic>
        <p:nvPicPr>
          <p:cNvPr id="7" name="Picture 6" descr="A cartoon of a yellow emoticon&#10;&#10;AI-generated content may be incorrect.">
            <a:extLst>
              <a:ext uri="{FF2B5EF4-FFF2-40B4-BE49-F238E27FC236}">
                <a16:creationId xmlns:a16="http://schemas.microsoft.com/office/drawing/2014/main" id="{8D429E02-E728-8157-32DF-C7C78CE1B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075" y="5052646"/>
            <a:ext cx="2143125" cy="21431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F58C33-7C99-C10B-58C2-BE3276314BF3}"/>
              </a:ext>
            </a:extLst>
          </p:cNvPr>
          <p:cNvSpPr txBox="1"/>
          <p:nvPr/>
        </p:nvSpPr>
        <p:spPr>
          <a:xfrm>
            <a:off x="9067800" y="7016841"/>
            <a:ext cx="434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2400" b="1" dirty="0">
                <a:solidFill>
                  <a:srgbClr val="FF0000"/>
                </a:solidFill>
                <a:latin typeface="Comic Sans MS"/>
              </a:rPr>
              <a:t>Simply</a:t>
            </a:r>
          </a:p>
          <a:p>
            <a:r>
              <a:rPr lang="en-SE" sz="2400" b="1" dirty="0">
                <a:solidFill>
                  <a:schemeClr val="tx1"/>
                </a:solidFill>
                <a:latin typeface="Comic Sans MS"/>
              </a:rPr>
              <a:t>You can have thousands of</a:t>
            </a:r>
            <a:r>
              <a:rPr lang="sv-SE" sz="2400" b="1" dirty="0">
                <a:solidFill>
                  <a:schemeClr val="tx1"/>
                </a:solidFill>
                <a:latin typeface="Comic Sans MS"/>
              </a:rPr>
              <a:t> </a:t>
            </a:r>
            <a:r>
              <a:rPr lang="en-SE" sz="2400" b="1" dirty="0">
                <a:solidFill>
                  <a:schemeClr val="tx1"/>
                </a:solidFill>
                <a:latin typeface="Comic Sans MS"/>
              </a:rPr>
              <a:t>functions in your System!!!!</a:t>
            </a:r>
          </a:p>
        </p:txBody>
      </p:sp>
    </p:spTree>
    <p:extLst>
      <p:ext uri="{BB962C8B-B14F-4D97-AF65-F5344CB8AC3E}">
        <p14:creationId xmlns:p14="http://schemas.microsoft.com/office/powerpoint/2010/main" val="36639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D1D073B-762F-2D30-C188-3FCE7827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682F14-1B01-F51B-2137-66647E7332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410" b="70383"/>
          <a:stretch>
            <a:fillRect/>
          </a:stretch>
        </p:blipFill>
        <p:spPr>
          <a:xfrm>
            <a:off x="410307" y="2777172"/>
            <a:ext cx="3552093" cy="18179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BD068F-6305-3D19-4995-8C509D393319}"/>
              </a:ext>
            </a:extLst>
          </p:cNvPr>
          <p:cNvSpPr txBox="1"/>
          <p:nvPr/>
        </p:nvSpPr>
        <p:spPr>
          <a:xfrm>
            <a:off x="9067800" y="7016841"/>
            <a:ext cx="4343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E" sz="2400" b="1" dirty="0">
              <a:solidFill>
                <a:srgbClr val="FF0000"/>
              </a:solidFill>
              <a:latin typeface="Comic Sans MS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Comic Sans MS"/>
              </a:rPr>
              <a:t>You can do whatever you want with a certain student through its object</a:t>
            </a:r>
            <a:endParaRPr lang="en-SE" sz="2400" b="1" dirty="0">
              <a:solidFill>
                <a:srgbClr val="FF0000"/>
              </a:solidFill>
              <a:latin typeface="Comic Sans M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719CC9A-E222-16C9-00A5-B0EA7CBDF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961077" y="5037757"/>
            <a:ext cx="2438400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5D00D773-6385-CE23-16C8-9818083C17D0}"/>
              </a:ext>
            </a:extLst>
          </p:cNvPr>
          <p:cNvSpPr txBox="1"/>
          <p:nvPr/>
        </p:nvSpPr>
        <p:spPr>
          <a:xfrm>
            <a:off x="381000" y="4648200"/>
            <a:ext cx="10287000" cy="4187874"/>
          </a:xfrm>
          <a:prstGeom prst="rect">
            <a:avLst/>
          </a:prstGeom>
        </p:spPr>
        <p:txBody>
          <a:bodyPr vert="horz" wrap="square" lIns="0" tIns="154492" rIns="0" bIns="0" numCol="1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accent1"/>
                </a:solidFill>
                <a:latin typeface="Comic Sans MS"/>
                <a:cs typeface="Comic Sans MS"/>
              </a:rPr>
              <a:t>.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Name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.Email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.GetEnrolledCourses()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.CalcuateAverage()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.SendEmail(</a:t>
            </a:r>
            <a:r>
              <a:rPr lang="sv-SE" sz="2400" b="1" dirty="0" err="1">
                <a:solidFill>
                  <a:schemeClr val="tx1"/>
                </a:solidFill>
                <a:latin typeface="Comic Sans MS"/>
                <a:cs typeface="Comic Sans MS"/>
              </a:rPr>
              <a:t>Subject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, Body)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.EnrollInCourse(10)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.PayFees</a:t>
            </a:r>
          </a:p>
          <a:p>
            <a:pPr marL="21912">
              <a:spcBef>
                <a:spcPts val="1216"/>
              </a:spcBef>
            </a:pPr>
            <a:r>
              <a:rPr lang="sv-SE" sz="2400" b="1" dirty="0">
                <a:solidFill>
                  <a:srgbClr val="FF0000"/>
                </a:solidFill>
                <a:latin typeface="Comic Sans MS"/>
                <a:cs typeface="Comic Sans MS"/>
              </a:rPr>
              <a:t>Student1</a:t>
            </a:r>
            <a:r>
              <a:rPr lang="sv-SE" sz="2400" b="1" dirty="0">
                <a:solidFill>
                  <a:schemeClr val="tx1"/>
                </a:solidFill>
                <a:latin typeface="Comic Sans MS"/>
                <a:cs typeface="Comic Sans MS"/>
              </a:rPr>
              <a:t>.UnEnrolFromCourse(10)</a:t>
            </a:r>
            <a:endParaRPr lang="sv-SE" sz="2400" dirty="0">
              <a:solidFill>
                <a:schemeClr val="tx1"/>
              </a:solidFill>
              <a:latin typeface="Comic Sans MS"/>
              <a:cs typeface="Comic Sans MS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291CD14-9E07-1D7E-05DF-900D5793679F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6"/>
              </a:spcBef>
            </a:pPr>
            <a:r>
              <a:rPr lang="en-GB" sz="4000" b="1" dirty="0"/>
              <a:t>Encapsulation in Object Oriented (</a:t>
            </a:r>
            <a:r>
              <a:rPr lang="en-GB" sz="4000" b="1" dirty="0">
                <a:solidFill>
                  <a:srgbClr val="FF0000"/>
                </a:solidFill>
              </a:rPr>
              <a:t>OOP</a:t>
            </a:r>
            <a:r>
              <a:rPr lang="en-GB" sz="4000" b="1" dirty="0"/>
              <a:t>)</a:t>
            </a:r>
            <a:endParaRPr lang="sv-SE" sz="2400" b="1" dirty="0">
              <a:solidFill>
                <a:srgbClr val="FF0000"/>
              </a:solidFill>
              <a:latin typeface="Comic Sans MS"/>
              <a:cs typeface="Comic Sans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70FE45-FEB5-7C9A-FD61-F2F3ABA7F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525" y="2611263"/>
            <a:ext cx="4048690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9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18732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</a:t>
            </a:r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Encapsulation is an OOP principle that bundles data with its methods and restricts direct access to an object’s internal state.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1569</TotalTime>
  <Words>175</Words>
  <Application>Microsoft Office PowerPoint</Application>
  <PresentationFormat>Custom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56</cp:revision>
  <dcterms:created xsi:type="dcterms:W3CDTF">2025-12-09T17:44:59Z</dcterms:created>
  <dcterms:modified xsi:type="dcterms:W3CDTF">2026-01-02T12:13:57Z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