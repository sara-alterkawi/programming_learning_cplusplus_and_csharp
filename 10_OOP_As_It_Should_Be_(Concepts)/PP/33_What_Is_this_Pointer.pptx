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11" r:id="rId2"/>
    <p:sldId id="257" r:id="rId3"/>
    <p:sldId id="333" r:id="rId4"/>
    <p:sldId id="342" r:id="rId5"/>
    <p:sldId id="325" r:id="rId6"/>
    <p:sldId id="344" r:id="rId7"/>
    <p:sldId id="329" r:id="rId8"/>
    <p:sldId id="345" r:id="rId9"/>
    <p:sldId id="346" r:id="rId10"/>
    <p:sldId id="347" r:id="rId11"/>
    <p:sldId id="335" r:id="rId12"/>
    <p:sldId id="330" r:id="rId13"/>
    <p:sldId id="332" r:id="rId14"/>
    <p:sldId id="313" r:id="rId15"/>
  </p:sldIdLst>
  <p:sldSz cx="134112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37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62626"/>
    <a:srgbClr val="2929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41" d="100"/>
          <a:sy n="41" d="100"/>
        </p:scale>
        <p:origin x="54" y="771"/>
      </p:cViewPr>
      <p:guideLst>
        <p:guide orient="horz" pos="2880"/>
        <p:guide pos="372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5"/>
            <a:ext cx="7643507" cy="477951"/>
          </a:xfrm>
        </p:spPr>
        <p:txBody>
          <a:bodyPr lIns="0" tIns="0" rIns="0" bIns="0"/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3"/>
            <a:ext cx="764350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8EB70-F102-BAB5-31FD-19FC3742A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>
            <a:extLst>
              <a:ext uri="{FF2B5EF4-FFF2-40B4-BE49-F238E27FC236}">
                <a16:creationId xmlns:a16="http://schemas.microsoft.com/office/drawing/2014/main" id="{1FBE4D91-85C7-0256-4A79-65056ECD04F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</a:pPr>
            <a:fld id="{81D60167-4931-47E6-BA6A-407CBD079E47}" type="slidenum">
              <a:rPr spc="-86" dirty="0"/>
              <a:pPr marL="65742">
                <a:lnSpc>
                  <a:spcPts val="2260"/>
                </a:lnSpc>
              </a:pPr>
              <a:t>1</a:t>
            </a:fld>
            <a:endParaRPr spc="-86" dirty="0"/>
          </a:p>
        </p:txBody>
      </p:sp>
      <p:pic>
        <p:nvPicPr>
          <p:cNvPr id="47" name="object 25">
            <a:extLst>
              <a:ext uri="{FF2B5EF4-FFF2-40B4-BE49-F238E27FC236}">
                <a16:creationId xmlns:a16="http://schemas.microsoft.com/office/drawing/2014/main" id="{98B72FCF-C42A-5F3E-FCAD-5FE306171E0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" b="17"/>
          <a:stretch/>
        </p:blipFill>
        <p:spPr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3" name="object 30">
            <a:extLst>
              <a:ext uri="{FF2B5EF4-FFF2-40B4-BE49-F238E27FC236}">
                <a16:creationId xmlns:a16="http://schemas.microsoft.com/office/drawing/2014/main" id="{B85DEC78-C825-AA3F-520D-C936B7F83D23}"/>
              </a:ext>
            </a:extLst>
          </p:cNvPr>
          <p:cNvSpPr txBox="1"/>
          <p:nvPr/>
        </p:nvSpPr>
        <p:spPr>
          <a:xfrm>
            <a:off x="0" y="1143000"/>
            <a:ext cx="12725400" cy="396262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sv-SE" sz="6000" b="1" dirty="0">
                <a:solidFill>
                  <a:srgbClr val="FFCE53"/>
                </a:solidFill>
                <a:latin typeface="Comic Sans MS"/>
              </a:rPr>
              <a:t>OOP as it </a:t>
            </a:r>
            <a:r>
              <a:rPr lang="sv-SE" sz="6000" b="1" dirty="0" err="1">
                <a:solidFill>
                  <a:srgbClr val="FFCE53"/>
                </a:solidFill>
                <a:latin typeface="Comic Sans MS"/>
              </a:rPr>
              <a:t>Should</a:t>
            </a:r>
            <a:r>
              <a:rPr lang="sv-SE" sz="6000" b="1" dirty="0">
                <a:solidFill>
                  <a:srgbClr val="FFCE53"/>
                </a:solidFill>
                <a:latin typeface="Comic Sans MS"/>
              </a:rPr>
              <a:t> Be</a:t>
            </a:r>
          </a:p>
          <a:p>
            <a:pPr marL="2786346" algn="ctr">
              <a:spcBef>
                <a:spcPts val="673"/>
              </a:spcBef>
            </a:pPr>
            <a:r>
              <a:rPr lang="en-GB" sz="6000" b="1" dirty="0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ar-SY" sz="6000" b="1" dirty="0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endParaRPr lang="en-GB" sz="6000" b="1" dirty="0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r>
              <a:rPr lang="en-GB" sz="6000" b="1" dirty="0">
                <a:solidFill>
                  <a:srgbClr val="FFCE53"/>
                </a:solidFill>
                <a:latin typeface="Comic Sans MS"/>
                <a:cs typeface="Comic Sans MS"/>
              </a:rPr>
              <a:t>What is ‘this’ pointer?</a:t>
            </a:r>
          </a:p>
        </p:txBody>
      </p:sp>
    </p:spTree>
    <p:extLst>
      <p:ext uri="{BB962C8B-B14F-4D97-AF65-F5344CB8AC3E}">
        <p14:creationId xmlns:p14="http://schemas.microsoft.com/office/powerpoint/2010/main" val="3694772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AA9CB0E-53FA-ACBF-E593-FD91CDBB5BFF}"/>
              </a:ext>
            </a:extLst>
          </p:cNvPr>
          <p:cNvSpPr txBox="1"/>
          <p:nvPr/>
        </p:nvSpPr>
        <p:spPr>
          <a:xfrm>
            <a:off x="106432" y="3084218"/>
            <a:ext cx="13304768" cy="1779974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sv-SE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OOP as it </a:t>
            </a:r>
            <a:r>
              <a:rPr lang="sv-SE" sz="40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Should</a:t>
            </a:r>
            <a:r>
              <a:rPr lang="sv-SE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 Be</a:t>
            </a: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786346" algn="ctr">
              <a:spcBef>
                <a:spcPts val="673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What is ‘this’ pointer?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2187326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 panose="030F0702030302020204" pitchFamily="66" charset="0"/>
                <a:cs typeface="Comic Sans MS"/>
              </a:rPr>
              <a:t>🔎 Definition</a:t>
            </a:r>
          </a:p>
          <a:p>
            <a:pPr marL="21912">
              <a:spcBef>
                <a:spcPts val="1216"/>
              </a:spcBef>
            </a:pPr>
            <a:endParaRPr lang="en-GB" sz="2400" spc="-17" dirty="0">
              <a:solidFill>
                <a:schemeClr val="tx1"/>
              </a:solidFill>
              <a:latin typeface="Comic Sans MS" panose="030F0702030302020204" pitchFamily="66" charset="0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dirty="0">
                <a:latin typeface="Comic Sans MS" panose="030F0702030302020204" pitchFamily="66" charset="0"/>
              </a:rPr>
              <a:t>🔹 </a:t>
            </a:r>
            <a:r>
              <a:rPr lang="en-GB" sz="2400" b="1" dirty="0">
                <a:latin typeface="Comic Sans MS" panose="030F0702030302020204" pitchFamily="66" charset="0"/>
              </a:rPr>
              <a:t>this</a:t>
            </a:r>
            <a:r>
              <a:rPr lang="en-GB" sz="2400" dirty="0">
                <a:latin typeface="Comic Sans MS" panose="030F0702030302020204" pitchFamily="66" charset="0"/>
              </a:rPr>
              <a:t> is an implicit pointer available inside </a:t>
            </a:r>
            <a:r>
              <a:rPr lang="en-GB" sz="2400" b="1" dirty="0">
                <a:latin typeface="Comic Sans MS" panose="030F0702030302020204" pitchFamily="66" charset="0"/>
              </a:rPr>
              <a:t>non-static member functions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🔹 It points to the </a:t>
            </a:r>
            <a:r>
              <a:rPr lang="en-GB" sz="2400" b="1" dirty="0">
                <a:latin typeface="Comic Sans MS" panose="030F0702030302020204" pitchFamily="66" charset="0"/>
              </a:rPr>
              <a:t>current object</a:t>
            </a:r>
            <a:r>
              <a:rPr lang="en-GB" sz="2400" dirty="0">
                <a:latin typeface="Comic Sans MS" panose="030F0702030302020204" pitchFamily="66" charset="0"/>
              </a:rPr>
              <a:t> that called the function</a:t>
            </a:r>
            <a:endParaRPr lang="en-GB" sz="2400" spc="-17" dirty="0">
              <a:solidFill>
                <a:schemeClr val="tx1"/>
              </a:solidFill>
              <a:latin typeface="Comic Sans MS" panose="030F0702030302020204" pitchFamily="66" charset="0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40466650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6602A26-E2DB-3EC3-CDEC-BD91E567B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E458D62A-ED0D-005C-6EC5-FF31F2AB458E}"/>
              </a:ext>
            </a:extLst>
          </p:cNvPr>
          <p:cNvSpPr txBox="1"/>
          <p:nvPr/>
        </p:nvSpPr>
        <p:spPr>
          <a:xfrm>
            <a:off x="381000" y="888075"/>
            <a:ext cx="12352767" cy="240277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6"/>
              </a:spcBef>
            </a:pPr>
            <a:r>
              <a:rPr lang="en-GB" sz="4000" b="1" spc="-17" dirty="0">
                <a:solidFill>
                  <a:schemeClr val="tx1"/>
                </a:solidFill>
                <a:latin typeface="Comic Sans MS" panose="030F0702030302020204" pitchFamily="66" charset="0"/>
                <a:cs typeface="Comic Sans MS"/>
              </a:rPr>
              <a:t>📖 Explanation</a:t>
            </a:r>
          </a:p>
          <a:p>
            <a:pPr marL="21912">
              <a:spcBef>
                <a:spcPts val="1216"/>
              </a:spcBef>
            </a:pPr>
            <a:endParaRPr lang="en-GB" sz="2400" spc="-17" dirty="0">
              <a:solidFill>
                <a:schemeClr val="tx1"/>
              </a:solidFill>
              <a:latin typeface="Comic Sans MS" panose="030F0702030302020204" pitchFamily="66" charset="0"/>
              <a:cs typeface="Comic Sans MS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🔹 Every time an object calls a non-static member function, C++ automatically passes 	the object’s address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🔹 This address is stored in the </a:t>
            </a:r>
            <a:r>
              <a:rPr lang="en-GB" sz="2400" b="1" dirty="0">
                <a:latin typeface="Comic Sans MS" panose="030F0702030302020204" pitchFamily="66" charset="0"/>
              </a:rPr>
              <a:t>this pointer</a:t>
            </a:r>
            <a:endParaRPr lang="en-GB" sz="2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01182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8951666-2BEA-8492-55C5-6B7685B7E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62E41D81-6EA7-1326-B30A-F0FAE1F5E2F7}"/>
              </a:ext>
            </a:extLst>
          </p:cNvPr>
          <p:cNvSpPr txBox="1"/>
          <p:nvPr/>
        </p:nvSpPr>
        <p:spPr>
          <a:xfrm>
            <a:off x="381000" y="888075"/>
            <a:ext cx="12352767" cy="335687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6"/>
              </a:spcBef>
            </a:pPr>
            <a:r>
              <a:rPr lang="en-GB" sz="4000" b="1" spc="-17" dirty="0">
                <a:solidFill>
                  <a:schemeClr val="tx1"/>
                </a:solidFill>
                <a:latin typeface="Comic Sans MS" panose="030F0702030302020204" pitchFamily="66" charset="0"/>
                <a:cs typeface="Comic Sans MS"/>
              </a:rPr>
              <a:t>🟨 </a:t>
            </a:r>
            <a:r>
              <a:rPr lang="en-GB" sz="4000" b="1" dirty="0">
                <a:latin typeface="Comic Sans MS" panose="030F0702030302020204" pitchFamily="66" charset="0"/>
              </a:rPr>
              <a:t>Key Characteristics of this</a:t>
            </a:r>
          </a:p>
          <a:p>
            <a:endParaRPr lang="en-GB" sz="2400" b="1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🟩 Main Properties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🟨 Available only inside </a:t>
            </a:r>
            <a:r>
              <a:rPr lang="en-GB" sz="2400" b="1" dirty="0">
                <a:latin typeface="Comic Sans MS" panose="030F0702030302020204" pitchFamily="66" charset="0"/>
              </a:rPr>
              <a:t>non-static</a:t>
            </a:r>
            <a:r>
              <a:rPr lang="en-GB" sz="2400" dirty="0">
                <a:latin typeface="Comic Sans MS" panose="030F0702030302020204" pitchFamily="66" charset="0"/>
              </a:rPr>
              <a:t> member functions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	🟨 Points to the </a:t>
            </a:r>
            <a:r>
              <a:rPr lang="en-GB" sz="2400" b="1" dirty="0">
                <a:latin typeface="Comic Sans MS" panose="030F0702030302020204" pitchFamily="66" charset="0"/>
              </a:rPr>
              <a:t>calling object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	🟨 Used to distinguish between </a:t>
            </a:r>
            <a:r>
              <a:rPr lang="en-GB" sz="2400" b="1" dirty="0">
                <a:latin typeface="Comic Sans MS" panose="030F0702030302020204" pitchFamily="66" charset="0"/>
              </a:rPr>
              <a:t>data members</a:t>
            </a:r>
            <a:r>
              <a:rPr lang="en-GB" sz="2400" dirty="0">
                <a:latin typeface="Comic Sans MS" panose="030F0702030302020204" pitchFamily="66" charset="0"/>
              </a:rPr>
              <a:t> and </a:t>
            </a:r>
            <a:r>
              <a:rPr lang="en-GB" sz="2400" b="1" dirty="0">
                <a:latin typeface="Comic Sans MS" panose="030F0702030302020204" pitchFamily="66" charset="0"/>
              </a:rPr>
              <a:t>parameters</a:t>
            </a:r>
            <a:r>
              <a:rPr lang="en-GB" sz="2400" dirty="0">
                <a:latin typeface="Comic Sans MS" panose="030F0702030302020204" pitchFamily="66" charset="0"/>
              </a:rPr>
              <a:t> with the same 		name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	🟨 Can be passed as an argument using *this</a:t>
            </a:r>
          </a:p>
        </p:txBody>
      </p:sp>
    </p:spTree>
    <p:extLst>
      <p:ext uri="{BB962C8B-B14F-4D97-AF65-F5344CB8AC3E}">
        <p14:creationId xmlns:p14="http://schemas.microsoft.com/office/powerpoint/2010/main" val="28772705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0493257-758A-6AB2-58AB-03C72E069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A7684C10-C4C3-B68F-5237-3EC31249E5F1}"/>
              </a:ext>
            </a:extLst>
          </p:cNvPr>
          <p:cNvSpPr txBox="1"/>
          <p:nvPr/>
        </p:nvSpPr>
        <p:spPr>
          <a:xfrm>
            <a:off x="381000" y="888075"/>
            <a:ext cx="12352767" cy="446487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SE" sz="4000" b="1" dirty="0">
                <a:latin typeface="Comic Sans MS" panose="030F0702030302020204" pitchFamily="66" charset="0"/>
              </a:rPr>
              <a:t>💡 </a:t>
            </a:r>
            <a:r>
              <a:rPr lang="sv-SE" sz="4000" b="1" dirty="0" err="1">
                <a:latin typeface="Comic Sans MS" panose="030F0702030302020204" pitchFamily="66" charset="0"/>
              </a:rPr>
              <a:t>Example</a:t>
            </a:r>
            <a:endParaRPr lang="en-GB" sz="4000" b="1" spc="-17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endParaRPr lang="en-GB" sz="2400" spc="-17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🔹 Constructor parameters have the same names as class attributes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</a:t>
            </a:r>
            <a:r>
              <a:rPr lang="en-GB" sz="2400" dirty="0" err="1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</a:rPr>
              <a:t>clsEmployee</a:t>
            </a:r>
            <a:r>
              <a:rPr lang="en-GB" sz="2400" dirty="0">
                <a:latin typeface="Comic Sans MS" panose="030F0702030302020204" pitchFamily="66" charset="0"/>
              </a:rPr>
              <a:t>(int ID, string Name, float Salary)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{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	</a:t>
            </a:r>
            <a:r>
              <a:rPr lang="en-GB" sz="2400" dirty="0">
                <a:solidFill>
                  <a:srgbClr val="7030A0"/>
                </a:solidFill>
                <a:latin typeface="Comic Sans MS" panose="030F0702030302020204" pitchFamily="66" charset="0"/>
              </a:rPr>
              <a:t>this-</a:t>
            </a:r>
            <a:r>
              <a:rPr lang="en-GB" sz="2400" dirty="0">
                <a:latin typeface="Comic Sans MS" panose="030F0702030302020204" pitchFamily="66" charset="0"/>
              </a:rPr>
              <a:t>&gt;ID = ID;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	</a:t>
            </a:r>
            <a:r>
              <a:rPr lang="en-GB" sz="2400" dirty="0">
                <a:solidFill>
                  <a:srgbClr val="7030A0"/>
                </a:solidFill>
                <a:latin typeface="Comic Sans MS" panose="030F0702030302020204" pitchFamily="66" charset="0"/>
              </a:rPr>
              <a:t>this-</a:t>
            </a:r>
            <a:r>
              <a:rPr lang="en-GB" sz="2400" dirty="0">
                <a:latin typeface="Comic Sans MS" panose="030F0702030302020204" pitchFamily="66" charset="0"/>
              </a:rPr>
              <a:t>&gt;Name = Name;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	</a:t>
            </a:r>
            <a:r>
              <a:rPr lang="en-GB" sz="2400" dirty="0">
                <a:solidFill>
                  <a:srgbClr val="7030A0"/>
                </a:solidFill>
                <a:latin typeface="Comic Sans MS" panose="030F0702030302020204" pitchFamily="66" charset="0"/>
              </a:rPr>
              <a:t>this-</a:t>
            </a:r>
            <a:r>
              <a:rPr lang="en-GB" sz="2400" dirty="0">
                <a:latin typeface="Comic Sans MS" panose="030F0702030302020204" pitchFamily="66" charset="0"/>
              </a:rPr>
              <a:t>&gt;Salary = Salary;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}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🔹 this-&gt;ID refers to the object’s data member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🔹 ID refers to the constructor parameter</a:t>
            </a:r>
          </a:p>
        </p:txBody>
      </p:sp>
    </p:spTree>
    <p:extLst>
      <p:ext uri="{BB962C8B-B14F-4D97-AF65-F5344CB8AC3E}">
        <p14:creationId xmlns:p14="http://schemas.microsoft.com/office/powerpoint/2010/main" val="1047755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81BE943-6BF8-6560-128F-3A2B5B25F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4A9D01D0-5E83-97B5-892D-5D4DC706BDFD}"/>
              </a:ext>
            </a:extLst>
          </p:cNvPr>
          <p:cNvSpPr txBox="1"/>
          <p:nvPr/>
        </p:nvSpPr>
        <p:spPr>
          <a:xfrm>
            <a:off x="381000" y="888075"/>
            <a:ext cx="12352767" cy="372620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 panose="030F0702030302020204" pitchFamily="66" charset="0"/>
              </a:rPr>
              <a:t>⚖️ Comparison</a:t>
            </a:r>
          </a:p>
          <a:p>
            <a:endParaRPr lang="en-GB" sz="2400" spc="-17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🟩 </a:t>
            </a:r>
            <a:r>
              <a:rPr lang="en-GB" sz="2400" b="1" dirty="0">
                <a:latin typeface="Comic Sans MS" panose="030F0702030302020204" pitchFamily="66" charset="0"/>
              </a:rPr>
              <a:t>Non-Static Member Function</a:t>
            </a:r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 panose="030F0702030302020204" pitchFamily="66" charset="0"/>
              </a:rPr>
              <a:t>	✔️ </a:t>
            </a:r>
            <a:r>
              <a:rPr lang="en-GB" sz="2400" dirty="0">
                <a:latin typeface="Comic Sans MS" panose="030F0702030302020204" pitchFamily="66" charset="0"/>
              </a:rPr>
              <a:t>Has access to this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 panose="030F0702030302020204" pitchFamily="66" charset="0"/>
              </a:rPr>
              <a:t>	✔️ </a:t>
            </a:r>
            <a:r>
              <a:rPr lang="en-GB" sz="2400" dirty="0">
                <a:latin typeface="Comic Sans MS" panose="030F0702030302020204" pitchFamily="66" charset="0"/>
              </a:rPr>
              <a:t>Can access object data directly</a:t>
            </a: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🟥 </a:t>
            </a:r>
            <a:r>
              <a:rPr lang="en-GB" sz="2400" b="1" dirty="0">
                <a:latin typeface="Comic Sans MS" panose="030F0702030302020204" pitchFamily="66" charset="0"/>
              </a:rPr>
              <a:t>Static Member Function</a:t>
            </a:r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 panose="030F0702030302020204" pitchFamily="66" charset="0"/>
              </a:rPr>
              <a:t>	✔️ </a:t>
            </a:r>
            <a:r>
              <a:rPr lang="en-GB" sz="2400" dirty="0">
                <a:latin typeface="Comic Sans MS" panose="030F0702030302020204" pitchFamily="66" charset="0"/>
              </a:rPr>
              <a:t>Does </a:t>
            </a:r>
            <a:r>
              <a:rPr lang="en-GB" sz="2400" b="1" dirty="0">
                <a:latin typeface="Comic Sans MS" panose="030F0702030302020204" pitchFamily="66" charset="0"/>
              </a:rPr>
              <a:t>not</a:t>
            </a:r>
            <a:r>
              <a:rPr lang="en-GB" sz="2400" dirty="0">
                <a:latin typeface="Comic Sans MS" panose="030F0702030302020204" pitchFamily="66" charset="0"/>
              </a:rPr>
              <a:t> have this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 panose="030F0702030302020204" pitchFamily="66" charset="0"/>
              </a:rPr>
              <a:t>	✔️ </a:t>
            </a:r>
            <a:r>
              <a:rPr lang="en-GB" sz="2400" dirty="0">
                <a:latin typeface="Comic Sans MS" panose="030F0702030302020204" pitchFamily="66" charset="0"/>
              </a:rPr>
              <a:t>Must receive an object explicitly</a:t>
            </a:r>
          </a:p>
        </p:txBody>
      </p:sp>
    </p:spTree>
    <p:extLst>
      <p:ext uri="{BB962C8B-B14F-4D97-AF65-F5344CB8AC3E}">
        <p14:creationId xmlns:p14="http://schemas.microsoft.com/office/powerpoint/2010/main" val="13954876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7AF4F7E-F710-FF3F-BACE-0CDDF37C3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EAAE5C19-F45B-6451-8F23-FE532CDEA67A}"/>
              </a:ext>
            </a:extLst>
          </p:cNvPr>
          <p:cNvSpPr txBox="1"/>
          <p:nvPr/>
        </p:nvSpPr>
        <p:spPr>
          <a:xfrm>
            <a:off x="381000" y="888075"/>
            <a:ext cx="12352767" cy="4095541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SE" sz="4000" b="1" dirty="0">
                <a:latin typeface="Comic Sans MS" panose="030F0702030302020204" pitchFamily="66" charset="0"/>
              </a:rPr>
              <a:t>💡 </a:t>
            </a:r>
            <a:r>
              <a:rPr lang="sv-SE" sz="4000" b="1" dirty="0" err="1">
                <a:latin typeface="Comic Sans MS" panose="030F0702030302020204" pitchFamily="66" charset="0"/>
              </a:rPr>
              <a:t>Example</a:t>
            </a:r>
            <a:endParaRPr lang="en-GB" sz="4000" b="1" spc="-17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endParaRPr lang="en-GB" sz="2400" spc="-17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r>
              <a:rPr lang="sv-SE" sz="2400" dirty="0" err="1">
                <a:latin typeface="Comic Sans MS" panose="030F0702030302020204" pitchFamily="66" charset="0"/>
              </a:rPr>
              <a:t>Static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Function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Usage</a:t>
            </a:r>
            <a:endParaRPr lang="en-GB" sz="2400" spc="-17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🔹 Func1() is static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🔹 It cannot use this directly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🔹 It receives an object as a parameter 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</a:t>
            </a:r>
            <a:r>
              <a:rPr lang="en-GB" sz="2400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</a:rPr>
              <a:t>static</a:t>
            </a:r>
            <a:r>
              <a:rPr lang="en-GB" sz="2400" dirty="0">
                <a:latin typeface="Comic Sans MS" panose="030F0702030302020204" pitchFamily="66" charset="0"/>
              </a:rPr>
              <a:t> </a:t>
            </a:r>
            <a:r>
              <a:rPr lang="en-GB" sz="2400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</a:rPr>
              <a:t>void</a:t>
            </a:r>
            <a:r>
              <a:rPr lang="en-GB" sz="2400" dirty="0">
                <a:latin typeface="Comic Sans MS" panose="030F0702030302020204" pitchFamily="66" charset="0"/>
              </a:rPr>
              <a:t> </a:t>
            </a:r>
            <a:r>
              <a:rPr lang="en-GB" sz="2400" dirty="0">
                <a:solidFill>
                  <a:srgbClr val="0070C0"/>
                </a:solidFill>
                <a:latin typeface="Comic Sans MS" panose="030F0702030302020204" pitchFamily="66" charset="0"/>
              </a:rPr>
              <a:t>Func1</a:t>
            </a:r>
            <a:r>
              <a:rPr lang="en-GB" sz="2400" dirty="0">
                <a:latin typeface="Comic Sans MS" panose="030F0702030302020204" pitchFamily="66" charset="0"/>
              </a:rPr>
              <a:t>(</a:t>
            </a:r>
            <a:r>
              <a:rPr lang="en-GB" sz="2400" dirty="0" err="1">
                <a:latin typeface="Comic Sans MS" panose="030F0702030302020204" pitchFamily="66" charset="0"/>
              </a:rPr>
              <a:t>clsEmployee</a:t>
            </a:r>
            <a:r>
              <a:rPr lang="en-GB" sz="2400" dirty="0">
                <a:latin typeface="Comic Sans MS" panose="030F0702030302020204" pitchFamily="66" charset="0"/>
              </a:rPr>
              <a:t> Employee)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{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	</a:t>
            </a:r>
            <a:r>
              <a:rPr lang="en-GB" sz="2400" dirty="0" err="1">
                <a:latin typeface="Comic Sans MS" panose="030F0702030302020204" pitchFamily="66" charset="0"/>
              </a:rPr>
              <a:t>Employee.</a:t>
            </a:r>
            <a:r>
              <a:rPr lang="en-GB" sz="2400" dirty="0" err="1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</a:rPr>
              <a:t>Print</a:t>
            </a:r>
            <a:r>
              <a:rPr lang="en-GB" sz="2400" dirty="0">
                <a:latin typeface="Comic Sans MS" panose="030F0702030302020204" pitchFamily="66" charset="0"/>
              </a:rPr>
              <a:t>();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}</a:t>
            </a:r>
          </a:p>
        </p:txBody>
      </p:sp>
    </p:spTree>
    <p:extLst>
      <p:ext uri="{BB962C8B-B14F-4D97-AF65-F5344CB8AC3E}">
        <p14:creationId xmlns:p14="http://schemas.microsoft.com/office/powerpoint/2010/main" val="19435037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541A3C7-8CEE-0CCC-68F2-8D3DA1EF8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CBE9DA30-79AC-5B90-6E74-8149D65FD3F9}"/>
              </a:ext>
            </a:extLst>
          </p:cNvPr>
          <p:cNvSpPr txBox="1"/>
          <p:nvPr/>
        </p:nvSpPr>
        <p:spPr>
          <a:xfrm>
            <a:off x="381000" y="888075"/>
            <a:ext cx="12352767" cy="372620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SE" sz="4000" b="1" dirty="0">
                <a:latin typeface="Comic Sans MS" panose="030F0702030302020204" pitchFamily="66" charset="0"/>
              </a:rPr>
              <a:t>💡 </a:t>
            </a:r>
            <a:r>
              <a:rPr lang="sv-SE" sz="4000" b="1" dirty="0" err="1">
                <a:latin typeface="Comic Sans MS" panose="030F0702030302020204" pitchFamily="66" charset="0"/>
              </a:rPr>
              <a:t>Example</a:t>
            </a:r>
            <a:endParaRPr lang="en-GB" sz="4000" b="1" spc="-17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endParaRPr lang="en-GB" sz="2400" spc="-17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r>
              <a:rPr lang="sv-SE" sz="2400" dirty="0" err="1">
                <a:latin typeface="Comic Sans MS" panose="030F0702030302020204" pitchFamily="66" charset="0"/>
              </a:rPr>
              <a:t>this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with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Static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Function</a:t>
            </a:r>
            <a:endParaRPr lang="en-GB" sz="2400" spc="-17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🔹 A non-static function passes the current object using *this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void Func2()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{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	Func1(*this);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}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🔹 *this converts the pointer to the </a:t>
            </a:r>
            <a:r>
              <a:rPr lang="en-GB" sz="2400" b="1" dirty="0">
                <a:latin typeface="Comic Sans MS" panose="030F0702030302020204" pitchFamily="66" charset="0"/>
              </a:rPr>
              <a:t>actual object</a:t>
            </a:r>
            <a:endParaRPr lang="en-GB" sz="2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03467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2BF0CD4-0319-9496-8478-267F28598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F2F894D4-F401-E6A7-0F75-B717EFD319F6}"/>
              </a:ext>
            </a:extLst>
          </p:cNvPr>
          <p:cNvSpPr txBox="1"/>
          <p:nvPr/>
        </p:nvSpPr>
        <p:spPr>
          <a:xfrm>
            <a:off x="381000" y="888075"/>
            <a:ext cx="12352767" cy="335687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1" i="0" u="none" strike="noStrike" kern="0" cap="none" spc="-1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</a:rPr>
              <a:t>🟦 Steps in main()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0" cap="none" spc="-17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mic Sans MS" panose="030F0702030302020204" pitchFamily="66" charset="0"/>
            </a:endParaRPr>
          </a:p>
          <a:p>
            <a:r>
              <a:rPr lang="sv-SE" sz="2400" dirty="0">
                <a:latin typeface="Comic Sans MS" panose="030F0702030302020204" pitchFamily="66" charset="0"/>
              </a:rPr>
              <a:t>1️⃣ </a:t>
            </a:r>
            <a:r>
              <a:rPr lang="sv-SE" sz="2400" dirty="0" err="1">
                <a:latin typeface="Comic Sans MS" panose="030F0702030302020204" pitchFamily="66" charset="0"/>
              </a:rPr>
              <a:t>Create</a:t>
            </a:r>
            <a:r>
              <a:rPr lang="sv-SE" sz="2400" dirty="0">
                <a:latin typeface="Comic Sans MS" panose="030F0702030302020204" pitchFamily="66" charset="0"/>
              </a:rPr>
              <a:t> an </a:t>
            </a:r>
            <a:r>
              <a:rPr lang="sv-SE" sz="2400" dirty="0" err="1">
                <a:latin typeface="Comic Sans MS" panose="030F0702030302020204" pitchFamily="66" charset="0"/>
              </a:rPr>
              <a:t>object</a:t>
            </a:r>
            <a:r>
              <a:rPr lang="sv-SE" sz="2400" dirty="0">
                <a:latin typeface="Comic Sans MS" panose="030F0702030302020204" pitchFamily="66" charset="0"/>
              </a:rPr>
              <a:t> Employee1</a:t>
            </a:r>
          </a:p>
          <a:p>
            <a:r>
              <a:rPr lang="sv-SE" sz="2400" dirty="0">
                <a:latin typeface="Comic Sans MS" panose="030F0702030302020204" pitchFamily="66" charset="0"/>
              </a:rPr>
              <a:t>2️⃣ </a:t>
            </a:r>
            <a:r>
              <a:rPr lang="sv-SE" sz="2400" dirty="0" err="1">
                <a:latin typeface="Comic Sans MS" panose="030F0702030302020204" pitchFamily="66" charset="0"/>
              </a:rPr>
              <a:t>Constructor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initializes</a:t>
            </a:r>
            <a:r>
              <a:rPr lang="sv-SE" sz="2400" dirty="0">
                <a:latin typeface="Comic Sans MS" panose="030F0702030302020204" pitchFamily="66" charset="0"/>
              </a:rPr>
              <a:t> data </a:t>
            </a:r>
            <a:r>
              <a:rPr lang="sv-SE" sz="2400" dirty="0" err="1">
                <a:latin typeface="Comic Sans MS" panose="030F0702030302020204" pitchFamily="66" charset="0"/>
              </a:rPr>
              <a:t>using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this</a:t>
            </a:r>
            <a:endParaRPr lang="sv-SE" sz="2400" dirty="0">
              <a:latin typeface="Comic Sans MS" panose="030F0702030302020204" pitchFamily="66" charset="0"/>
            </a:endParaRPr>
          </a:p>
          <a:p>
            <a:r>
              <a:rPr lang="sv-SE" sz="2400" dirty="0">
                <a:latin typeface="Comic Sans MS" panose="030F0702030302020204" pitchFamily="66" charset="0"/>
              </a:rPr>
              <a:t>3️⃣ Print() displays </a:t>
            </a:r>
            <a:r>
              <a:rPr lang="sv-SE" sz="2400" dirty="0" err="1">
                <a:latin typeface="Comic Sans MS" panose="030F0702030302020204" pitchFamily="66" charset="0"/>
              </a:rPr>
              <a:t>employee</a:t>
            </a:r>
            <a:r>
              <a:rPr lang="sv-SE" sz="2400" dirty="0">
                <a:latin typeface="Comic Sans MS" panose="030F0702030302020204" pitchFamily="66" charset="0"/>
              </a:rPr>
              <a:t> information</a:t>
            </a:r>
          </a:p>
          <a:p>
            <a:r>
              <a:rPr lang="sv-SE" sz="2400" dirty="0">
                <a:latin typeface="Comic Sans MS" panose="030F0702030302020204" pitchFamily="66" charset="0"/>
              </a:rPr>
              <a:t>4️⃣ Func2() is </a:t>
            </a:r>
            <a:r>
              <a:rPr lang="sv-SE" sz="2400" dirty="0" err="1">
                <a:latin typeface="Comic Sans MS" panose="030F0702030302020204" pitchFamily="66" charset="0"/>
              </a:rPr>
              <a:t>called</a:t>
            </a:r>
            <a:endParaRPr lang="sv-SE" sz="2400" dirty="0">
              <a:latin typeface="Comic Sans MS" panose="030F0702030302020204" pitchFamily="66" charset="0"/>
            </a:endParaRPr>
          </a:p>
          <a:p>
            <a:r>
              <a:rPr lang="sv-SE" sz="2400" dirty="0">
                <a:latin typeface="Comic Sans MS" panose="030F0702030302020204" pitchFamily="66" charset="0"/>
              </a:rPr>
              <a:t>5️⃣ Func2() </a:t>
            </a:r>
            <a:r>
              <a:rPr lang="sv-SE" sz="2400" dirty="0" err="1">
                <a:latin typeface="Comic Sans MS" panose="030F0702030302020204" pitchFamily="66" charset="0"/>
              </a:rPr>
              <a:t>passes</a:t>
            </a:r>
            <a:r>
              <a:rPr lang="sv-SE" sz="2400" dirty="0">
                <a:latin typeface="Comic Sans MS" panose="030F0702030302020204" pitchFamily="66" charset="0"/>
              </a:rPr>
              <a:t> *</a:t>
            </a:r>
            <a:r>
              <a:rPr lang="sv-SE" sz="2400" dirty="0" err="1">
                <a:latin typeface="Comic Sans MS" panose="030F0702030302020204" pitchFamily="66" charset="0"/>
              </a:rPr>
              <a:t>this</a:t>
            </a:r>
            <a:r>
              <a:rPr lang="sv-SE" sz="2400" dirty="0">
                <a:latin typeface="Comic Sans MS" panose="030F0702030302020204" pitchFamily="66" charset="0"/>
              </a:rPr>
              <a:t> to </a:t>
            </a:r>
            <a:r>
              <a:rPr lang="sv-SE" sz="2400" dirty="0" err="1">
                <a:latin typeface="Comic Sans MS" panose="030F0702030302020204" pitchFamily="66" charset="0"/>
              </a:rPr>
              <a:t>static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function</a:t>
            </a:r>
            <a:endParaRPr lang="sv-SE" sz="2400" dirty="0">
              <a:latin typeface="Comic Sans MS" panose="030F0702030302020204" pitchFamily="66" charset="0"/>
            </a:endParaRPr>
          </a:p>
          <a:p>
            <a:r>
              <a:rPr lang="sv-SE" sz="2400" dirty="0">
                <a:latin typeface="Comic Sans MS" panose="030F0702030302020204" pitchFamily="66" charset="0"/>
              </a:rPr>
              <a:t>6️⃣ </a:t>
            </a:r>
            <a:r>
              <a:rPr lang="sv-SE" sz="2400" dirty="0" err="1">
                <a:latin typeface="Comic Sans MS" panose="030F0702030302020204" pitchFamily="66" charset="0"/>
              </a:rPr>
              <a:t>Static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function</a:t>
            </a:r>
            <a:r>
              <a:rPr lang="sv-SE" sz="2400" dirty="0">
                <a:latin typeface="Comic Sans MS" panose="030F0702030302020204" pitchFamily="66" charset="0"/>
              </a:rPr>
              <a:t> calls Print() </a:t>
            </a:r>
            <a:r>
              <a:rPr lang="sv-SE" sz="2400" dirty="0" err="1">
                <a:latin typeface="Comic Sans MS" panose="030F0702030302020204" pitchFamily="66" charset="0"/>
              </a:rPr>
              <a:t>again</a:t>
            </a:r>
            <a:endParaRPr lang="sv-SE" sz="2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01671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CDB6C49-EACC-9FE4-C633-CACDEA6BA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A2E9409D-8454-F144-09AA-0F831C297726}"/>
              </a:ext>
            </a:extLst>
          </p:cNvPr>
          <p:cNvSpPr txBox="1"/>
          <p:nvPr/>
        </p:nvSpPr>
        <p:spPr>
          <a:xfrm>
            <a:off x="381000" y="888075"/>
            <a:ext cx="12352767" cy="187954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v-SE" sz="4000" b="1" i="0" u="none" strike="noStrike" kern="0" cap="none" spc="-1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</a:rPr>
              <a:t>➡️ </a:t>
            </a:r>
            <a:r>
              <a:rPr kumimoji="0" lang="sv-SE" sz="4000" b="1" i="0" u="none" strike="noStrike" kern="0" cap="none" spc="-17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</a:rPr>
              <a:t>Expected</a:t>
            </a:r>
            <a:r>
              <a:rPr kumimoji="0" lang="sv-SE" sz="4000" b="1" i="0" u="none" strike="noStrike" kern="0" cap="none" spc="-1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</a:rPr>
              <a:t> Output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0" cap="none" spc="-17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mic Sans MS" panose="030F0702030302020204" pitchFamily="66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400" dirty="0">
                <a:latin typeface="Comic Sans MS" panose="030F0702030302020204" pitchFamily="66" charset="0"/>
              </a:rPr>
              <a:t>🔹 Employee information is printed </a:t>
            </a:r>
            <a:r>
              <a:rPr lang="en-GB" sz="2400" b="1" dirty="0">
                <a:latin typeface="Comic Sans MS" panose="030F0702030302020204" pitchFamily="66" charset="0"/>
              </a:rPr>
              <a:t>twice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🔹 Both outputs are identical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3341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990E0AC-1179-7FB7-16BD-3B0B6827A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E03FC800-D303-BD33-7789-3A9B80106EA6}"/>
              </a:ext>
            </a:extLst>
          </p:cNvPr>
          <p:cNvSpPr txBox="1"/>
          <p:nvPr/>
        </p:nvSpPr>
        <p:spPr>
          <a:xfrm>
            <a:off x="381000" y="888075"/>
            <a:ext cx="12352767" cy="187954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 panose="030F0702030302020204" pitchFamily="66" charset="0"/>
              </a:rPr>
              <a:t>🚫 Warning</a:t>
            </a:r>
          </a:p>
          <a:p>
            <a:endParaRPr lang="en-GB" sz="2400" spc="-17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🔹 this </a:t>
            </a:r>
            <a:r>
              <a:rPr lang="en-GB" sz="2400" b="1" dirty="0">
                <a:latin typeface="Comic Sans MS" panose="030F0702030302020204" pitchFamily="66" charset="0"/>
              </a:rPr>
              <a:t>cannot be used</a:t>
            </a:r>
            <a:r>
              <a:rPr lang="en-GB" sz="2400" dirty="0">
                <a:latin typeface="Comic Sans MS" panose="030F0702030302020204" pitchFamily="66" charset="0"/>
              </a:rPr>
              <a:t> inside static member functions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🔹 Using this outside non-static functions causes compilation errors</a:t>
            </a:r>
          </a:p>
        </p:txBody>
      </p:sp>
    </p:spTree>
    <p:extLst>
      <p:ext uri="{BB962C8B-B14F-4D97-AF65-F5344CB8AC3E}">
        <p14:creationId xmlns:p14="http://schemas.microsoft.com/office/powerpoint/2010/main" val="19417163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6548168-F6BF-9E3C-8335-7DFD704D0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B7131D51-6AAA-DD4B-6C31-C4D46506634E}"/>
              </a:ext>
            </a:extLst>
          </p:cNvPr>
          <p:cNvSpPr txBox="1"/>
          <p:nvPr/>
        </p:nvSpPr>
        <p:spPr>
          <a:xfrm>
            <a:off x="381000" y="888075"/>
            <a:ext cx="12352767" cy="261821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 panose="030F0702030302020204" pitchFamily="66" charset="0"/>
              </a:rPr>
              <a:t>✨ Summary</a:t>
            </a:r>
            <a:endParaRPr lang="en-GB" sz="4000" spc="-17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endParaRPr lang="en-GB" sz="2400" spc="-17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✅ this points to the current object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✅ Available only in non-static member functions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✅ Helps avoid naming conflicts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✅ Allows passing the current object to other functions</a:t>
            </a:r>
          </a:p>
        </p:txBody>
      </p:sp>
    </p:spTree>
    <p:extLst>
      <p:ext uri="{BB962C8B-B14F-4D97-AF65-F5344CB8AC3E}">
        <p14:creationId xmlns:p14="http://schemas.microsoft.com/office/powerpoint/2010/main" val="14647757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0C985-45BF-D625-B127-8108457FD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4">
            <a:extLst>
              <a:ext uri="{FF2B5EF4-FFF2-40B4-BE49-F238E27FC236}">
                <a16:creationId xmlns:a16="http://schemas.microsoft.com/office/drawing/2014/main" id="{2DD6DF42-8147-ACB0-9155-6AB216D32B4F}"/>
              </a:ext>
            </a:extLst>
          </p:cNvPr>
          <p:cNvSpPr txBox="1">
            <a:spLocks/>
          </p:cNvSpPr>
          <p:nvPr/>
        </p:nvSpPr>
        <p:spPr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 kern="0"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</a:pP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 dirty="0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 dirty="0">
                <a:solidFill>
                  <a:srgbClr val="FF0000"/>
                </a:solidFill>
              </a:rPr>
              <a:t> </a:t>
            </a:r>
            <a:r>
              <a:rPr lang="sv-SE" sz="4000" spc="-67" dirty="0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 dirty="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1303110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2960</TotalTime>
  <Words>445</Words>
  <Application>Microsoft Office PowerPoint</Application>
  <PresentationFormat>Custom</PresentationFormat>
  <Paragraphs>73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 MT</vt:lpstr>
      <vt:lpstr>Calibri</vt:lpstr>
      <vt:lpstr>Comic Sans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Sara Alterkawi</cp:lastModifiedBy>
  <cp:revision>208</cp:revision>
  <dcterms:created xsi:type="dcterms:W3CDTF">2025-12-09T17:44:59Z</dcterms:created>
  <dcterms:modified xsi:type="dcterms:W3CDTF">2026-01-13T09:37:33Z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