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42" r:id="rId5"/>
    <p:sldId id="325" r:id="rId6"/>
    <p:sldId id="345" r:id="rId7"/>
    <p:sldId id="344" r:id="rId8"/>
    <p:sldId id="339" r:id="rId9"/>
    <p:sldId id="335" r:id="rId10"/>
    <p:sldId id="329" r:id="rId11"/>
    <p:sldId id="330" r:id="rId12"/>
    <p:sldId id="332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684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Nested Classes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Nested Classes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dirty="0">
                <a:latin typeface="Comic Sans MS" panose="030F0702030302020204" pitchFamily="66" charset="0"/>
              </a:rPr>
              <a:t>🔹 A </a:t>
            </a:r>
            <a:r>
              <a:rPr lang="en-GB" sz="2400" b="1" dirty="0">
                <a:latin typeface="Comic Sans MS" panose="030F0702030302020204" pitchFamily="66" charset="0"/>
              </a:rPr>
              <a:t>nested class</a:t>
            </a:r>
            <a:r>
              <a:rPr lang="en-GB" sz="2400" dirty="0">
                <a:latin typeface="Comic Sans MS" panose="030F0702030302020204" pitchFamily="66" charset="0"/>
              </a:rPr>
              <a:t> is a class defined </a:t>
            </a:r>
            <a:r>
              <a:rPr lang="en-GB" sz="2400" b="1" dirty="0">
                <a:latin typeface="Comic Sans MS" panose="030F0702030302020204" pitchFamily="66" charset="0"/>
              </a:rPr>
              <a:t>inside another class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It is used to represent a </a:t>
            </a:r>
            <a:r>
              <a:rPr lang="en-GB" sz="2400" b="1" dirty="0">
                <a:latin typeface="Comic Sans MS" panose="030F0702030302020204" pitchFamily="66" charset="0"/>
              </a:rPr>
              <a:t>logical part</a:t>
            </a:r>
            <a:r>
              <a:rPr lang="en-GB" sz="2400" dirty="0">
                <a:latin typeface="Comic Sans MS" panose="030F0702030302020204" pitchFamily="66" charset="0"/>
              </a:rPr>
              <a:t> of the outer class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602A26-E2DB-3EC3-CDEC-BD91E567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458D62A-ED0D-005C-6EC5-FF31F2AB458E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dirty="0">
                <a:latin typeface="Comic Sans MS" panose="030F0702030302020204" pitchFamily="66" charset="0"/>
              </a:rPr>
              <a:t>🔹 In this example, </a:t>
            </a:r>
            <a:r>
              <a:rPr lang="en-GB" sz="2400" dirty="0" err="1">
                <a:latin typeface="Comic Sans MS" panose="030F0702030302020204" pitchFamily="66" charset="0"/>
              </a:rPr>
              <a:t>clsAddress</a:t>
            </a:r>
            <a:r>
              <a:rPr lang="en-GB" sz="2400" dirty="0">
                <a:latin typeface="Comic Sans MS" panose="030F0702030302020204" pitchFamily="66" charset="0"/>
              </a:rPr>
              <a:t> is a </a:t>
            </a:r>
            <a:r>
              <a:rPr lang="en-GB" sz="2400" b="1" dirty="0">
                <a:latin typeface="Comic Sans MS" panose="030F0702030302020204" pitchFamily="66" charset="0"/>
              </a:rPr>
              <a:t>nested class</a:t>
            </a:r>
            <a:r>
              <a:rPr lang="en-GB" sz="2400" dirty="0">
                <a:latin typeface="Comic Sans MS" panose="030F0702030302020204" pitchFamily="66" charset="0"/>
              </a:rPr>
              <a:t> inside </a:t>
            </a:r>
            <a:r>
              <a:rPr lang="en-GB" sz="2400" dirty="0" err="1">
                <a:latin typeface="Comic Sans MS" panose="030F0702030302020204" pitchFamily="66" charset="0"/>
              </a:rPr>
              <a:t>clsPerson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The nested class models address information that belongs to a person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This design improves </a:t>
            </a:r>
            <a:r>
              <a:rPr lang="en-GB" sz="2400" b="1" dirty="0">
                <a:latin typeface="Comic Sans MS" panose="030F0702030302020204" pitchFamily="66" charset="0"/>
              </a:rPr>
              <a:t>encapsulation and organization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12011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351076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🟨 Class Structure</a:t>
            </a:r>
          </a:p>
          <a:p>
            <a:pPr marL="21912">
              <a:spcBef>
                <a:spcPts val="1216"/>
              </a:spcBef>
            </a:pPr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🟨 Outer Class: </a:t>
            </a:r>
            <a:r>
              <a:rPr lang="en-GB" sz="2400" b="1" dirty="0" err="1">
                <a:latin typeface="Comic Sans MS" panose="030F0702030302020204" pitchFamily="66" charset="0"/>
              </a:rPr>
              <a:t>clsPerson</a:t>
            </a:r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🔹 Represents a person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🟨 Public Members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	🟩 </a:t>
            </a:r>
            <a:r>
              <a:rPr lang="en-GB" sz="2400" dirty="0" err="1">
                <a:latin typeface="Comic Sans MS" panose="030F0702030302020204" pitchFamily="66" charset="0"/>
              </a:rPr>
              <a:t>FullName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	🟩 Address → object of nested class </a:t>
            </a:r>
            <a:r>
              <a:rPr lang="en-GB" sz="2400" dirty="0" err="1">
                <a:latin typeface="Comic Sans MS" panose="030F0702030302020204" pitchFamily="66" charset="0"/>
              </a:rPr>
              <a:t>clsAddress</a:t>
            </a:r>
            <a:endParaRPr lang="en-GB" sz="2400" dirty="0">
              <a:latin typeface="Comic Sans MS" panose="030F0702030302020204" pitchFamily="66" charset="0"/>
            </a:endParaRPr>
          </a:p>
          <a:p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3C8AD2B-4B60-69AB-5A3D-0410A706E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D470FB6-9B9E-A75E-F43C-DEE7B73BD8B6}"/>
              </a:ext>
            </a:extLst>
          </p:cNvPr>
          <p:cNvSpPr txBox="1"/>
          <p:nvPr/>
        </p:nvSpPr>
        <p:spPr>
          <a:xfrm>
            <a:off x="381000" y="888075"/>
            <a:ext cx="12352767" cy="53574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🟨 Class Structure</a:t>
            </a:r>
          </a:p>
          <a:p>
            <a:pPr marL="21912">
              <a:spcBef>
                <a:spcPts val="1216"/>
              </a:spcBef>
            </a:pPr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en-SE" sz="2400" b="1" dirty="0">
                <a:latin typeface="Comic Sans MS" panose="030F0702030302020204" pitchFamily="66" charset="0"/>
              </a:rPr>
              <a:t>🟨 </a:t>
            </a:r>
            <a:r>
              <a:rPr lang="sv-SE" sz="2400" b="1" dirty="0" err="1">
                <a:latin typeface="Comic Sans MS" panose="030F0702030302020204" pitchFamily="66" charset="0"/>
              </a:rPr>
              <a:t>Nested</a:t>
            </a:r>
            <a:r>
              <a:rPr lang="sv-SE" sz="2400" b="1" dirty="0">
                <a:latin typeface="Comic Sans MS" panose="030F0702030302020204" pitchFamily="66" charset="0"/>
              </a:rPr>
              <a:t> Class: </a:t>
            </a:r>
            <a:r>
              <a:rPr lang="sv-SE" sz="2400" b="1" dirty="0" err="1">
                <a:latin typeface="Comic Sans MS" panose="030F0702030302020204" pitchFamily="66" charset="0"/>
              </a:rPr>
              <a:t>clsAddress</a:t>
            </a:r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🔹 </a:t>
            </a:r>
            <a:r>
              <a:rPr lang="sv-SE" sz="2400" dirty="0" err="1">
                <a:latin typeface="Comic Sans MS" panose="030F0702030302020204" pitchFamily="66" charset="0"/>
              </a:rPr>
              <a:t>Defined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b="1" dirty="0">
                <a:latin typeface="Comic Sans MS" panose="030F0702030302020204" pitchFamily="66" charset="0"/>
              </a:rPr>
              <a:t>inside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clsPerson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🔹 </a:t>
            </a:r>
            <a:r>
              <a:rPr lang="sv-SE" sz="2400" dirty="0" err="1">
                <a:latin typeface="Comic Sans MS" panose="030F0702030302020204" pitchFamily="66" charset="0"/>
              </a:rPr>
              <a:t>Represents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address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details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dirty="0">
                <a:latin typeface="Comic Sans MS" panose="030F0702030302020204" pitchFamily="66" charset="0"/>
              </a:rPr>
              <a:t>Data </a:t>
            </a:r>
            <a:r>
              <a:rPr lang="sv-SE" sz="2400" dirty="0" err="1">
                <a:latin typeface="Comic Sans MS" panose="030F0702030302020204" pitchFamily="66" charset="0"/>
              </a:rPr>
              <a:t>Members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>
                <a:latin typeface="Comic Sans MS" panose="030F0702030302020204" pitchFamily="66" charset="0"/>
              </a:rPr>
              <a:t>AddressLine1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 err="1">
                <a:latin typeface="Comic Sans MS" panose="030F0702030302020204" pitchFamily="66" charset="0"/>
              </a:rPr>
              <a:t>PBox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>
                <a:latin typeface="Comic Sans MS" panose="030F0702030302020204" pitchFamily="66" charset="0"/>
              </a:rPr>
              <a:t>City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>
                <a:latin typeface="Comic Sans MS" panose="030F0702030302020204" pitchFamily="66" charset="0"/>
              </a:rPr>
              <a:t>Country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dirty="0" err="1">
                <a:latin typeface="Comic Sans MS" panose="030F0702030302020204" pitchFamily="66" charset="0"/>
              </a:rPr>
              <a:t>Member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Function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>
                <a:latin typeface="Comic Sans MS" panose="030F0702030302020204" pitchFamily="66" charset="0"/>
              </a:rPr>
              <a:t>Print()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		</a:t>
            </a:r>
            <a:r>
              <a:rPr lang="sv-SE" sz="2400" dirty="0" err="1">
                <a:latin typeface="Comic Sans MS" panose="030F0702030302020204" pitchFamily="66" charset="0"/>
              </a:rPr>
              <a:t>Prints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formatted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address</a:t>
            </a:r>
            <a:r>
              <a:rPr lang="sv-SE" sz="2400" dirty="0">
                <a:latin typeface="Comic Sans MS" panose="030F0702030302020204" pitchFamily="66" charset="0"/>
              </a:rPr>
              <a:t> information</a:t>
            </a:r>
          </a:p>
        </p:txBody>
      </p:sp>
    </p:spTree>
    <p:extLst>
      <p:ext uri="{BB962C8B-B14F-4D97-AF65-F5344CB8AC3E}">
        <p14:creationId xmlns:p14="http://schemas.microsoft.com/office/powerpoint/2010/main" val="1635665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493257-758A-6AB2-58AB-03C72E069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7684C10-C4C3-B68F-5237-3EC31249E5F1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💡 </a:t>
            </a:r>
            <a:r>
              <a:rPr lang="sv-SE" sz="4000" b="1" dirty="0" err="1">
                <a:latin typeface="Comic Sans MS" panose="030F0702030302020204" pitchFamily="66" charset="0"/>
              </a:rPr>
              <a:t>Example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rgbClr val="7030A0"/>
                </a:solidFill>
                <a:latin typeface="Comic Sans MS" panose="030F0702030302020204" pitchFamily="66" charset="0"/>
              </a:rPr>
              <a:t>class</a:t>
            </a: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spc="-17" dirty="0" err="1">
                <a:solidFill>
                  <a:srgbClr val="0070C0"/>
                </a:solidFill>
                <a:latin typeface="Comic Sans MS" panose="030F0702030302020204" pitchFamily="66" charset="0"/>
              </a:rPr>
              <a:t>clsPersoness</a:t>
            </a:r>
            <a:endParaRPr lang="en-GB" sz="2400" spc="-17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{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spc="-17" dirty="0">
                <a:solidFill>
                  <a:srgbClr val="7030A0"/>
                </a:solidFill>
                <a:latin typeface="Comic Sans MS" panose="030F0702030302020204" pitchFamily="66" charset="0"/>
              </a:rPr>
              <a:t>class</a:t>
            </a: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spc="-17" dirty="0" err="1">
                <a:solidFill>
                  <a:srgbClr val="0070C0"/>
                </a:solidFill>
                <a:latin typeface="Comic Sans MS" panose="030F0702030302020204" pitchFamily="66" charset="0"/>
              </a:rPr>
              <a:t>clsPersoness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{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	………..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};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};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</a:t>
            </a:r>
            <a:r>
              <a:rPr lang="en-GB" sz="2400" dirty="0" err="1">
                <a:latin typeface="Comic Sans MS" panose="030F0702030302020204" pitchFamily="66" charset="0"/>
              </a:rPr>
              <a:t>clsAddress</a:t>
            </a:r>
            <a:r>
              <a:rPr lang="en-GB" sz="2400" dirty="0">
                <a:latin typeface="Comic Sans MS" panose="030F0702030302020204" pitchFamily="66" charset="0"/>
              </a:rPr>
              <a:t> exists </a:t>
            </a:r>
            <a:r>
              <a:rPr lang="en-GB" sz="2400" b="1" dirty="0">
                <a:latin typeface="Comic Sans MS" panose="030F0702030302020204" pitchFamily="66" charset="0"/>
              </a:rPr>
              <a:t>only within</a:t>
            </a:r>
            <a:r>
              <a:rPr lang="en-GB" sz="2400" dirty="0">
                <a:latin typeface="Comic Sans MS" panose="030F0702030302020204" pitchFamily="66" charset="0"/>
              </a:rPr>
              <a:t> the scope of </a:t>
            </a:r>
            <a:r>
              <a:rPr lang="en-GB" sz="2400" dirty="0" err="1">
                <a:latin typeface="Comic Sans MS" panose="030F0702030302020204" pitchFamily="66" charset="0"/>
              </a:rPr>
              <a:t>clsPerson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75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1️⃣ Create an object of </a:t>
            </a:r>
            <a:r>
              <a:rPr lang="sv-SE" sz="2400" dirty="0" err="1">
                <a:latin typeface="Comic Sans MS" panose="030F0702030302020204" pitchFamily="66" charset="0"/>
              </a:rPr>
              <a:t>clsPerson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2️⃣ Access the nested class object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Call the nested class method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 panose="030F0702030302020204" pitchFamily="66" charset="0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sv-SE" sz="2400" dirty="0" err="1">
                <a:latin typeface="Comic Sans MS" panose="030F0702030302020204" pitchFamily="66" charset="0"/>
              </a:rPr>
              <a:t>Address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sv-SE" sz="2400" dirty="0" err="1">
                <a:latin typeface="Comic Sans MS" panose="030F0702030302020204" pitchFamily="66" charset="0"/>
              </a:rPr>
              <a:t>Kolarevägen</a:t>
            </a:r>
            <a:r>
              <a:rPr lang="sv-SE" sz="2400" dirty="0">
                <a:latin typeface="Comic Sans MS" panose="030F0702030302020204" pitchFamily="66" charset="0"/>
              </a:rPr>
              <a:t> 5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28434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Perstorp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Sweden</a:t>
            </a: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🟩 </a:t>
            </a:r>
            <a:r>
              <a:rPr lang="sv-SE" sz="2400" b="1" dirty="0" err="1">
                <a:latin typeface="Comic Sans MS" panose="030F0702030302020204" pitchFamily="66" charset="0"/>
              </a:rPr>
              <a:t>Nested</a:t>
            </a:r>
            <a:r>
              <a:rPr lang="sv-SE" sz="2400" b="1" dirty="0">
                <a:latin typeface="Comic Sans MS" panose="030F0702030302020204" pitchFamily="66" charset="0"/>
              </a:rPr>
              <a:t> Class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Belongs logically to the outer class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sv-SE" sz="2400" dirty="0" err="1">
                <a:latin typeface="Comic Sans MS" panose="030F0702030302020204" pitchFamily="66" charset="0"/>
              </a:rPr>
              <a:t>Improves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encapsulation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sv-SE" sz="2400" dirty="0">
                <a:latin typeface="Comic Sans MS" panose="030F0702030302020204" pitchFamily="66" charset="0"/>
              </a:rPr>
              <a:t>Limits </a:t>
            </a:r>
            <a:r>
              <a:rPr lang="sv-SE" sz="2400" dirty="0" err="1">
                <a:latin typeface="Comic Sans MS" panose="030F0702030302020204" pitchFamily="66" charset="0"/>
              </a:rPr>
              <a:t>scope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🟨 Separate structure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sv-SE" sz="2400" dirty="0">
                <a:latin typeface="Comic Sans MS" panose="030F0702030302020204" pitchFamily="66" charset="0"/>
              </a:rPr>
              <a:t>Independent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sv-SE" sz="2400" dirty="0" err="1">
                <a:latin typeface="Comic Sans MS" panose="030F0702030302020204" pitchFamily="66" charset="0"/>
              </a:rPr>
              <a:t>Can</a:t>
            </a:r>
            <a:r>
              <a:rPr lang="sv-SE" sz="2400" dirty="0">
                <a:latin typeface="Comic Sans MS" panose="030F0702030302020204" pitchFamily="66" charset="0"/>
              </a:rPr>
              <a:t> be </a:t>
            </a:r>
            <a:r>
              <a:rPr lang="sv-SE" sz="2400" dirty="0" err="1">
                <a:latin typeface="Comic Sans MS" panose="030F0702030302020204" pitchFamily="66" charset="0"/>
              </a:rPr>
              <a:t>reused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elsewhere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✔️ </a:t>
            </a:r>
            <a:r>
              <a:rPr lang="sv-SE" sz="2400" dirty="0">
                <a:latin typeface="Comic Sans MS" panose="030F0702030302020204" pitchFamily="66" charset="0"/>
              </a:rPr>
              <a:t>Less </a:t>
            </a:r>
            <a:r>
              <a:rPr lang="sv-SE" sz="2400" dirty="0" err="1">
                <a:latin typeface="Comic Sans MS" panose="030F0702030302020204" pitchFamily="66" charset="0"/>
              </a:rPr>
              <a:t>tightly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coupled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🔹 </a:t>
            </a:r>
            <a:r>
              <a:rPr lang="sv-SE" sz="2400" dirty="0" err="1">
                <a:latin typeface="Comic Sans MS" panose="030F0702030302020204" pitchFamily="66" charset="0"/>
              </a:rPr>
              <a:t>Nested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classes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🟩 </a:t>
            </a:r>
            <a:r>
              <a:rPr lang="sv-SE" sz="2400" dirty="0" err="1">
                <a:latin typeface="Comic Sans MS" panose="030F0702030302020204" pitchFamily="66" charset="0"/>
              </a:rPr>
              <a:t>Increase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coupling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between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classes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🟩 </a:t>
            </a:r>
            <a:r>
              <a:rPr lang="en-GB" sz="2400" dirty="0">
                <a:latin typeface="Comic Sans MS" panose="030F0702030302020204" pitchFamily="66" charset="0"/>
              </a:rPr>
              <a:t>Should be used only when there is a </a:t>
            </a:r>
            <a:r>
              <a:rPr lang="en-GB" sz="2400" b="1" dirty="0">
                <a:latin typeface="Comic Sans MS" panose="030F0702030302020204" pitchFamily="66" charset="0"/>
              </a:rPr>
              <a:t>strong logical relationship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✅ Demonstrates nested class usage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✅ Improves code organization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✅ Enhances encapsulation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✅ Represents strong “has-a” relationship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2923</TotalTime>
  <Words>328</Words>
  <Application>Microsoft Office PowerPoint</Application>
  <PresentationFormat>Custom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193</cp:revision>
  <dcterms:created xsi:type="dcterms:W3CDTF">2025-12-09T17:44:59Z</dcterms:created>
  <dcterms:modified xsi:type="dcterms:W3CDTF">2026-01-02T13:43:53Z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