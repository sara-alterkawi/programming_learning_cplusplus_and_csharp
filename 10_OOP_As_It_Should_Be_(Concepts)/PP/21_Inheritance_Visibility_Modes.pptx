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23" r:id="rId4"/>
    <p:sldId id="339" r:id="rId5"/>
    <p:sldId id="338" r:id="rId6"/>
    <p:sldId id="342" r:id="rId7"/>
    <p:sldId id="333" r:id="rId8"/>
    <p:sldId id="325" r:id="rId9"/>
    <p:sldId id="340" r:id="rId10"/>
    <p:sldId id="341" r:id="rId11"/>
    <p:sldId id="327" r:id="rId12"/>
    <p:sldId id="335" r:id="rId13"/>
    <p:sldId id="329" r:id="rId14"/>
    <p:sldId id="330" r:id="rId15"/>
    <p:sldId id="332" r:id="rId16"/>
    <p:sldId id="313" r:id="rId17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0" d="100"/>
          <a:sy n="40" d="100"/>
        </p:scale>
        <p:origin x="1020" y="45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48859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OOP as it </a:t>
            </a:r>
            <a:r>
              <a:rPr lang="sv-SE" sz="6000" b="1" dirty="0" err="1">
                <a:solidFill>
                  <a:srgbClr val="FFCE53"/>
                </a:solidFill>
                <a:latin typeface="Comic Sans MS"/>
              </a:rPr>
              <a:t>Should</a:t>
            </a: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Inheritance Visibility Modes</a:t>
            </a:r>
            <a:endParaRPr lang="sv-SE" sz="6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OOP as it </a:t>
            </a:r>
            <a:r>
              <a:rPr lang="sv-SE" sz="40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Should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Inheritance Visibility Modes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D1D073B-762F-2D30-C188-3FCE78279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5CABA37-F197-22C1-5990-0206CD547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513" y="2680960"/>
            <a:ext cx="11098174" cy="4696480"/>
          </a:xfrm>
          <a:prstGeom prst="rect">
            <a:avLst/>
          </a:prstGeom>
        </p:spPr>
      </p:pic>
      <p:sp>
        <p:nvSpPr>
          <p:cNvPr id="9" name="object 3">
            <a:extLst>
              <a:ext uri="{FF2B5EF4-FFF2-40B4-BE49-F238E27FC236}">
                <a16:creationId xmlns:a16="http://schemas.microsoft.com/office/drawing/2014/main" id="{0834A798-26BF-E46D-77D6-B62AAD99F23B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spc="-17" dirty="0">
                <a:solidFill>
                  <a:schemeClr val="tx1"/>
                </a:solidFill>
                <a:latin typeface="Comic Sans MS"/>
              </a:rPr>
              <a:t>Syntax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979495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B26F1F9-E53D-E829-A21E-5D70FE998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1889E9A-84AB-F548-37CF-B2E2507D5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700" y="2085564"/>
            <a:ext cx="6801799" cy="5887272"/>
          </a:xfrm>
          <a:prstGeom prst="rect">
            <a:avLst/>
          </a:prstGeom>
        </p:spPr>
      </p:pic>
      <p:sp>
        <p:nvSpPr>
          <p:cNvPr id="2" name="object 3">
            <a:extLst>
              <a:ext uri="{FF2B5EF4-FFF2-40B4-BE49-F238E27FC236}">
                <a16:creationId xmlns:a16="http://schemas.microsoft.com/office/drawing/2014/main" id="{86586E81-D331-082B-0731-AF43D723C2C2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spc="-17" dirty="0" err="1">
                <a:solidFill>
                  <a:schemeClr val="tx1"/>
                </a:solidFill>
                <a:latin typeface="Comic Sans MS"/>
              </a:rPr>
              <a:t>Visibility</a:t>
            </a:r>
            <a:r>
              <a:rPr lang="sv-SE" sz="4000" b="1" spc="-17" dirty="0">
                <a:solidFill>
                  <a:schemeClr val="tx1"/>
                </a:solidFill>
                <a:latin typeface="Comic Sans MS"/>
              </a:rPr>
              <a:t> Modes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406552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FF7FF86-4586-BD9C-8C28-841087598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1E88D8-3897-5B77-E402-3BEA7A6B7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275" y="2176064"/>
            <a:ext cx="11812649" cy="5706271"/>
          </a:xfrm>
          <a:prstGeom prst="rect">
            <a:avLst/>
          </a:prstGeom>
        </p:spPr>
      </p:pic>
      <p:sp>
        <p:nvSpPr>
          <p:cNvPr id="5" name="object 3">
            <a:extLst>
              <a:ext uri="{FF2B5EF4-FFF2-40B4-BE49-F238E27FC236}">
                <a16:creationId xmlns:a16="http://schemas.microsoft.com/office/drawing/2014/main" id="{6FADCE72-5E0D-C9E6-5AE3-1B6163F61701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spc="-17" dirty="0" err="1">
                <a:solidFill>
                  <a:schemeClr val="tx1"/>
                </a:solidFill>
                <a:latin typeface="Comic Sans MS"/>
              </a:rPr>
              <a:t>Visibility</a:t>
            </a:r>
            <a:r>
              <a:rPr lang="sv-SE" sz="4000" b="1" spc="-17" dirty="0">
                <a:solidFill>
                  <a:schemeClr val="tx1"/>
                </a:solidFill>
                <a:latin typeface="Comic Sans MS"/>
              </a:rPr>
              <a:t> Modes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99425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FE5FD98-41AE-09BF-D494-B5AC9C678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EEA3B8F-F372-CF2B-FF2F-E838AC904057}"/>
              </a:ext>
            </a:extLst>
          </p:cNvPr>
          <p:cNvSpPr txBox="1"/>
          <p:nvPr/>
        </p:nvSpPr>
        <p:spPr>
          <a:xfrm>
            <a:off x="381000" y="888075"/>
            <a:ext cx="12352767" cy="218732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Multi-level inheritance occurs when a class is derived from another derived class, forming an inheritance chain.</a:t>
            </a:r>
          </a:p>
        </p:txBody>
      </p:sp>
    </p:spTree>
    <p:extLst>
      <p:ext uri="{BB962C8B-B14F-4D97-AF65-F5344CB8AC3E}">
        <p14:creationId xmlns:p14="http://schemas.microsoft.com/office/powerpoint/2010/main" val="1511943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307987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The example demonstrates how private, protected, and public members behave across multiple inheritance levels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It also shows how inheritance mode (public / protected / private) affects accessibility from objects and derived classes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8951666-2BEA-8492-55C5-6B7685B7E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2E41D81-6EA7-1326-B30A-F0FAE1F5E2F7}"/>
              </a:ext>
            </a:extLst>
          </p:cNvPr>
          <p:cNvSpPr txBox="1"/>
          <p:nvPr/>
        </p:nvSpPr>
        <p:spPr>
          <a:xfrm>
            <a:off x="381000" y="888075"/>
            <a:ext cx="12352767" cy="914307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🟨 Base Class: </a:t>
            </a:r>
            <a:r>
              <a:rPr lang="en-GB" sz="4000" b="1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clsA</a:t>
            </a:r>
            <a:endParaRPr lang="en-GB" sz="4000" b="1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Represents the base class with all three visibility types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Member Visibility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Private members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🟨 V1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🟨 Fun1()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❌ Not accessible outside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clsA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🟩 Protected members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🟨 V2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🟨 Fun2()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✔️ Accessible in derived classes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❌ Not accessible through objects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🟩 Public members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🟨 V3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🟨 Fun3()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✔️ Accessible everywhere</a:t>
            </a:r>
          </a:p>
        </p:txBody>
      </p:sp>
    </p:spTree>
    <p:extLst>
      <p:ext uri="{BB962C8B-B14F-4D97-AF65-F5344CB8AC3E}">
        <p14:creationId xmlns:p14="http://schemas.microsoft.com/office/powerpoint/2010/main" val="2877270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607C1EC-BDB9-0D9D-4F6C-3BEAB3FD0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65D814F-C2FF-337E-3996-43F7A63C8AE6}"/>
              </a:ext>
            </a:extLst>
          </p:cNvPr>
          <p:cNvSpPr txBox="1"/>
          <p:nvPr/>
        </p:nvSpPr>
        <p:spPr>
          <a:xfrm>
            <a:off x="381000" y="888075"/>
            <a:ext cx="12352767" cy="652697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🟨 Derived Class: </a:t>
            </a:r>
            <a:r>
              <a:rPr lang="en-GB" sz="4000" b="1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clsB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 : private </a:t>
            </a:r>
            <a:r>
              <a:rPr lang="en-GB" sz="4000" b="1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clsA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clsB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privately inherits from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clsA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Effect of private inheritance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public members of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clsA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🟨 Become private inside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clsB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protected members of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clsA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🟨 Become private inside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clsB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private members of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clsA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❌ Still inaccessible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clsB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adds its own public method: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Fun4()</a:t>
            </a:r>
          </a:p>
        </p:txBody>
      </p:sp>
    </p:spTree>
    <p:extLst>
      <p:ext uri="{BB962C8B-B14F-4D97-AF65-F5344CB8AC3E}">
        <p14:creationId xmlns:p14="http://schemas.microsoft.com/office/powerpoint/2010/main" val="3518816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09506E2-FD14-44DD-1C24-BD3229941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552E650-00B6-775E-6E74-C055CEC41CFC}"/>
              </a:ext>
            </a:extLst>
          </p:cNvPr>
          <p:cNvSpPr txBox="1"/>
          <p:nvPr/>
        </p:nvSpPr>
        <p:spPr>
          <a:xfrm>
            <a:off x="381000" y="888075"/>
            <a:ext cx="12352767" cy="652697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🟨 Derived Class: </a:t>
            </a:r>
            <a:r>
              <a:rPr lang="en-GB" sz="4000" b="1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clsC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 : public </a:t>
            </a:r>
            <a:r>
              <a:rPr lang="en-GB" sz="4000" b="1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clsB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clsC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publicly inherits from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clsB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🟨 Important consequence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Members inherited from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clsA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	🟨 Were already private inside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clsB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	❌ Cannot be accessed in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clsC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Only members visible to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clsC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	🟨 Public members of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clsB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	🟨 Fun4()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clsC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adds: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🟨 Fun5()</a:t>
            </a:r>
          </a:p>
        </p:txBody>
      </p:sp>
    </p:spTree>
    <p:extLst>
      <p:ext uri="{BB962C8B-B14F-4D97-AF65-F5344CB8AC3E}">
        <p14:creationId xmlns:p14="http://schemas.microsoft.com/office/powerpoint/2010/main" val="3661031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F16C899-C0D7-7D2B-418E-53117E1BB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E16194E-9095-D151-5629-3C631EE7D6E9}"/>
              </a:ext>
            </a:extLst>
          </p:cNvPr>
          <p:cNvSpPr txBox="1"/>
          <p:nvPr/>
        </p:nvSpPr>
        <p:spPr>
          <a:xfrm>
            <a:off x="381000" y="888075"/>
            <a:ext cx="12352767" cy="59422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🟦 Steps in main()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1️⃣ Create object of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clsB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2️⃣ Try accessing members through B1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Allowed: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Fun4()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🟥 Not allowed: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V3, Fun3() (became private due to private inheritance)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3️⃣ Create object of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clsC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4️⃣ Try accessing members through C1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Allowed: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Fun5()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Fun4()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🟥 Not allowed: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Any members originally from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clsA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706711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CDB6C49-EACC-9FE4-C633-CACDEA6BA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2E9409D-8454-F144-09AA-0F831C297726}"/>
              </a:ext>
            </a:extLst>
          </p:cNvPr>
          <p:cNvSpPr txBox="1"/>
          <p:nvPr/>
        </p:nvSpPr>
        <p:spPr>
          <a:xfrm>
            <a:off x="381000" y="888075"/>
            <a:ext cx="12352767" cy="224888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spc="-17" dirty="0">
                <a:solidFill>
                  <a:schemeClr val="tx1"/>
                </a:solidFill>
                <a:latin typeface="Comic Sans MS"/>
              </a:rPr>
              <a:t>➡️ </a:t>
            </a:r>
            <a:r>
              <a:rPr lang="sv-SE" sz="4000" b="1" spc="-17" dirty="0" err="1">
                <a:solidFill>
                  <a:schemeClr val="tx1"/>
                </a:solidFill>
                <a:latin typeface="Comic Sans MS"/>
              </a:rPr>
              <a:t>Expected</a:t>
            </a:r>
            <a:r>
              <a:rPr lang="sv-SE" sz="4000" b="1" spc="-17" dirty="0">
                <a:solidFill>
                  <a:schemeClr val="tx1"/>
                </a:solidFill>
                <a:latin typeface="Comic Sans MS"/>
              </a:rPr>
              <a:t> Output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🔹 Private inheritance blocks access to base class members from outside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🔹 Visibility reduction is permanent and affects further derived classes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🔹 Multi-level inheritance amplifies visibility restrictions</a:t>
            </a:r>
          </a:p>
        </p:txBody>
      </p:sp>
    </p:spTree>
    <p:extLst>
      <p:ext uri="{BB962C8B-B14F-4D97-AF65-F5344CB8AC3E}">
        <p14:creationId xmlns:p14="http://schemas.microsoft.com/office/powerpoint/2010/main" val="228334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81BE943-6BF8-6560-128F-3A2B5B25F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A9D01D0-5E83-97B5-892D-5D4DC706BDFD}"/>
              </a:ext>
            </a:extLst>
          </p:cNvPr>
          <p:cNvSpPr txBox="1"/>
          <p:nvPr/>
        </p:nvSpPr>
        <p:spPr>
          <a:xfrm>
            <a:off x="381000" y="888075"/>
            <a:ext cx="12352767" cy="557286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⚖️ Comparison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🟩 Public inheritance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Preserves visibility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Models “is-a” relationships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Protected inheritance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Hides members from objects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Keeps access for derived classes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🟥 Private inheritance (used here)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Completely hides base class interface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Breaks access for further inheritance levels</a:t>
            </a:r>
          </a:p>
        </p:txBody>
      </p:sp>
    </p:spTree>
    <p:extLst>
      <p:ext uri="{BB962C8B-B14F-4D97-AF65-F5344CB8AC3E}">
        <p14:creationId xmlns:p14="http://schemas.microsoft.com/office/powerpoint/2010/main" val="13954876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990E0AC-1179-7FB7-16BD-3B0B6827A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03FC800-D303-BD33-7789-3A9B80106EA6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🚫 Warning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🔹 Using private inheritance: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Makes base class members inaccessible to objects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Prevents reuse in further derived classes</a:t>
            </a:r>
          </a:p>
          <a:p>
            <a:r>
              <a:rPr lang="en-GB" sz="2400" spc="-17">
                <a:solidFill>
                  <a:schemeClr val="tx1"/>
                </a:solidFill>
                <a:latin typeface="Comic Sans MS"/>
              </a:rPr>
              <a:t>	</a:t>
            </a:r>
            <a:r>
              <a:rPr lang="en-GB" sz="2400" spc="-17">
                <a:solidFill>
                  <a:schemeClr val="tx1"/>
                </a:solidFill>
                <a:latin typeface="Comic Sans MS"/>
                <a:cs typeface="Comic Sans MS"/>
              </a:rPr>
              <a:t>🟨 </a:t>
            </a:r>
            <a:r>
              <a:rPr lang="en-GB" sz="2400" spc="-17">
                <a:solidFill>
                  <a:schemeClr val="tx1"/>
                </a:solidFill>
                <a:latin typeface="Comic Sans MS"/>
              </a:rPr>
              <a:t>Is 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rarely recommended unless intentional encapsulation is needed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941716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548168-F6BF-9E3C-8335-7DFD704D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7131D51-6AAA-DD4B-6C31-C4D46506634E}"/>
              </a:ext>
            </a:extLst>
          </p:cNvPr>
          <p:cNvSpPr txBox="1"/>
          <p:nvPr/>
        </p:nvSpPr>
        <p:spPr>
          <a:xfrm>
            <a:off x="381000" y="888075"/>
            <a:ext cx="12352767" cy="323376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✨ Summary</a:t>
            </a:r>
          </a:p>
          <a:p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Demonstrates multi-level inheritance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Shows visibility transformation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Explains why private inheritance is restrictive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Reinforces access rules through objects vs classes</a:t>
            </a:r>
          </a:p>
          <a:p>
            <a:r>
              <a:rPr lang="en-GB" sz="2400" spc="-17">
                <a:solidFill>
                  <a:schemeClr val="tx1"/>
                </a:solidFill>
                <a:latin typeface="Comic Sans MS"/>
              </a:rPr>
              <a:t>✅ Ideal for understanding C++ inheritance mechanics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647757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1728</TotalTime>
  <Words>546</Words>
  <Application>Microsoft Office PowerPoint</Application>
  <PresentationFormat>Custom</PresentationFormat>
  <Paragraphs>108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100</cp:revision>
  <dcterms:created xsi:type="dcterms:W3CDTF">2025-12-09T17:44:59Z</dcterms:created>
  <dcterms:modified xsi:type="dcterms:W3CDTF">2026-01-02T12:23:44Z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