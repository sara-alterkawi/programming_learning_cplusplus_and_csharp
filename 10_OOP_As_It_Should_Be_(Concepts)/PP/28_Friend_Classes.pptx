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3" r:id="rId7"/>
    <p:sldId id="344" r:id="rId8"/>
    <p:sldId id="339" r:id="rId9"/>
    <p:sldId id="335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Friend Classes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Friend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dirty="0">
                <a:latin typeface="Comic Sans MS" panose="030F0702030302020204" pitchFamily="66" charset="0"/>
              </a:rPr>
              <a:t>A </a:t>
            </a:r>
            <a:r>
              <a:rPr lang="en-GB" sz="2400" b="1" dirty="0">
                <a:latin typeface="Comic Sans MS" panose="030F0702030302020204" pitchFamily="66" charset="0"/>
              </a:rPr>
              <a:t>friend class</a:t>
            </a:r>
            <a:r>
              <a:rPr lang="en-GB" sz="2400" dirty="0">
                <a:latin typeface="Comic Sans MS" panose="030F0702030302020204" pitchFamily="66" charset="0"/>
              </a:rPr>
              <a:t> is a class that is granted permission to access </a:t>
            </a:r>
            <a:r>
              <a:rPr lang="en-GB" sz="2400" b="1" dirty="0">
                <a:latin typeface="Comic Sans MS" panose="030F0702030302020204" pitchFamily="66" charset="0"/>
              </a:rPr>
              <a:t>private and 	protected members</a:t>
            </a:r>
            <a:r>
              <a:rPr lang="en-GB" sz="2400" dirty="0">
                <a:latin typeface="Comic Sans MS" panose="030F0702030302020204" pitchFamily="66" charset="0"/>
              </a:rPr>
              <a:t> of another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Friendship is explicitly declared using the friend keyword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Normally, private and protected members are </a:t>
            </a:r>
            <a:r>
              <a:rPr lang="en-GB" sz="2400" b="1" dirty="0">
                <a:latin typeface="Comic Sans MS" panose="030F0702030302020204" pitchFamily="66" charset="0"/>
              </a:rPr>
              <a:t>not accessible outside their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Using a friend class allows </a:t>
            </a:r>
            <a:r>
              <a:rPr lang="en-GB" sz="2400" b="1" dirty="0">
                <a:latin typeface="Comic Sans MS" panose="030F0702030302020204" pitchFamily="66" charset="0"/>
              </a:rPr>
              <a:t>controlled access</a:t>
            </a:r>
            <a:r>
              <a:rPr lang="en-GB" sz="2400" dirty="0">
                <a:latin typeface="Comic Sans MS" panose="030F0702030302020204" pitchFamily="66" charset="0"/>
              </a:rPr>
              <a:t> without changing member visibility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62499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pPr marL="21912">
              <a:spcBef>
                <a:spcPts val="1216"/>
              </a:spcBef>
            </a:pPr>
            <a:r>
              <a:rPr lang="en-SE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Class </a:t>
            </a:r>
            <a:r>
              <a:rPr lang="sv-SE" sz="2400" b="1" dirty="0" err="1">
                <a:latin typeface="Comic Sans MS" panose="030F0702030302020204" pitchFamily="66" charset="0"/>
              </a:rPr>
              <a:t>clsA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Owns</a:t>
            </a:r>
            <a:r>
              <a:rPr lang="sv-SE" sz="2400" dirty="0">
                <a:latin typeface="Comic Sans MS" panose="030F0702030302020204" pitchFamily="66" charset="0"/>
              </a:rPr>
              <a:t> private, </a:t>
            </a:r>
            <a:r>
              <a:rPr lang="sv-SE" sz="2400" dirty="0" err="1">
                <a:latin typeface="Comic Sans MS" panose="030F0702030302020204" pitchFamily="66" charset="0"/>
              </a:rPr>
              <a:t>protected</a:t>
            </a:r>
            <a:r>
              <a:rPr lang="sv-SE" sz="2400" dirty="0">
                <a:latin typeface="Comic Sans MS" panose="030F0702030302020204" pitchFamily="66" charset="0"/>
              </a:rPr>
              <a:t>, and public data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Member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Visibility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>
                <a:latin typeface="Comic Sans MS" panose="030F0702030302020204" pitchFamily="66" charset="0"/>
              </a:rPr>
              <a:t>Private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_Var1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 err="1">
                <a:latin typeface="Comic Sans MS" panose="030F0702030302020204" pitchFamily="66" charset="0"/>
              </a:rPr>
              <a:t>Protected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_Var3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>
                <a:latin typeface="Comic Sans MS" panose="030F0702030302020204" pitchFamily="66" charset="0"/>
              </a:rPr>
              <a:t>Public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Var2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Constructor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initializes</a:t>
            </a:r>
            <a:r>
              <a:rPr lang="sv-SE" sz="2400" dirty="0">
                <a:latin typeface="Comic Sans MS" panose="030F0702030302020204" pitchFamily="66" charset="0"/>
              </a:rPr>
              <a:t> all </a:t>
            </a:r>
            <a:r>
              <a:rPr lang="sv-SE" sz="2400" dirty="0" err="1">
                <a:latin typeface="Comic Sans MS" panose="030F0702030302020204" pitchFamily="66" charset="0"/>
              </a:rPr>
              <a:t>members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Friendship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Declaration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friend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class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clsB</a:t>
            </a:r>
            <a:r>
              <a:rPr lang="sv-SE" sz="2400" dirty="0">
                <a:latin typeface="Comic Sans MS" panose="030F0702030302020204" pitchFamily="66" charset="0"/>
              </a:rPr>
              <a:t>;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Grants full access to </a:t>
            </a:r>
            <a:r>
              <a:rPr lang="sv-SE" sz="2400" dirty="0" err="1">
                <a:latin typeface="Comic Sans MS" panose="030F0702030302020204" pitchFamily="66" charset="0"/>
              </a:rPr>
              <a:t>clsB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ECE2D1-8270-1BF4-7D36-3FE12283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A25DA77-2178-E663-24A6-91544F9D12C6}"/>
              </a:ext>
            </a:extLst>
          </p:cNvPr>
          <p:cNvSpPr txBox="1"/>
          <p:nvPr/>
        </p:nvSpPr>
        <p:spPr>
          <a:xfrm>
            <a:off x="381000" y="888075"/>
            <a:ext cx="12352767" cy="424942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Class </a:t>
            </a:r>
            <a:r>
              <a:rPr lang="en-GB" sz="2400" b="1" dirty="0" err="1">
                <a:latin typeface="Comic Sans MS" panose="030F0702030302020204" pitchFamily="66" charset="0"/>
              </a:rPr>
              <a:t>clsB</a:t>
            </a:r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🟩</a:t>
            </a:r>
            <a:r>
              <a:rPr lang="en-GB" sz="2400" dirty="0">
                <a:latin typeface="Comic Sans MS" panose="030F0702030302020204" pitchFamily="66" charset="0"/>
              </a:rPr>
              <a:t> Declared as a </a:t>
            </a:r>
            <a:r>
              <a:rPr lang="en-GB" sz="2400" b="1" dirty="0">
                <a:latin typeface="Comic Sans MS" panose="030F0702030302020204" pitchFamily="66" charset="0"/>
              </a:rPr>
              <a:t>friend</a:t>
            </a:r>
            <a:r>
              <a:rPr lang="en-GB" sz="2400" dirty="0">
                <a:latin typeface="Comic Sans MS" panose="030F0702030302020204" pitchFamily="66" charset="0"/>
              </a:rPr>
              <a:t> of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	🟨 Member Function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	🟩 display(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 A1)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en-GB" sz="2400" dirty="0">
                <a:latin typeface="Comic Sans MS" panose="030F0702030302020204" pitchFamily="66" charset="0"/>
              </a:rPr>
              <a:t>Accesses: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				Private member _Var1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				Public member Var2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				Protected member _Var3</a:t>
            </a:r>
          </a:p>
        </p:txBody>
      </p:sp>
    </p:spTree>
    <p:extLst>
      <p:ext uri="{BB962C8B-B14F-4D97-AF65-F5344CB8AC3E}">
        <p14:creationId xmlns:p14="http://schemas.microsoft.com/office/powerpoint/2010/main" val="185219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friend class </a:t>
            </a:r>
            <a:r>
              <a:rPr lang="en-GB" sz="2400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clsB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Allows </a:t>
            </a:r>
            <a:r>
              <a:rPr lang="en-GB" sz="2400" dirty="0" err="1">
                <a:latin typeface="Comic Sans MS" panose="030F0702030302020204" pitchFamily="66" charset="0"/>
              </a:rPr>
              <a:t>clsB</a:t>
            </a:r>
            <a:r>
              <a:rPr lang="en-GB" sz="2400" dirty="0">
                <a:latin typeface="Comic Sans MS" panose="030F0702030302020204" pitchFamily="66" charset="0"/>
              </a:rPr>
              <a:t> to access </a:t>
            </a:r>
            <a:r>
              <a:rPr lang="en-GB" sz="2400" b="1" dirty="0">
                <a:latin typeface="Comic Sans MS" panose="030F0702030302020204" pitchFamily="66" charset="0"/>
              </a:rPr>
              <a:t>all members</a:t>
            </a:r>
            <a:r>
              <a:rPr lang="en-GB" sz="2400" dirty="0">
                <a:latin typeface="Comic Sans MS" panose="030F0702030302020204" pitchFamily="66" charset="0"/>
              </a:rPr>
              <a:t> of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SE" sz="2400" dirty="0"/>
              <a:t>2️⃣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clsB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3️⃣ Call display() to access all members of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dirty="0" err="1">
                <a:latin typeface="Comic Sans MS" panose="030F0702030302020204" pitchFamily="66" charset="0"/>
              </a:rPr>
              <a:t>clsB</a:t>
            </a:r>
            <a:r>
              <a:rPr lang="en-GB" sz="2400" dirty="0">
                <a:latin typeface="Comic Sans MS" panose="030F0702030302020204" pitchFamily="66" charset="0"/>
              </a:rPr>
              <a:t> successfully reads: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Private member _Var1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Public member Var2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Protected member _Var3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This access is possible </a:t>
            </a:r>
            <a:r>
              <a:rPr lang="en-GB" sz="2400" b="1" dirty="0">
                <a:latin typeface="Comic Sans MS" panose="030F0702030302020204" pitchFamily="66" charset="0"/>
              </a:rPr>
              <a:t>only because of friendship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</a:t>
            </a:r>
            <a:r>
              <a:rPr lang="sv-SE" sz="2400" dirty="0" err="1"/>
              <a:t>Without</a:t>
            </a:r>
            <a:r>
              <a:rPr lang="sv-SE" sz="2400" dirty="0"/>
              <a:t> </a:t>
            </a:r>
            <a:r>
              <a:rPr lang="sv-SE" sz="2400" dirty="0" err="1"/>
              <a:t>friend</a:t>
            </a:r>
            <a:r>
              <a:rPr lang="sv-SE" sz="2400" dirty="0"/>
              <a:t> </a:t>
            </a:r>
            <a:r>
              <a:rPr lang="sv-SE" sz="2400" dirty="0" err="1"/>
              <a:t>class</a:t>
            </a:r>
            <a:endParaRPr lang="sv-SE" sz="2400" dirty="0"/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Private and protected members are inaccessible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Strong encapsulation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With friend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Selected class gains full access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Encapsulation is partially relaxed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🔹 </a:t>
            </a:r>
            <a:r>
              <a:rPr lang="en-GB" sz="2400" dirty="0">
                <a:latin typeface="Comic Sans MS" panose="030F0702030302020204" pitchFamily="66" charset="0"/>
              </a:rPr>
              <a:t>Friendship 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en-GB" sz="2400" dirty="0">
                <a:latin typeface="Comic Sans MS" panose="030F0702030302020204" pitchFamily="66" charset="0"/>
              </a:rPr>
              <a:t>Breaks encapsulation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Is </a:t>
            </a:r>
            <a:r>
              <a:rPr lang="en-GB" sz="2400" b="1" dirty="0">
                <a:latin typeface="Comic Sans MS" panose="030F0702030302020204" pitchFamily="66" charset="0"/>
              </a:rPr>
              <a:t>not inherited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Is </a:t>
            </a:r>
            <a:r>
              <a:rPr lang="en-GB" sz="2400" b="1" dirty="0">
                <a:latin typeface="Comic Sans MS" panose="030F0702030302020204" pitchFamily="66" charset="0"/>
              </a:rPr>
              <a:t>not reciprocal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Use friend classes </a:t>
            </a:r>
            <a:r>
              <a:rPr lang="en-GB" sz="2400" b="1" dirty="0">
                <a:latin typeface="Comic Sans MS" panose="030F0702030302020204" pitchFamily="66" charset="0"/>
              </a:rPr>
              <a:t>only when necessary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Friend classes can access private and protected members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Friendship is explicitly declared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It enables tight cooperation between classes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Overuse can weaken encapsulation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2889</TotalTime>
  <Words>391</Words>
  <Application>Microsoft Office PowerPoint</Application>
  <PresentationFormat>Custom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169</cp:revision>
  <dcterms:created xsi:type="dcterms:W3CDTF">2025-12-09T17:44:59Z</dcterms:created>
  <dcterms:modified xsi:type="dcterms:W3CDTF">2026-01-02T12:51:53Z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