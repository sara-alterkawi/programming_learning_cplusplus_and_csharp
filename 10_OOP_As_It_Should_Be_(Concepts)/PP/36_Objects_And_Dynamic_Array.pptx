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47" r:id="rId6"/>
    <p:sldId id="344" r:id="rId7"/>
    <p:sldId id="335" r:id="rId8"/>
    <p:sldId id="348" r:id="rId9"/>
    <p:sldId id="330" r:id="rId10"/>
    <p:sldId id="329" r:id="rId11"/>
    <p:sldId id="332" r:id="rId12"/>
    <p:sldId id="313" r:id="rId13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Objects and Dynamic Array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Objects and Dynamic Array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Dynamic Array of Objects</a:t>
            </a:r>
            <a:r>
              <a:rPr lang="en-GB" sz="2400" dirty="0">
                <a:latin typeface="Comic Sans MS" panose="030F0702030302020204" pitchFamily="66" charset="0"/>
              </a:rPr>
              <a:t> is an array whose size is determined at runtime and 	allocated on the heap using the new keyword.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Each element in the array is a </a:t>
            </a:r>
            <a:r>
              <a:rPr lang="en-GB" sz="2400" b="1" dirty="0">
                <a:latin typeface="Comic Sans MS" panose="030F0702030302020204" pitchFamily="66" charset="0"/>
              </a:rPr>
              <a:t>full object</a:t>
            </a:r>
            <a:r>
              <a:rPr lang="en-GB" sz="2400" dirty="0">
                <a:latin typeface="Comic Sans MS" panose="030F0702030302020204" pitchFamily="66" charset="0"/>
              </a:rPr>
              <a:t> of the class.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49880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This</a:t>
            </a:r>
            <a:r>
              <a:rPr lang="sv-SE" sz="2400" dirty="0">
                <a:latin typeface="Comic Sans MS" panose="030F0702030302020204" pitchFamily="66" charset="0"/>
              </a:rPr>
              <a:t> program </a:t>
            </a:r>
            <a:r>
              <a:rPr lang="sv-SE" sz="2400" dirty="0" err="1">
                <a:latin typeface="Comic Sans MS" panose="030F0702030302020204" pitchFamily="66" charset="0"/>
              </a:rPr>
              <a:t>demonstrates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how</a:t>
            </a:r>
            <a:r>
              <a:rPr lang="sv-SE" sz="2400" dirty="0">
                <a:latin typeface="Comic Sans MS" panose="030F0702030302020204" pitchFamily="66" charset="0"/>
              </a:rPr>
              <a:t> to: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1️⃣ </a:t>
            </a:r>
            <a:r>
              <a:rPr lang="sv-SE" sz="2400" dirty="0" err="1">
                <a:latin typeface="Comic Sans MS" panose="030F0702030302020204" pitchFamily="66" charset="0"/>
              </a:rPr>
              <a:t>Create</a:t>
            </a:r>
            <a:r>
              <a:rPr lang="sv-SE" sz="2400" dirty="0">
                <a:latin typeface="Comic Sans MS" panose="030F0702030302020204" pitchFamily="66" charset="0"/>
              </a:rPr>
              <a:t> a </a:t>
            </a:r>
            <a:r>
              <a:rPr lang="sv-SE" sz="2400" dirty="0" err="1">
                <a:latin typeface="Comic Sans MS" panose="030F0702030302020204" pitchFamily="66" charset="0"/>
              </a:rPr>
              <a:t>dynamic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array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objects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2️⃣ </a:t>
            </a:r>
            <a:r>
              <a:rPr lang="sv-SE" sz="2400" dirty="0" err="1">
                <a:latin typeface="Comic Sans MS" panose="030F0702030302020204" pitchFamily="66" charset="0"/>
              </a:rPr>
              <a:t>Use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constructors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dynamic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allocation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3️⃣ </a:t>
            </a:r>
            <a:r>
              <a:rPr lang="sv-SE" sz="2400" dirty="0" err="1">
                <a:latin typeface="Comic Sans MS" panose="030F0702030302020204" pitchFamily="66" charset="0"/>
              </a:rPr>
              <a:t>Assign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values</a:t>
            </a:r>
            <a:r>
              <a:rPr lang="sv-SE" sz="2400" dirty="0">
                <a:latin typeface="Comic Sans MS" panose="030F0702030302020204" pitchFamily="66" charset="0"/>
              </a:rPr>
              <a:t> to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object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4️⃣ Access </a:t>
            </a:r>
            <a:r>
              <a:rPr lang="sv-SE" sz="2400" dirty="0" err="1">
                <a:latin typeface="Comic Sans MS" panose="030F0702030302020204" pitchFamily="66" charset="0"/>
              </a:rPr>
              <a:t>object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methods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through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array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indexing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The </a:t>
            </a:r>
            <a:r>
              <a:rPr lang="sv-SE" sz="2400" dirty="0" err="1">
                <a:latin typeface="Comic Sans MS" panose="030F0702030302020204" pitchFamily="66" charset="0"/>
              </a:rPr>
              <a:t>class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clsA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contains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A default (dummy) </a:t>
            </a:r>
            <a:r>
              <a:rPr lang="sv-SE" sz="2400" dirty="0" err="1">
                <a:latin typeface="Comic Sans MS" panose="030F0702030302020204" pitchFamily="66" charset="0"/>
              </a:rPr>
              <a:t>constructor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A </a:t>
            </a:r>
            <a:r>
              <a:rPr lang="sv-SE" sz="2400" dirty="0" err="1">
                <a:latin typeface="Comic Sans MS" panose="030F0702030302020204" pitchFamily="66" charset="0"/>
              </a:rPr>
              <a:t>parameterized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constructor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A data </a:t>
            </a:r>
            <a:r>
              <a:rPr lang="sv-SE" sz="2400" dirty="0" err="1">
                <a:latin typeface="Comic Sans MS" panose="030F0702030302020204" pitchFamily="66" charset="0"/>
              </a:rPr>
              <a:t>member</a:t>
            </a:r>
            <a:r>
              <a:rPr lang="sv-SE" sz="2400" dirty="0">
                <a:latin typeface="Comic Sans MS" panose="030F0702030302020204" pitchFamily="66" charset="0"/>
              </a:rPr>
              <a:t> x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A Print() </a:t>
            </a:r>
            <a:r>
              <a:rPr lang="sv-SE" sz="2400" dirty="0" err="1">
                <a:latin typeface="Comic Sans MS" panose="030F0702030302020204" pitchFamily="66" charset="0"/>
              </a:rPr>
              <a:t>method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🟦 Steps in main()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Declare the number of objects at runtime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Allocate memory using new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[</a:t>
            </a:r>
            <a:r>
              <a:rPr lang="en-GB" sz="2400" dirty="0" err="1">
                <a:latin typeface="Comic Sans MS" panose="030F0702030302020204" pitchFamily="66" charset="0"/>
              </a:rPr>
              <a:t>NumberOfObjects</a:t>
            </a:r>
            <a:r>
              <a:rPr lang="en-GB" sz="2400" dirty="0">
                <a:latin typeface="Comic Sans MS" panose="030F0702030302020204" pitchFamily="66" charset="0"/>
              </a:rPr>
              <a:t>]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Initialize each object using the parameterized constructor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Loop through the array and call Print()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5️⃣ Use array indexing to access objects</a:t>
            </a:r>
          </a:p>
        </p:txBody>
      </p:sp>
    </p:spTree>
    <p:extLst>
      <p:ext uri="{BB962C8B-B14F-4D97-AF65-F5344CB8AC3E}">
        <p14:creationId xmlns:p14="http://schemas.microsoft.com/office/powerpoint/2010/main" val="183016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/>
              <a:t>🔹</a:t>
            </a:r>
            <a:r>
              <a:rPr lang="en-GB" sz="2400" dirty="0">
                <a:latin typeface="Comic Sans MS" panose="030F0702030302020204" pitchFamily="66" charset="0"/>
              </a:rPr>
              <a:t> During this line: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</a:t>
            </a:r>
            <a:r>
              <a:rPr lang="en-GB" sz="2400" dirty="0" err="1">
                <a:latin typeface="Comic Sans MS" panose="030F0702030302020204" pitchFamily="66" charset="0"/>
              </a:rPr>
              <a:t>arrA</a:t>
            </a:r>
            <a:r>
              <a:rPr lang="en-GB" sz="2400" dirty="0">
                <a:latin typeface="Comic Sans MS" panose="030F0702030302020204" pitchFamily="66" charset="0"/>
              </a:rPr>
              <a:t>[</a:t>
            </a:r>
            <a:r>
              <a:rPr lang="en-GB" sz="2400" dirty="0" err="1">
                <a:latin typeface="Comic Sans MS" panose="030F0702030302020204" pitchFamily="66" charset="0"/>
              </a:rPr>
              <a:t>i</a:t>
            </a:r>
            <a:r>
              <a:rPr lang="en-GB" sz="2400" dirty="0">
                <a:latin typeface="Comic Sans MS" panose="030F0702030302020204" pitchFamily="66" charset="0"/>
              </a:rPr>
              <a:t>] =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(</a:t>
            </a:r>
            <a:r>
              <a:rPr lang="en-GB" sz="2400" dirty="0" err="1">
                <a:latin typeface="Comic Sans MS" panose="030F0702030302020204" pitchFamily="66" charset="0"/>
              </a:rPr>
              <a:t>i</a:t>
            </a:r>
            <a:r>
              <a:rPr lang="en-GB" sz="2400" dirty="0">
                <a:latin typeface="Comic Sans MS" panose="030F0702030302020204" pitchFamily="66" charset="0"/>
              </a:rPr>
              <a:t>);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What happens internally: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A temporary object is created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The value of </a:t>
            </a:r>
            <a:r>
              <a:rPr lang="en-GB" sz="2400" dirty="0" err="1">
                <a:latin typeface="Comic Sans MS" panose="030F0702030302020204" pitchFamily="66" charset="0"/>
              </a:rPr>
              <a:t>i</a:t>
            </a:r>
            <a:r>
              <a:rPr lang="en-GB" sz="2400" dirty="0">
                <a:latin typeface="Comic Sans MS" panose="030F0702030302020204" pitchFamily="66" charset="0"/>
              </a:rPr>
              <a:t> is assigned to x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🟩 The object is copied into the dynamic array</a:t>
            </a: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➡️ </a:t>
            </a: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Expected</a:t>
            </a: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 Output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program prints the values stored in each object inside the vector: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Object 0 → x = 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1 → x = 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2 → x = 2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3 → x = 3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Object 4 → x = 4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93906B-1B54-AEDF-2BA4-E964C62C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B90902B-E7F3-85FC-81FA-1F51C3E9071C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dirty="0"/>
              <a:t>📌</a:t>
            </a: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Note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A </a:t>
            </a:r>
            <a:r>
              <a:rPr lang="en-GB" sz="2400" b="1" dirty="0">
                <a:latin typeface="Comic Sans MS" panose="030F0702030302020204" pitchFamily="66" charset="0"/>
              </a:rPr>
              <a:t>default constructor is required</a:t>
            </a:r>
            <a:r>
              <a:rPr lang="en-GB" sz="2400" dirty="0">
                <a:latin typeface="Comic Sans MS" panose="030F0702030302020204" pitchFamily="66" charset="0"/>
              </a:rPr>
              <a:t> when allocating arrays of objects using new[]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This is why a dummy constructor is defined in the class</a:t>
            </a:r>
          </a:p>
        </p:txBody>
      </p:sp>
    </p:spTree>
    <p:extLst>
      <p:ext uri="{BB962C8B-B14F-4D97-AF65-F5344CB8AC3E}">
        <p14:creationId xmlns:p14="http://schemas.microsoft.com/office/powerpoint/2010/main" val="417700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allocated memory is </a:t>
            </a:r>
            <a:r>
              <a:rPr lang="en-GB" sz="2400" b="1" dirty="0">
                <a:latin typeface="Comic Sans MS" panose="030F0702030302020204" pitchFamily="66" charset="0"/>
              </a:rPr>
              <a:t>not freed</a:t>
            </a:r>
            <a:r>
              <a:rPr lang="en-GB" sz="2400" dirty="0">
                <a:latin typeface="Comic Sans MS" panose="030F0702030302020204" pitchFamily="66" charset="0"/>
              </a:rPr>
              <a:t> in this program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This causes a </a:t>
            </a:r>
            <a:r>
              <a:rPr lang="en-GB" sz="2400" b="1" dirty="0">
                <a:latin typeface="Comic Sans MS" panose="030F0702030302020204" pitchFamily="66" charset="0"/>
              </a:rPr>
              <a:t>memory leak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🟩 Correct cleanup should include: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delete[] </a:t>
            </a:r>
            <a:r>
              <a:rPr lang="en-GB" sz="2400" dirty="0" err="1">
                <a:latin typeface="Comic Sans MS" panose="030F0702030302020204" pitchFamily="66" charset="0"/>
              </a:rPr>
              <a:t>arrA</a:t>
            </a:r>
            <a:r>
              <a:rPr lang="en-GB" sz="2400" dirty="0">
                <a:latin typeface="Comic Sans MS" panose="030F0702030302020204" pitchFamily="66" charset="0"/>
              </a:rPr>
              <a:t>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Prefer std::vector in modern C++ to avoid manual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 err="1"/>
              <a:t>Dynamic</a:t>
            </a:r>
            <a:r>
              <a:rPr lang="sv-SE" sz="2400" b="1" dirty="0"/>
              <a:t> Array (new[])</a:t>
            </a:r>
            <a:endParaRPr lang="sv-SE" sz="2400" dirty="0"/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Manual memory management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Risk of memory leaks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Fixed size after allocation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</a:t>
            </a:r>
            <a:r>
              <a:rPr lang="sv-SE" sz="2400" b="1" dirty="0" err="1"/>
              <a:t>Vector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Automatic memory management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Safer and more flexible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Dynamic resizing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Dynamic arrays allocate objects at runtime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Each element is a complete object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Default constructor is mandatory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Manual deletion is required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Vectors are safer and recommended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2984</TotalTime>
  <Words>460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224</cp:revision>
  <dcterms:created xsi:type="dcterms:W3CDTF">2025-12-09T17:44:59Z</dcterms:created>
  <dcterms:modified xsi:type="dcterms:W3CDTF">2026-01-13T10:20:50Z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