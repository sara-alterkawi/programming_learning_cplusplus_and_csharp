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47" r:id="rId2"/>
    <p:sldId id="257" r:id="rId3"/>
    <p:sldId id="322" r:id="rId4"/>
    <p:sldId id="335" r:id="rId5"/>
    <p:sldId id="325" r:id="rId6"/>
    <p:sldId id="333" r:id="rId7"/>
    <p:sldId id="326" r:id="rId8"/>
    <p:sldId id="327" r:id="rId9"/>
    <p:sldId id="334" r:id="rId10"/>
    <p:sldId id="328" r:id="rId11"/>
    <p:sldId id="329" r:id="rId12"/>
    <p:sldId id="330" r:id="rId13"/>
    <p:sldId id="332" r:id="rId14"/>
    <p:sldId id="313" r:id="rId15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37" d="100"/>
          <a:sy n="37" d="100"/>
        </p:scale>
        <p:origin x="12" y="12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6455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5400" b="1" dirty="0">
                <a:solidFill>
                  <a:srgbClr val="FFCE53"/>
                </a:solidFill>
                <a:latin typeface="Comic Sans MS"/>
              </a:rPr>
              <a:t>OOP as it </a:t>
            </a:r>
            <a:r>
              <a:rPr lang="sv-SE" sz="5400" b="1" dirty="0" err="1">
                <a:solidFill>
                  <a:srgbClr val="FFCE53"/>
                </a:solidFill>
                <a:latin typeface="Comic Sans MS"/>
              </a:rPr>
              <a:t>Should</a:t>
            </a:r>
            <a:r>
              <a:rPr lang="sv-SE" sz="5400" b="1" dirty="0">
                <a:solidFill>
                  <a:srgbClr val="FFCE53"/>
                </a:solidFill>
                <a:latin typeface="Comic Sans MS"/>
              </a:rPr>
              <a:t> Be</a:t>
            </a:r>
          </a:p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</a:p>
        </p:txBody>
      </p:sp>
    </p:spTree>
    <p:extLst>
      <p:ext uri="{BB962C8B-B14F-4D97-AF65-F5344CB8AC3E}">
        <p14:creationId xmlns:p14="http://schemas.microsoft.com/office/powerpoint/2010/main" val="127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OOP as it </a:t>
            </a:r>
            <a:r>
              <a:rPr lang="sv-SE" sz="40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Should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Read Only Property</a:t>
            </a:r>
            <a:endParaRPr lang="sv-SE" sz="4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1560616-DE62-4EC0-E763-9BAFEE2A3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55F3C2C-66ED-4A17-A3DE-D7DD6BA975AB}"/>
              </a:ext>
            </a:extLst>
          </p:cNvPr>
          <p:cNvSpPr txBox="1"/>
          <p:nvPr/>
        </p:nvSpPr>
        <p:spPr>
          <a:xfrm>
            <a:off x="381000" y="888075"/>
            <a:ext cx="12352767" cy="218732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This example explains the concept of a Read-Only Property in C++, where a class attribute can be accessed but cannot be modified </a:t>
            </a:r>
            <a:r>
              <a:rPr lang="en-GB" sz="2400" spc="-17">
                <a:solidFill>
                  <a:schemeClr val="tx1"/>
                </a:solidFill>
                <a:latin typeface="Comic Sans MS"/>
                <a:cs typeface="Comic Sans MS"/>
              </a:rPr>
              <a:t>directly.</a:t>
            </a: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2470263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F66A8BE-B703-83CA-7BFD-69F18CF8F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6790264-35F1-EC30-6614-1B976E401ECF}"/>
              </a:ext>
            </a:extLst>
          </p:cNvPr>
          <p:cNvSpPr txBox="1"/>
          <p:nvPr/>
        </p:nvSpPr>
        <p:spPr>
          <a:xfrm>
            <a:off x="381000" y="888075"/>
            <a:ext cx="12352767" cy="338765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A read-only property has a getter only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No setter function is provided for that property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This prevents accidental or unauthorized modification of the value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It is a common practice for IDs and system-controlled values</a:t>
            </a:r>
          </a:p>
        </p:txBody>
      </p:sp>
    </p:spTree>
    <p:extLst>
      <p:ext uri="{BB962C8B-B14F-4D97-AF65-F5344CB8AC3E}">
        <p14:creationId xmlns:p14="http://schemas.microsoft.com/office/powerpoint/2010/main" val="1978629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8951666-2BEA-8492-55C5-6B7685B7E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2E41D81-6EA7-1326-B30A-F0FAE1F5E2F7}"/>
              </a:ext>
            </a:extLst>
          </p:cNvPr>
          <p:cNvSpPr txBox="1"/>
          <p:nvPr/>
        </p:nvSpPr>
        <p:spPr>
          <a:xfrm>
            <a:off x="381000" y="888075"/>
            <a:ext cx="12352767" cy="809663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🟨 Components of </a:t>
            </a:r>
            <a:r>
              <a:rPr lang="en-GB" sz="4000" b="1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clsPerson</a:t>
            </a: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 class</a:t>
            </a:r>
            <a:endParaRPr lang="en-GB" sz="2400" b="1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endParaRPr lang="en-GB" sz="2400" b="1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b="1" spc="-17" dirty="0">
                <a:solidFill>
                  <a:schemeClr val="tx1"/>
                </a:solidFill>
                <a:latin typeface="Comic Sans MS"/>
                <a:cs typeface="Comic Sans MS"/>
              </a:rPr>
              <a:t>1️⃣ Private Data Members</a:t>
            </a:r>
          </a:p>
          <a:p>
            <a:pPr marL="21912">
              <a:spcBef>
                <a:spcPts val="1216"/>
              </a:spcBef>
            </a:pPr>
            <a:r>
              <a:rPr lang="en-GB" sz="2400" b="1" spc="-17" dirty="0">
                <a:solidFill>
                  <a:schemeClr val="tx1"/>
                </a:solidFill>
                <a:latin typeface="Comic Sans MS"/>
                <a:cs typeface="Comic Sans MS"/>
              </a:rPr>
              <a:t>	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🟩 _ID : initialized with value 10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_FirstName : stores first name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_LastName : stores last name</a:t>
            </a:r>
          </a:p>
          <a:p>
            <a:pPr marL="21912">
              <a:spcBef>
                <a:spcPts val="1216"/>
              </a:spcBef>
            </a:pPr>
            <a:r>
              <a:rPr lang="en-GB" sz="2400" b="1" spc="-17" dirty="0">
                <a:solidFill>
                  <a:schemeClr val="tx1"/>
                </a:solidFill>
                <a:latin typeface="Comic Sans MS"/>
                <a:cs typeface="Comic Sans MS"/>
              </a:rPr>
              <a:t>2️⃣ Read-Only Property</a:t>
            </a:r>
          </a:p>
          <a:p>
            <a:pPr marL="21912">
              <a:spcBef>
                <a:spcPts val="1216"/>
              </a:spcBef>
            </a:pPr>
            <a:r>
              <a:rPr lang="en-GB" sz="2400" b="1" spc="-17" dirty="0">
                <a:solidFill>
                  <a:schemeClr val="tx1"/>
                </a:solidFill>
                <a:latin typeface="Comic Sans MS"/>
                <a:cs typeface="Comic Sans MS"/>
              </a:rPr>
              <a:t>	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🟩 ID()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➡️ Returns _ID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➡️ No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setID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() function exists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➡️ _ID cannot be changed from outside the class</a:t>
            </a:r>
          </a:p>
          <a:p>
            <a:pPr marL="21912">
              <a:spcBef>
                <a:spcPts val="1216"/>
              </a:spcBef>
            </a:pPr>
            <a:r>
              <a:rPr lang="en-GB" sz="2400" b="1" spc="-17" dirty="0">
                <a:solidFill>
                  <a:schemeClr val="tx1"/>
                </a:solidFill>
                <a:latin typeface="Comic Sans MS"/>
              </a:rPr>
              <a:t>3️⃣ Setter Functions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setFirstName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(string FirstName)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setLastName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(string LastName)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➡️ Used to assign values to private members</a:t>
            </a:r>
          </a:p>
        </p:txBody>
      </p:sp>
    </p:spTree>
    <p:extLst>
      <p:ext uri="{BB962C8B-B14F-4D97-AF65-F5344CB8AC3E}">
        <p14:creationId xmlns:p14="http://schemas.microsoft.com/office/powerpoint/2010/main" val="2877270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01511C2-AAD5-115E-1A67-89C3A151C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CB69B9A-927D-A094-9B5B-3F26ACB52B6B}"/>
              </a:ext>
            </a:extLst>
          </p:cNvPr>
          <p:cNvSpPr txBox="1"/>
          <p:nvPr/>
        </p:nvSpPr>
        <p:spPr>
          <a:xfrm>
            <a:off x="381000" y="888075"/>
            <a:ext cx="12352767" cy="495731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🟨 Components of </a:t>
            </a:r>
            <a:r>
              <a:rPr lang="en-GB" sz="4000" b="1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clsPerson</a:t>
            </a: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 class</a:t>
            </a:r>
            <a:endParaRPr lang="en-GB" sz="2400" b="1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endParaRPr lang="en-GB" sz="2400" b="1" spc="-17" dirty="0">
              <a:solidFill>
                <a:schemeClr val="tx1"/>
              </a:solidFill>
              <a:latin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b="1" spc="-17" dirty="0">
                <a:solidFill>
                  <a:schemeClr val="tx1"/>
                </a:solidFill>
                <a:latin typeface="Comic Sans MS"/>
              </a:rPr>
              <a:t>4️⃣ Getter Functions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FirstName()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LastName()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➡️ Used to retrieve stored values safely</a:t>
            </a:r>
          </a:p>
          <a:p>
            <a:pPr marL="21912">
              <a:spcBef>
                <a:spcPts val="1216"/>
              </a:spcBef>
            </a:pPr>
            <a:r>
              <a:rPr lang="en-GB" sz="2400" b="1" spc="-17" dirty="0">
                <a:solidFill>
                  <a:schemeClr val="tx1"/>
                </a:solidFill>
                <a:latin typeface="Comic Sans MS"/>
              </a:rPr>
              <a:t>5️⃣ </a:t>
            </a:r>
            <a:r>
              <a:rPr lang="en-GB" sz="2400" b="1" spc="-17" dirty="0" err="1">
                <a:solidFill>
                  <a:schemeClr val="tx1"/>
                </a:solidFill>
                <a:latin typeface="Comic Sans MS"/>
              </a:rPr>
              <a:t>FullName</a:t>
            </a:r>
            <a:r>
              <a:rPr lang="en-GB" sz="2400" b="1" spc="-17" dirty="0">
                <a:solidFill>
                  <a:schemeClr val="tx1"/>
                </a:solidFill>
                <a:latin typeface="Comic Sans MS"/>
              </a:rPr>
              <a:t> Function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FullName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➡️ Combines first name and last name into one string</a:t>
            </a:r>
          </a:p>
        </p:txBody>
      </p:sp>
    </p:spTree>
    <p:extLst>
      <p:ext uri="{BB962C8B-B14F-4D97-AF65-F5344CB8AC3E}">
        <p14:creationId xmlns:p14="http://schemas.microsoft.com/office/powerpoint/2010/main" val="1450239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6CC8EE3-C84A-7326-D194-775D2FB90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3CBBD50-FE4C-1817-9DF0-7B15E547F733}"/>
              </a:ext>
            </a:extLst>
          </p:cNvPr>
          <p:cNvSpPr txBox="1"/>
          <p:nvPr/>
        </p:nvSpPr>
        <p:spPr>
          <a:xfrm>
            <a:off x="381000" y="888075"/>
            <a:ext cx="12352767" cy="600375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💡 Example</a:t>
            </a:r>
          </a:p>
          <a:p>
            <a:pPr marL="21912">
              <a:spcBef>
                <a:spcPts val="1216"/>
              </a:spcBef>
            </a:pPr>
            <a:endParaRPr lang="en-GB" sz="2400" b="1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ID is accessed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ID cannot be modified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clsPerson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Person1;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Person1.</a:t>
            </a:r>
            <a:r>
              <a:rPr lang="en-GB" sz="2400" spc="-17" dirty="0">
                <a:solidFill>
                  <a:srgbClr val="FFC000"/>
                </a:solidFill>
                <a:latin typeface="Comic Sans MS"/>
              </a:rPr>
              <a:t>setFirstName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("</a:t>
            </a:r>
            <a:r>
              <a:rPr lang="en-GB" sz="2400" spc="-17" dirty="0">
                <a:solidFill>
                  <a:srgbClr val="00B050"/>
                </a:solidFill>
                <a:latin typeface="Comic Sans MS"/>
              </a:rPr>
              <a:t>Sara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");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Person1.</a:t>
            </a:r>
            <a:r>
              <a:rPr lang="en-GB" sz="2400" spc="-17" dirty="0">
                <a:solidFill>
                  <a:srgbClr val="FFC000"/>
                </a:solidFill>
                <a:latin typeface="Comic Sans MS"/>
              </a:rPr>
              <a:t>setLastName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("</a:t>
            </a:r>
            <a:r>
              <a:rPr lang="en-GB" sz="2400" spc="-17" dirty="0">
                <a:solidFill>
                  <a:srgbClr val="00B050"/>
                </a:solidFill>
                <a:latin typeface="Comic Sans MS"/>
              </a:rPr>
              <a:t>Alterkawi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");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cout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&lt;&lt; Person1.</a:t>
            </a:r>
            <a:r>
              <a:rPr lang="en-GB" sz="2400" spc="-17" dirty="0">
                <a:solidFill>
                  <a:srgbClr val="FFC000"/>
                </a:solidFill>
                <a:latin typeface="Comic Sans MS"/>
              </a:rPr>
              <a:t>ID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();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2321939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F16C899-C0D7-7D2B-418E-53117E1BB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E16194E-9095-D151-5629-3C631EE7D6E9}"/>
              </a:ext>
            </a:extLst>
          </p:cNvPr>
          <p:cNvSpPr txBox="1"/>
          <p:nvPr/>
        </p:nvSpPr>
        <p:spPr>
          <a:xfrm>
            <a:off x="381000" y="888075"/>
            <a:ext cx="12352767" cy="372620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🟦 Steps in main()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1️⃣ Create object Person1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2️⃣ Set first name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3️⃣ Set last name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4️⃣ Read ID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5️⃣ Print first name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6️⃣ Print last name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7️⃣ Print full name</a:t>
            </a:r>
          </a:p>
        </p:txBody>
      </p:sp>
    </p:spTree>
    <p:extLst>
      <p:ext uri="{BB962C8B-B14F-4D97-AF65-F5344CB8AC3E}">
        <p14:creationId xmlns:p14="http://schemas.microsoft.com/office/powerpoint/2010/main" val="706711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4C458F5-ED6C-B652-0AFE-D3FA2B110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385C0502-60A1-00AB-0FAF-A687E41C6A32}"/>
              </a:ext>
            </a:extLst>
          </p:cNvPr>
          <p:cNvSpPr txBox="1"/>
          <p:nvPr/>
        </p:nvSpPr>
        <p:spPr>
          <a:xfrm>
            <a:off x="381000" y="888075"/>
            <a:ext cx="12352767" cy="26182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spc="-17" dirty="0">
                <a:solidFill>
                  <a:schemeClr val="tx1"/>
                </a:solidFill>
                <a:latin typeface="Comic Sans MS"/>
              </a:rPr>
              <a:t>➡️ </a:t>
            </a:r>
            <a:r>
              <a:rPr lang="sv-SE" sz="4000" b="1" spc="-17" dirty="0" err="1">
                <a:solidFill>
                  <a:schemeClr val="tx1"/>
                </a:solidFill>
                <a:latin typeface="Comic Sans MS"/>
              </a:rPr>
              <a:t>Expected</a:t>
            </a:r>
            <a:r>
              <a:rPr lang="sv-SE" sz="4000" b="1" spc="-17" dirty="0">
                <a:solidFill>
                  <a:schemeClr val="tx1"/>
                </a:solidFill>
                <a:latin typeface="Comic Sans MS"/>
              </a:rPr>
              <a:t> Output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ID: 10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First Name: Sara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Last Name: Alterkawi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Full Name: Sara Alterkawi</a:t>
            </a:r>
            <a:endParaRPr lang="sv-SE" sz="2400" dirty="0"/>
          </a:p>
        </p:txBody>
      </p:sp>
    </p:spTree>
    <p:extLst>
      <p:ext uri="{BB962C8B-B14F-4D97-AF65-F5344CB8AC3E}">
        <p14:creationId xmlns:p14="http://schemas.microsoft.com/office/powerpoint/2010/main" val="2686623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8890F28-9D96-D2B6-A9A6-3E01DFAB0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2D6BA6E-9226-A9F6-6B88-476F33F7768F}"/>
              </a:ext>
            </a:extLst>
          </p:cNvPr>
          <p:cNvSpPr txBox="1"/>
          <p:nvPr/>
        </p:nvSpPr>
        <p:spPr>
          <a:xfrm>
            <a:off x="381000" y="888075"/>
            <a:ext cx="12352767" cy="151021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📌 Note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Even though _ID is initialized, it cannot be changed because there is no setter function.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224923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81BE943-6BF8-6560-128F-3A2B5B25F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A9D01D0-5E83-97B5-892D-5D4DC706BDFD}"/>
              </a:ext>
            </a:extLst>
          </p:cNvPr>
          <p:cNvSpPr txBox="1"/>
          <p:nvPr/>
        </p:nvSpPr>
        <p:spPr>
          <a:xfrm>
            <a:off x="381000" y="888075"/>
            <a:ext cx="12352767" cy="409554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⚖️ Comparison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🟩 Read-Only Property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More secure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Prevents accidental changes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Ideal for IDs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🚫 Read/Write Property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❌ Can be modified</a:t>
            </a:r>
          </a:p>
          <a:p>
            <a:r>
              <a:rPr lang="en-GB" sz="2400" spc="-17">
                <a:solidFill>
                  <a:schemeClr val="tx1"/>
                </a:solidFill>
                <a:latin typeface="Comic Sans MS"/>
              </a:rPr>
              <a:t>	❌ 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Less control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395487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990E0AC-1179-7FB7-16BD-3B0B6827A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03FC800-D303-BD33-7789-3A9B80106EA6}"/>
              </a:ext>
            </a:extLst>
          </p:cNvPr>
          <p:cNvSpPr txBox="1"/>
          <p:nvPr/>
        </p:nvSpPr>
        <p:spPr>
          <a:xfrm>
            <a:off x="381000" y="888075"/>
            <a:ext cx="12352767" cy="151021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🚫 Warning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Do not make sensitive values public just to access them—use a read-only getter instead.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941716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6548168-F6BF-9E3C-8335-7DFD704D0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7131D51-6AAA-DD4B-6C31-C4D46506634E}"/>
              </a:ext>
            </a:extLst>
          </p:cNvPr>
          <p:cNvSpPr txBox="1"/>
          <p:nvPr/>
        </p:nvSpPr>
        <p:spPr>
          <a:xfrm>
            <a:off x="381000" y="888075"/>
            <a:ext cx="12352767" cy="28644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✨ Summary</a:t>
            </a:r>
          </a:p>
          <a:p>
            <a:endParaRPr lang="en-GB" sz="40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Read-only property = Getter without Setter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Protects important data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Enforces encapsulation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Common in professional C++ design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4647757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1549</TotalTime>
  <Words>403</Words>
  <Application>Microsoft Office PowerPoint</Application>
  <PresentationFormat>Custom</PresentationFormat>
  <Paragraphs>87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Alterkawi</cp:lastModifiedBy>
  <cp:revision>54</cp:revision>
  <dcterms:created xsi:type="dcterms:W3CDTF">2025-12-09T17:44:59Z</dcterms:created>
  <dcterms:modified xsi:type="dcterms:W3CDTF">2026-01-16T19:52:17Z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