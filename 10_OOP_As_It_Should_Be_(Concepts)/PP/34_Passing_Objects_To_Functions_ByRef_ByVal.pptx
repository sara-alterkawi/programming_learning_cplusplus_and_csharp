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42" r:id="rId5"/>
    <p:sldId id="325" r:id="rId6"/>
    <p:sldId id="344" r:id="rId7"/>
    <p:sldId id="348" r:id="rId8"/>
    <p:sldId id="335" r:id="rId9"/>
    <p:sldId id="347" r:id="rId10"/>
    <p:sldId id="329" r:id="rId11"/>
    <p:sldId id="330" r:id="rId12"/>
    <p:sldId id="332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684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Passing Objects to Functions (</a:t>
            </a:r>
            <a:r>
              <a:rPr lang="en-GB" sz="6000" b="1" dirty="0" err="1">
                <a:solidFill>
                  <a:srgbClr val="FFCE53"/>
                </a:solidFill>
                <a:latin typeface="Comic Sans MS"/>
                <a:cs typeface="Comic Sans MS"/>
              </a:rPr>
              <a:t>ByRef_ByVal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39552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Passing Objects to Functions (</a:t>
            </a:r>
            <a:r>
              <a:rPr lang="en-GB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ByRef_ByVal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dirty="0">
                <a:latin typeface="Comic Sans MS" panose="030F0702030302020204" pitchFamily="66" charset="0"/>
              </a:rPr>
              <a:t>🔹 </a:t>
            </a:r>
            <a:r>
              <a:rPr lang="en-GB" sz="2400" b="1" dirty="0">
                <a:latin typeface="Comic Sans MS" panose="030F0702030302020204" pitchFamily="66" charset="0"/>
              </a:rPr>
              <a:t>Passing by Value</a:t>
            </a:r>
            <a:r>
              <a:rPr lang="en-GB" sz="2400" dirty="0">
                <a:latin typeface="Comic Sans MS" panose="030F0702030302020204" pitchFamily="66" charset="0"/>
              </a:rPr>
              <a:t>: A copy of the object is sent to the function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</a:t>
            </a:r>
            <a:r>
              <a:rPr lang="en-GB" sz="2400" b="1" dirty="0">
                <a:latin typeface="Comic Sans MS" panose="030F0702030302020204" pitchFamily="66" charset="0"/>
              </a:rPr>
              <a:t>Passing by Reference</a:t>
            </a:r>
            <a:r>
              <a:rPr lang="en-GB" sz="2400" dirty="0">
                <a:latin typeface="Comic Sans MS" panose="030F0702030302020204" pitchFamily="66" charset="0"/>
              </a:rPr>
              <a:t>: The original object itself is sent to the function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602A26-E2DB-3EC3-CDEC-BD91E567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458D62A-ED0D-005C-6EC5-FF31F2AB458E}"/>
              </a:ext>
            </a:extLst>
          </p:cNvPr>
          <p:cNvSpPr txBox="1"/>
          <p:nvPr/>
        </p:nvSpPr>
        <p:spPr>
          <a:xfrm>
            <a:off x="381000" y="888075"/>
            <a:ext cx="12352767" cy="203343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When an object is passed </a:t>
            </a:r>
            <a:r>
              <a:rPr lang="en-GB" sz="2400" b="1" dirty="0">
                <a:latin typeface="Comic Sans MS" panose="030F0702030302020204" pitchFamily="66" charset="0"/>
              </a:rPr>
              <a:t>by value</a:t>
            </a:r>
            <a:r>
              <a:rPr lang="en-GB" sz="2400" dirty="0">
                <a:latin typeface="Comic Sans MS" panose="030F0702030302020204" pitchFamily="66" charset="0"/>
              </a:rPr>
              <a:t>, the function works on a </a:t>
            </a:r>
            <a:r>
              <a:rPr lang="en-GB" sz="2400" b="1" dirty="0">
                <a:latin typeface="Comic Sans MS" panose="030F0702030302020204" pitchFamily="66" charset="0"/>
              </a:rPr>
              <a:t>copy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When an object is passed </a:t>
            </a:r>
            <a:r>
              <a:rPr lang="en-GB" sz="2400" b="1" dirty="0">
                <a:latin typeface="Comic Sans MS" panose="030F0702030302020204" pitchFamily="66" charset="0"/>
              </a:rPr>
              <a:t>by reference</a:t>
            </a:r>
            <a:r>
              <a:rPr lang="en-GB" sz="2400" dirty="0">
                <a:latin typeface="Comic Sans MS" panose="030F0702030302020204" pitchFamily="66" charset="0"/>
              </a:rPr>
              <a:t>, the function works on the </a:t>
            </a:r>
            <a:r>
              <a:rPr lang="en-GB" sz="2400" b="1" dirty="0">
                <a:latin typeface="Comic Sans MS" panose="030F0702030302020204" pitchFamily="66" charset="0"/>
              </a:rPr>
              <a:t>original object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11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🟨 </a:t>
            </a:r>
            <a:r>
              <a:rPr lang="en-GB" sz="4000" b="1" dirty="0">
                <a:latin typeface="Comic Sans MS" panose="030F0702030302020204" pitchFamily="66" charset="0"/>
              </a:rPr>
              <a:t>Key Characteristics of this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Class </a:t>
            </a:r>
            <a:r>
              <a:rPr lang="en-GB" sz="2400" dirty="0" err="1">
                <a:latin typeface="Comic Sans MS" panose="030F0702030302020204" pitchFamily="66" charset="0"/>
              </a:rPr>
              <a:t>clsA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🟨 </a:t>
            </a:r>
            <a:r>
              <a:rPr lang="sv-SE" sz="2400" dirty="0">
                <a:latin typeface="Comic Sans MS" panose="030F0702030302020204" pitchFamily="66" charset="0"/>
              </a:rPr>
              <a:t>Data </a:t>
            </a:r>
            <a:r>
              <a:rPr lang="sv-SE" sz="2400" dirty="0" err="1">
                <a:latin typeface="Comic Sans MS" panose="030F0702030302020204" pitchFamily="66" charset="0"/>
              </a:rPr>
              <a:t>Member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🟩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int</a:t>
            </a:r>
            <a:r>
              <a:rPr lang="sv-SE" sz="2400" dirty="0">
                <a:latin typeface="Comic Sans MS" panose="030F0702030302020204" pitchFamily="66" charset="0"/>
              </a:rPr>
              <a:t> x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🟨 </a:t>
            </a:r>
            <a:r>
              <a:rPr lang="sv-SE" sz="2400" dirty="0" err="1">
                <a:latin typeface="Comic Sans MS" panose="030F0702030302020204" pitchFamily="66" charset="0"/>
              </a:rPr>
              <a:t>Member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Function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🟩</a:t>
            </a:r>
            <a:r>
              <a:rPr lang="en-GB" sz="2400" dirty="0">
                <a:latin typeface="Comic Sans MS" panose="030F0702030302020204" pitchFamily="66" charset="0"/>
              </a:rPr>
              <a:t> Print() → prints the value of x</a:t>
            </a: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493257-758A-6AB2-58AB-03C72E069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7684C10-C4C3-B68F-5237-3EC31249E5F1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💡 </a:t>
            </a:r>
            <a:r>
              <a:rPr lang="sv-SE" sz="4000" b="1" dirty="0" err="1">
                <a:latin typeface="Comic Sans MS" panose="030F0702030302020204" pitchFamily="66" charset="0"/>
              </a:rPr>
              <a:t>Example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Pass by Value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void </a:t>
            </a:r>
            <a:r>
              <a:rPr lang="en-GB" sz="2400" dirty="0">
                <a:solidFill>
                  <a:srgbClr val="0070C0"/>
                </a:solidFill>
                <a:latin typeface="Comic Sans MS" panose="030F0702030302020204" pitchFamily="66" charset="0"/>
              </a:rPr>
              <a:t>Fun1</a:t>
            </a:r>
            <a:r>
              <a:rPr lang="en-GB" sz="2400" dirty="0">
                <a:latin typeface="Comic Sans MS" panose="030F0702030302020204" pitchFamily="66" charset="0"/>
              </a:rPr>
              <a:t>(</a:t>
            </a:r>
            <a:r>
              <a:rPr lang="en-GB" sz="2400" dirty="0" err="1">
                <a:latin typeface="Comic Sans MS" panose="030F0702030302020204" pitchFamily="66" charset="0"/>
              </a:rPr>
              <a:t>clsA</a:t>
            </a:r>
            <a:r>
              <a:rPr lang="en-GB" sz="2400" dirty="0">
                <a:latin typeface="Comic Sans MS" panose="030F0702030302020204" pitchFamily="66" charset="0"/>
              </a:rPr>
              <a:t> A1)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{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A1.x = 100;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}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A copy of A1 is created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Changes affect </a:t>
            </a:r>
            <a:r>
              <a:rPr lang="en-GB" sz="2400" b="1" dirty="0">
                <a:latin typeface="Comic Sans MS" panose="030F0702030302020204" pitchFamily="66" charset="0"/>
              </a:rPr>
              <a:t>only the copy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Original object remains unchanged</a:t>
            </a:r>
          </a:p>
        </p:txBody>
      </p:sp>
    </p:spTree>
    <p:extLst>
      <p:ext uri="{BB962C8B-B14F-4D97-AF65-F5344CB8AC3E}">
        <p14:creationId xmlns:p14="http://schemas.microsoft.com/office/powerpoint/2010/main" val="104775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95A771-C555-BB66-C276-2152970E4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4AC2EF8-EC6F-2631-C481-A74E7BA9CAD1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💡 </a:t>
            </a:r>
            <a:r>
              <a:rPr lang="sv-SE" sz="4000" b="1" dirty="0" err="1">
                <a:latin typeface="Comic Sans MS" panose="030F0702030302020204" pitchFamily="66" charset="0"/>
              </a:rPr>
              <a:t>Example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Pass by Reference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void Fun2(</a:t>
            </a:r>
            <a:r>
              <a:rPr lang="en-GB" sz="2400" dirty="0" err="1">
                <a:latin typeface="Comic Sans MS" panose="030F0702030302020204" pitchFamily="66" charset="0"/>
              </a:rPr>
              <a:t>clsA</a:t>
            </a:r>
            <a:r>
              <a:rPr lang="en-GB" sz="2400" dirty="0">
                <a:latin typeface="Comic Sans MS" panose="030F0702030302020204" pitchFamily="66" charset="0"/>
              </a:rPr>
              <a:t>&amp; A1)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{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	A1.x = 200;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}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&amp; means reference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Function receives the </a:t>
            </a:r>
            <a:r>
              <a:rPr lang="en-GB" sz="2400" b="1" dirty="0">
                <a:latin typeface="Comic Sans MS" panose="030F0702030302020204" pitchFamily="66" charset="0"/>
              </a:rPr>
              <a:t>original object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Changes are reflected outside the function</a:t>
            </a:r>
          </a:p>
        </p:txBody>
      </p:sp>
    </p:spTree>
    <p:extLst>
      <p:ext uri="{BB962C8B-B14F-4D97-AF65-F5344CB8AC3E}">
        <p14:creationId xmlns:p14="http://schemas.microsoft.com/office/powerpoint/2010/main" val="3198265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4000" b="1" i="0" u="none" strike="noStrike" kern="0" cap="none" spc="-1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➡️ </a:t>
            </a:r>
            <a:r>
              <a:rPr kumimoji="0" lang="sv-SE" sz="4000" b="1" i="0" u="none" strike="noStrike" kern="0" cap="none" spc="-17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Expected</a:t>
            </a:r>
            <a:r>
              <a:rPr kumimoji="0" lang="sv-SE" sz="4000" b="1" i="0" u="none" strike="noStrike" kern="0" cap="none" spc="-1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 Output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-17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Before calling functions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x = 50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After Fun1(A1)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x = 50 (unchanged)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After Fun2(A1)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x = 200 (updated)</a:t>
            </a: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-1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</a:rPr>
              <a:t>🟦 Steps in main()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-17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Create object A1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 Assign x = 50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Call Fun1(A1) (pass by value)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 Call Fun2(A1) (pass by reference)</a:t>
            </a:r>
          </a:p>
        </p:txBody>
      </p:sp>
    </p:spTree>
    <p:extLst>
      <p:ext uri="{BB962C8B-B14F-4D97-AF65-F5344CB8AC3E}">
        <p14:creationId xmlns:p14="http://schemas.microsoft.com/office/powerpoint/2010/main" val="1830167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59422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</a:t>
            </a:r>
            <a:r>
              <a:rPr lang="sv-SE" sz="2400" dirty="0">
                <a:latin typeface="Comic Sans MS" panose="030F0702030302020204" pitchFamily="66" charset="0"/>
              </a:rPr>
              <a:t>Pass by </a:t>
            </a:r>
            <a:r>
              <a:rPr lang="sv-SE" sz="2400" dirty="0" err="1">
                <a:latin typeface="Comic Sans MS" panose="030F0702030302020204" pitchFamily="66" charset="0"/>
              </a:rPr>
              <a:t>Value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A copy of the object is created when calling the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Any changes made inside the function do not affect the original object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Requires more memory, especially with large objects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Generally slower due to copying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Useful when you want to protect the original data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🟥 </a:t>
            </a:r>
            <a:r>
              <a:rPr lang="sv-SE" sz="2400" dirty="0">
                <a:latin typeface="Comic Sans MS" panose="030F0702030302020204" pitchFamily="66" charset="0"/>
              </a:rPr>
              <a:t>Pass by </a:t>
            </a:r>
            <a:r>
              <a:rPr lang="sv-SE" sz="2400" dirty="0" err="1">
                <a:latin typeface="Comic Sans MS" panose="030F0702030302020204" pitchFamily="66" charset="0"/>
              </a:rPr>
              <a:t>Reference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No copy is created; the function works on the original object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Any changes made inside the function are reflected immediately outside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Uses less memory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Faster, especially for large objects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✔️ </a:t>
            </a:r>
            <a:r>
              <a:rPr lang="en-GB" sz="2400" dirty="0">
                <a:latin typeface="Comic Sans MS" panose="030F0702030302020204" pitchFamily="66" charset="0"/>
              </a:rPr>
              <a:t>Useful when you need to modify the object or improve performance</a:t>
            </a:r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Passing large objects by value may cause performance issues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Use references when modification is required</a:t>
            </a:r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✨ Summary</a:t>
            </a:r>
            <a:endParaRPr lang="en-GB" sz="40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✅ Passing by value sends a copy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Passing by reference sends the original object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Only references allow modifying the original object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References improve performance for large objects</a:t>
            </a: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2970</TotalTime>
  <Words>469</Words>
  <Application>Microsoft Office PowerPoint</Application>
  <PresentationFormat>Custom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212</cp:revision>
  <dcterms:created xsi:type="dcterms:W3CDTF">2025-12-09T17:44:59Z</dcterms:created>
  <dcterms:modified xsi:type="dcterms:W3CDTF">2026-01-13T09:54:15Z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