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0" r:id="rId5"/>
    <p:sldId id="325" r:id="rId6"/>
    <p:sldId id="341" r:id="rId7"/>
    <p:sldId id="338" r:id="rId8"/>
    <p:sldId id="327" r:id="rId9"/>
    <p:sldId id="339" r:id="rId10"/>
    <p:sldId id="335" r:id="rId11"/>
    <p:sldId id="329" r:id="rId12"/>
    <p:sldId id="330" r:id="rId13"/>
    <p:sldId id="332" r:id="rId14"/>
    <p:sldId id="313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45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Virtual Functions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Virtual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0798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A virtual function is a member function of a class that is declared using the virtual keyword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It ensures that the correct function is called at runtime based on the actual object type, not the pointer type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18B0B2-E264-9B8F-132C-F78D2EF5C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88512DA-13A0-B9B6-E5D7-5199CEBE636C}"/>
              </a:ext>
            </a:extLst>
          </p:cNvPr>
          <p:cNvSpPr txBox="1"/>
          <p:nvPr/>
        </p:nvSpPr>
        <p:spPr>
          <a:xfrm>
            <a:off x="381000" y="888075"/>
            <a:ext cx="12352767" cy="23412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Virtual functions enable runtime polymorphism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They allow a base-class pointer to call the overridden method of a derived class</a:t>
            </a:r>
          </a:p>
        </p:txBody>
      </p:sp>
    </p:spTree>
    <p:extLst>
      <p:ext uri="{BB962C8B-B14F-4D97-AF65-F5344CB8AC3E}">
        <p14:creationId xmlns:p14="http://schemas.microsoft.com/office/powerpoint/2010/main" val="239035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440331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4000" dirty="0"/>
              <a:t>🔹</a:t>
            </a:r>
            <a:r>
              <a:rPr lang="en-GB" sz="4000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Base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clsPerson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 Public virtual function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Displays a general message for a person</a:t>
            </a: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F74ECB-2101-23D9-D278-09B809B64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FF27674-7967-AE9C-9B2F-A0BBC4C7D23F}"/>
              </a:ext>
            </a:extLst>
          </p:cNvPr>
          <p:cNvSpPr txBox="1"/>
          <p:nvPr/>
        </p:nvSpPr>
        <p:spPr>
          <a:xfrm>
            <a:off x="381000" y="888075"/>
            <a:ext cx="12352767" cy="440331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SE" sz="4000" b="1" dirty="0"/>
              <a:t>🔹</a:t>
            </a:r>
            <a:r>
              <a:rPr lang="en-GB" sz="4000" b="1" dirty="0"/>
              <a:t>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Derived Class: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 : public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</a:rPr>
              <a:t>clsPerson</a:t>
            </a:r>
            <a:endParaRPr lang="en-GB" sz="4000" b="1" spc="-17" dirty="0">
              <a:solidFill>
                <a:schemeClr val="tx1"/>
              </a:solidFill>
              <a:latin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🟩 Overrides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Overrides  Print()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		🟨 Displays a student-specific message</a:t>
            </a:r>
          </a:p>
        </p:txBody>
      </p:sp>
    </p:spTree>
    <p:extLst>
      <p:ext uri="{BB962C8B-B14F-4D97-AF65-F5344CB8AC3E}">
        <p14:creationId xmlns:p14="http://schemas.microsoft.com/office/powerpoint/2010/main" val="1946419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86F65D-1FA8-E86B-C74C-A04F7355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CB3EACE-1BDF-8A70-127F-9480C6E56C56}"/>
              </a:ext>
            </a:extLst>
          </p:cNvPr>
          <p:cNvSpPr txBox="1"/>
          <p:nvPr/>
        </p:nvSpPr>
        <p:spPr>
          <a:xfrm>
            <a:off x="381000" y="888075"/>
            <a:ext cx="12352767" cy="25874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Virtual Function </a:t>
            </a:r>
            <a:r>
              <a:rPr lang="en-GB" sz="4000" b="1" spc="-17" dirty="0" err="1">
                <a:solidFill>
                  <a:schemeClr val="tx1"/>
                </a:solidFill>
                <a:latin typeface="Comic Sans MS"/>
                <a:cs typeface="Comic Sans MS"/>
              </a:rPr>
              <a:t>Behavior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</a:p>
          <a:p>
            <a:pPr marL="21912">
              <a:spcBef>
                <a:spcPts val="1216"/>
              </a:spcBef>
            </a:pPr>
            <a:endParaRPr lang="en-GB" sz="4000" b="1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 function call depends on the actual object type, not the pointer type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🔹 The decision is made at runtime, not at compile time</a:t>
            </a:r>
          </a:p>
        </p:txBody>
      </p:sp>
    </p:spTree>
    <p:extLst>
      <p:ext uri="{BB962C8B-B14F-4D97-AF65-F5344CB8AC3E}">
        <p14:creationId xmlns:p14="http://schemas.microsoft.com/office/powerpoint/2010/main" val="334192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16C899-C0D7-7D2B-418E-53117E1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E16194E-9095-D151-5629-3C631EE7D6E9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Although the pointers are of type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the correct Print() implementation is 	called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* Person1 = &amp;Employee1;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clsPerson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* Person2 = &amp;Student1;</a:t>
            </a:r>
          </a:p>
        </p:txBody>
      </p:sp>
    </p:spTree>
    <p:extLst>
      <p:ext uri="{BB962C8B-B14F-4D97-AF65-F5344CB8AC3E}">
        <p14:creationId xmlns:p14="http://schemas.microsoft.com/office/powerpoint/2010/main" val="706711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clsEmployee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clsStudent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Create base-class pointers to derived objects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Call Print() using base-class pointers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Employee message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Student message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Employee message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Student message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🟩 With virtual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Function call resolved at runtime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Supports polymorphism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Correct derived method is executed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🟥 Without virtual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Function call resolved at compile time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Base-class method is executed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Polymorphism does not occur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🔹 If Print() is not declared virtual in the base class: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Derived versions will be ignored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Base-class function will always execute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Demonstrates runtime polymorphism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Base pointer calls derived implementation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Function selection happens at runtime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Virtual keyword enables dynamic binding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1820</TotalTime>
  <Words>353</Words>
  <Application>Microsoft Office PowerPoint</Application>
  <PresentationFormat>Custom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123</cp:revision>
  <dcterms:created xsi:type="dcterms:W3CDTF">2025-12-09T17:44:59Z</dcterms:created>
  <dcterms:modified xsi:type="dcterms:W3CDTF">2026-01-02T12:27:51Z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