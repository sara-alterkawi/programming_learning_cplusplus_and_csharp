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6" r:id="rId4"/>
    <p:sldId id="333" r:id="rId5"/>
    <p:sldId id="325" r:id="rId6"/>
    <p:sldId id="334" r:id="rId7"/>
    <p:sldId id="326" r:id="rId8"/>
    <p:sldId id="327" r:id="rId9"/>
    <p:sldId id="335" r:id="rId10"/>
    <p:sldId id="328" r:id="rId11"/>
    <p:sldId id="329" r:id="rId12"/>
    <p:sldId id="330" r:id="rId13"/>
    <p:sldId id="332" r:id="rId14"/>
    <p:sldId id="313" r:id="rId1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Third Principle/Concept of OOP: Inheritance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39552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Third Principle/Concept of OOP: Inheritance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F8B14B-09AB-1926-5EA5-753EFAEF8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F82C478-DD67-D7B4-565D-34626C2866B9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A class representing an employee with attributes like name, ID, email… including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behaviors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like sending messages and printing formatted info. The employee class inherits data/methods from a person class.</a:t>
            </a:r>
          </a:p>
        </p:txBody>
      </p:sp>
    </p:spTree>
    <p:extLst>
      <p:ext uri="{BB962C8B-B14F-4D97-AF65-F5344CB8AC3E}">
        <p14:creationId xmlns:p14="http://schemas.microsoft.com/office/powerpoint/2010/main" val="104312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DFEC1-1099-831C-A2CD-F0127FD71DD2}"/>
              </a:ext>
            </a:extLst>
          </p:cNvPr>
          <p:cNvSpPr txBox="1"/>
          <p:nvPr/>
        </p:nvSpPr>
        <p:spPr>
          <a:xfrm>
            <a:off x="228600" y="2362200"/>
            <a:ext cx="12428967" cy="381642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The program demonstrates OOP concepts: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Encapsulation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Inheritance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Getters / Setters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Method overriding intention (future)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Using objects to model real-world entities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Two classes are used: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– base class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clsEmployee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 – derived class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757341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Structure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Private attributes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ID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FirstName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LastName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Email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Phone</a:t>
            </a:r>
          </a:p>
          <a:p>
            <a:pPr marL="21912">
              <a:spcBef>
                <a:spcPts val="1216"/>
              </a:spcBef>
            </a:pPr>
            <a:r>
              <a:rPr lang="en-GB" sz="24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Public methods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setters &amp; getters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FullName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Print()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SendEmail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SendSMS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625673-FF5A-85E3-D195-BF186148D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BAD71C-2CB2-712F-7598-73CA6C15F77A}"/>
              </a:ext>
            </a:extLst>
          </p:cNvPr>
          <p:cNvSpPr txBox="1"/>
          <p:nvPr/>
        </p:nvSpPr>
        <p:spPr>
          <a:xfrm>
            <a:off x="381000" y="888075"/>
            <a:ext cx="12352767" cy="652697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Class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Structure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Inherits from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Additional private attributes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Title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Department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🟩 Salary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🟨 Public setters &amp; getters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Example: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	void </a:t>
            </a:r>
            <a:r>
              <a:rPr lang="en-GB" sz="2400" spc="-17" dirty="0" err="1">
                <a:solidFill>
                  <a:srgbClr val="0070C0"/>
                </a:solidFill>
                <a:latin typeface="Comic Sans MS"/>
                <a:cs typeface="Comic Sans MS"/>
              </a:rPr>
              <a:t>setSalary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(string Salary)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	string </a:t>
            </a:r>
            <a:r>
              <a:rPr lang="en-GB" sz="2400" spc="-17" dirty="0">
                <a:solidFill>
                  <a:srgbClr val="0070C0"/>
                </a:solidFill>
                <a:latin typeface="Comic Sans MS"/>
                <a:cs typeface="Comic Sans MS"/>
              </a:rPr>
              <a:t>Salary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()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37249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6CC8EE3-C84A-7326-D194-775D2FB9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3CBBD50-FE4C-1817-9DF0-7B15E547F733}"/>
              </a:ext>
            </a:extLst>
          </p:cNvPr>
          <p:cNvSpPr txBox="1"/>
          <p:nvPr/>
        </p:nvSpPr>
        <p:spPr>
          <a:xfrm>
            <a:off x="381000" y="888075"/>
            <a:ext cx="12352767" cy="548053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💡 Example</a:t>
            </a:r>
          </a:p>
          <a:p>
            <a:pPr marL="21912">
              <a:spcBef>
                <a:spcPts val="1216"/>
              </a:spcBef>
            </a:pPr>
            <a:endParaRPr lang="en-GB" sz="24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📌 Static function called via class name: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clsA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::Function1()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endl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;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📌 Static and non-static functions called via object: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clsA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A1, A2;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A1.Function1()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endl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A1.Function2()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endl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;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cout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&lt;&lt; A2.Function1() &lt;&lt;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endl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2193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an employee object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Set attributes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Print basic info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Send email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Set salary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Print salary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7️⃣ Call Print() again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668086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Info: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------------------------------------------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ID : 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FirstName: Sara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LastName : Alterkawi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Full Name: Sara Alterkawi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Email : sara.omar.alterkawi@gmail.com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Phone : 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------------------------------------------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The following message sent successfully to email : sara.omar.alterkawi@gmail.com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Subject :Hi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Body :How are you ?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Salary is: 5600$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890F28-9D96-D2B6-A9A6-3E01DFAB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D6BA6E-9226-A9F6-6B88-476F33F7768F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📌 Note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The final call to Print() only prints attributes inherited from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, because the derived class did NOT override the Print method.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24923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Person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 ✔️ knows personal info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 ✔️ has message functions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Employee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 ✔️ adds job information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 ✔️ currently cannot print full employee info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If the derived class needs to print all details including salary/title etc., you must override Print() or redesign output handling.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code models an employee using inheritance.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Demonstrates encapsulation and messaging simulation.</a:t>
            </a:r>
          </a:p>
          <a:p>
            <a:r>
              <a:rPr lang="en-GB" sz="2400" spc="-17">
                <a:solidFill>
                  <a:schemeClr val="tx1"/>
                </a:solidFill>
                <a:latin typeface="Comic Sans MS"/>
              </a:rPr>
              <a:t>✅ Highlights a design gap: Print() is inherited but incomplete.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2779</TotalTime>
  <Words>493</Words>
  <Application>Microsoft Office PowerPoint</Application>
  <PresentationFormat>Custom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72</cp:revision>
  <dcterms:created xsi:type="dcterms:W3CDTF">2025-12-09T17:44:59Z</dcterms:created>
  <dcterms:modified xsi:type="dcterms:W3CDTF">2026-01-02T12:19:17Z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