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23" r:id="rId4"/>
    <p:sldId id="333" r:id="rId5"/>
    <p:sldId id="340" r:id="rId6"/>
    <p:sldId id="325" r:id="rId7"/>
    <p:sldId id="341" r:id="rId8"/>
    <p:sldId id="338" r:id="rId9"/>
    <p:sldId id="339" r:id="rId10"/>
    <p:sldId id="327" r:id="rId11"/>
    <p:sldId id="335" r:id="rId12"/>
    <p:sldId id="329" r:id="rId13"/>
    <p:sldId id="330" r:id="rId14"/>
    <p:sldId id="332" r:id="rId15"/>
    <p:sldId id="313" r:id="rId1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598881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Up Casting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Vs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Down Casting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Up Casting Vs Down Casting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1D073B-762F-2D30-C188-3FCE7827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3">
            <a:extLst>
              <a:ext uri="{FF2B5EF4-FFF2-40B4-BE49-F238E27FC236}">
                <a16:creationId xmlns:a16="http://schemas.microsoft.com/office/drawing/2014/main" id="{0834A798-26BF-E46D-77D6-B62AAD99F23B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Up Casting vs Down Casting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D6D90D-4D4B-22D3-A496-14EEDD5D93F9}"/>
              </a:ext>
            </a:extLst>
          </p:cNvPr>
          <p:cNvGrpSpPr/>
          <p:nvPr/>
        </p:nvGrpSpPr>
        <p:grpSpPr>
          <a:xfrm>
            <a:off x="1594724" y="2295143"/>
            <a:ext cx="10444876" cy="5468113"/>
            <a:chOff x="1594724" y="2295143"/>
            <a:chExt cx="10444876" cy="546811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967F033-6764-4B9F-1E60-CA63CF43E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4724" y="2295143"/>
              <a:ext cx="10221751" cy="546811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998FCA-CF9C-2CED-D0FC-8F2B7AD57479}"/>
                </a:ext>
              </a:extLst>
            </p:cNvPr>
            <p:cNvSpPr/>
            <p:nvPr/>
          </p:nvSpPr>
          <p:spPr>
            <a:xfrm>
              <a:off x="11506200" y="2295143"/>
              <a:ext cx="533400" cy="6766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A5E41D3-C8BB-4DC6-ED0A-78B874D9524B}"/>
                </a:ext>
              </a:extLst>
            </p:cNvPr>
            <p:cNvSpPr/>
            <p:nvPr/>
          </p:nvSpPr>
          <p:spPr>
            <a:xfrm>
              <a:off x="7010400" y="4572000"/>
              <a:ext cx="533400" cy="6766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</p:spTree>
    <p:extLst>
      <p:ext uri="{BB962C8B-B14F-4D97-AF65-F5344CB8AC3E}">
        <p14:creationId xmlns:p14="http://schemas.microsoft.com/office/powerpoint/2010/main" val="979495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3412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Casting is the process of converting one data type or object type into another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In inheritance, casting happens between base and derived classes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7F37D4-C253-EFFB-6600-1D090813F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A0B4D8D-6572-D6D9-3400-1DC7BC0CEAD7}"/>
              </a:ext>
            </a:extLst>
          </p:cNvPr>
          <p:cNvSpPr txBox="1"/>
          <p:nvPr/>
        </p:nvSpPr>
        <p:spPr>
          <a:xfrm>
            <a:off x="381000" y="888075"/>
            <a:ext cx="12352767" cy="33876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This example demonstrates how object pointers behave when converting between: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Base class (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Derived class (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clsEmployee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Only pointer/reference casting is involved, not object copying</a:t>
            </a:r>
          </a:p>
        </p:txBody>
      </p:sp>
    </p:spTree>
    <p:extLst>
      <p:ext uri="{BB962C8B-B14F-4D97-AF65-F5344CB8AC3E}">
        <p14:creationId xmlns:p14="http://schemas.microsoft.com/office/powerpoint/2010/main" val="2612684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440331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Class Structure</a:t>
            </a:r>
          </a:p>
          <a:p>
            <a:pPr marL="21912">
              <a:spcBef>
                <a:spcPts val="1216"/>
              </a:spcBef>
            </a:pPr>
            <a:endParaRPr lang="sv-SE" sz="4000" dirty="0"/>
          </a:p>
          <a:p>
            <a:pPr marL="21912">
              <a:spcBef>
                <a:spcPts val="1216"/>
              </a:spcBef>
            </a:pPr>
            <a:r>
              <a:rPr lang="en-SE" sz="4000" dirty="0"/>
              <a:t>🔹</a:t>
            </a:r>
            <a:r>
              <a:rPr lang="en-GB" sz="4000" spc="-17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Base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 Member Visibility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Public member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FullName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E8170DC-2F06-53B9-2D34-1A1BDC4E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90929B-BE68-6531-978A-2E15376FE5E6}"/>
              </a:ext>
            </a:extLst>
          </p:cNvPr>
          <p:cNvSpPr txBox="1"/>
          <p:nvPr/>
        </p:nvSpPr>
        <p:spPr>
          <a:xfrm>
            <a:off x="381000" y="888075"/>
            <a:ext cx="12352767" cy="492653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Class Structure</a:t>
            </a:r>
          </a:p>
          <a:p>
            <a:pPr marL="21912">
              <a:spcBef>
                <a:spcPts val="1216"/>
              </a:spcBef>
            </a:pPr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SE" sz="4000" b="1" dirty="0"/>
              <a:t>🔹</a:t>
            </a:r>
            <a:r>
              <a:rPr lang="en-GB" sz="4000" b="1" dirty="0"/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Derived Class: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</a:rPr>
              <a:t>clsEmployee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 : public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</a:rPr>
              <a:t>clsPerson</a:t>
            </a:r>
            <a:endParaRPr lang="en-GB" sz="4000" b="1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Inherits all public members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 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FullName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Adds its own member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Title</a:t>
            </a:r>
          </a:p>
        </p:txBody>
      </p:sp>
    </p:spTree>
    <p:extLst>
      <p:ext uri="{BB962C8B-B14F-4D97-AF65-F5344CB8AC3E}">
        <p14:creationId xmlns:p14="http://schemas.microsoft.com/office/powerpoint/2010/main" val="2190505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86F65D-1FA8-E86B-C74C-A04F7355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CB3EACE-1BDF-8A70-127F-9480C6E56C56}"/>
              </a:ext>
            </a:extLst>
          </p:cNvPr>
          <p:cNvSpPr txBox="1"/>
          <p:nvPr/>
        </p:nvSpPr>
        <p:spPr>
          <a:xfrm>
            <a:off x="381000" y="888075"/>
            <a:ext cx="12352767" cy="495731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Up Casting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Up casting converts a derived-class object into a base-class pointer or reference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Characteristics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Happens automatically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Safe and implicit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No explicit cast required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💡 Example from code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* Person1 = &amp;Employee1;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Employee1 is treated as a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341920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4BE2078-A3E7-3652-BEC1-8BA4E60E7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6105FAA-EDCD-3A63-AF95-C06114875478}"/>
              </a:ext>
            </a:extLst>
          </p:cNvPr>
          <p:cNvSpPr txBox="1"/>
          <p:nvPr/>
        </p:nvSpPr>
        <p:spPr>
          <a:xfrm>
            <a:off x="381000" y="888075"/>
            <a:ext cx="12352767" cy="48034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Down Casting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Down casting attempts to convert a base-class object into a derived-class pointer 	🟨 Characteristics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Not allowed implicitly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Unsafe without runtime checking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Can cause undefined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behavior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💡 Example from code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clsEmployee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* Employee2 = &amp;Person2; 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This conversion is not valid</a:t>
            </a:r>
          </a:p>
        </p:txBody>
      </p:sp>
    </p:spTree>
    <p:extLst>
      <p:ext uri="{BB962C8B-B14F-4D97-AF65-F5344CB8AC3E}">
        <p14:creationId xmlns:p14="http://schemas.microsoft.com/office/powerpoint/2010/main" val="633308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an object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clsEmployee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Access inherited member directly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Perform up casting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Access base-class member through base pointer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Attempted down casting is commented out (invalid)</a:t>
            </a:r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Up casting works correctly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Base-class pointer can access only base-class members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Down casting is not allowed without explicit and safe mechanisms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5203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Up Casting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Derived → Base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Safe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Automatic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Supported by C++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🟥 Down Casting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Base → Derived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Unsafe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Not automatic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Requires extra checks</a:t>
            </a: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Down casting without validation can: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Cause runtime errors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Lead to undefined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behavior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	🟩 Access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memory incorrectly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Use runtime checks (e.g.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dynamic_cast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) when necessary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Demonstrates up casting using pointers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Explains why down casting is unsafe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Shows how inheritance affects pointer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behavior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Reinforces safe object-oriented design principles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1775</TotalTime>
  <Words>441</Words>
  <Application>Microsoft Office PowerPoint</Application>
  <PresentationFormat>Custom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117</cp:revision>
  <dcterms:created xsi:type="dcterms:W3CDTF">2025-12-09T17:44:59Z</dcterms:created>
  <dcterms:modified xsi:type="dcterms:W3CDTF">2026-01-02T12:26:28Z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