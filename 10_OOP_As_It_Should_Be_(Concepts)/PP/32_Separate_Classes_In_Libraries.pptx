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25" r:id="rId6"/>
    <p:sldId id="345" r:id="rId7"/>
    <p:sldId id="344" r:id="rId8"/>
    <p:sldId id="339" r:id="rId9"/>
    <p:sldId id="335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684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Separate Classes In Libraries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Separate Classes In Libraries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b="1" dirty="0">
                <a:latin typeface="Comic Sans MS" panose="030F0702030302020204" pitchFamily="66" charset="0"/>
              </a:rPr>
              <a:t>Separating classes into libraries</a:t>
            </a:r>
            <a:r>
              <a:rPr lang="en-GB" sz="2400" dirty="0">
                <a:latin typeface="Comic Sans MS" panose="030F0702030302020204" pitchFamily="66" charset="0"/>
              </a:rPr>
              <a:t> means defining classes in </a:t>
            </a:r>
            <a:r>
              <a:rPr lang="en-GB" sz="2400" b="1" dirty="0">
                <a:latin typeface="Comic Sans MS" panose="030F0702030302020204" pitchFamily="66" charset="0"/>
              </a:rPr>
              <a:t>header files (.h)</a:t>
            </a:r>
            <a:r>
              <a:rPr lang="en-GB" sz="2400" dirty="0">
                <a:latin typeface="Comic Sans MS" panose="030F0702030302020204" pitchFamily="66" charset="0"/>
              </a:rPr>
              <a:t> and 	implementing them in </a:t>
            </a:r>
            <a:r>
              <a:rPr lang="en-GB" sz="2400" b="1" dirty="0">
                <a:latin typeface="Comic Sans MS" panose="030F0702030302020204" pitchFamily="66" charset="0"/>
              </a:rPr>
              <a:t>source files (.</a:t>
            </a:r>
            <a:r>
              <a:rPr lang="en-GB" sz="2400" b="1" dirty="0" err="1">
                <a:latin typeface="Comic Sans MS" panose="030F0702030302020204" pitchFamily="66" charset="0"/>
              </a:rPr>
              <a:t>cpp</a:t>
            </a:r>
            <a:r>
              <a:rPr lang="en-GB" sz="2400" b="1" dirty="0">
                <a:latin typeface="Comic Sans MS" panose="030F0702030302020204" pitchFamily="66" charset="0"/>
              </a:rPr>
              <a:t>)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This approach improves </a:t>
            </a:r>
            <a:r>
              <a:rPr lang="en-GB" sz="2400" b="1" dirty="0">
                <a:latin typeface="Comic Sans MS" panose="030F0702030302020204" pitchFamily="66" charset="0"/>
              </a:rPr>
              <a:t>code organization, reuse, and maintainability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02A26-E2DB-3EC3-CDEC-BD91E567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8D62A-ED0D-005C-6EC5-FF31F2AB458E}"/>
              </a:ext>
            </a:extLst>
          </p:cNvPr>
          <p:cNvSpPr txBox="1"/>
          <p:nvPr/>
        </p:nvSpPr>
        <p:spPr>
          <a:xfrm>
            <a:off x="381000" y="888075"/>
            <a:ext cx="12352767" cy="31414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In this example, the program uses: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dirty="0" err="1">
                <a:latin typeface="Comic Sans MS" panose="030F0702030302020204" pitchFamily="66" charset="0"/>
              </a:rPr>
              <a:t>clsPerson.h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dirty="0" err="1">
                <a:latin typeface="Comic Sans MS" panose="030F0702030302020204" pitchFamily="66" charset="0"/>
              </a:rPr>
              <a:t>clsEmployee.h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The main() function does </a:t>
            </a:r>
            <a:r>
              <a:rPr lang="en-GB" sz="2400" b="1" dirty="0">
                <a:latin typeface="Comic Sans MS" panose="030F0702030302020204" pitchFamily="66" charset="0"/>
              </a:rPr>
              <a:t>not</a:t>
            </a:r>
            <a:r>
              <a:rPr lang="en-GB" sz="2400" dirty="0">
                <a:latin typeface="Comic Sans MS" panose="030F0702030302020204" pitchFamily="66" charset="0"/>
              </a:rPr>
              <a:t> contain class definitions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It only </a:t>
            </a:r>
            <a:r>
              <a:rPr lang="en-GB" sz="2400" b="1" dirty="0">
                <a:latin typeface="Comic Sans MS" panose="030F0702030302020204" pitchFamily="66" charset="0"/>
              </a:rPr>
              <a:t>uses</a:t>
            </a:r>
            <a:r>
              <a:rPr lang="en-GB" sz="2400" dirty="0">
                <a:latin typeface="Comic Sans MS" panose="030F0702030302020204" pitchFamily="66" charset="0"/>
              </a:rPr>
              <a:t> the classes through inclusion</a:t>
            </a:r>
          </a:p>
        </p:txBody>
      </p:sp>
    </p:spTree>
    <p:extLst>
      <p:ext uri="{BB962C8B-B14F-4D97-AF65-F5344CB8AC3E}">
        <p14:creationId xmlns:p14="http://schemas.microsoft.com/office/powerpoint/2010/main" val="11201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683475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Class </a:t>
            </a:r>
            <a:r>
              <a:rPr lang="sv-SE" sz="4000" b="1" dirty="0" err="1">
                <a:latin typeface="Comic Sans MS" panose="030F0702030302020204" pitchFamily="66" charset="0"/>
              </a:rPr>
              <a:t>Responsibilities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en-SE" sz="2400" b="1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Class </a:t>
            </a:r>
            <a:r>
              <a:rPr lang="sv-SE" sz="2400" b="1" dirty="0" err="1">
                <a:latin typeface="Comic Sans MS" panose="030F0702030302020204" pitchFamily="66" charset="0"/>
              </a:rPr>
              <a:t>clsPerson</a:t>
            </a: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 err="1">
                <a:latin typeface="Comic Sans MS" panose="030F0702030302020204" pitchFamily="66" charset="0"/>
              </a:rPr>
              <a:t>Represents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basic</a:t>
            </a:r>
            <a:r>
              <a:rPr lang="sv-SE" sz="2400" dirty="0">
                <a:latin typeface="Comic Sans MS" panose="030F0702030302020204" pitchFamily="66" charset="0"/>
              </a:rPr>
              <a:t> personal information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>
                <a:latin typeface="Comic Sans MS" panose="030F0702030302020204" pitchFamily="66" charset="0"/>
              </a:rPr>
              <a:t>Private </a:t>
            </a:r>
            <a:r>
              <a:rPr lang="sv-SE" sz="2400" dirty="0" err="1">
                <a:latin typeface="Comic Sans MS" panose="030F0702030302020204" pitchFamily="66" charset="0"/>
              </a:rPr>
              <a:t>Attributes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ID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FirstName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LastName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Email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Phone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>
                <a:latin typeface="Comic Sans MS" panose="030F0702030302020204" pitchFamily="66" charset="0"/>
              </a:rPr>
              <a:t>Public </a:t>
            </a:r>
            <a:r>
              <a:rPr lang="sv-SE" sz="2400" dirty="0" err="1">
                <a:latin typeface="Comic Sans MS" panose="030F0702030302020204" pitchFamily="66" charset="0"/>
              </a:rPr>
              <a:t>Methods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Getters and setters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FullName</a:t>
            </a:r>
            <a:r>
              <a:rPr lang="sv-SE" sz="2400" dirty="0">
                <a:latin typeface="Comic Sans MS" panose="030F0702030302020204" pitchFamily="66" charset="0"/>
              </a:rPr>
              <a:t>() → </a:t>
            </a:r>
            <a:r>
              <a:rPr lang="sv-SE" sz="2400" dirty="0" err="1">
                <a:latin typeface="Comic Sans MS" panose="030F0702030302020204" pitchFamily="66" charset="0"/>
              </a:rPr>
              <a:t>combines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first</a:t>
            </a:r>
            <a:r>
              <a:rPr lang="sv-SE" sz="2400" dirty="0">
                <a:latin typeface="Comic Sans MS" panose="030F0702030302020204" pitchFamily="66" charset="0"/>
              </a:rPr>
              <a:t> and last </a:t>
            </a:r>
            <a:r>
              <a:rPr lang="sv-SE" sz="2400" dirty="0" err="1">
                <a:latin typeface="Comic Sans MS" panose="030F0702030302020204" pitchFamily="66" charset="0"/>
              </a:rPr>
              <a:t>name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SendEmail</a:t>
            </a:r>
            <a:r>
              <a:rPr lang="sv-SE" sz="2400" dirty="0">
                <a:latin typeface="Comic Sans MS" panose="030F0702030302020204" pitchFamily="66" charset="0"/>
              </a:rPr>
              <a:t>() → </a:t>
            </a:r>
            <a:r>
              <a:rPr lang="sv-SE" sz="2400" dirty="0" err="1">
                <a:latin typeface="Comic Sans MS" panose="030F0702030302020204" pitchFamily="66" charset="0"/>
              </a:rPr>
              <a:t>simulated</a:t>
            </a:r>
            <a:r>
              <a:rPr lang="sv-SE" sz="2400" dirty="0">
                <a:latin typeface="Comic Sans MS" panose="030F0702030302020204" pitchFamily="66" charset="0"/>
              </a:rPr>
              <a:t> email </a:t>
            </a:r>
            <a:r>
              <a:rPr lang="sv-SE" sz="2400" dirty="0" err="1">
                <a:latin typeface="Comic Sans MS" panose="030F0702030302020204" pitchFamily="66" charset="0"/>
              </a:rPr>
              <a:t>sending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SendSMS</a:t>
            </a:r>
            <a:r>
              <a:rPr lang="sv-SE" sz="2400" dirty="0">
                <a:latin typeface="Comic Sans MS" panose="030F0702030302020204" pitchFamily="66" charset="0"/>
              </a:rPr>
              <a:t>() → </a:t>
            </a:r>
            <a:r>
              <a:rPr lang="sv-SE" sz="2400" dirty="0" err="1">
                <a:latin typeface="Comic Sans MS" panose="030F0702030302020204" pitchFamily="66" charset="0"/>
              </a:rPr>
              <a:t>simulated</a:t>
            </a:r>
            <a:r>
              <a:rPr lang="sv-SE" sz="2400" dirty="0">
                <a:latin typeface="Comic Sans MS" panose="030F0702030302020204" pitchFamily="66" charset="0"/>
              </a:rPr>
              <a:t> SMS </a:t>
            </a:r>
            <a:r>
              <a:rPr lang="sv-SE" sz="2400" dirty="0" err="1">
                <a:latin typeface="Comic Sans MS" panose="030F0702030302020204" pitchFamily="66" charset="0"/>
              </a:rPr>
              <a:t>sending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Print() → </a:t>
            </a:r>
            <a:r>
              <a:rPr lang="sv-SE" sz="2400" dirty="0" err="1">
                <a:latin typeface="Comic Sans MS" panose="030F0702030302020204" pitchFamily="66" charset="0"/>
              </a:rPr>
              <a:t>prints</a:t>
            </a:r>
            <a:r>
              <a:rPr lang="sv-SE" sz="2400" dirty="0">
                <a:latin typeface="Comic Sans MS" panose="030F0702030302020204" pitchFamily="66" charset="0"/>
              </a:rPr>
              <a:t> personal information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C8AD2B-4B60-69AB-5A3D-0410A706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470FB6-9B9E-A75E-F43C-DEE7B73BD8B6}"/>
              </a:ext>
            </a:extLst>
          </p:cNvPr>
          <p:cNvSpPr txBox="1"/>
          <p:nvPr/>
        </p:nvSpPr>
        <p:spPr>
          <a:xfrm>
            <a:off x="381000" y="888075"/>
            <a:ext cx="12352767" cy="49880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Class </a:t>
            </a:r>
            <a:r>
              <a:rPr lang="sv-SE" sz="4000" b="1" dirty="0" err="1">
                <a:latin typeface="Comic Sans MS" panose="030F0702030302020204" pitchFamily="66" charset="0"/>
              </a:rPr>
              <a:t>Responsibilities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en-SE" sz="2400" b="1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Class </a:t>
            </a:r>
            <a:r>
              <a:rPr lang="sv-SE" sz="2400" b="1" dirty="0" err="1">
                <a:latin typeface="Comic Sans MS" panose="030F0702030302020204" pitchFamily="66" charset="0"/>
              </a:rPr>
              <a:t>clsEmployee</a:t>
            </a: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 err="1">
                <a:latin typeface="Comic Sans MS" panose="030F0702030302020204" pitchFamily="66" charset="0"/>
              </a:rPr>
              <a:t>Extends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clsPerson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 err="1">
                <a:latin typeface="Comic Sans MS" panose="030F0702030302020204" pitchFamily="66" charset="0"/>
              </a:rPr>
              <a:t>Represents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job-related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employee</a:t>
            </a:r>
            <a:r>
              <a:rPr lang="sv-SE" sz="2400" dirty="0">
                <a:latin typeface="Comic Sans MS" panose="030F0702030302020204" pitchFamily="66" charset="0"/>
              </a:rPr>
              <a:t> data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 err="1">
                <a:latin typeface="Comic Sans MS" panose="030F0702030302020204" pitchFamily="66" charset="0"/>
              </a:rPr>
              <a:t>Additional</a:t>
            </a:r>
            <a:r>
              <a:rPr lang="sv-SE" sz="2400" dirty="0">
                <a:latin typeface="Comic Sans MS" panose="030F0702030302020204" pitchFamily="66" charset="0"/>
              </a:rPr>
              <a:t> Private </a:t>
            </a:r>
            <a:r>
              <a:rPr lang="sv-SE" sz="2400" dirty="0" err="1">
                <a:latin typeface="Comic Sans MS" panose="030F0702030302020204" pitchFamily="66" charset="0"/>
              </a:rPr>
              <a:t>Attributes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Title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Department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 err="1">
                <a:latin typeface="Comic Sans MS" panose="030F0702030302020204" pitchFamily="66" charset="0"/>
              </a:rPr>
              <a:t>Salary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>
                <a:latin typeface="Comic Sans MS" panose="030F0702030302020204" pitchFamily="66" charset="0"/>
              </a:rPr>
              <a:t>Public </a:t>
            </a:r>
            <a:r>
              <a:rPr lang="sv-SE" sz="2400" dirty="0" err="1">
                <a:latin typeface="Comic Sans MS" panose="030F0702030302020204" pitchFamily="66" charset="0"/>
              </a:rPr>
              <a:t>Methods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Getters and setters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Print() → </a:t>
            </a:r>
            <a:r>
              <a:rPr lang="sv-SE" sz="2400" dirty="0" err="1">
                <a:latin typeface="Comic Sans MS" panose="030F0702030302020204" pitchFamily="66" charset="0"/>
              </a:rPr>
              <a:t>prints</a:t>
            </a:r>
            <a:r>
              <a:rPr lang="sv-SE" sz="2400" dirty="0">
                <a:latin typeface="Comic Sans MS" panose="030F0702030302020204" pitchFamily="66" charset="0"/>
              </a:rPr>
              <a:t> full </a:t>
            </a:r>
            <a:r>
              <a:rPr lang="sv-SE" sz="2400" dirty="0" err="1">
                <a:latin typeface="Comic Sans MS" panose="030F0702030302020204" pitchFamily="66" charset="0"/>
              </a:rPr>
              <a:t>employee</a:t>
            </a:r>
            <a:r>
              <a:rPr lang="sv-SE" sz="2400" dirty="0">
                <a:latin typeface="Comic Sans MS" panose="030F0702030302020204" pitchFamily="66" charset="0"/>
              </a:rPr>
              <a:t> information</a:t>
            </a:r>
          </a:p>
        </p:txBody>
      </p:sp>
    </p:spTree>
    <p:extLst>
      <p:ext uri="{BB962C8B-B14F-4D97-AF65-F5344CB8AC3E}">
        <p14:creationId xmlns:p14="http://schemas.microsoft.com/office/powerpoint/2010/main" val="163566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93257-758A-6AB2-58AB-03C72E06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684C10-C4C3-B68F-5237-3EC31249E5F1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#</a:t>
            </a:r>
            <a:r>
              <a:rPr lang="en-GB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include</a:t>
            </a:r>
            <a:r>
              <a:rPr lang="en-GB" sz="2400" dirty="0">
                <a:latin typeface="Comic Sans MS" panose="030F0702030302020204" pitchFamily="66" charset="0"/>
              </a:rPr>
              <a:t> "</a:t>
            </a:r>
            <a:r>
              <a:rPr lang="en-GB" sz="2400" dirty="0" err="1">
                <a:solidFill>
                  <a:srgbClr val="00B050"/>
                </a:solidFill>
                <a:latin typeface="Comic Sans MS" panose="030F0702030302020204" pitchFamily="66" charset="0"/>
              </a:rPr>
              <a:t>clsPerson</a:t>
            </a:r>
            <a:r>
              <a:rPr lang="en-GB" sz="2400" dirty="0" err="1">
                <a:latin typeface="Comic Sans MS" panose="030F0702030302020204" pitchFamily="66" charset="0"/>
              </a:rPr>
              <a:t>.h</a:t>
            </a:r>
            <a:r>
              <a:rPr lang="en-GB" sz="2400" dirty="0">
                <a:latin typeface="Comic Sans MS" panose="030F0702030302020204" pitchFamily="66" charset="0"/>
              </a:rPr>
              <a:t>"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#</a:t>
            </a:r>
            <a:r>
              <a:rPr lang="en-GB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include</a:t>
            </a:r>
            <a:r>
              <a:rPr lang="en-GB" sz="2400" dirty="0">
                <a:latin typeface="Comic Sans MS" panose="030F0702030302020204" pitchFamily="66" charset="0"/>
              </a:rPr>
              <a:t> "</a:t>
            </a:r>
            <a:r>
              <a:rPr lang="en-GB" sz="2400" dirty="0" err="1">
                <a:solidFill>
                  <a:srgbClr val="00B050"/>
                </a:solidFill>
                <a:latin typeface="Comic Sans MS" panose="030F0702030302020204" pitchFamily="66" charset="0"/>
              </a:rPr>
              <a:t>clsEmployee</a:t>
            </a:r>
            <a:r>
              <a:rPr lang="en-GB" sz="2400" dirty="0" err="1">
                <a:latin typeface="Comic Sans MS" panose="030F0702030302020204" pitchFamily="66" charset="0"/>
              </a:rPr>
              <a:t>.h</a:t>
            </a:r>
            <a:r>
              <a:rPr lang="en-GB" sz="2400" dirty="0">
                <a:latin typeface="Comic Sans MS" panose="030F0702030302020204" pitchFamily="66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0477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Include required class headers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Create an object of </a:t>
            </a:r>
            <a:r>
              <a:rPr lang="en-GB" sz="2400" dirty="0" err="1">
                <a:latin typeface="Comic Sans MS" panose="030F0702030302020204" pitchFamily="66" charset="0"/>
              </a:rPr>
              <a:t>clsEmployee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3️⃣ Initialize all attributes using the constructor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Call Print() to display employee information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Call </a:t>
            </a:r>
            <a:r>
              <a:rPr lang="en-GB" sz="2400" dirty="0" err="1">
                <a:latin typeface="Comic Sans MS" panose="030F0702030302020204" pitchFamily="66" charset="0"/>
              </a:rPr>
              <a:t>SendEmail</a:t>
            </a:r>
            <a:r>
              <a:rPr lang="en-GB" sz="2400" dirty="0">
                <a:latin typeface="Comic Sans MS" panose="030F0702030302020204" pitchFamily="66" charset="0"/>
              </a:rPr>
              <a:t>() to simulate sending an email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Call Print() again to confirm no data loss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 panose="030F0702030302020204" pitchFamily="66" charset="0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Employee information is printed in a formatted style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Email sending is simulated successfully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All logic is handled by class libraries, not main()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Classes in Libraries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Clean code structure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Reusable components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Easy maintenance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Professional design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🟥 All Code in main.cpp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Hard to maintain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Poor readability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Limited reuse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Mixing: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🟩 </a:t>
            </a:r>
            <a:r>
              <a:rPr lang="en-GB" sz="2400" dirty="0">
                <a:latin typeface="Comic Sans MS" panose="030F0702030302020204" pitchFamily="66" charset="0"/>
              </a:rPr>
              <a:t>Class definitions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🟩 </a:t>
            </a:r>
            <a:r>
              <a:rPr lang="en-GB" sz="2400" dirty="0">
                <a:latin typeface="Comic Sans MS" panose="030F0702030302020204" pitchFamily="66" charset="0"/>
              </a:rPr>
              <a:t>Business logic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🟩 </a:t>
            </a:r>
            <a:r>
              <a:rPr lang="en-GB" sz="2400" dirty="0">
                <a:latin typeface="Comic Sans MS" panose="030F0702030302020204" pitchFamily="66" charset="0"/>
              </a:rPr>
              <a:t>User code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➡️ Leads to </a:t>
            </a:r>
            <a:r>
              <a:rPr lang="en-GB" sz="2400" b="1" dirty="0">
                <a:latin typeface="Comic Sans MS" panose="030F0702030302020204" pitchFamily="66" charset="0"/>
              </a:rPr>
              <a:t>tight coupling</a:t>
            </a:r>
            <a:r>
              <a:rPr lang="en-GB" sz="2400" dirty="0">
                <a:latin typeface="Comic Sans MS" panose="030F0702030302020204" pitchFamily="66" charset="0"/>
              </a:rPr>
              <a:t> and poor scalability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✨ Summary</a:t>
            </a:r>
            <a:endParaRPr lang="en-GB" sz="40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>
                <a:solidFill>
                  <a:schemeClr val="tx1"/>
                </a:solidFill>
                <a:latin typeface="Comic Sans MS" panose="030F0702030302020204" pitchFamily="66" charset="0"/>
              </a:rPr>
              <a:t>✅ 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Classes are separated into reusable libraries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main() focuses only on usage, not implementation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Improves readability and maintenance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Follows professional C++ project structure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2947</TotalTime>
  <Words>464</Words>
  <Application>Microsoft Office PowerPoint</Application>
  <PresentationFormat>Custom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201</cp:revision>
  <dcterms:created xsi:type="dcterms:W3CDTF">2025-12-09T17:44:59Z</dcterms:created>
  <dcterms:modified xsi:type="dcterms:W3CDTF">2026-01-02T14:28:32Z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