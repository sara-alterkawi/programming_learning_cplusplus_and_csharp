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23" r:id="rId4"/>
    <p:sldId id="333" r:id="rId5"/>
    <p:sldId id="337" r:id="rId6"/>
    <p:sldId id="325" r:id="rId7"/>
    <p:sldId id="334" r:id="rId8"/>
    <p:sldId id="336" r:id="rId9"/>
    <p:sldId id="327" r:id="rId10"/>
    <p:sldId id="335" r:id="rId11"/>
    <p:sldId id="328" r:id="rId12"/>
    <p:sldId id="329" r:id="rId13"/>
    <p:sldId id="330" r:id="rId14"/>
    <p:sldId id="332" r:id="rId15"/>
    <p:sldId id="313" r:id="rId16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0" d="100"/>
          <a:sy n="40" d="100"/>
        </p:scale>
        <p:origin x="1020" y="45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396262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OOP as it </a:t>
            </a:r>
            <a:r>
              <a:rPr lang="sv-SE" sz="6000" b="1" dirty="0" err="1">
                <a:solidFill>
                  <a:srgbClr val="FFCE53"/>
                </a:solidFill>
                <a:latin typeface="Comic Sans MS"/>
              </a:rPr>
              <a:t>Should</a:t>
            </a: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Multi Level Inheritance</a:t>
            </a:r>
            <a:endParaRPr lang="sv-SE" sz="6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OOP as it </a:t>
            </a:r>
            <a:r>
              <a:rPr lang="sv-SE" sz="40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Should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Multi Level Inheritance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D1D073B-762F-2D30-C188-3FCE78279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1926860-5E1E-7185-C692-7778CB5AA5D1}"/>
              </a:ext>
            </a:extLst>
          </p:cNvPr>
          <p:cNvGrpSpPr/>
          <p:nvPr/>
        </p:nvGrpSpPr>
        <p:grpSpPr>
          <a:xfrm>
            <a:off x="0" y="1758846"/>
            <a:ext cx="13411200" cy="6140351"/>
            <a:chOff x="0" y="1758846"/>
            <a:chExt cx="13411200" cy="614035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DBD27C6-9CEB-2D79-BA45-A744620A5A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2159203"/>
              <a:ext cx="13411200" cy="5739994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25444B4-AAE0-E0EF-4B62-3D51CA04C191}"/>
                </a:ext>
              </a:extLst>
            </p:cNvPr>
            <p:cNvSpPr/>
            <p:nvPr/>
          </p:nvSpPr>
          <p:spPr>
            <a:xfrm>
              <a:off x="11201400" y="1758846"/>
              <a:ext cx="2209800" cy="83820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</p:grpSp>
    </p:spTree>
    <p:extLst>
      <p:ext uri="{BB962C8B-B14F-4D97-AF65-F5344CB8AC3E}">
        <p14:creationId xmlns:p14="http://schemas.microsoft.com/office/powerpoint/2010/main" val="979495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18732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Multi-level inheritance occurs when a class derives from a derived class, forming a chain of inheritance..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3B0E827-32A7-C975-D53F-99DF4138E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FBAFAB9-229A-671F-BC58-2B0D37E8491C}"/>
              </a:ext>
            </a:extLst>
          </p:cNvPr>
          <p:cNvSpPr txBox="1"/>
          <p:nvPr/>
        </p:nvSpPr>
        <p:spPr>
          <a:xfrm>
            <a:off x="381000" y="888075"/>
            <a:ext cx="12352767" cy="28644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clsPerson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→ base class (person info)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clsEmployee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→ derived from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clsPerson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(job info)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clsDeveloper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→ derived from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clsEmployee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(programming language info)</a:t>
            </a:r>
          </a:p>
        </p:txBody>
      </p:sp>
    </p:spTree>
    <p:extLst>
      <p:ext uri="{BB962C8B-B14F-4D97-AF65-F5344CB8AC3E}">
        <p14:creationId xmlns:p14="http://schemas.microsoft.com/office/powerpoint/2010/main" val="2304272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8951666-2BEA-8492-55C5-6B7685B7E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2E41D81-6EA7-1326-B30A-F0FAE1F5E2F7}"/>
              </a:ext>
            </a:extLst>
          </p:cNvPr>
          <p:cNvSpPr txBox="1"/>
          <p:nvPr/>
        </p:nvSpPr>
        <p:spPr>
          <a:xfrm>
            <a:off x="381000" y="888075"/>
            <a:ext cx="12352767" cy="809663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🟨 Base Class </a:t>
            </a:r>
            <a:r>
              <a:rPr lang="sv-SE" sz="4000" b="1" spc="-17" dirty="0" err="1">
                <a:solidFill>
                  <a:schemeClr val="tx1"/>
                </a:solidFill>
                <a:latin typeface="Comic Sans MS"/>
              </a:rPr>
              <a:t>clsPerson</a:t>
            </a:r>
            <a:r>
              <a:rPr lang="sv-SE" sz="4000" b="1" spc="-17" dirty="0">
                <a:solidFill>
                  <a:schemeClr val="tx1"/>
                </a:solidFill>
                <a:latin typeface="Comic Sans MS"/>
              </a:rPr>
              <a:t> </a:t>
            </a:r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Structure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Holds personal attributes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🟨 Private members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_ID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_FirstName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_LastName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_Email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_Phone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🟨 Public </a:t>
            </a:r>
            <a:r>
              <a:rPr lang="sv-SE" sz="2400" spc="-17" dirty="0" err="1">
                <a:solidFill>
                  <a:schemeClr val="tx1"/>
                </a:solidFill>
                <a:latin typeface="Comic Sans MS"/>
              </a:rPr>
              <a:t>functionality</a:t>
            </a: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Accessors (get/set)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FullName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() → concatenates first + last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Print() → prints formatted personal info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SendEmail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()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SendSMS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877270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F625673-FF5A-85E3-D195-BF186148D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7BAD71C-2CB2-712F-7598-73CA6C15F77A}"/>
              </a:ext>
            </a:extLst>
          </p:cNvPr>
          <p:cNvSpPr txBox="1"/>
          <p:nvPr/>
        </p:nvSpPr>
        <p:spPr>
          <a:xfrm>
            <a:off x="381000" y="888075"/>
            <a:ext cx="12352767" cy="809663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🟨 Derived </a:t>
            </a:r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Class </a:t>
            </a:r>
            <a:r>
              <a:rPr lang="sv-SE" sz="4000" b="1" spc="-17" dirty="0" err="1">
                <a:solidFill>
                  <a:schemeClr val="tx1"/>
                </a:solidFill>
                <a:latin typeface="Comic Sans MS"/>
              </a:rPr>
              <a:t>clsEmployee</a:t>
            </a:r>
            <a:r>
              <a:rPr lang="sv-SE" sz="4000" b="1" spc="-17" dirty="0">
                <a:solidFill>
                  <a:schemeClr val="tx1"/>
                </a:solidFill>
                <a:latin typeface="Comic Sans MS"/>
              </a:rPr>
              <a:t> </a:t>
            </a:r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Structure</a:t>
            </a:r>
          </a:p>
          <a:p>
            <a:pPr marL="21912">
              <a:spcBef>
                <a:spcPts val="1216"/>
              </a:spcBef>
            </a:pPr>
            <a:endParaRPr lang="en-GB" sz="2400" b="1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Extends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clsPerson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🟨 Additional private members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_Title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_Department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_Salary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🟨 Constructor responsibilities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Pass personal fields to parent class constructor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Initialize additional employee fields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🟨 Public methods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setter + getter pairs for: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Title()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Department()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Salary()</a:t>
            </a:r>
          </a:p>
        </p:txBody>
      </p:sp>
    </p:spTree>
    <p:extLst>
      <p:ext uri="{BB962C8B-B14F-4D97-AF65-F5344CB8AC3E}">
        <p14:creationId xmlns:p14="http://schemas.microsoft.com/office/powerpoint/2010/main" val="2372496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7E04EE4-BCE7-40F3-2098-F3D6D12CD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FBDE534-BE87-DCDD-7F12-3701655DBAAA}"/>
              </a:ext>
            </a:extLst>
          </p:cNvPr>
          <p:cNvSpPr txBox="1"/>
          <p:nvPr/>
        </p:nvSpPr>
        <p:spPr>
          <a:xfrm>
            <a:off x="381000" y="888075"/>
            <a:ext cx="12352767" cy="600375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🟨 Derived </a:t>
            </a:r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Class </a:t>
            </a:r>
            <a:r>
              <a:rPr lang="sv-SE" sz="4000" b="1" spc="-17" dirty="0" err="1">
                <a:solidFill>
                  <a:schemeClr val="tx1"/>
                </a:solidFill>
                <a:latin typeface="Comic Sans MS"/>
              </a:rPr>
              <a:t>clsDeveloper</a:t>
            </a:r>
            <a:r>
              <a:rPr lang="sv-SE" sz="4000" b="1" spc="-17" dirty="0">
                <a:solidFill>
                  <a:schemeClr val="tx1"/>
                </a:solidFill>
                <a:latin typeface="Comic Sans MS"/>
              </a:rPr>
              <a:t> </a:t>
            </a:r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Structure</a:t>
            </a:r>
          </a:p>
          <a:p>
            <a:pPr marL="21912">
              <a:spcBef>
                <a:spcPts val="1216"/>
              </a:spcBef>
            </a:pPr>
            <a:endParaRPr lang="en-GB" sz="2400" b="1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Extends </a:t>
            </a:r>
            <a:r>
              <a:rPr lang="sv-SE" sz="2400" spc="-17" dirty="0" err="1">
                <a:solidFill>
                  <a:schemeClr val="tx1"/>
                </a:solidFill>
                <a:latin typeface="Comic Sans MS"/>
              </a:rPr>
              <a:t>clsEmployee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🟨 Additional private members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_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MainProgrammingLanguage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🟨 Constructor responsibilities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Pass personal fields to parent class constructor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Initialize additional employee fields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🟨 Public methods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setter + getter pairs for: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MainProgrammingLanguage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416735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F16C899-C0D7-7D2B-418E-53117E1BB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E16194E-9095-D151-5629-3C631EE7D6E9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🟦 Steps in main()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1️⃣ Create a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clsDeveloper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object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2️⃣ Constructor chain initializes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clsPerson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→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clsEmployee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→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clsDeveloper</a:t>
            </a: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3️⃣ Call Print() → shows all personal, job, and programming info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4️⃣ Call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SendEmail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 inherited from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clsPerson</a:t>
            </a: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5️⃣ Call Print() again</a:t>
            </a:r>
          </a:p>
        </p:txBody>
      </p:sp>
    </p:spTree>
    <p:extLst>
      <p:ext uri="{BB962C8B-B14F-4D97-AF65-F5344CB8AC3E}">
        <p14:creationId xmlns:p14="http://schemas.microsoft.com/office/powerpoint/2010/main" val="706711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CDB6C49-EACC-9FE4-C633-CACDEA6BA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2E9409D-8454-F144-09AA-0F831C297726}"/>
              </a:ext>
            </a:extLst>
          </p:cNvPr>
          <p:cNvSpPr txBox="1"/>
          <p:nvPr/>
        </p:nvSpPr>
        <p:spPr>
          <a:xfrm>
            <a:off x="381000" y="888075"/>
            <a:ext cx="12352767" cy="631153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spc="-17" dirty="0">
                <a:solidFill>
                  <a:schemeClr val="tx1"/>
                </a:solidFill>
                <a:latin typeface="Comic Sans MS"/>
              </a:rPr>
              <a:t>➡️ </a:t>
            </a:r>
            <a:r>
              <a:rPr lang="sv-SE" sz="4000" b="1" spc="-17" dirty="0" err="1">
                <a:solidFill>
                  <a:schemeClr val="tx1"/>
                </a:solidFill>
                <a:latin typeface="Comic Sans MS"/>
              </a:rPr>
              <a:t>Expected</a:t>
            </a:r>
            <a:r>
              <a:rPr lang="sv-SE" sz="4000" b="1" spc="-17" dirty="0">
                <a:solidFill>
                  <a:schemeClr val="tx1"/>
                </a:solidFill>
                <a:latin typeface="Comic Sans MS"/>
              </a:rPr>
              <a:t> Output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Employee Info: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------------------------------------------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ID : 10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Name : Sara Alterkawi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Email : sara.omar.alterkawi@gmail.com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Phone : 0706357155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Title : Software Engineer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Department : IT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Salary : 6500$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Main Programming Language : Java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------------------------------------------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The following message sent successfully to email : sara.omar.alterkawi@gmail.com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Subject :Hi Developer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Body :How are you?</a:t>
            </a:r>
          </a:p>
        </p:txBody>
      </p:sp>
    </p:spTree>
    <p:extLst>
      <p:ext uri="{BB962C8B-B14F-4D97-AF65-F5344CB8AC3E}">
        <p14:creationId xmlns:p14="http://schemas.microsoft.com/office/powerpoint/2010/main" val="228334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8890F28-9D96-D2B6-A9A6-3E01DFAB0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2D6BA6E-9226-A9F6-6B88-476F33F7768F}"/>
              </a:ext>
            </a:extLst>
          </p:cNvPr>
          <p:cNvSpPr txBox="1"/>
          <p:nvPr/>
        </p:nvSpPr>
        <p:spPr>
          <a:xfrm>
            <a:off x="381000" y="888075"/>
            <a:ext cx="12352767" cy="151021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📌 Note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All messaging methods are simulated. Real sending requires external services.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224923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81BE943-6BF8-6560-128F-3A2B5B25F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A9D01D0-5E83-97B5-892D-5D4DC706BDFD}"/>
              </a:ext>
            </a:extLst>
          </p:cNvPr>
          <p:cNvSpPr txBox="1"/>
          <p:nvPr/>
        </p:nvSpPr>
        <p:spPr>
          <a:xfrm>
            <a:off x="381000" y="888075"/>
            <a:ext cx="12352767" cy="483420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⚖️ Comparison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🟩 Employee class (derived)</a:t>
            </a:r>
            <a:br>
              <a:rPr lang="en-GB" sz="2400" spc="-17" dirty="0">
                <a:solidFill>
                  <a:schemeClr val="tx1"/>
                </a:solidFill>
                <a:latin typeface="Comic Sans MS"/>
              </a:rPr>
            </a:b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Extends the Person class</a:t>
            </a:r>
            <a:br>
              <a:rPr lang="en-GB" sz="2400" spc="-17" dirty="0">
                <a:solidFill>
                  <a:schemeClr val="tx1"/>
                </a:solidFill>
                <a:latin typeface="Comic Sans MS"/>
              </a:rPr>
            </a:b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Adds job-related fields (Title/Department/Salary)</a:t>
            </a:r>
            <a:br>
              <a:rPr lang="en-GB" sz="2400" spc="-17" dirty="0">
                <a:solidFill>
                  <a:schemeClr val="tx1"/>
                </a:solidFill>
                <a:latin typeface="Comic Sans MS"/>
              </a:rPr>
            </a:b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Uses constructor chaining to initialize both parts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⬜ Person class (base)</a:t>
            </a:r>
            <a:br>
              <a:rPr lang="en-GB" sz="2400" spc="-17" dirty="0">
                <a:solidFill>
                  <a:schemeClr val="tx1"/>
                </a:solidFill>
                <a:latin typeface="Comic Sans MS"/>
              </a:rPr>
            </a:b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Holds personal identity and contact info</a:t>
            </a:r>
            <a:br>
              <a:rPr lang="en-GB" sz="2400" spc="-17" dirty="0">
                <a:solidFill>
                  <a:schemeClr val="tx1"/>
                </a:solidFill>
                <a:latin typeface="Comic Sans MS"/>
              </a:rPr>
            </a:b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Provides messaging utilities (email/SMS)</a:t>
            </a:r>
            <a:br>
              <a:rPr lang="en-GB" sz="2400" spc="-17" dirty="0">
                <a:solidFill>
                  <a:schemeClr val="tx1"/>
                </a:solidFill>
                <a:latin typeface="Comic Sans MS"/>
              </a:rPr>
            </a:b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Print shows only personal data (unless overridden)</a:t>
            </a:r>
          </a:p>
        </p:txBody>
      </p:sp>
    </p:spTree>
    <p:extLst>
      <p:ext uri="{BB962C8B-B14F-4D97-AF65-F5344CB8AC3E}">
        <p14:creationId xmlns:p14="http://schemas.microsoft.com/office/powerpoint/2010/main" val="1395487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990E0AC-1179-7FB7-16BD-3B0B6827A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03FC800-D303-BD33-7789-3A9B80106EA6}"/>
              </a:ext>
            </a:extLst>
          </p:cNvPr>
          <p:cNvSpPr txBox="1"/>
          <p:nvPr/>
        </p:nvSpPr>
        <p:spPr>
          <a:xfrm>
            <a:off x="381000" y="888075"/>
            <a:ext cx="12352767" cy="151021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🚫 Warning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Salary is stored as string, which is not suitable for calculations without conversion.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9417163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548168-F6BF-9E3C-8335-7DFD704D0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7131D51-6AAA-DD4B-6C31-C4D46506634E}"/>
              </a:ext>
            </a:extLst>
          </p:cNvPr>
          <p:cNvSpPr txBox="1"/>
          <p:nvPr/>
        </p:nvSpPr>
        <p:spPr>
          <a:xfrm>
            <a:off x="381000" y="888075"/>
            <a:ext cx="12352767" cy="28644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✨ Summary</a:t>
            </a:r>
          </a:p>
          <a:p>
            <a:endParaRPr lang="en-GB" sz="40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Developer object contains personal, job, and programming info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Constructor chaining ensures fields are initialized correctly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Getters/setters protect private data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Unified messaging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behavior</a:t>
            </a:r>
            <a:r>
              <a:rPr lang="en-GB" sz="2400" spc="-17">
                <a:solidFill>
                  <a:schemeClr val="tx1"/>
                </a:solidFill>
                <a:latin typeface="Comic Sans MS"/>
              </a:rPr>
              <a:t> via inheritance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4647757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1674</TotalTime>
  <Words>551</Words>
  <Application>Microsoft Office PowerPoint</Application>
  <PresentationFormat>Custom</PresentationFormat>
  <Paragraphs>100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86</cp:revision>
  <dcterms:created xsi:type="dcterms:W3CDTF">2025-12-09T17:44:59Z</dcterms:created>
  <dcterms:modified xsi:type="dcterms:W3CDTF">2026-01-02T12:21:53Z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