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02767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8462276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2746610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9355708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6570694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8870933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9481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7818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8383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4471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9349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3777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5C534-C55E-14DB-E992-43325B9AA9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373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0038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64011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240766-DCF2-E54F-2683-32D38B1A58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575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686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277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658C04-639C-D201-E081-729C191DA9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370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273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23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270455-EA6F-7D48-D2FD-4FBC5C888A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3647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80989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3231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91A335-427E-CEA1-E76B-12B51FA6DA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72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373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0977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B9FC5-8D33-052C-05F4-986326A4B34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0191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4206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195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0C8E9C-4B78-4CB7-0EDA-E3F5A24735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2777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1122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0243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D6A376-4199-77A4-1412-B219D7CFBD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8769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8492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551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D42E92-642B-72C1-E793-182A9990B8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25189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49589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346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977421-2942-1D53-3815-522A784A32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1620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23589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0535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5DDE3D-2F54-3D7B-DCA5-F00A44D8E8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4577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479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27768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F12E81-ED91-F1B0-1726-E734E2A9F0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696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81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443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8B6375-72A6-2B7C-AC09-CF3D4A74DB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88762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1423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04505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03951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195735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457359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062456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07718020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01730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1376844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102613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542165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099489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22079802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19494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93720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2821523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2060958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153630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8973711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670363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4276024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112127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918064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605920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8768657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52660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780307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064256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687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353304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730800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117157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29907439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32205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9469796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65579273" name="object 30"/>
          <p:cNvSpPr txBox="1"/>
          <p:nvPr/>
        </p:nvSpPr>
        <p:spPr bwMode="auto">
          <a:xfrm>
            <a:off x="0" y="1143000"/>
            <a:ext cx="12749517" cy="306690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48798371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730375808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318974879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12350071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5117110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Problems to solve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52257155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795481829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588570010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76169807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25326047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Problem #1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8877027" name="object 3"/>
          <p:cNvSpPr txBox="1"/>
          <p:nvPr/>
        </p:nvSpPr>
        <p:spPr bwMode="auto">
          <a:xfrm>
            <a:off x="380999" y="888075"/>
            <a:ext cx="12352766" cy="1510218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lang="sv-SE" sz="4000" b="1">
                <a:latin typeface="Comic Sans MS"/>
              </a:rPr>
              <a:t>Problem #1</a:t>
            </a:r>
            <a:endParaRPr/>
          </a:p>
          <a:p>
            <a:pPr>
              <a:defRPr/>
            </a:pPr>
            <a:endParaRPr lang="en-GB" sz="2400" b="1" spc="69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print your name on screen.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48610759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795028814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502529109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61860179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24081801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Problem #1 Solution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4000" b="1"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8249900" name="Picture 50" descr="A diagram of a print process&#10;&#10;AI-generated content may be incorrect."/>
          <p:cNvPicPr>
            <a:picLocks noChangeAspect="1"/>
          </p:cNvPicPr>
          <p:nvPr/>
        </p:nvPicPr>
        <p:blipFill rotWithShape="1">
          <a:blip r:embed="rId3"/>
          <a:srcRect l="0" t="8457" r="0" b="0"/>
          <a:stretch/>
        </p:blipFill>
        <p:spPr bwMode="auto">
          <a:xfrm>
            <a:off x="4705324" y="3126049"/>
            <a:ext cx="4000548" cy="3806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92579640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211188559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531406705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91451101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42688518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Problem #2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218229" name="object 3"/>
          <p:cNvSpPr txBox="1"/>
          <p:nvPr/>
        </p:nvSpPr>
        <p:spPr bwMode="auto">
          <a:xfrm>
            <a:off x="380999" y="888075"/>
            <a:ext cx="12352766" cy="1879548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lang="sv-SE" sz="4000" b="1">
                <a:latin typeface="Comic Sans MS"/>
              </a:rPr>
              <a:t>Problem #2</a:t>
            </a:r>
            <a:endParaRPr/>
          </a:p>
          <a:p>
            <a:pPr>
              <a:defRPr/>
            </a:pPr>
            <a:endParaRPr lang="en-GB" sz="2400" b="1" spc="69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</a:t>
            </a:r>
            <a:r>
              <a:rPr lang="sv-SE" sz="2400">
                <a:latin typeface="Comic Sans MS"/>
              </a:rPr>
              <a:t>ask the </a:t>
            </a:r>
            <a:r>
              <a:rPr lang="sv-SE" sz="2400">
                <a:latin typeface="Comic Sans MS"/>
              </a:rPr>
              <a:t>user</a:t>
            </a:r>
            <a:r>
              <a:rPr lang="sv-SE" sz="2400">
                <a:latin typeface="Comic Sans MS"/>
              </a:rPr>
              <a:t> to </a:t>
            </a:r>
            <a:r>
              <a:rPr sz="2400">
                <a:latin typeface="Comic Sans MS"/>
              </a:rPr>
              <a:t>print your </a:t>
            </a:r>
            <a:r>
              <a:rPr lang="sv-SE" sz="2400">
                <a:latin typeface="Comic Sans MS"/>
              </a:rPr>
              <a:t>enter</a:t>
            </a:r>
            <a:r>
              <a:rPr lang="sv-SE" sz="2400">
                <a:latin typeface="Comic Sans MS"/>
              </a:rPr>
              <a:t> </a:t>
            </a:r>
            <a:r>
              <a:rPr lang="sv-SE" sz="2400">
                <a:latin typeface="Comic Sans MS"/>
              </a:rPr>
              <a:t>his</a:t>
            </a:r>
            <a:r>
              <a:rPr lang="sv-SE" sz="2400">
                <a:latin typeface="Comic Sans MS"/>
              </a:rPr>
              <a:t>/</a:t>
            </a:r>
            <a:r>
              <a:rPr lang="sv-SE" sz="2400">
                <a:latin typeface="Comic Sans MS"/>
              </a:rPr>
              <a:t>her</a:t>
            </a:r>
            <a:r>
              <a:rPr lang="sv-SE" sz="2400">
                <a:latin typeface="Comic Sans MS"/>
              </a:rPr>
              <a:t> </a:t>
            </a:r>
            <a:r>
              <a:rPr lang="sv-SE" sz="2400">
                <a:latin typeface="Comic Sans MS"/>
              </a:rPr>
              <a:t>name</a:t>
            </a:r>
            <a:r>
              <a:rPr lang="sv-SE" sz="2400">
                <a:latin typeface="Comic Sans MS"/>
              </a:rPr>
              <a:t> and print it</a:t>
            </a:r>
            <a:r>
              <a:rPr sz="2400">
                <a:latin typeface="Comic Sans MS"/>
              </a:rPr>
              <a:t> on screen.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52345253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4390487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38661224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45421879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25473904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Problem #2 Solution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4000" b="1"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09639251" name="Picture 56" descr="A diagram of a flowchart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482600" y="2215208"/>
            <a:ext cx="4445996" cy="56279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80850585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963604392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766556248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98257640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535588567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3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737262" name="object 3"/>
          <p:cNvSpPr txBox="1"/>
          <p:nvPr/>
        </p:nvSpPr>
        <p:spPr bwMode="auto">
          <a:xfrm>
            <a:off x="380999" y="888075"/>
            <a:ext cx="12352766" cy="1879548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lang="sv-SE" sz="4000" b="1">
                <a:latin typeface="Comic Sans MS"/>
              </a:rPr>
              <a:t>3</a:t>
            </a:r>
            <a:endParaRPr lang="sv-SE"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Write a program to </a:t>
            </a:r>
            <a:r>
              <a:rPr lang="sv-SE"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ask the </a:t>
            </a:r>
            <a:r>
              <a:rPr lang="sv-SE"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user</a:t>
            </a:r>
            <a:r>
              <a:rPr lang="sv-SE"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 to </a:t>
            </a:r>
            <a:r>
              <a:rPr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print your </a:t>
            </a:r>
            <a:r>
              <a:rPr lang="sv-SE"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enter</a:t>
            </a:r>
            <a:r>
              <a:rPr lang="sv-SE"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 a </a:t>
            </a:r>
            <a:r>
              <a:rPr lang="sv-SE"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number</a:t>
            </a:r>
            <a:r>
              <a:rPr lang="sv-SE" sz="2400">
                <a:latin typeface="Comic Sans MS"/>
              </a:rPr>
              <a:t>, </a:t>
            </a:r>
            <a:r>
              <a:rPr lang="sv-SE" sz="2400">
                <a:latin typeface="Comic Sans MS"/>
              </a:rPr>
              <a:t>then</a:t>
            </a:r>
            <a:r>
              <a:rPr lang="sv-SE"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 print ”ODD” </a:t>
            </a:r>
            <a:r>
              <a:rPr lang="sv-SE"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if</a:t>
            </a:r>
            <a:r>
              <a:rPr lang="sv-SE"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 </a:t>
            </a:r>
            <a:r>
              <a:rPr lang="sv-SE"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its</a:t>
            </a:r>
            <a:r>
              <a:rPr lang="sv-SE"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 </a:t>
            </a:r>
            <a:r>
              <a:rPr lang="sv-SE"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odd</a:t>
            </a:r>
            <a:r>
              <a:rPr lang="sv-SE"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, or ”EVEN” </a:t>
            </a:r>
            <a:r>
              <a:rPr lang="sv-SE"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if</a:t>
            </a:r>
            <a:r>
              <a:rPr lang="sv-SE"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 </a:t>
            </a:r>
            <a:r>
              <a:rPr lang="sv-SE"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its</a:t>
            </a:r>
            <a:r>
              <a:rPr lang="sv-SE"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 </a:t>
            </a:r>
            <a:r>
              <a:rPr lang="sv-SE"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even</a:t>
            </a:r>
            <a:r>
              <a:rPr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6455110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871318864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676209363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79686886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06337689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Problem #3 Solution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4000" b="1"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018990" name="Picture 8" descr="A diagram of a flowchart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072285" y="1284305"/>
            <a:ext cx="7266628" cy="74897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14890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227</cp:revision>
  <dcterms:created xsi:type="dcterms:W3CDTF">2025-12-09T17:44:59Z</dcterms:created>
  <dcterms:modified xsi:type="dcterms:W3CDTF">2026-08-30T13:43:48Z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