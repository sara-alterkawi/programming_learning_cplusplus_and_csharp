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7512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5806077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906595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7131389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041451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8093743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7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7672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4781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0580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700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6629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538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45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74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5D9829-07AC-7154-AC2D-9FEDABADC2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826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7356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777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8CE2DF-DCCD-E930-BDCA-CB43704518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4806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75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947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473114-4517-FF32-A242-EB8BB0C21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6378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7809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7942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29FCB1-200B-D267-31A3-C7197C7FBF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687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1524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2593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A8A915-835C-708B-CB9F-212CCE1DC7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5694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894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044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475997-A61C-3419-F2CA-776027098F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446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4895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619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B716B0-1647-3D4F-D4B7-182EEB0FBB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6861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3006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73524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367292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680012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288317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41629098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32541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322483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47185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42055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295816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5116823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6635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682822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9275005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4527772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342548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848142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518658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1949679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804923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782847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644346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6189708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10908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045919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3865751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6665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654929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971268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132879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8494140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51205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6893091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08541548" name="object 30"/>
          <p:cNvSpPr txBox="1"/>
          <p:nvPr/>
        </p:nvSpPr>
        <p:spPr bwMode="auto">
          <a:xfrm>
            <a:off x="0" y="1143000"/>
            <a:ext cx="12748798" cy="48287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sz="6000" b="1">
                <a:solidFill>
                  <a:srgbClr val="FFCE53"/>
                </a:solidFill>
                <a:latin typeface="Comic Sans MS"/>
                <a:cs typeface="Comic Sans MS"/>
              </a:rPr>
              <a:t>What is Algorithm?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5822779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179370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72800691" name="object 30"/>
          <p:cNvSpPr txBox="1"/>
          <p:nvPr/>
        </p:nvSpPr>
        <p:spPr bwMode="auto">
          <a:xfrm>
            <a:off x="106430" y="3084216"/>
            <a:ext cx="13337886" cy="199413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marR="0" indent="0" algn="ctr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thms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 sz="4000"/>
          </a:p>
          <a:p>
            <a:pPr marL="2786346" algn="ctr">
              <a:spcBef>
                <a:spcPts val="672"/>
              </a:spcBef>
              <a:defRPr/>
            </a:pP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sz="4000" b="1">
                <a:solidFill>
                  <a:srgbClr val="FFCE53"/>
                </a:solidFill>
                <a:latin typeface="Comic Sans MS"/>
                <a:cs typeface="Comic Sans MS"/>
              </a:rPr>
              <a:t>What is Algorithm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646411" name="Slide"/>
          <p:cNvPicPr>
            <a:picLocks noChangeAspect="1"/>
          </p:cNvPicPr>
          <p:nvPr/>
        </p:nvPicPr>
        <p:blipFill rotWithShape="1">
          <a:blip r:embed="rId3"/>
          <a:srcRect l="12500" t="15499" r="6665" b="19811"/>
          <a:stretch/>
        </p:blipFill>
        <p:spPr bwMode="auto">
          <a:xfrm>
            <a:off x="361315" y="1104899"/>
            <a:ext cx="12688566" cy="784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8061567" name="Slide"/>
          <p:cNvPicPr>
            <a:picLocks noChangeAspect="1"/>
          </p:cNvPicPr>
          <p:nvPr/>
        </p:nvPicPr>
        <p:blipFill rotWithShape="1">
          <a:blip r:embed="rId3"/>
          <a:srcRect l="4167" t="25056" r="5000" b="24269"/>
          <a:stretch/>
        </p:blipFill>
        <p:spPr bwMode="auto">
          <a:xfrm>
            <a:off x="166990" y="2209799"/>
            <a:ext cx="13077217" cy="5638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915270" name="object 3"/>
          <p:cNvSpPr txBox="1"/>
          <p:nvPr/>
        </p:nvSpPr>
        <p:spPr bwMode="auto">
          <a:xfrm>
            <a:off x="380999" y="888075"/>
            <a:ext cx="12352766" cy="175643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What</a:t>
            </a:r>
            <a:r>
              <a:rPr lang="en-GB" sz="4000" b="1" spc="4">
                <a:latin typeface="Comic Sans MS"/>
              </a:rPr>
              <a:t> </a:t>
            </a:r>
            <a:r>
              <a:rPr lang="en-GB" sz="4000" b="1">
                <a:latin typeface="Comic Sans MS"/>
              </a:rPr>
              <a:t>is</a:t>
            </a:r>
            <a:r>
              <a:rPr lang="en-GB" sz="4000" b="1" spc="69">
                <a:latin typeface="Comic Sans MS"/>
              </a:rPr>
              <a:t> Algorithm?</a:t>
            </a:r>
            <a:endParaRPr/>
          </a:p>
          <a:p>
            <a:pPr>
              <a:defRPr/>
            </a:pPr>
            <a:endParaRPr lang="en-GB" sz="4000" b="1" spc="69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u="sng">
                <a:solidFill>
                  <a:srgbClr val="FF0000"/>
                </a:solidFill>
                <a:latin typeface="Comic Sans MS"/>
              </a:rPr>
              <a:t>Algorithm</a:t>
            </a:r>
            <a:r>
              <a:rPr sz="2400">
                <a:latin typeface="Comic Sans MS"/>
              </a:rPr>
              <a:t> is a </a:t>
            </a:r>
            <a:r>
              <a:rPr sz="2400">
                <a:solidFill>
                  <a:srgbClr val="FF0000"/>
                </a:solidFill>
                <a:latin typeface="Comic Sans MS"/>
              </a:rPr>
              <a:t>step-by-step instructions</a:t>
            </a:r>
            <a:r>
              <a:rPr sz="2400">
                <a:latin typeface="Comic Sans MS"/>
              </a:rPr>
              <a:t> in order to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solve</a:t>
            </a:r>
            <a:r>
              <a:rPr lang="sv-SE" sz="2400">
                <a:latin typeface="Comic Sans MS"/>
              </a:rPr>
              <a:t> a problem or </a:t>
            </a:r>
            <a:r>
              <a:rPr lang="sv-SE" sz="2400">
                <a:latin typeface="Comic Sans MS"/>
              </a:rPr>
              <a:t>perform</a:t>
            </a:r>
            <a:r>
              <a:rPr lang="sv-SE" sz="2400">
                <a:latin typeface="Comic Sans MS"/>
              </a:rPr>
              <a:t> a task.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8414906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17147623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707282917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739717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01015271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Flowcharting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015814" name="object 3"/>
          <p:cNvSpPr txBox="1"/>
          <p:nvPr/>
        </p:nvSpPr>
        <p:spPr bwMode="auto">
          <a:xfrm>
            <a:off x="380999" y="888075"/>
            <a:ext cx="12352766" cy="2248880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What is Flowchart?</a:t>
            </a:r>
            <a:endParaRPr lang="sv-SE" sz="4000" b="1">
              <a:latin typeface="Comic Sans MS"/>
            </a:endParaRPr>
          </a:p>
          <a:p>
            <a:pPr>
              <a:defRPr/>
            </a:pPr>
            <a:endParaRPr lang="en-GB" sz="2400" b="1" spc="69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u="sng">
                <a:solidFill>
                  <a:srgbClr val="FF0000"/>
                </a:solidFill>
                <a:latin typeface="Comic Sans MS"/>
              </a:rPr>
              <a:t>Flowchart</a:t>
            </a:r>
            <a:r>
              <a:rPr sz="2400">
                <a:latin typeface="Comic Sans MS"/>
              </a:rPr>
              <a:t> is a programming </a:t>
            </a:r>
            <a:r>
              <a:rPr sz="2400" u="sng">
                <a:solidFill>
                  <a:srgbClr val="FF0000"/>
                </a:solidFill>
                <a:latin typeface="Comic Sans MS"/>
              </a:rPr>
              <a:t>design</a:t>
            </a:r>
            <a:r>
              <a:rPr sz="2400">
                <a:latin typeface="Comic Sans MS"/>
              </a:rPr>
              <a:t> </a:t>
            </a:r>
            <a:r>
              <a:rPr sz="2400" u="sng">
                <a:solidFill>
                  <a:srgbClr val="FF0000"/>
                </a:solidFill>
                <a:latin typeface="Comic Sans MS"/>
              </a:rPr>
              <a:t>tool</a:t>
            </a:r>
            <a:r>
              <a:rPr sz="2400">
                <a:latin typeface="Comic Sans MS"/>
              </a:rPr>
              <a:t> that uses graphical</a:t>
            </a:r>
            <a:r>
              <a:rPr lang="sv-SE" sz="2400">
                <a:latin typeface="Comic Sans MS"/>
              </a:rPr>
              <a:t> </a:t>
            </a:r>
            <a:r>
              <a:rPr sz="2400">
                <a:latin typeface="Comic Sans MS"/>
              </a:rPr>
              <a:t>elements to visually depict the flow of logic within a program.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3446177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24679311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372240585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6383372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09876131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Flowchart Symbols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013339" name="object 3"/>
          <p:cNvSpPr txBox="1"/>
          <p:nvPr/>
        </p:nvSpPr>
        <p:spPr bwMode="auto">
          <a:xfrm>
            <a:off x="380999" y="888075"/>
            <a:ext cx="12352766" cy="77155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Flowchart</a:t>
            </a:r>
            <a:r>
              <a:rPr lang="sv-SE" sz="4000" b="1">
                <a:latin typeface="Comic Sans MS"/>
              </a:rPr>
              <a:t> symbols</a:t>
            </a:r>
            <a:endParaRPr/>
          </a:p>
        </p:txBody>
      </p:sp>
      <p:pic>
        <p:nvPicPr>
          <p:cNvPr id="271237436" name="Slide"/>
          <p:cNvPicPr>
            <a:picLocks noChangeAspect="1"/>
          </p:cNvPicPr>
          <p:nvPr/>
        </p:nvPicPr>
        <p:blipFill rotWithShape="1">
          <a:blip r:embed="rId3"/>
          <a:srcRect l="18334" t="24798" r="11667" b="18058"/>
          <a:stretch/>
        </p:blipFill>
        <p:spPr bwMode="auto">
          <a:xfrm>
            <a:off x="319378" y="1999598"/>
            <a:ext cx="12772441" cy="80588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84856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227</cp:revision>
  <dcterms:created xsi:type="dcterms:W3CDTF">2025-12-09T17:44:59Z</dcterms:created>
  <dcterms:modified xsi:type="dcterms:W3CDTF">2026-08-30T13:41:11Z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