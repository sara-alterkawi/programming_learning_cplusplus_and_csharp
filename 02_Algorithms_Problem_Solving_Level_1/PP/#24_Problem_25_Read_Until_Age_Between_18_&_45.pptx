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0"/>
  </p:notesMasterIdLst>
  <p:sldIdLst>
    <p:sldId id="256" r:id="rId4"/>
    <p:sldId id="257" r:id="rId5"/>
    <p:sldId id="258" r:id="rId6"/>
    <p:sldId id="259" r:id="rId7"/>
    <p:sldId id="260" r:id="rId8"/>
    <p:sldId id="261" r:id="rId9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684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 /><Relationship Id="rId12" Type="http://schemas.openxmlformats.org/officeDocument/2006/relationships/tableStyles" Target="tableStyles.xml" /><Relationship Id="rId13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6194646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92670182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12236247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011446672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26383191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509009229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3966837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30682514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9924860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7824740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06604039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9620430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700618-F6C2-0F11-7B67-14F56FCDD401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97119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70257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95048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B3FF061-46A1-42CC-A076-2DA4ABC3FDB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38491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1695284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698945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11268B1-271A-4FD1-D82F-B23D384E7B1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1417167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04449614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624606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E7A5410-093E-8D9A-8374-8BCFC49CF293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2897199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2731806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092140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/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7319000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850353152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14382666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712068446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618353269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92702141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6628882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687301816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67905551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41838003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804421944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38515446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38212515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5250611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200563363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78351653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75910446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67178042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7265000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97584588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4242111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77899436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53594233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61555147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95530562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22520774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2093538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262829741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986885825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13565395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1/13/2026</a:t>
            </a:fld>
            <a:endParaRPr lang="en-US"/>
          </a:p>
        </p:txBody>
      </p:sp>
      <p:sp>
        <p:nvSpPr>
          <p:cNvPr id="1088707278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23772894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415957303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639667273" name="object 30"/>
          <p:cNvSpPr txBox="1"/>
          <p:nvPr/>
        </p:nvSpPr>
        <p:spPr bwMode="auto">
          <a:xfrm>
            <a:off x="0" y="1143000"/>
            <a:ext cx="12749877" cy="2829030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&amp;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lang="ar-SY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ar-SY" sz="6000" b="1">
              <a:solidFill>
                <a:schemeClr val="bg1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1744687484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288047958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2104915978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998630560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963302597" name="object 30"/>
          <p:cNvSpPr txBox="1"/>
          <p:nvPr/>
        </p:nvSpPr>
        <p:spPr bwMode="auto">
          <a:xfrm>
            <a:off x="106431" y="3084217"/>
            <a:ext cx="13304768" cy="172867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25</a:t>
            </a:r>
            <a:endParaRPr lang="en-GB" sz="4000" b="1" i="0" u="none" strike="noStrike" cap="none" spc="0">
              <a:ln>
                <a:noFill/>
              </a:ln>
              <a:solidFill>
                <a:srgbClr val="FFCE53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33730377" name="object 3"/>
          <p:cNvSpPr txBox="1"/>
          <p:nvPr/>
        </p:nvSpPr>
        <p:spPr bwMode="auto">
          <a:xfrm>
            <a:off x="380999" y="888075"/>
            <a:ext cx="12352766" cy="3633876"/>
          </a:xfrm>
          <a:prstGeom prst="rect">
            <a:avLst/>
          </a:prstGeom>
        </p:spPr>
        <p:txBody>
          <a:bodyPr vert="horz" wrap="square" lIns="0" tIns="154491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ysClr val="windowText" lastClr="000000"/>
                </a:solidFill>
                <a:latin typeface="Comic Sans MS"/>
              </a:rPr>
              <a:t>Problem #</a:t>
            </a:r>
            <a:r>
              <a:rPr lang="sv-SE" sz="4000" b="1">
                <a:latin typeface="Comic Sans MS"/>
              </a:rPr>
              <a:t>25</a:t>
            </a:r>
            <a:endParaRPr lang="sv-SE" sz="4000" b="1" i="0" u="none" strike="noStrike" cap="none" spc="0">
              <a:ln>
                <a:noFill/>
              </a:ln>
              <a:solidFill>
                <a:sysClr val="windowText" lastClr="000000"/>
              </a:solidFill>
              <a:latin typeface="Comic Sans MS"/>
            </a:endParaRPr>
          </a:p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GB" sz="2400" b="1" i="0" u="none" strike="noStrike" cap="none" spc="69">
              <a:ln>
                <a:noFill/>
              </a:ln>
              <a:solidFill>
                <a:prstClr val="black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sz="1800"/>
              <a:t> 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Write a program to ask the user to </a:t>
            </a:r>
            <a:r>
              <a:rPr sz="2400" u="sng">
                <a:latin typeface="Comic Sans MS"/>
              </a:rPr>
              <a:t>enter</a:t>
            </a:r>
            <a:r>
              <a:rPr sz="2400">
                <a:latin typeface="Comic Sans MS"/>
              </a:rPr>
              <a:t> :</a:t>
            </a:r>
            <a:endParaRPr lang="sv-SE" sz="2400">
              <a:latin typeface="Comic Sans MS"/>
            </a:endParaRPr>
          </a:p>
          <a:p>
            <a:pPr>
              <a:defRPr/>
            </a:pPr>
            <a:r>
              <a:rPr lang="sv-SE" sz="2400">
                <a:latin typeface="Comic Sans MS"/>
              </a:rPr>
              <a:t>	</a:t>
            </a:r>
            <a:r>
              <a:rPr sz="2400">
                <a:latin typeface="Comic Sans MS"/>
              </a:rPr>
              <a:t>Age</a:t>
            </a:r>
            <a:endParaRPr/>
          </a:p>
          <a:p>
            <a:pPr>
              <a:defRPr/>
            </a:pPr>
            <a:r>
              <a:rPr sz="2400">
                <a:latin typeface="Comic Sans MS"/>
              </a:rPr>
              <a:t>If age is </a:t>
            </a:r>
            <a:r>
              <a:rPr sz="2400" u="sng">
                <a:solidFill>
                  <a:srgbClr val="FF0000"/>
                </a:solidFill>
                <a:latin typeface="Comic Sans MS"/>
              </a:rPr>
              <a:t>between 18 and 45 </a:t>
            </a:r>
            <a:r>
              <a:rPr sz="2400">
                <a:latin typeface="Comic Sans MS"/>
              </a:rPr>
              <a:t>print “Valid Age” otherwise print</a:t>
            </a:r>
            <a:r>
              <a:rPr lang="sv-SE" sz="2400">
                <a:latin typeface="Comic Sans MS"/>
              </a:rPr>
              <a:t> </a:t>
            </a:r>
            <a:r>
              <a:rPr sz="2400">
                <a:latin typeface="Comic Sans MS"/>
              </a:rPr>
              <a:t>“Invalid Age” and re-ask user to enter a valid age.</a:t>
            </a:r>
            <a:endParaRPr/>
          </a:p>
          <a:p>
            <a:pPr>
              <a:defRPr/>
            </a:pPr>
            <a:endParaRPr lang="sv-SE" sz="2400">
              <a:latin typeface="Comic Sans MS"/>
            </a:endParaRPr>
          </a:p>
          <a:p>
            <a:pPr>
              <a:defRPr/>
            </a:pPr>
            <a:r>
              <a:rPr sz="2400">
                <a:solidFill>
                  <a:srgbClr val="FF0000"/>
                </a:solidFill>
                <a:latin typeface="Comic Sans MS"/>
              </a:rPr>
              <a:t>Note: You should keep asking user to enter a valid age until</a:t>
            </a:r>
            <a:r>
              <a:rPr lang="sv-SE" sz="2400">
                <a:solidFill>
                  <a:srgbClr val="FF0000"/>
                </a:solidFill>
                <a:latin typeface="Comic Sans MS"/>
              </a:rPr>
              <a:t> s/</a:t>
            </a:r>
            <a:r>
              <a:rPr lang="sv-SE" sz="2400">
                <a:solidFill>
                  <a:srgbClr val="FF0000"/>
                </a:solidFill>
                <a:latin typeface="Comic Sans MS"/>
              </a:rPr>
              <a:t>he</a:t>
            </a:r>
            <a:r>
              <a:rPr lang="sv-SE" sz="2400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2400">
                <a:solidFill>
                  <a:srgbClr val="FF0000"/>
                </a:solidFill>
                <a:latin typeface="Comic Sans MS"/>
              </a:rPr>
              <a:t>enter</a:t>
            </a:r>
            <a:r>
              <a:rPr lang="sv-SE" sz="2400">
                <a:solidFill>
                  <a:srgbClr val="FF0000"/>
                </a:solidFill>
                <a:latin typeface="Comic Sans MS"/>
              </a:rPr>
              <a:t> it.</a:t>
            </a:r>
            <a:endParaRPr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365752207" name="object 2"/>
          <p:cNvGrpSpPr/>
          <p:nvPr/>
        </p:nvGrpSpPr>
        <p:grpSpPr bwMode="auto">
          <a:xfrm>
            <a:off x="-10956" y="645358"/>
            <a:ext cx="13422156" cy="8767682"/>
            <a:chOff x="0" y="2209799"/>
            <a:chExt cx="7778750" cy="5081270"/>
          </a:xfrm>
        </p:grpSpPr>
        <p:pic>
          <p:nvPicPr>
            <p:cNvPr id="1831913032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799"/>
              <a:ext cx="7772398" cy="5081015"/>
            </a:xfrm>
            <a:prstGeom prst="rect">
              <a:avLst/>
            </a:prstGeom>
          </p:spPr>
        </p:pic>
        <p:sp>
          <p:nvSpPr>
            <p:cNvPr id="1203514211" name="object 4"/>
            <p:cNvSpPr/>
            <p:nvPr/>
          </p:nvSpPr>
          <p:spPr bwMode="auto">
            <a:xfrm>
              <a:off x="60959" y="3901438"/>
              <a:ext cx="7711439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 marL="0" marR="0" lvl="0" indent="0" defTabSz="91440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sz="1800" b="0" i="0" u="none" strike="noStrike" cap="none" spc="0">
                <a:ln>
                  <a:noFill/>
                </a:ln>
                <a:solidFill>
                  <a:sysClr val="windowText" lastClr="000000"/>
                </a:solidFill>
              </a:endParaRPr>
            </a:p>
          </p:txBody>
        </p:sp>
      </p:grpSp>
      <p:sp>
        <p:nvSpPr>
          <p:cNvPr id="1824808433" name="object 8"/>
          <p:cNvSpPr txBox="1"/>
          <p:nvPr/>
        </p:nvSpPr>
        <p:spPr bwMode="auto">
          <a:xfrm>
            <a:off x="13091697" y="12746337"/>
            <a:ext cx="182979" cy="352971"/>
          </a:xfrm>
          <a:prstGeom prst="rect">
            <a:avLst/>
          </a:prstGeom>
        </p:spPr>
        <p:txBody>
          <a:bodyPr vert="horz" wrap="square" lIns="0" tIns="20817" rIns="0" bIns="0" rtlCol="0">
            <a:spAutoFit/>
          </a:bodyPr>
          <a:lstStyle/>
          <a:p>
            <a:pPr marL="21913" marR="0" lvl="0" indent="0" defTabSz="914400">
              <a:lnSpc>
                <a:spcPct val="100000"/>
              </a:lnSpc>
              <a:spcBef>
                <a:spcPts val="162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sz="2150" b="0" i="0" u="none" strike="noStrike" cap="none" spc="-85">
                <a:ln>
                  <a:noFill/>
                </a:ln>
                <a:solidFill>
                  <a:sysClr val="windowText" lastClr="000000"/>
                </a:solidFill>
                <a:latin typeface="Calibri"/>
                <a:cs typeface="Calibri"/>
              </a:rPr>
              <a:t>2</a:t>
            </a:r>
            <a:endParaRPr sz="2150" b="0" i="0" u="none" strike="noStrike" cap="none" spc="0">
              <a:ln>
                <a:noFill/>
              </a:ln>
              <a:solidFill>
                <a:sysClr val="windowText" lastClr="000000"/>
              </a:solidFill>
              <a:latin typeface="Calibri"/>
              <a:cs typeface="Calibri"/>
            </a:endParaRPr>
          </a:p>
        </p:txBody>
      </p:sp>
      <p:sp>
        <p:nvSpPr>
          <p:cNvPr id="1755179613" name="object 30"/>
          <p:cNvSpPr txBox="1"/>
          <p:nvPr/>
        </p:nvSpPr>
        <p:spPr bwMode="auto">
          <a:xfrm>
            <a:off x="106431" y="3084217"/>
            <a:ext cx="13304768" cy="2408351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089759" algn="ctr">
              <a:spcBef>
                <a:spcPts val="504"/>
              </a:spcBef>
              <a:defRPr/>
            </a:pPr>
            <a:r>
              <a:rPr lang="en-GB" sz="4000" spc="-12">
                <a:solidFill>
                  <a:srgbClr val="FFFFFF"/>
                </a:solidFill>
                <a:latin typeface="Comic Sans MS"/>
                <a:cs typeface="Comic Sans MS"/>
              </a:rPr>
              <a:t>Algorithms &amp; Problem-Solving</a:t>
            </a:r>
            <a:endParaRPr/>
          </a:p>
          <a:p>
            <a:pPr marL="2089759" algn="ctr">
              <a:spcBef>
                <a:spcPts val="504"/>
              </a:spcBef>
              <a:defRPr/>
            </a:pP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Level</a:t>
            </a:r>
            <a:r>
              <a:rPr lang="sv-SE" sz="2400" spc="-12">
                <a:solidFill>
                  <a:srgbClr val="FFFFFF"/>
                </a:solidFill>
                <a:latin typeface="Comic Sans MS"/>
                <a:cs typeface="Comic Sans MS"/>
              </a:rPr>
              <a:t> 1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Problem #</a:t>
            </a:r>
            <a:r>
              <a:rPr lang="en-GB" sz="4000" b="1">
                <a:solidFill>
                  <a:srgbClr val="FFCE53"/>
                </a:solidFill>
                <a:latin typeface="Comic Sans MS"/>
                <a:cs typeface="Comic Sans MS"/>
              </a:rPr>
              <a:t>25</a:t>
            </a:r>
            <a:r>
              <a:rPr lang="en-GB" sz="4000" b="1" i="0" u="none" strike="noStrike" cap="none" spc="0">
                <a:ln>
                  <a:noFill/>
                </a:ln>
                <a:solidFill>
                  <a:srgbClr val="FFCE53"/>
                </a:solidFill>
                <a:latin typeface="Comic Sans MS"/>
                <a:cs typeface="Comic Sans MS"/>
              </a:rPr>
              <a:t> Solution</a:t>
            </a:r>
            <a:endParaRPr/>
          </a:p>
          <a:p>
            <a:pPr marL="2089759" marR="0" lvl="0" indent="0" algn="ctr" defTabSz="914400">
              <a:lnSpc>
                <a:spcPct val="100000"/>
              </a:lnSpc>
              <a:spcBef>
                <a:spcPts val="504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Flow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i="0" u="none" strike="noStrike" cap="none" spc="0">
                <a:ln>
                  <a:noFill/>
                </a:ln>
                <a:solidFill>
                  <a:srgbClr val="FF0000"/>
                </a:solidFill>
                <a:latin typeface="Comic Sans MS"/>
              </a:rPr>
              <a:t>chart</a:t>
            </a:r>
            <a:endParaRPr lang="sv-SE" sz="4000" b="1" i="0" u="none" strike="noStrike" cap="none" spc="0">
              <a:ln>
                <a:noFill/>
              </a:ln>
              <a:solidFill>
                <a:srgbClr val="FF0000"/>
              </a:solidFill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2139349997" name="Picture 1"/>
          <p:cNvPicPr>
            <a:picLocks noChangeAspect="1"/>
          </p:cNvPicPr>
          <p:nvPr/>
        </p:nvPicPr>
        <p:blipFill rotWithShape="1">
          <a:blip r:embed="rId3"/>
          <a:stretch/>
        </p:blipFill>
        <p:spPr bwMode="auto">
          <a:xfrm>
            <a:off x="3276599" y="1489362"/>
            <a:ext cx="6858000" cy="707967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0116892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 </a:t>
            </a: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6</Slides>
  <Notes>6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7" baseType="lpstr">
      <vt:lpstr>Theme 1</vt:lpstr>
      <vt:lpstr>Slide 1</vt:lpstr>
      <vt:lpstr>Slide 2</vt:lpstr>
      <vt:lpstr>Slide 3</vt:lpstr>
      <vt:lpstr>Slide 4</vt:lpstr>
      <vt:lpstr>Slide 5</vt:lpstr>
      <vt:lpstr>Slide 6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234</cp:revision>
  <dcterms:created xsi:type="dcterms:W3CDTF">2025-12-09T17:44:59Z</dcterms:created>
  <dcterms:modified xsi:type="dcterms:W3CDTF">2026-08-30T16:35:59Z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